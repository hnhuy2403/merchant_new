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8"/>
    <p:restoredTop sz="94610"/>
  </p:normalViewPr>
  <p:slideViewPr>
    <p:cSldViewPr snapToGrid="0" snapToObjects="1">
      <p:cViewPr varScale="1">
        <p:scale>
          <a:sx n="117" d="100"/>
          <a:sy n="117" d="100"/>
        </p:scale>
        <p:origin x="3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0140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Trình bày với Tổng giám đốc VDF về giải pháp "Merchant thế hệ mới": giúp merchant vừa và nhỏ của VTT bán được cho khách quốc tế qua hai kênh độc lập, thanh toán tại cửa hàng (offline) và AI tư vấn du lịch (online).
Thông điệp chính
• Offline: VDF đưa Visa Accept vào app Tendoo để merchant vừa và nhỏ nhận thẻ của khách quốc tế ngay trên điện thoại: khách chạm thẻ, hoặc trả qua link nếu không chạm được. Không cần máy POS, chi phí thấp, tiền về gần như tức thì. Merchant lớn lên theo lộ trình nâng gói của Visa.
• Online: AI tư vấn du lịch giới thiệu merchant vừa và nhỏ đến khách quốc tế và khách Việt dùng thẻ quốc tế, cho khách đặt phòng, đặt bàn ngay. Khách gặp AI qua kênh Viettel.
• VDF cung cấp giải pháp, làm việc với Visa và xử lý dòng tiền; VTT phát triển merchant và đưa khách đến AI.
Lưu ý bảo mật: số liệu về Visa Accept (hạn mức, phí, lộ trình nâng gói) lấy từ tài liệu Visa Confidential. Chỉ dùng trong tài liệu nội bộ.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Mạch lập luận
Khách quốc tế tăng nhanh nhưng cửa hàng nhỏ chưa có cách nhận tiền phù hợp → các giải pháp đang có đều còn hạn chế → khách đã hỏi AI và đặt chỗ online, nhưng merchant nhỏ chưa có mặt ở các kênh đó → merchant vừa và nhỏ mất khách ở cả hai đầu: không được khách tìm thấy, và không nhận được tiền khi khách đã ở quầy; đó cũng là hai khoảng trống VDF có cơ hội lấp → giải pháp → VTT và VDF cùng triển khai.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Khoảng 500 nghìn hộ quanh hơn 4.000 điểm du lịch (ước tính VDF).
• Từ 01/01/2026 bỏ thuế khoán; hơn 308 nghìn hộ đã dùng hóa đơn điện tử từ máy tính tiền (Bộ Tài chính, 5/2026).
• 737 nghìn máy POS tính cả doanh nghiệp (NHNN, cuối 2024).
• Chỉ 42% doanh nghiệp nhỏ nhận thẻ; nhóm nhận thẻ có 79% tăng doanh thu, so với 46% ở nhóm không nhận thẻ (Visa, 2023).
• Kết luận đầy đủ: Tệp lớn, đang số hóa, nhưng phần lớn chưa nhận được thẻ. Đây là khoảng trống cần một cách nhận thẻ phù hợp với hộ kinh doanh nhỏ.
Slide 2 – Merchant vừa và nhỏ
• Hộ kinh doanh đang buộc phải số hóa: từ 01/01/2026 bỏ thuế khoán, chuyển sang tự kê khai (NQ 198/2025/QH15). Đến 14/5/2026, hơn 308.000 hộ đã đăng ký hóa đơn điện tử từ máy tính tiền, tăng 35% so với cuối 2025 (Bộ Tài chính).
• Biểu đồ tròn chỉ phân tệp, chưa lọc tệp mục tiêu. Tệp mục tiêu không chỉ gồm hộ có địa điểm cố định: Tap to Phone chỉ cần điện thoại, nên hộ không có mặt bằng cố định (bán hàng rong, quầy di động, hội chợ) cũng dùng được.
• Lát "chưa đăng ký thuế" (1,76 triệu) là số suy ra: 5 triệu trừ 3,24 triệu. Hai nguồn khác thời điểm nên chỉ là số gần đúng. Lát 1,21 triệu = 3,24 − 2,03 (cá nhân kinh doanh theo lần phát sinh, cho thuê tài sản…).
• Không dùng câu "hộ kinh doanh đóng góp gần 30% GDP": Tổng cục Thống kê (2017) ước tính khu vực cá thể đóng góp khoảng 11–13% GDP; con số 30% của VEPR tính cả nông, lâm, thủy sản.
• 737 nghìn máy POS là toàn hệ thống, gồm cả doanh nghiệp, nên số hộ kinh doanh có máy POS còn thấp hơn nhiều so với 2,03 triệu hộ có địa điểm cố định.
• Khảo sát Visa: 350 doanh nghiệp, chủ yếu siêu nhỏ và do nữ làm chủ, 9–10/2023. Tỉ lệ 79% và 46% tính trên các doanh nghiệp đã dùng thanh toán số.
• Cách ước tính khoảng 500 nghìn hộ quanh điểm du lịch (gọi chung là điểm du lịch: khu du lịch, danh lam thắng cảnh, di tích có khách quốc tế):Nhóm điểmSố điểmSố hộ mỗi điểm (giả định)Tổng số hộKhu du lịch lớn (kiểu Hội An, phố cổ Hà Nội, Sa Pa, Phú Quốc)61 khu được quy hoạch thành khu du lịch quốc gia (QĐ 509/QĐ-TTg, 6/2024)2.000–4.000120–245 nghìnDi tích quốc gia đặc biệt, gồm danh thắng (Hạ Long, Tràng An, Mỹ Sơn…)153200–50030–75 nghìnDi tích, danh thắng cấp quốc giahơn 4.00020–5080–200 nghìnTổngkhoảng 4.200 điểm230–520 nghìn, lấy khoảng 500 nghìn• Mốc cho nhóm khu du lịch lớn: Hội An cũ khoảng 5.900 cơ sở kinh doanh (2 tuyến Trần Phú, Nguyễn Thị Minh Khai có 236 cơ sở, bằng 4% toàn thành phố, 3/2024); phường Hoàn Kiếm (phố cổ Hà Nội) 4.310 hộ kinh doanh. Đây là 2 điểm đông nhất nên lấy 2.000–4.000 cho trung bình.
• Số hộ mỗi điểm ở 2 nhóm di tích là giả định, chưa có số đo. Nên nhờ đội kênh bán VTT đếm thử ở 3–5 điểm.
• Không tính hơn 9.000 di tích cấp tỉnh vì phần lớn chỉ có khách trong nước. Một số di tích nằm trong khu du lịch lớn (ví dụ Hội An) nên tổng có đếm trùng.
• Số 500 nghìn nằm gần cận trên của khoảng ước tính. Nếu bị hỏi, nêu đủ khoảng 230–520 nghìn và các giả định ở bảng trên.
• Kiểm tra độ hợp lý: 500 nghìn hộ bằng khoảng 10% trong 5 triệu hộ kinh doanh.
• Chi tiết khảo sát merchant (dùng khi được hỏi; các slide sau dẫn chiếu theo số insight):• Insight 1 – Phải chắp vá nhiều cách nhận tiền: 78% merchant dùng song song tiền mặt, QR và POS; 100% vẫn phải giữ tiền mặt để dự phòng. Có merchant mở cả tài khoản ngân hàng Malaysia để nhận tiền của khách Malaysia ("nhiều phương tiện quá", "phải thêm hình thức mới").
• Insight 2 – Phí là rào cản lớn nhất: 48,5% coi phí POS là rắc rối lớn nhất (3–5% mỗi giao dịch); nhiều nơi phải cộng thêm khoảng 30.000đ mỗi giao dịch vào tiền của khách. 50,8% lo chi phí triển khai giải pháp mới.
• Insight 3 – Mất doanh thu tại quầy: 14,4% từng gặp khách không có tiền mặt VND hoặc tiền lẻ; 9,1% không nhận được Apple Pay, Google Pay, ví nước ngoài.
• Insight 4 – Cần chứng từ: 26,5% merchant tự nhắc đến đối soát, hóa đơn hoặc khiếu nại.
• Chỉ 22% có xu hướng từ chối giải pháp mới.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Tỉ trọng: Trung Quốc 22%, Hàn Quốc 17%, Nga 6%, Đài Loan 5%, Mỹ 4%, Nhật Bản 4%. Ví ở Trung Quốc là Alipay, WeChat Pay; Nhật Bản tiền mặt còn nhiều.
• Khảo sát khách đầy đủ: khách vẫn phải mang tiền mặt cho chi tiêu hằng ngày; khi cửa hàng không nhận thẻ, khách phải xoay xở (nhờ người khác trả hộ, đi rút hoặc đổi tiền), có khách sang cửa hàng khác; khó trả tiền nhất ở quán ăn, quán cà phê và điểm tham quan; khách sẵn sàng dùng cách trả tiền mới nếu tiện.
Slide 3 – Khách quốc tế
• Nguồn khách 9 tháng 2026: Cục Thống kê, Cục Du lịch Quốc gia (công bố 3/10/2026). Trung Quốc và Hàn Quốc chiếm gần 40%. Tiếp theo trong top 10: Campuchia 688 nghìn (+40,5%), Philippines 523 nghìn (+55,2%), Ấn Độ khoảng 505–671 nghìn (+33%; hai nguồn báo chí lệch nhau), Úc 485 nghìn (+21%). Tỉ trọng là VDF tự tính trên 17,7 triệu. Châu Á chiếm khoảng 74,5%, chỉ tăng 7,6%.
• Hai thị trường lớn nhất tăng chậm (Trung Quốc +1,5%) hoặc giảm (Hàn Quốc −5,5%). Tăng trưởng đang đến từ châu Âu, châu Mỹ, châu Úc và Ấn Độ.
• Visa Accept nhận thẻ Visa, Mastercard nên phù hợp nhất với khách Hàn Quốc, Mỹ, Úc, châu Âu. Khách Trung Quốc chủ yếu dùng Alipay, WeChat Pay (xem câu hỏi xoáy số 5). Khách Nga tăng mạnh nhưng thẻ Visa, Mastercard phát hành tại Nga không dùng được ở nước ngoài từ 3/2022, nên Visa Accept gần như không phục vụ được nhóm này.
• Đài Loan chưa có số liệu về cách trả tiền tại cửa hàng; để trống, không suy đoán.
• Năm 2025: 21,2 triệu lượt khách quốc tế, tổng thu du lịch khoảng 1 triệu tỷ đồng. Du lịch quốc tế toàn cầu 6 tháng đầu 2026 chỉ tăng 0,4%.
• 1.150 USD là điều tra chi tiêu của Tổng cục Thống kê năm 2019 (bản mới nhất có cơ cấu theo khoản). 718 USD là tổng thu từ khách quốc tế 2025 (15,22 tỷ USD) chia cho 21,2 triệu lượt. Hai số khác nhau do khác cách tính. VietnamPlus có nêu mức 1.200–1.400 USD mỗi chuyến, chưa rõ cách tính.
• Cơ cấu chi tiêu: ăn uống 21,9%, mua sắm 12,4%, cộng lại khoảng 34% (Tổng cục Thống kê). Cách tính 5–8 tỷ USD: 21,2 triệu lượt × 718–1.150 USD × 34%.
• Cách trả tiền tại cửa hàng ở nước của khách: Hàn Quốc (2024) thẻ 68% (tín dụng 54%, ghi nợ 14%), ví 20%, tiền mặt 7%; Mỹ (2025) thẻ 71%; Úc, Anh thẻ khoảng 67–70%; Nhật Bản (2025) tiền mặt còn khoảng 38%; Trung Quốc (2025) Alipay, WeChat Pay chiếm 87%. Đây là thói quen ở nước của khách, không phải số đo tại Việt Nam; nên xin số tại Việt Nam từ Visa hoặc NAPAS. Số của Úc, Anh, Nhật Bản lấy qua nguồn thứ cấp, cần đối chiếu báo cáo gốc Worldpay.
• Chi tiết khảo sát khách (10 người, chỉ dùng khi được hỏi): 5/10 phải mang tiền mặt cho chi tiêu hằng ngày; 8/10 phải xoay xở khi không trả được; 7/10 sẵn sàng dùng giải pháp mới. 3/10 gặp phụ phí thẻ hoặc yêu cầu chi tối thiểu; 2/10 gặp cửa hàng chỉ nhận QR ngân hàng hoặc ví Việt Nam. Khi không trả được: nhờ người khác trả hộ (3/10), đi rút hoặc đổi tiền (2/10), sang cửa hàng khác (2/10). Cần nhất ở quán ăn, quán cà phê và điểm tham quan (cùng 7/10).
• Kịch bản khảo sát khách là thu phí 5% của khách (6/10 sẵn sàng trả). Mức phí của giải pháp VDF chưa chốt, nên không đưa con số 5% lên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Ví dụ nhóm: vừa và nhỏ, cá nhân (quán ăn, cà phê, quầy lưu niệm, sạp chợ, homestay); trung bình (nhà hàng, cửa hàng có mặt bằng, spa, khách sạn nhỏ); lớn (khách sạn chuỗi, trung tâm thương mại, chuỗi bán lẻ, chuỗi nhà hàng).
• Ghi chú ô: POS ở nhóm nhỏ: không có máy, ngại phí; QR quốc tế: khách quét bằng ví, app nước mình; app Việt Nam: cửa hàng có QR nội địa nhưng khách ít khi dùng.
• Câu nối: ba giải pháp mới đang có trên thị trường (slide sau) chưa lấp được khoảng trống này.
Slide 4 – Khách quốc tế đang trả tiền thế nào, theo từng nhóm merchant
• QR quốc tế hiện chỉ có ở nhóm lớn. Tap to Phone đã có ở nhóm trung bình và lớn, chủ yếu dùng qua app ngân hàng (VPBank, Sacombank, VIB, VCB…), chưa đến được nhóm vừa và nhỏ.
• Ma trận là đánh giá của VDF, dựa trên khảo sát 132 merchant (78% dùng song song tiền mặt, QR và POS; 100% vẫn giữ tiền mặt; 48,5% coi phí POS 3–5% là rắc rối lớn nhất) và thông tin công khai về các giải pháp hiện có (slide 5). Chưa có số liệu công khai về cách khách quốc tế trả tiền theo từng nhóm merchant.
• Nhóm vừa và nhỏ ứng với tệp hộ kinh doanh ở slide 2, gồm cả hộ không có địa điểm cố định (Tap to Phone không cần mặt bằng). Nhóm lớn (chuỗi nhà hàng, khách sạn) là đối tượng thêm của booking online (slide 8), không phải trọng tâm của Visa Accept tại quầy.
• Nhu cầu là có thật: giao dịch VietQR Global của khách Thái Lan, Lào, Campuchia 8 tháng 2026 tăng khoảng 8 lần so với 2025; của khách Trung Quốc tăng khoảng 3 lần (NAPAS).
• Cửa hàng đặc sản, quán ăn ở địa phương còn vướng rào cản thiết bị và chi phí (VCCI).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QR quốc tế: khách quét QR của cửa hàng bằng ví hoặc app ngân hàng nước mình; cửa hàng nhận tiền VND. Khách châu Âu, Mỹ, Úc, Nhật Bản, Ấn Độ chưa dùng được. 6% điểm chấp nhận thanh toán nhận QR quốc tế, chủ yếu ở chuỗi lớn.
• App Việt Nam: khách tải app thanh toán Việt Nam, đăng ký, liên kết thẻ quốc tế ngay tại quầy, chỉ để dùng trong một chuyến đi ngắn.
• Tap to Phone: VPBank, Sacombank, VIB dùng Visa Accept; phí 2,5–3,9% mỗi giao dịch cộng phí duy trì đến 50.000đ/tháng.
• Kết luận đầy đủ: Thị trường không thiếu phương thức thanh toán, mà thiếu một giải pháp đến được hộ kinh doanh nhỏ, gắn với việc bán hàng và chi phí thấp.
Slide 5 – Các giải pháp hiện có và hạn chế
• QR quốc tế: VietQR Global đã kết nối Thái Lan, Lào, Campuchia, Trung Quốc, Hàn Quốc, Singapore, đang mở rộng sang Nhật Bản, Ấn Độ, Malaysia. VNPAY-QR nhận WeChat Pay, Alipay, UnionPay, Toss Pay…; đã có tại Thế Giới Di Động, Điện Máy Xanh, TopZone (từ 9/2026). VNPAY đi qua chuỗi lớn trước, hộ kinh doanh nhỏ chưa được phủ.
• App Việt Nam liên kết thẻ: khách phải làm 3 bước (tải app, đăng ký, liên kết thẻ) trước lần trả tiền đầu tiên, trong khi đang đứng ở quầy.
• Tap to Phone: VPBank (TapLink), Sacombank, VIB (BizPay) dùng Visa Accept trong app ngân hàng; VNPAY SoftPOS là app nhận thẻ riêng, đạt chuẩn PCI CPoC; VCB Tap to Phone là tính năng nhận thẻ của Vietcombank. Merchant nhỏ ngại phí: 48,5% coi phí 3–5% là rắc rối lớn nhất (insight 2).
• Biểu phí công khai: VPBank (hiệu lực 01/08/2026, chưa gồm VAT): thẻ phát hành ở nước ngoài 3,5–3,8%, thẻ quốc tế phát hành tại Việt Nam 1,2–2,2%, thẻ nội địa 0,7%; phí duy trì 50.000đ/thiết bị/tháng, chỉ miễn khi doanh số SoftPOS trong tháng từ 100 triệu. Techcombank (khách đăng ký mới từ 01/03/2025): thẻ phát hành ở nước ngoài 2,5% (doanh số dưới 1,9 tỷ/năm) hoặc 3,5–3,9%; phí 15.000đ/thiết bị/tháng. Đây là biểu phí Tap to Phone/SoftPOS thông thường của ngân hàng, không phải phí Visa Accept (Visa Accept có MDR gần như bằng 0, slide 9).
• So sánh: VietQR chỉ 0,3% (VPBank); TPBank 0% cho giao dịch QR đến 200.000đ. Merchant nhỏ ít có lý do nhận thẻ, trừ khi phục vụ khách quốc tế, mà đây lại là nhóm chịu phí cao nhất.
• Vietcombank, Sacombank, Agribank, MB chưa công bố biểu phí SoftPOS. Số của TPBank (16.500đ/tháng, đặt cọc khoảng 3 triệu/thiết bị) lấy từ nguồn thứ cấp.
• Visa Accept đã có ở ba ngân hàng, nên công nghệ không phải là khác biệt. Khác biệt nằm ở tệp merchant, kênh phát triển và việc gắn với bán hàng (phụ lục "Vì sao chọn giải pháp này").
• Khi trình bày cột Tap to Phone: không chê công nghệ chạm thẻ, vì giải pháp của VDF cũng dùng Tap to Phone. Chỉ nói hạn chế về việc tách khỏi bán hàng và chính sách phí của ngân hàng.
• Cần nghiên cứu thêm: kết quả triển khai Visa Accept của VPBank, Sacombank, VIB; nguồn xác nhận hợp tác VNPAY – Mastercard.
• Bảng đối thủ chi tiết (thêm MoMo, KiotViet, Sapo, MISA) ở phụ lục.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56% khách Mỹ đã dùng AI cho ít nhất một chuyến đi trong 12 tháng qua, tăng từ 33% ở nửa đầu 2025 (Phocuswright, 3/2026).
• AI tạo sinh (ChatGPT, Gemini) chiếm 33% việc tìm hiểu chuyến đi, gần bằng công cụ tìm kiếm (35%) (Phocuswright, 3/2026).
• 64–69% khách Millennials và Gen Z dùng AI tạo sinh để lên kế hoạch du lịch (Booking.com, 32.800 người ở 34 nước, 2026).
• 81% khách Việt dự định dùng AI, cao nhất châu Á (trung bình 63%) (Agoda, 3/2026).
• Du lịch trực tuyến Việt Nam tăng 16% năm 2025. OTA chiếm khoảng 59% lượt đặt phòng khách sạn năm 2025.
• Tripadvisor, TheFork (đặt bàn nhà hàng) công bố sẽ tham gia ChatGPT. Booking.com đã có trợ lý AI lên lịch trình trong app từ 6/2023.
Slide 6 – Khách tìm và đặt chỗ thế nào
• Phocuswright: báo cáo "The AI Surge: Travel's Fastest Behavioral Shift in a Decade" (3/2026), khảo sát khách du lịch Mỹ. 56% là dùng AI cho lên kế hoạch, đặt chỗ hoặc hỗ trợ tại điểm đến, tăng từ 43% ở nửa cuối 2025. Một nửa người dùng AI trong công cụ tìm kiếm vẫn bấm vào trang gốc sau khi xem câu trả lời của AI. Chưa có số tương tự cho khách quốc tế đến Việt Nam.
• Booking.com: khảo sát xu hướng du lịch 2026, 32.800 người dự định đi du lịch năm 2026 ở 34 nước. Gen Z 69%, Millennials 64%, Gen X 41%, Boomers 11%. Số liệu do Booking.com công bố, chưa có phương pháp chi tiết.
• Agoda (2026 Travel Outlook, 3/2026): 81% là ý định, không phải tỉ lệ đã dùng. Một số báo Việt Nam viết như thể 81% đã dùng AI; khi trình bày nói "dự định". Khách Việt đã dùng AI chủ yếu để tạo lịch trình (30%), dịch tức thời (30%), gợi ý điểm tham quan và quán ăn. Booking.com (cuối 2025): 99% khách Việt quan tâm đến AI, nhưng chỉ 11% hoàn toàn tin, 41% luôn kiểm tra lại. Đây là lý do AI phải trả lời theo dữ liệu thật của merchant.
• Số OTA 58,85% lượt đặt phòng và hoa hồng 15–25% lấy từ một bài nghiên cứu trên Tạp chí Kinh tế – Tài chính (12/5/2026, trường hợp Mường Thanh và Vinpearl). Bài không ghi nguồn gốc của hai số này; trên slide nên ghi "khoảng". Cùng bài nêu chi phí phân phối qua kênh trực tiếp chỉ 4,25–4,5%. Một OTA trong nước (Vietnam Booking) nêu hoa hồng Booking.com tối thiểu 15%.
• Số 4 tỷ USD là mảng du lịch trực tuyến trong báo cáo e-Conomy SEA 2025 (25/11/2025), gồm cả khách nội địa và quốc tế; toàn nền kinh tế số Việt Nam khoảng 39 tỷ USD.
• Khách Việt: 50,2 triệu thẻ quốc tế là toàn bộ thẻ quốc tế đang lưu hành (cả ghi nợ và tín dụng), chưa tách được số người dùng thẻ khi đi du lịch. Du lịch nội địa 6 tháng đầu 2026 khoảng 81 triệu lượt (Cục Du lịch Quốc gia), mục tiêu cả năm 150 triệu lượt.
• Đặt bàn nhà hàng ở Việt Nam: PasGo tự công bố hơn 3.000 nhà hàng, chủ yếu ở Hà Nội, TP.HCM, Đà Nẵng; chưa có biểu phí công khai. Trên thế giới, nền tảng đặt bàn thường thu khoảng 0,5–3 EUR mỗi khách (TheFork, OpenTable…), số do các đơn vị phần mềm công bố.
• Ý "merchant vừa và nhỏ ít khi có mặt trên các nền tảng" là đánh giá của VDF, chưa có số đo. Nếu cần chứng minh, nhờ đội kênh bán VTT kiểm tra ở 3–5 điểm du lịch: bao nhiêu hộ có trên Google Maps, Tripadvisor, OTA và có thông tin bằng tiếng nước ngoài.
• Slide này chỉ nói hành vi của khách; kênh khách gặp AI trình bày ở slide 11.
• Chưa có khảo sát công khai về cách khách quốc tế tìm quán ăn, điểm mua sắm tại Việt Nam. Có thể hỏi bổ sung 1–2 câu trong khảo sát khách quốc tế.</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Tại cửa hàng: chỉ khoảng 6% điểm chấp nhận thanh toán nhận QR quốc tế. Khách phải mang tiền mặt, đi rút hoặc đổi tiền, có khách sang cửa hàng khác. 58% merchant sẵn sàng dùng giải pháp mới; kỳ vọng phí trên 3% thì chỉ 24,3% sẵn sàng.
• Trước khi khách đến: khách đã hỏi AI và đặt chỗ online; merchant vừa và nhỏ chưa có mặt trên các nền tảng. 81% khách Việt dự định dùng AI.
• Kết luận: Hai vấn đề, hai cơ hội độc lập, cần hai cách giải quyết riêng. Cùng VTT, VDF có kênh đến merchant để lấp cả hai.
Slide 7 – Vấn đề và cơ hội của VDF
• Slide này tổng hợp các hạn chế đã nêu ở phần Bối cảnh (slide 2–6) thành 2 vấn đề và 2 cơ hội, mỗi cặp ứng với một kênh của giải pháp (slide 8). Hai cặp độc lập; không trình bày như một hành trình nối tiếp "khách tìm thấy cửa hàng qua AI rồi trả tiền tại chính cửa hàng đó".
• Slide này chưa nhắc Visa Accept; Visa Accept xuất hiện lần đầu ở phần Giải pháp (slide 8, 9).
• Cột 1 – Tại cửa hàng:• Vấn đề có bằng chứng từ khảo sát 132 merchant và khảo sát 10 khách quốc tế. Insight 3 của khảo sát merchant: 14,4% từng gặp khách không có tiền mặt VND hoặc tiền lẻ; 9,1% không nhận được Apple Pay, Google Pay, ví nước ngoài. Cả nước chỉ có 737 nghìn máy POS, tính cả doanh nghiệp (slide 2), dùng khi được hỏi.
• 500 nghìn hộ là ước tính của VDF (khoảng 230–520 nghìn, xem ghi chú slide 2).
• Số 81,5% và 24,3% lấy từ khảo sát 132 merchant (7/2026). Trong nhóm "chưa chắc chắn", 42,5% chuyển sang sẵn sàng khi được báo một mức phí cụ thể và thấp.
• Không nêu mức phí của VDF: mức phí cho merchant sẽ thống nhất sau khi triển khai. "Chi phí thấp" là so với phí POS 3–5% và Tap to Phone/SoftPOS thông thường của ngân hàng 2,5–3,9% (slide 5).
• Cột 2 – Trước khi khách đến:• Chưa có khảo sát riêng. Ý "merchant vừa và nhỏ chưa có mặt trên các nền tảng" là đánh giá của VDF, chưa có số đo (xem ghi chú slide 6). Số 56% là khách Mỹ, 81% khách Việt là ý định; nói đúng như vậy khi trình bày.
• Cũng gồm các chuỗi nhà hàng, khách sạn lớn ở phần booking online: đặt chỗ đang tập trung qua OTA (khoảng 59% lượt đặt phòng, hoa hồng 15–25%, slide 6). Không nói giải pháp của VDF rẻ hơn OTA; chính sách affiliate và booking online sẽ thống nhất sau khi triển khai.
• Lợi thế khi hợp tác với VTT: tệp hộ kinh doanh Tendoo là hơn 200.000 lượt được hỗ trợ chuyển đổi thuế, không phải số merchant đang dùng.
• Bỏ các ý của bản cũ: slide "Vấn đề nội tại của Tendoo và Tammi" (AI của Tendoo hướng vào trong, quá tải khi livestream, thiếu người trực tin nhắn, Tammi chưa có thương mại); trợ lý livestream, tin nhắn, trợ lý tại quầy (đã bỏ khỏi giải pháp); mở rộng sang khách Việt trên Tammi (chưa có trong giải pháp chốt 25/10). Nội dung cũ lưu ở bản v0.7.</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Định nghĩa: VDF giúp merchant vừa và nhỏ bán được cho khách quốc tế qua hai kênh: tại cửa hàng, merchant nhận thẻ ngay trên điện thoại bằng Visa Accept tích hợp trong app Tendoo; online, AI tư vấn cho khách điểm du lịch, điểm ăn chơi, mua sắm và khách sạn.
• Chạm thẻ (Tap to Phone) là cách nhận tiền chính tại quầy; link thanh toán khi khách không chạm được.
• Phí IRF của Visa: miễn phí với giao dịch dưới 200.000đ, 200đ mỗi giao dịch trên 200.000đ.
• Doanh thu kênh online: tiền affiliate do merchant trả; một phần phí giao dịch booking online.
• VTT phát triển merchant vừa và nhỏ qua tệp hộ kinh doanh Tendoo và đội kênh bán thực địa; các chuỗi nhà hàng, khách sạn lớn cho booking online.
Slide 8 – Giải pháp tổng thể
• Slide này trả lời đủ 3 tiêu chí ở cột Tại cửa hàng của slide 7: đến được hộ kinh doanh nhỏ (không cần máy POS, VTT phát triển merchant), gắn với việc bán hàng (nhận tiền ngay trong app Tendoo), chi phí thấp (phí IRF của Visa).
• Phí IRF trên slide là phí của Visa, không phải mức phí VDF thu merchant. Mức phí cho merchant ở kênh offline, chính sách affiliate và chính sách booking online sẽ thống nhất sau khi triển khai; không nêu các con số này trên slide.
• Theo tài liệu Visa (mục Ghi chú giải pháp Visa Accept), mức IRF trên áp dụng từ 01/02/2027 và còn có phí acquirer 0,002 USD với giao dịch từ 200.000đ; trước đó IRF và phí acquirer mỗi loại 10bps, tối đa 250đ mỗi giao dịch. Nói đúng mốc thời gian nếu được hỏi.
• VTT phát triển merchant cho cả hai kênh, qua tệp hộ kinh doanh Tendoo (hơn 200.000 lượt được hỗ trợ chuyển đổi thuế, không phải số merchant đang dùng) và đội kênh bán thực địa; với booking online, VTT phát triển cả các chuỗi nhà hàng, khách sạn lớn.
• Doanh thu của VDF theo từng kênh bổ sung sau; trên slide chỉ nêu các dòng thu.
• Kênh khách gặp AI trình bày ở slide 11.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Visa Accept biến người dùng thẻ Visa ghi nợ, trả trước thành người bán: ai cũng nhận được thẻ. Đăng ký nhanh.
• Chạm thẻ: khách chạm thẻ hoặc ví vào điện thoại cửa hàng. Link thanh toán: merchant gửi link để khách trả bằng thẻ; giao dịch qua link được bảo vệ bằng 3-D Secure. Merchant theo dõi doanh số, lịch sử, chi tiết từng giao dịch; có hoàn tiền và báo cáo đối soát.
• Hạn mức: 100 triệu đồng (4.000 USD) và 2.000 giao dịch mỗi tháng; 8 triệu đồng (300 USD) mỗi giao dịch.
• Phí: IRF miễn phí dưới 200.000đ, 200đ từ 200.000đ; phí acquirer miễn phí dưới 200.000đ, 0,002 USD từ 200.000đ.
• Nâng gói: Visa Accept MDR gần như bằng 0 trong hạn mức; gói SMB MDR dưới 1%, khoảng 180 triệu đồng (7.000 USD) mỗi tháng, không giới hạn số giao dịch và giá trị mỗi giao dịch; nhận thẻ đầy đủ theo biểu phí chuẩn, không giới hạn, dùng nhiều loại thiết bị.
Slide 9 – Giải pháp chi tiết 1 (Offline): Visa Accept
• Số liệu trên slide lấy từ tài liệu Visa Confidential (trang 12–22). Chỉ dùng trong tài liệu nội bộ.
• Phí ở khối 3 áp dụng từ 01/02/2027. Trước đó IRF và phí acquirer mỗi loại 10bps, tối đa 250đ mỗi giao dịch. Nói đúng mốc thời gian nếu được hỏi. Đây là phí mạng lưới của Visa, không phải mức phí VDF thu merchant; mức phí cho merchant thống nhất sau khi triển khai.
• Trên trang 12, Visa ghi mức giá cho merchant là "competitive pricing", còn để ngỏ (to be decided).
• Theo tài liệu Visa, merchant đăng ký qua app của ngân hàng phát hành thẻ: SDK Visa Accept nằm trong app ngân hàng, bước KYB do ngân hàng làm. Giải pháp VDF tích hợp Visa Accept vào app Tendoo; nếu được hỏi về KYB, nói đúng là cách làm đang được thống nhất với Visa.
• Chạm hạn mức thì merchant không giao dịch tiếp được trong tháng đó và được mời nâng lên gói SMB. Merchant có thể ở lại Visa Accept. Visa đặt hạn mức để tránh ăn vào tệp merchant hiện có của ngân hàng và tạo đường nâng gói.
• Kiểm soát rủi ro của Visa: tự động theo dõi tần suất giao dịch, giới hạn số tiền và số giao dịch; ngân hàng phát hành phát hiện cách dùng bất thường.
• Không nói "chạy trên mọi điện thoại" (chạm thẻ cần điện thoại có NFC) và không nói "nhận mọi loại thẻ" (xem mục "Ghi chú giải pháp Visa Accept").
• Không nêu tỉ lệ chia phí giao dịch giữa VDF và VTT khi chưa thống nhất.
Ghi chú giải pháp Visa Accept (cho người trình, không đưa lên slide)
Mục này giúp người trình dùng từ cho chuẩn và trả lời khi được hỏi sâu.
• Bản chất: Visa Accept biến chủ thẻ Visa (ghi nợ, trả trước) thành người bán. Merchant dùng thẻ Visa đang có để nhận tiền. VDF không phát hành thẻ. SDK Visa Accept được tích hợp vào app Tendoo.
• Cách nói chuẩn:• Dùng "nhận thẻ ngay trên điện thoại", "chạm thẻ", "trả qua link".
• Không nói "VDF phát hành thẻ cho merchant".
• Không nói "nhận mọi loại thẻ". Hiện tại là thẻ Visa và Mastercard khi chạm; với link thì xác nhận lại loại thẻ được nhận.
• Không nói "chạy trên mọi điện thoại". Chạm thẻ chỉ chạy trên Android có NFC; iPhone dùng trả qua link.
• Hai cách nhận tiền:• Chạm thẻ (Tap to Phone, Android): nhận thẻ Visa, Mastercard và ví trên điện thoại.
• Trả qua link (Pay by Link): khách quét mã QR trên điện thoại cửa hàng hoặc nhận link qua SMS, email, rồi nhập thẻ; có xác thực 3-D Secure.
• Hạn mức (theo Visa): khoảng 100 triệu đồng (4.000 USD) và 2.000 giao dịch mỗi tháng; khoảng 8 triệu đồng (300 USD) mỗi giao dịch.
• Phí (theo Visa):• MDR với merchant gần như bằng 0.
• Phí mạng lưới đến 31/01/2027: IRF và phí acquirer mỗi loại 10bps, tối đa 250đ mỗi giao dịch.
• Từ 01/02/2027: giao dịch dưới 200.000đ miễn phí; từ 200.000đ trở lên, IRF 200đ và phí acquirer 0,002 USD.
• Tiền về: gần như tức thì, vào thẻ Visa của merchant.
• Lộ trình nâng gói của Visa:• Merchant chạm hạn mức Visa Accept thì không giao dịch tiếp được trong tháng đó.
• Merchant được mời nâng lên gói SMB: MDR dưới 1%, khoảng 180 triệu đồng (7.000 USD) mỗi tháng, không giới hạn số giao dịch và giá trị mỗi giao dịch.
• Sau đó lên gói nhận thẻ đầy đủ theo biểu phí chuẩn, dùng nhiều loại thiết bị.
• Kiểm soát rủi ro: theo dõi tần suất giao dịch, giới hạn hạn mức, 3-D Secure cho giao dịch qua link, chức năng hoàn tiền, báo cáo doanh số và đối soát.
• Đã triển khai tại Việt Nam: VPBank (TapLink), Sacombank, VIB (BizPay).
• Sản phẩm Visa khác có thể dùng ở phase sau:• Visa QR Connector: Viettel Money làm cầu nối QR, du khách quét mã bằng ví có thẻ Visa.
• Visa Acceptance Platform: Pay by Link, Tap to Phone, quản lý token, công cụ chống gian lận Decision Manager.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dùng demo
Bấm vào demo để thao tác; khi đó phím mũi tên điều khiển demo. Bấm ra ngoài demo (thanh dưới) để quay lại điều khiển slide.
Năm kịch bản (cửa hàng mẫu: Lan's House, trà và quà lưu niệm ở Hội An)
• Đăng ký: mở Visa Accept trong Tendoo, chọn thẻ Visa nhận tiền, đặt tên người bán, đồng ý điều khoản và hạn mức.
• Chạm thẻ: tạo đơn từ hàng có sẵn trong Tendoo, du khách Pháp chạm thẻ Visa, giao dịch vào bảng điều khiển và sổ bán hàng.
• Link thanh toán: du khách Hàn Quốc không chạm được thẻ; chủ tiệm gửi link, khách nhập thẻ, xác thực 3-D Secure.
• Theo dõi và hoàn tiền: lịch sử, chi tiết giao dịch, hoàn tiền, báo cáo doanh số và đối soát.
• Nâng gói: chạm hạn mức tháng, được mời lên gói SMB hoặc ở lại Visa Accept.
Slide 10 – Demo giải pháp Visa Accept
• Demo là minh họa, dựng theo luồng màn hình Visa đưa trong tài liệu VDS – Acquiring discussion (10/2026), Visa ghi "For illustration purposes only". Luồng thật trong Tendoo sẽ thống nhất với Visa.
• Bước đăng ký: theo tài liệu Visa, merchant đăng ký trong app ngân hàng phát hành thẻ, ngân hàng làm bước xác minh (KYB). Demo không vẽ bước xác minh vì cách làm trong Tendoo chưa thống nhất. Nếu được hỏi, nói đúng như vậy.
• Phí: demo không hiện mức phí trên từng giao dịch, vì mức phí cho merchant thống nhất sau khi triển khai. Kịch bản Nâng gói dùng mức phí của Visa (MDR gần như 0, gói SMB dưới 1%).
• Chạm thẻ cần điện thoại Android có NFC. Kịch bản Link thanh toán dùng cho khách không chạm được; theo Visa, cửa hàng cũng có thể cho khách quét mã trên điện thoại cửa hàng thay vì gửi tin nhắn.
• Hoàn tiền và báo cáo (doanh số, đối soát quyết toán, từng giao dịch) theo trang 15 và 20 tài liệu Visa.
• Nâng gói: theo trang 22, chạm hạn mức thì không giao dịch tiếp được trong tháng; merchant chọn lên gói SMB hoặc ở lại Visa Accept. Việc nâng gói do VDF thực hiện (VDF làm mọi việc với Visa).
• Tên cửa hàng, khách, số tiền và số thẻ trong demo đều là giả định.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Kênh Viettel: link mở AI trong tin nhắn chào mừng khi khách roaming vào Việt Nam, trên SIM/eSIM du lịch Viettel và tại quầy bán SIM ở sân bay. AI là web app, khách bấm link là dùng ngay.
• VTT phát triển merchant vừa và nhỏ qua tệp hộ kinh doanh Tendoo và đội kênh bán thực địa; các chuỗi nhà hàng, khách sạn lớn cho booking online.
• Chính sách affiliate và booking online thống nhất sau khi triển khai.
• Kết luận: AI đưa khách đến merchant vừa và nhỏ và cho khách đặt chỗ ngay; merchant có thêm khách, VDF có doanh thu từ affiliate và phí booking.
Slide 11 – Giải pháp chi tiết 2 (Online)
• Kênh online độc lập với kênh offline; không trình bày như hành trình "khách tìm thấy cửa hàng qua AI rồi chạm thẻ tại cửa hàng đó".
• Kênh khách gặp AI (chốt 26/10): kênh Viettel, gồm tin nhắn chào mừng khi khách roaming vào Việt Nam, SIM/eSIM du lịch Viettel và quầy bán SIM ở sân bay. Khách gặp AI ngay lúc vừa hạ cánh. AI là web app: khách bấm link là dùng, không cần cài app.
• Cổng du lịch của tỉnh và Tammi mở sau pilot. Nếu được hỏi về các kênh khác (khách sạn đối tác gửi link, app trong ChatGPT), nói đúng là đang thống nhất.
• Chính sách affiliate (mức, cách tính) và phần phí booking VDF được hưởng thống nhất sau khi triển khai. Không nói giải pháp rẻ hơn OTA.
• Chuỗi nhà hàng, khách sạn lớn chỉ tham gia phần booking online; VTT phát triển cả nhóm này.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dùng demo
Bấm vào demo để thao tác; khi đó phím mũi tên điều khiển demo. Bấm ra ngoài demo (thanh dưới) để quay lại điều khiển slide.
Nhân vật
Minji, 28 tuổi, nhân viên văn phòng ở Seoul, đi Đà Nẵng 5 ngày. Đã đặt khách sạn ở Đà Nẵng, chưa biết ăn gì, chơi gì, muốn ghé Hội An 1 đêm.
Hành trình
• Hạ cánh: nhận tin nhắn chào mừng roaming của Viettel, có link "Hỏi AI về Đà Nẵng".
• Mở AI: web app mở ngay, không cần cài app, không cần đăng nhập.
• Hỏi tư vấn bằng tiếng Hàn; AI trả lời bằng tiếng Hàn, gợi ý 3 quán hải sản vừa và nhỏ gần biển Mỹ Khê và lịch trình ngày mai.
• Đặt bàn 19h cho 2 người, đặt cọc bằng thẻ quốc tế; quán xác nhận qua app Tendoo.
• Đặt phòng khách sạn nhỏ gần phố cổ Hội An, trả trước bằng thẻ quốc tế.
• Kết quả: ra khỏi sân bay đã có chỗ ăn tối và chỗ ở Hội An.
Câu chốt khi demo
Minji không phải cài app, không phải tự tìm. Từ lúc hạ cánh đến lúc ra khỏi sân bay, Minji đã đặt xong chỗ ăn và chỗ ở tại các merchant vừa và nhỏ.
Slide 12 – Demo kênh online
• Minji, các quán và khách sạn trong demo đều là giả định.
• Hành trình dừng ở lúc đặt chỗ xong; không kể cảnh khách đến quán chạm thẻ, vì kênh online và offline độc lập.
• Nếu được hỏi về mức phí booking hay affiliate: thống nhất sau khi triển khai.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VDF, offline: cung cấp Visa Accept trong app Tendoo; làm việc với Visa, gồm cả nâng merchant lên các gói cao hơn của Visa (SMB, nhận thẻ đầy đủ); xử lý dòng tiền: vận hành, đối soát, kiểm soát rủi ro.
• VDF, online: xây dựng và vận hành AI tư vấn du lịch và booking online (web app); xử lý dòng tiền của booking online: khách trả trước, đặt cọc bằng thẻ quốc tế.
• VTT, offline: phát triển merchant qua tệp hộ kinh doanh Tendoo và đội kênh bán thực địa; tích hợp Visa Accept vào app Tendoo.
• VTT, online: phát triển merchant vừa và nhỏ qua tệp hộ kinh doanh Tendoo và đội kênh bán thực địa, các chuỗi nhà hàng, khách sạn lớn cho booking online; đưa khách đến AI qua tin nhắn chào mừng roaming, SIM/eSIM du lịch, quầy SIM sân bay.
• Kết luận: VDF lo giải pháp, việc với Visa và dòng tiền; VTT lo merchant và đưa khách đến AI.
Slide 13 – Phân vai VTT và VDF
• Không nêu tỉ lệ chia phí giao dịch giữa VDF và VTT khi chưa thống nhất; phần này thuộc slide 14.
• Mọi việc với Visa do VDF làm, gồm cả nâng merchant lên các gói cao hơn của Visa (SMB, nhận thẻ đầy đủ).
• Dòng tiền của cả hai kênh do VDF xử lý: giao dịch Visa Accept tại cửa hàng và tiền khách trả trước, đặt cọc khi booking online.
• Tammi và cổng du lịch của tỉnh là kênh đưa khách đến AI sau pilot, chưa có vai trong pilot.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Nguyên tắc hợp tác kinh doanh
• Để trống. Bộ phận kinh doanh bổ sung sau.</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tiết đã rút khỏi slide
• Phase 0: chốt hợp tác Visa Accept với Visa; thiết kế tích hợp vào Tendoo. Thiết kế AI tư vấn du lịch và booking online (web app); thống nhất với VTT về kênh tin nhắn roaming, SIM/eSIM du lịch, quầy SIM sân bay. Làm việc với VTT, chốt phạm vi và đầu mối.
• Phase 1: Q1/2027 mở Visa Accept trong Tendoo (chạm thẻ, link thanh toán) cho nhóm cửa hàng pilot; Q2/2027 pilot AI tư vấn và booking online qua kênh Viettel. VTT phát triển merchant pilot tại một nhóm điểm đông khách quốc tế (Hội An, Đà Nẵng, Phú Quốc): kênh offline từ Q1, kênh online từ Q2.
• Phase 2: nhân rộng; merchant chạm hạn mức nâng lên gói SMB, nhận thẻ đầy đủ theo lộ trình của Visa; mở thêm cổng du lịch của tỉnh và Tammi; nhân rộng ra các điểm du lịch qua đội kênh bán VTT, tiến tới phủ các merchant Tendoo phục vụ khách quốc tế.
• Hai kênh độc lập: kênh online triển khai sau kênh offline một quý, nhưng không có bước nào của kênh này phụ thuộc kênh kia.
• KPI đầy đủ: Offline: GMV của cửa hàng qua Visa Accept; số cửa hàng phát sinh giao dịch. Online: số lượt đặt phòng, đặt bàn qua AI; GMV booking online.
Slide 15 – Lộ trình triển khai
• Pilot kênh offline: hộ kinh doanh vừa và nhỏ, mọi ngành hàng, ưu tiên quán ăn, quán cà phê và cửa hàng gần điểm tham quan (bối cảnh được 7/10 khách quốc tế chọn). Ưu tiên điểm có nhiều khách dùng thẻ (Hàn Quốc, châu Âu, Mỹ, Úc). Chỉ tiêu kênh bán theo cửa hàng phát sinh giao dịch, không theo số tài khoản mở.
• Pilot kênh online (từ Q2/2027, sau kênh offline): khách gặp AI qua kênh Viettel (tin nhắn chào mừng roaming, SIM/eSIM du lịch, quầy SIM sân bay). Cổng du lịch của tỉnh và Tammi mở sau pilot.
• Hai kênh độc lập: không đo GMV tại quầy theo lượt khách đến từ AI.
• Chỉ số theo dõi kênh offline: tỉ lệ cửa hàng còn giao dịch sau 30 ngày; số merchant chạm hạn mức và nâng gói.
• Mức phí cho merchant, chính sách affiliate và booking online: thống nhất sau khi triển khai.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Tổng giám đốc có thể hỏi xoáy
• "VPBank, Sacombank, VIB đã có Visa Accept rồi. VDF làm sau thì khác gì?" Ở ngân hàng, Visa Accept chỉ là một nút trong app, chờ khách hàng tự bật. VDF đưa Visa Accept vào phần mềm bán hàng Tendoo, đến tệp hộ kinh doanh Tendoo qua đội kênh bán thực địa (slide 5; phụ lục "Vì sao chọn giải pháp này").
• "Phí gần như bằng 0 thì VDF kiếm tiền ở đâu?" Kênh offline: VDF chia phí giao dịch với VTT. Kênh online: tiền affiliate do merchant trả và một phần phí booking online (slide 8). Mức cụ thể bổ sung sau.
• "Hạn mức 8 triệu mỗi giao dịch, 100 triệu mỗi tháng có đủ không?" Đủ cho phần lớn hộ kinh doanh nhỏ phục vụ du khách. Cửa hàng vượt hạn mức được VDF nâng lên gói SMB của Visa.
• "NAPAS đã có QR xuyên biên giới, sao VDF lại làm Visa Accept?" QR chỉ dùng được với khách từ 6 nước đã kết nối. Thẻ Visa và Mastercard thì khách từ nước nào cũng có. QR cho ví nước ngoài chưa nằm trong lộ trình hiện tại (slide 5).
• "Khách Trung Quốc chủ yếu dùng Alipay, WeChat Pay. Có phục vụ được không?" Phase 1 chưa phục vụ khách chỉ dùng ví nước mình. Pilot ưu tiên điểm có nhiều khách dùng thẻ.
• "Merchant dùng iPhone thì sao?" Vẫn nhận được tiền qua link; chạm thẻ cần điện thoại Android.
• "Đội kênh bán của VTT chính là kênh đã tạo ra merchant ảo. Lần này khác gì?" Chỉ tiêu theo cửa hàng phát sinh giao dịch, không theo số tài khoản mở.
• "Khảo sát khách chỉ có 10 người, có tin được không?" Đây là khảo sát thăm dò, chỉ dùng làm tín hiệu bổ sung. Bằng chứng chính là khảo sát 132 merchant. Pilot sẽ đo giao dịch thật thay cho ý định khảo sát.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 Vì sao chọn giải pháp này
• Điểm yếu cần nói thật nếu được hỏi:• Thanh toán: chưa phục vụ khách chỉ dùng ví nước mình như Alipay, WeChat Pay (phần lớn khách Trung Quốc); chạm thẻ chỉ chạy trên Android; cửa hàng lớn cần lên gói nhận thẻ đầy đủ.
• Bảng so sánh nhanh và bảng so sánh đầy đủ ở phụ lục chỉ so kênh offline. Đánh giá sơ bộ theo thông tin đến 10/2026, cần kiểm tra lại trước khi trình bày.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Shape 0"/>
          <p:cNvSpPr/>
          <p:nvPr/>
        </p:nvSpPr>
        <p:spPr>
          <a:xfrm>
            <a:off x="762000" y="638175"/>
            <a:ext cx="323850" cy="323850"/>
          </a:xfrm>
          <a:prstGeom prst="ellipse">
            <a:avLst/>
          </a:prstGeom>
          <a:solidFill>
            <a:srgbClr val="F0001E"/>
          </a:solidFill>
          <a:ln/>
        </p:spPr>
      </p:sp>
      <p:sp>
        <p:nvSpPr>
          <p:cNvPr id="4" name="Shape 1"/>
          <p:cNvSpPr/>
          <p:nvPr/>
        </p:nvSpPr>
        <p:spPr>
          <a:xfrm>
            <a:off x="866775" y="709613"/>
            <a:ext cx="114300" cy="180975"/>
          </a:xfrm>
          <a:prstGeom prst="roundRect">
            <a:avLst>
              <a:gd name="adj" fmla="val 29167"/>
            </a:avLst>
          </a:prstGeom>
          <a:ln w="19050">
            <a:solidFill>
              <a:srgbClr val="FFFFFF"/>
            </a:solidFill>
            <a:prstDash val="solid"/>
          </a:ln>
        </p:spPr>
      </p:sp>
      <p:sp>
        <p:nvSpPr>
          <p:cNvPr id="5" name="Text 2"/>
          <p:cNvSpPr txBox="1"/>
          <p:nvPr/>
        </p:nvSpPr>
        <p:spPr>
          <a:xfrm>
            <a:off x="1152525" y="631329"/>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6" name="Text 3"/>
          <p:cNvSpPr txBox="1"/>
          <p:nvPr/>
        </p:nvSpPr>
        <p:spPr>
          <a:xfrm>
            <a:off x="1152525" y="771525"/>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7" name="Text 4"/>
          <p:cNvSpPr txBox="1"/>
          <p:nvPr/>
        </p:nvSpPr>
        <p:spPr>
          <a:xfrm>
            <a:off x="1795463" y="700088"/>
            <a:ext cx="161467" cy="200025"/>
          </a:xfrm>
          <a:prstGeom prst="rect">
            <a:avLst/>
          </a:prstGeom>
          <a:noFill/>
          <a:ln/>
        </p:spPr>
        <p:txBody>
          <a:bodyPr wrap="none" lIns="0" tIns="0" rIns="0" bIns="0" rtlCol="0" anchor="t"/>
          <a:lstStyle/>
          <a:p>
            <a:pPr marL="0" indent="0" algn="l">
              <a:lnSpc>
                <a:spcPts val="1620"/>
              </a:lnSpc>
              <a:buNone/>
            </a:pPr>
            <a:r>
              <a:rPr lang="en-US" sz="1350" b="1" dirty="0">
                <a:solidFill>
                  <a:srgbClr val="334155"/>
                </a:solidFill>
              </a:rPr>
              <a:t>×</a:t>
            </a:r>
            <a:endParaRPr lang="en-US" sz="1350" dirty="0"/>
          </a:p>
        </p:txBody>
      </p:sp>
      <p:sp>
        <p:nvSpPr>
          <p:cNvPr id="8" name="Text 5"/>
          <p:cNvSpPr txBox="1"/>
          <p:nvPr/>
        </p:nvSpPr>
        <p:spPr>
          <a:xfrm>
            <a:off x="2045196" y="628650"/>
            <a:ext cx="1037969" cy="342900"/>
          </a:xfrm>
          <a:prstGeom prst="rect">
            <a:avLst/>
          </a:prstGeom>
          <a:noFill/>
          <a:ln/>
        </p:spPr>
        <p:txBody>
          <a:bodyPr wrap="none" lIns="0" tIns="0" rIns="0" bIns="0" rtlCol="0" anchor="t"/>
          <a:lstStyle/>
          <a:p>
            <a:pPr marL="0" indent="0" algn="l">
              <a:lnSpc>
                <a:spcPts val="2700"/>
              </a:lnSpc>
              <a:buNone/>
            </a:pPr>
            <a:r>
              <a:rPr lang="en-US" sz="2250" b="1" kern="0" spc="-90" dirty="0">
                <a:solidFill>
                  <a:srgbClr val="0F172A"/>
                </a:solidFill>
              </a:rPr>
              <a:t>tendoo</a:t>
            </a:r>
            <a:endParaRPr lang="en-US" sz="2250" dirty="0"/>
          </a:p>
        </p:txBody>
      </p:sp>
      <p:sp>
        <p:nvSpPr>
          <p:cNvPr id="9" name="Shape 6"/>
          <p:cNvSpPr/>
          <p:nvPr/>
        </p:nvSpPr>
        <p:spPr>
          <a:xfrm>
            <a:off x="10488662" y="704850"/>
            <a:ext cx="1093738" cy="228600"/>
          </a:xfrm>
          <a:prstGeom prst="roundRect">
            <a:avLst>
              <a:gd name="adj" fmla="val 50000"/>
            </a:avLst>
          </a:prstGeom>
          <a:solidFill>
            <a:srgbClr val="FFE4E6"/>
          </a:solidFill>
          <a:ln w="9525">
            <a:solidFill>
              <a:srgbClr val="FECDD3"/>
            </a:solidFill>
            <a:prstDash val="solid"/>
          </a:ln>
        </p:spPr>
      </p:sp>
      <p:sp>
        <p:nvSpPr>
          <p:cNvPr id="10" name="Text 7"/>
          <p:cNvSpPr txBox="1"/>
          <p:nvPr/>
        </p:nvSpPr>
        <p:spPr>
          <a:xfrm>
            <a:off x="10602962" y="752475"/>
            <a:ext cx="955146" cy="133350"/>
          </a:xfrm>
          <a:prstGeom prst="rect">
            <a:avLst/>
          </a:prstGeom>
          <a:noFill/>
          <a:ln/>
        </p:spPr>
        <p:txBody>
          <a:bodyPr wrap="none" lIns="0" tIns="0" rIns="0" bIns="0" rtlCol="0" anchor="t"/>
          <a:lstStyle/>
          <a:p>
            <a:pPr marL="0" indent="0" algn="l">
              <a:lnSpc>
                <a:spcPts val="1040"/>
              </a:lnSpc>
              <a:buNone/>
            </a:pPr>
            <a:r>
              <a:rPr lang="en-US" sz="860" b="1" kern="0" spc="10" dirty="0">
                <a:solidFill>
                  <a:srgbClr val="E11D48"/>
                </a:solidFill>
              </a:rPr>
              <a:t>TÀI LIỆU NỘI BỘ</a:t>
            </a:r>
            <a:endParaRPr lang="en-US" sz="860" dirty="0"/>
          </a:p>
        </p:txBody>
      </p:sp>
      <p:sp>
        <p:nvSpPr>
          <p:cNvPr id="11" name="Shape 8"/>
          <p:cNvSpPr/>
          <p:nvPr/>
        </p:nvSpPr>
        <p:spPr>
          <a:xfrm>
            <a:off x="685800" y="1866900"/>
            <a:ext cx="76200" cy="2426345"/>
          </a:xfrm>
          <a:prstGeom prst="rect">
            <a:avLst/>
          </a:prstGeom>
          <a:solidFill>
            <a:srgbClr val="E11D48"/>
          </a:solidFill>
          <a:ln/>
        </p:spPr>
      </p:sp>
      <p:sp>
        <p:nvSpPr>
          <p:cNvPr id="12" name="Text 9"/>
          <p:cNvSpPr txBox="1"/>
          <p:nvPr/>
        </p:nvSpPr>
        <p:spPr>
          <a:xfrm>
            <a:off x="1047750" y="1905000"/>
            <a:ext cx="1742989" cy="200025"/>
          </a:xfrm>
          <a:prstGeom prst="rect">
            <a:avLst/>
          </a:prstGeom>
          <a:noFill/>
          <a:ln/>
        </p:spPr>
        <p:txBody>
          <a:bodyPr wrap="none" lIns="0" tIns="0" rIns="0" bIns="0" rtlCol="0" anchor="t"/>
          <a:lstStyle/>
          <a:p>
            <a:pPr marL="0" indent="0" algn="l">
              <a:lnSpc>
                <a:spcPts val="1620"/>
              </a:lnSpc>
              <a:buNone/>
            </a:pPr>
            <a:r>
              <a:rPr lang="en-US" sz="1350" b="1" dirty="0">
                <a:solidFill>
                  <a:srgbClr val="E11D48"/>
                </a:solidFill>
              </a:rPr>
              <a:t>Trình bày giải pháp</a:t>
            </a:r>
            <a:endParaRPr lang="en-US" sz="1350" dirty="0"/>
          </a:p>
        </p:txBody>
      </p:sp>
      <p:sp>
        <p:nvSpPr>
          <p:cNvPr id="13" name="Text 10"/>
          <p:cNvSpPr txBox="1"/>
          <p:nvPr/>
        </p:nvSpPr>
        <p:spPr>
          <a:xfrm>
            <a:off x="1047750" y="2286000"/>
            <a:ext cx="8562228" cy="962025"/>
          </a:xfrm>
          <a:prstGeom prst="rect">
            <a:avLst/>
          </a:prstGeom>
          <a:noFill/>
          <a:ln/>
        </p:spPr>
        <p:txBody>
          <a:bodyPr wrap="none" lIns="0" tIns="0" rIns="0" bIns="0" rtlCol="0" anchor="t"/>
          <a:lstStyle/>
          <a:p>
            <a:pPr marL="0" indent="0" algn="l">
              <a:lnSpc>
                <a:spcPts val="6550"/>
              </a:lnSpc>
              <a:buNone/>
            </a:pPr>
            <a:r>
              <a:rPr lang="en-US" sz="6300" b="1" kern="0" spc="-60" dirty="0">
                <a:solidFill>
                  <a:srgbClr val="E11D48"/>
                </a:solidFill>
              </a:rPr>
              <a:t>Merchant thế hệ mới</a:t>
            </a:r>
            <a:endParaRPr lang="en-US" sz="6300" dirty="0"/>
          </a:p>
        </p:txBody>
      </p:sp>
      <p:sp>
        <p:nvSpPr>
          <p:cNvPr id="14" name="Text 11"/>
          <p:cNvSpPr txBox="1"/>
          <p:nvPr/>
        </p:nvSpPr>
        <p:spPr>
          <a:xfrm>
            <a:off x="1047750" y="3403848"/>
            <a:ext cx="7387563" cy="811411"/>
          </a:xfrm>
          <a:prstGeom prst="rect">
            <a:avLst/>
          </a:prstGeom>
          <a:noFill/>
          <a:ln/>
        </p:spPr>
        <p:txBody>
          <a:bodyPr wrap="none" lIns="0" tIns="0" rIns="0" bIns="0" rtlCol="0" anchor="t"/>
          <a:lstStyle/>
          <a:p>
            <a:pPr marL="0" indent="0" algn="l">
              <a:lnSpc>
                <a:spcPts val="3320"/>
              </a:lnSpc>
              <a:buNone/>
            </a:pPr>
            <a:r>
              <a:rPr lang="en-US" sz="2550" b="1" dirty="0">
                <a:solidFill>
                  <a:srgbClr val="0F172A"/>
                </a:solidFill>
              </a:rPr>
              <a:t>Thanh </a:t>
            </a:r>
            <a:r>
              <a:rPr lang="en-US" sz="2550" b="1" dirty="0" err="1">
                <a:solidFill>
                  <a:srgbClr val="0F172A"/>
                </a:solidFill>
              </a:rPr>
              <a:t>toán</a:t>
            </a:r>
            <a:r>
              <a:rPr lang="en-US" sz="2550" b="1" dirty="0">
                <a:solidFill>
                  <a:srgbClr val="0F172A"/>
                </a:solidFill>
              </a:rPr>
              <a:t> </a:t>
            </a:r>
            <a:r>
              <a:rPr lang="en-US" sz="2550" b="1" dirty="0" err="1">
                <a:solidFill>
                  <a:srgbClr val="0F172A"/>
                </a:solidFill>
              </a:rPr>
              <a:t>chạm</a:t>
            </a:r>
            <a:r>
              <a:rPr lang="en-US" sz="2550" b="1" dirty="0">
                <a:solidFill>
                  <a:srgbClr val="0F172A"/>
                </a:solidFill>
              </a:rPr>
              <a:t> tại cửa hàng và </a:t>
            </a:r>
            <a:r>
              <a:rPr lang="en-US" sz="2550" b="1" dirty="0">
                <a:solidFill>
                  <a:srgbClr val="E11D48"/>
                </a:solidFill>
              </a:rPr>
              <a:t>AI tư vấn du lịch</a:t>
            </a:r>
            <a:endParaRPr lang="en-US" sz="2550" dirty="0"/>
          </a:p>
          <a:p>
            <a:pPr marL="0" indent="0" algn="l">
              <a:lnSpc>
                <a:spcPts val="3320"/>
              </a:lnSpc>
              <a:buNone/>
            </a:pPr>
            <a:r>
              <a:rPr lang="en-US" sz="2550" b="1" dirty="0">
                <a:solidFill>
                  <a:srgbClr val="0F172A"/>
                </a:solidFill>
              </a:rPr>
              <a:t>cho merchant VTT</a:t>
            </a:r>
            <a:endParaRPr lang="en-US" sz="2550" dirty="0"/>
          </a:p>
        </p:txBody>
      </p:sp>
      <p:sp>
        <p:nvSpPr>
          <p:cNvPr id="15" name="Text 12"/>
          <p:cNvSpPr txBox="1"/>
          <p:nvPr/>
        </p:nvSpPr>
        <p:spPr>
          <a:xfrm>
            <a:off x="685800" y="6115050"/>
            <a:ext cx="2491550" cy="190500"/>
          </a:xfrm>
          <a:prstGeom prst="rect">
            <a:avLst/>
          </a:prstGeom>
          <a:noFill/>
          <a:ln/>
        </p:spPr>
        <p:txBody>
          <a:bodyPr wrap="none" lIns="0" tIns="0" rIns="0" bIns="0" rtlCol="0" anchor="t"/>
          <a:lstStyle/>
          <a:p>
            <a:pPr marL="0" indent="0" algn="l">
              <a:lnSpc>
                <a:spcPts val="1440"/>
              </a:lnSpc>
              <a:buNone/>
            </a:pPr>
            <a:r>
              <a:rPr lang="en-US" sz="1200" b="1" dirty="0">
                <a:solidFill>
                  <a:srgbClr val="64748B"/>
                </a:solidFill>
              </a:rPr>
              <a:t>Đơn vị trình bày: TT.TTS · 10/2026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723900" y="723900"/>
            <a:ext cx="3905250" cy="5257800"/>
          </a:xfrm>
          <a:prstGeom prst="roundRect">
            <a:avLst>
              <a:gd name="adj" fmla="val 4390"/>
            </a:avLst>
          </a:prstGeom>
          <a:solidFill>
            <a:srgbClr val="FFFFFF"/>
          </a:solidFill>
          <a:ln w="9525">
            <a:solidFill>
              <a:srgbClr val="E2E8F0"/>
            </a:solidFill>
            <a:prstDash val="solid"/>
          </a:ln>
        </p:spPr>
      </p:sp>
      <p:sp>
        <p:nvSpPr>
          <p:cNvPr id="3" name="Shape 1"/>
          <p:cNvSpPr/>
          <p:nvPr/>
        </p:nvSpPr>
        <p:spPr>
          <a:xfrm>
            <a:off x="733425" y="733425"/>
            <a:ext cx="3886200" cy="66675"/>
          </a:xfrm>
          <a:prstGeom prst="rect">
            <a:avLst/>
          </a:prstGeom>
          <a:solidFill>
            <a:srgbClr val="E11D48"/>
          </a:solidFill>
          <a:ln/>
        </p:spPr>
      </p:sp>
      <p:sp>
        <p:nvSpPr>
          <p:cNvPr id="4" name="Text 2"/>
          <p:cNvSpPr txBox="1"/>
          <p:nvPr/>
        </p:nvSpPr>
        <p:spPr>
          <a:xfrm>
            <a:off x="1076325" y="1114425"/>
            <a:ext cx="637737"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E11D48"/>
                </a:solidFill>
              </a:rPr>
              <a:t>MỤC LỤC</a:t>
            </a:r>
            <a:endParaRPr lang="en-US" sz="900" dirty="0"/>
          </a:p>
        </p:txBody>
      </p:sp>
      <p:sp>
        <p:nvSpPr>
          <p:cNvPr id="5" name="Text 3"/>
          <p:cNvSpPr txBox="1"/>
          <p:nvPr/>
        </p:nvSpPr>
        <p:spPr>
          <a:xfrm>
            <a:off x="1076325" y="1352550"/>
            <a:ext cx="3228975" cy="1134963"/>
          </a:xfrm>
          <a:prstGeom prst="rect">
            <a:avLst/>
          </a:prstGeom>
          <a:noFill/>
          <a:ln/>
        </p:spPr>
        <p:txBody>
          <a:bodyPr wrap="square" lIns="0" tIns="0" rIns="0" bIns="0" rtlCol="0" anchor="t"/>
          <a:lstStyle/>
          <a:p>
            <a:pPr marL="0" indent="0" algn="l">
              <a:lnSpc>
                <a:spcPts val="4210"/>
              </a:lnSpc>
              <a:buNone/>
            </a:pPr>
            <a:r>
              <a:rPr lang="en-US" sz="3900" b="1" kern="0" spc="-80" dirty="0">
                <a:solidFill>
                  <a:srgbClr val="0F172A"/>
                </a:solidFill>
              </a:rPr>
              <a:t>Nội dung chính</a:t>
            </a:r>
            <a:endParaRPr lang="en-US" sz="3900" dirty="0"/>
          </a:p>
        </p:txBody>
      </p:sp>
      <p:sp>
        <p:nvSpPr>
          <p:cNvPr id="6" name="Shape 4"/>
          <p:cNvSpPr/>
          <p:nvPr/>
        </p:nvSpPr>
        <p:spPr>
          <a:xfrm>
            <a:off x="1076325" y="3699570"/>
            <a:ext cx="3200400" cy="1891605"/>
          </a:xfrm>
          <a:prstGeom prst="roundRect">
            <a:avLst>
              <a:gd name="adj" fmla="val 7050"/>
            </a:avLst>
          </a:prstGeom>
          <a:solidFill>
            <a:srgbClr val="FFF1F2"/>
          </a:solidFill>
          <a:ln w="9525">
            <a:solidFill>
              <a:srgbClr val="FECDD3"/>
            </a:solidFill>
            <a:prstDash val="solid"/>
          </a:ln>
        </p:spPr>
      </p:sp>
      <p:sp>
        <p:nvSpPr>
          <p:cNvPr id="7" name="Text 5"/>
          <p:cNvSpPr txBox="1"/>
          <p:nvPr/>
        </p:nvSpPr>
        <p:spPr>
          <a:xfrm>
            <a:off x="1295400" y="3928170"/>
            <a:ext cx="603031" cy="142875"/>
          </a:xfrm>
          <a:prstGeom prst="rect">
            <a:avLst/>
          </a:prstGeom>
          <a:noFill/>
          <a:ln/>
        </p:spPr>
        <p:txBody>
          <a:bodyPr wrap="none" lIns="0" tIns="0" rIns="0" bIns="0" rtlCol="0" anchor="t"/>
          <a:lstStyle/>
          <a:p>
            <a:pPr marL="0" indent="0" algn="l">
              <a:lnSpc>
                <a:spcPts val="1620"/>
              </a:lnSpc>
              <a:buNone/>
            </a:pPr>
            <a:r>
              <a:rPr lang="en-US" sz="900" b="1" kern="0" spc="40" dirty="0">
                <a:solidFill>
                  <a:srgbClr val="E11D48"/>
                </a:solidFill>
              </a:rPr>
              <a:t>PHỤ LỤC</a:t>
            </a:r>
            <a:endParaRPr lang="en-US" sz="900" dirty="0"/>
          </a:p>
        </p:txBody>
      </p:sp>
      <p:sp>
        <p:nvSpPr>
          <p:cNvPr id="8" name="Text 6"/>
          <p:cNvSpPr txBox="1"/>
          <p:nvPr/>
        </p:nvSpPr>
        <p:spPr>
          <a:xfrm>
            <a:off x="1295400" y="4143375"/>
            <a:ext cx="2151897" cy="1209675"/>
          </a:xfrm>
          <a:prstGeom prst="rect">
            <a:avLst/>
          </a:prstGeom>
          <a:noFill/>
          <a:ln/>
        </p:spPr>
        <p:txBody>
          <a:bodyPr wrap="none" lIns="0" tIns="0" rIns="0" bIns="0" rtlCol="0" anchor="t"/>
          <a:lstStyle/>
          <a:p>
            <a:pPr marL="0" indent="0" algn="l">
              <a:lnSpc>
                <a:spcPts val="2030"/>
              </a:lnSpc>
              <a:buNone/>
            </a:pPr>
            <a:r>
              <a:rPr lang="en-US" sz="1130" b="1" dirty="0">
                <a:solidFill>
                  <a:srgbClr val="334155"/>
                </a:solidFill>
              </a:rPr>
              <a:t>A · Rủi ro và hướng xử lý</a:t>
            </a:r>
            <a:endParaRPr lang="en-US" sz="1130" dirty="0"/>
          </a:p>
          <a:p>
            <a:pPr marL="0" indent="0" algn="l">
              <a:lnSpc>
                <a:spcPts val="2030"/>
              </a:lnSpc>
              <a:buNone/>
            </a:pPr>
            <a:r>
              <a:rPr lang="en-US" sz="1130" b="1" dirty="0">
                <a:solidFill>
                  <a:srgbClr val="334155"/>
                </a:solidFill>
              </a:rPr>
              <a:t>B · Dòng thu của VDF</a:t>
            </a:r>
            <a:endParaRPr lang="en-US" sz="1130" dirty="0"/>
          </a:p>
          <a:p>
            <a:pPr marL="0" indent="0" algn="l">
              <a:lnSpc>
                <a:spcPts val="2030"/>
              </a:lnSpc>
              <a:buNone/>
            </a:pPr>
            <a:r>
              <a:rPr lang="en-US" sz="1130" b="1" dirty="0">
                <a:solidFill>
                  <a:srgbClr val="334155"/>
                </a:solidFill>
              </a:rPr>
              <a:t>C · Vì sao chọn giải pháp này</a:t>
            </a:r>
            <a:endParaRPr lang="en-US" sz="1130" dirty="0"/>
          </a:p>
          <a:p>
            <a:pPr marL="0" indent="0" algn="l">
              <a:lnSpc>
                <a:spcPts val="2030"/>
              </a:lnSpc>
              <a:buNone/>
            </a:pPr>
            <a:r>
              <a:rPr lang="en-US" sz="1130" b="1" dirty="0">
                <a:solidFill>
                  <a:srgbClr val="334155"/>
                </a:solidFill>
              </a:rPr>
              <a:t>D · Đối thủ và bảng so sánh</a:t>
            </a:r>
            <a:endParaRPr lang="en-US" sz="1130" dirty="0"/>
          </a:p>
          <a:p>
            <a:pPr marL="0" indent="0" algn="l">
              <a:lnSpc>
                <a:spcPts val="2030"/>
              </a:lnSpc>
              <a:buNone/>
            </a:pPr>
            <a:r>
              <a:rPr lang="en-US" sz="1130" b="1" dirty="0">
                <a:solidFill>
                  <a:srgbClr val="334155"/>
                </a:solidFill>
              </a:rPr>
              <a:t>E · Nguồn số liệu</a:t>
            </a:r>
            <a:endParaRPr lang="en-US" sz="1130" dirty="0"/>
          </a:p>
        </p:txBody>
      </p:sp>
      <p:sp>
        <p:nvSpPr>
          <p:cNvPr id="9" name="Shape 7"/>
          <p:cNvSpPr/>
          <p:nvPr/>
        </p:nvSpPr>
        <p:spPr>
          <a:xfrm>
            <a:off x="4914900" y="723900"/>
            <a:ext cx="6553200" cy="1214438"/>
          </a:xfrm>
          <a:prstGeom prst="roundRect">
            <a:avLst>
              <a:gd name="adj" fmla="val 12549"/>
            </a:avLst>
          </a:prstGeom>
          <a:solidFill>
            <a:srgbClr val="FFFFFF"/>
          </a:solidFill>
          <a:ln w="9525">
            <a:solidFill>
              <a:srgbClr val="E2E8F0"/>
            </a:solidFill>
            <a:prstDash val="solid"/>
          </a:ln>
        </p:spPr>
      </p:sp>
      <p:sp>
        <p:nvSpPr>
          <p:cNvPr id="10" name="Shape 8"/>
          <p:cNvSpPr/>
          <p:nvPr/>
        </p:nvSpPr>
        <p:spPr>
          <a:xfrm>
            <a:off x="5133975" y="1007269"/>
            <a:ext cx="685800" cy="647700"/>
          </a:xfrm>
          <a:prstGeom prst="roundRect">
            <a:avLst>
              <a:gd name="adj" fmla="val 17647"/>
            </a:avLst>
          </a:prstGeom>
          <a:solidFill>
            <a:srgbClr val="FFF1F2"/>
          </a:solidFill>
          <a:ln/>
        </p:spPr>
      </p:sp>
      <p:sp>
        <p:nvSpPr>
          <p:cNvPr id="11" name="Text 9"/>
          <p:cNvSpPr txBox="1"/>
          <p:nvPr/>
        </p:nvSpPr>
        <p:spPr>
          <a:xfrm>
            <a:off x="5314950" y="1159669"/>
            <a:ext cx="381381" cy="342900"/>
          </a:xfrm>
          <a:prstGeom prst="rect">
            <a:avLst/>
          </a:prstGeom>
          <a:noFill/>
          <a:ln/>
        </p:spPr>
        <p:txBody>
          <a:bodyPr wrap="none" lIns="0" tIns="0" rIns="0" bIns="0" rtlCol="0" anchor="t"/>
          <a:lstStyle/>
          <a:p>
            <a:pPr marL="0" indent="0" algn="l">
              <a:lnSpc>
                <a:spcPts val="2700"/>
              </a:lnSpc>
              <a:buNone/>
            </a:pPr>
            <a:r>
              <a:rPr lang="en-US" sz="2250" b="1" dirty="0">
                <a:solidFill>
                  <a:srgbClr val="E11D48"/>
                </a:solidFill>
              </a:rPr>
              <a:t>01</a:t>
            </a:r>
            <a:endParaRPr lang="en-US" sz="2250" dirty="0"/>
          </a:p>
        </p:txBody>
      </p:sp>
      <p:sp>
        <p:nvSpPr>
          <p:cNvPr id="12" name="Text 10"/>
          <p:cNvSpPr txBox="1"/>
          <p:nvPr/>
        </p:nvSpPr>
        <p:spPr>
          <a:xfrm>
            <a:off x="6048375" y="1183481"/>
            <a:ext cx="1151239" cy="295275"/>
          </a:xfrm>
          <a:prstGeom prst="rect">
            <a:avLst/>
          </a:prstGeom>
          <a:noFill/>
          <a:ln/>
        </p:spPr>
        <p:txBody>
          <a:bodyPr wrap="none" lIns="0" tIns="0" rIns="0" bIns="0" rtlCol="0" anchor="t"/>
          <a:lstStyle/>
          <a:p>
            <a:pPr marL="0" indent="0" algn="l">
              <a:lnSpc>
                <a:spcPts val="2340"/>
              </a:lnSpc>
              <a:buNone/>
            </a:pPr>
            <a:r>
              <a:rPr lang="en-US" sz="1950" b="1" dirty="0">
                <a:solidFill>
                  <a:srgbClr val="0F172A"/>
                </a:solidFill>
              </a:rPr>
              <a:t>Bối cảnh</a:t>
            </a:r>
            <a:endParaRPr lang="en-US" sz="1950" dirty="0"/>
          </a:p>
        </p:txBody>
      </p:sp>
      <p:sp>
        <p:nvSpPr>
          <p:cNvPr id="13" name="Shape 11"/>
          <p:cNvSpPr/>
          <p:nvPr/>
        </p:nvSpPr>
        <p:spPr>
          <a:xfrm>
            <a:off x="4914900" y="2071688"/>
            <a:ext cx="6553200" cy="1214438"/>
          </a:xfrm>
          <a:prstGeom prst="roundRect">
            <a:avLst>
              <a:gd name="adj" fmla="val 12549"/>
            </a:avLst>
          </a:prstGeom>
          <a:solidFill>
            <a:srgbClr val="FFFFFF"/>
          </a:solidFill>
          <a:ln w="9525">
            <a:solidFill>
              <a:srgbClr val="E2E8F0"/>
            </a:solidFill>
            <a:prstDash val="solid"/>
          </a:ln>
        </p:spPr>
      </p:sp>
      <p:sp>
        <p:nvSpPr>
          <p:cNvPr id="14" name="Shape 12"/>
          <p:cNvSpPr/>
          <p:nvPr/>
        </p:nvSpPr>
        <p:spPr>
          <a:xfrm>
            <a:off x="5133975" y="2355056"/>
            <a:ext cx="685800" cy="647700"/>
          </a:xfrm>
          <a:prstGeom prst="roundRect">
            <a:avLst>
              <a:gd name="adj" fmla="val 17647"/>
            </a:avLst>
          </a:prstGeom>
          <a:solidFill>
            <a:srgbClr val="FFF1F2"/>
          </a:solidFill>
          <a:ln/>
        </p:spPr>
      </p:sp>
      <p:sp>
        <p:nvSpPr>
          <p:cNvPr id="15" name="Text 13"/>
          <p:cNvSpPr txBox="1"/>
          <p:nvPr/>
        </p:nvSpPr>
        <p:spPr>
          <a:xfrm>
            <a:off x="5286821" y="2507456"/>
            <a:ext cx="440856" cy="342900"/>
          </a:xfrm>
          <a:prstGeom prst="rect">
            <a:avLst/>
          </a:prstGeom>
          <a:noFill/>
          <a:ln/>
        </p:spPr>
        <p:txBody>
          <a:bodyPr wrap="none" lIns="0" tIns="0" rIns="0" bIns="0" rtlCol="0" anchor="t"/>
          <a:lstStyle/>
          <a:p>
            <a:pPr marL="0" indent="0" algn="l">
              <a:lnSpc>
                <a:spcPts val="2700"/>
              </a:lnSpc>
              <a:buNone/>
            </a:pPr>
            <a:r>
              <a:rPr lang="en-US" sz="2250" b="1" dirty="0">
                <a:solidFill>
                  <a:srgbClr val="E11D48"/>
                </a:solidFill>
              </a:rPr>
              <a:t>02</a:t>
            </a:r>
            <a:endParaRPr lang="en-US" sz="2250" dirty="0"/>
          </a:p>
        </p:txBody>
      </p:sp>
      <p:sp>
        <p:nvSpPr>
          <p:cNvPr id="16" name="Text 14"/>
          <p:cNvSpPr txBox="1"/>
          <p:nvPr/>
        </p:nvSpPr>
        <p:spPr>
          <a:xfrm>
            <a:off x="6048375" y="2531269"/>
            <a:ext cx="3289173" cy="295275"/>
          </a:xfrm>
          <a:prstGeom prst="rect">
            <a:avLst/>
          </a:prstGeom>
          <a:noFill/>
          <a:ln/>
        </p:spPr>
        <p:txBody>
          <a:bodyPr wrap="none" lIns="0" tIns="0" rIns="0" bIns="0" rtlCol="0" anchor="t"/>
          <a:lstStyle/>
          <a:p>
            <a:pPr marL="0" indent="0" algn="l">
              <a:lnSpc>
                <a:spcPts val="2340"/>
              </a:lnSpc>
              <a:buNone/>
            </a:pPr>
            <a:r>
              <a:rPr lang="en-US" sz="1950" b="1" dirty="0">
                <a:solidFill>
                  <a:srgbClr val="0F172A"/>
                </a:solidFill>
              </a:rPr>
              <a:t>Vấn đề và cơ hội của VDF</a:t>
            </a:r>
            <a:endParaRPr lang="en-US" sz="1950" dirty="0"/>
          </a:p>
        </p:txBody>
      </p:sp>
      <p:sp>
        <p:nvSpPr>
          <p:cNvPr id="17" name="Shape 15"/>
          <p:cNvSpPr/>
          <p:nvPr/>
        </p:nvSpPr>
        <p:spPr>
          <a:xfrm>
            <a:off x="4914900" y="3419475"/>
            <a:ext cx="6553200" cy="1214438"/>
          </a:xfrm>
          <a:prstGeom prst="roundRect">
            <a:avLst>
              <a:gd name="adj" fmla="val 12549"/>
            </a:avLst>
          </a:prstGeom>
          <a:solidFill>
            <a:srgbClr val="FFFFFF"/>
          </a:solidFill>
          <a:ln w="9525">
            <a:solidFill>
              <a:srgbClr val="E2E8F0"/>
            </a:solidFill>
            <a:prstDash val="solid"/>
          </a:ln>
        </p:spPr>
      </p:sp>
      <p:sp>
        <p:nvSpPr>
          <p:cNvPr id="18" name="Shape 16"/>
          <p:cNvSpPr/>
          <p:nvPr/>
        </p:nvSpPr>
        <p:spPr>
          <a:xfrm>
            <a:off x="5133975" y="3702844"/>
            <a:ext cx="685800" cy="647700"/>
          </a:xfrm>
          <a:prstGeom prst="roundRect">
            <a:avLst>
              <a:gd name="adj" fmla="val 17647"/>
            </a:avLst>
          </a:prstGeom>
          <a:solidFill>
            <a:srgbClr val="FFF1F2"/>
          </a:solidFill>
          <a:ln/>
        </p:spPr>
      </p:sp>
      <p:sp>
        <p:nvSpPr>
          <p:cNvPr id="19" name="Text 17"/>
          <p:cNvSpPr txBox="1"/>
          <p:nvPr/>
        </p:nvSpPr>
        <p:spPr>
          <a:xfrm>
            <a:off x="5284143" y="3855244"/>
            <a:ext cx="446535" cy="342900"/>
          </a:xfrm>
          <a:prstGeom prst="rect">
            <a:avLst/>
          </a:prstGeom>
          <a:noFill/>
          <a:ln/>
        </p:spPr>
        <p:txBody>
          <a:bodyPr wrap="none" lIns="0" tIns="0" rIns="0" bIns="0" rtlCol="0" anchor="t"/>
          <a:lstStyle/>
          <a:p>
            <a:pPr marL="0" indent="0" algn="l">
              <a:lnSpc>
                <a:spcPts val="2700"/>
              </a:lnSpc>
              <a:buNone/>
            </a:pPr>
            <a:r>
              <a:rPr lang="en-US" sz="2250" b="1" dirty="0">
                <a:solidFill>
                  <a:srgbClr val="E11D48"/>
                </a:solidFill>
              </a:rPr>
              <a:t>03</a:t>
            </a:r>
            <a:endParaRPr lang="en-US" sz="2250" dirty="0"/>
          </a:p>
        </p:txBody>
      </p:sp>
      <p:sp>
        <p:nvSpPr>
          <p:cNvPr id="20" name="Text 18"/>
          <p:cNvSpPr txBox="1"/>
          <p:nvPr/>
        </p:nvSpPr>
        <p:spPr>
          <a:xfrm>
            <a:off x="6048375" y="3879056"/>
            <a:ext cx="1252046" cy="295275"/>
          </a:xfrm>
          <a:prstGeom prst="rect">
            <a:avLst/>
          </a:prstGeom>
          <a:noFill/>
          <a:ln/>
        </p:spPr>
        <p:txBody>
          <a:bodyPr wrap="none" lIns="0" tIns="0" rIns="0" bIns="0" rtlCol="0" anchor="t"/>
          <a:lstStyle/>
          <a:p>
            <a:pPr marL="0" indent="0" algn="l">
              <a:lnSpc>
                <a:spcPts val="2340"/>
              </a:lnSpc>
              <a:buNone/>
            </a:pPr>
            <a:r>
              <a:rPr lang="en-US" sz="1950" b="1" dirty="0">
                <a:solidFill>
                  <a:srgbClr val="0F172A"/>
                </a:solidFill>
              </a:rPr>
              <a:t>Giải pháp</a:t>
            </a:r>
            <a:endParaRPr lang="en-US" sz="1950" dirty="0"/>
          </a:p>
        </p:txBody>
      </p:sp>
      <p:sp>
        <p:nvSpPr>
          <p:cNvPr id="21" name="Shape 19"/>
          <p:cNvSpPr/>
          <p:nvPr/>
        </p:nvSpPr>
        <p:spPr>
          <a:xfrm>
            <a:off x="4914900" y="4767263"/>
            <a:ext cx="6553200" cy="1214438"/>
          </a:xfrm>
          <a:prstGeom prst="roundRect">
            <a:avLst>
              <a:gd name="adj" fmla="val 12549"/>
            </a:avLst>
          </a:prstGeom>
          <a:solidFill>
            <a:srgbClr val="FFFFFF"/>
          </a:solidFill>
          <a:ln w="9525">
            <a:solidFill>
              <a:srgbClr val="E2E8F0"/>
            </a:solidFill>
            <a:prstDash val="solid"/>
          </a:ln>
        </p:spPr>
      </p:sp>
      <p:sp>
        <p:nvSpPr>
          <p:cNvPr id="22" name="Shape 20"/>
          <p:cNvSpPr/>
          <p:nvPr/>
        </p:nvSpPr>
        <p:spPr>
          <a:xfrm>
            <a:off x="5133975" y="5050631"/>
            <a:ext cx="685800" cy="647700"/>
          </a:xfrm>
          <a:prstGeom prst="roundRect">
            <a:avLst>
              <a:gd name="adj" fmla="val 17647"/>
            </a:avLst>
          </a:prstGeom>
          <a:solidFill>
            <a:srgbClr val="FFF1F2"/>
          </a:solidFill>
          <a:ln/>
        </p:spPr>
      </p:sp>
      <p:sp>
        <p:nvSpPr>
          <p:cNvPr id="23" name="Text 21"/>
          <p:cNvSpPr txBox="1"/>
          <p:nvPr/>
        </p:nvSpPr>
        <p:spPr>
          <a:xfrm>
            <a:off x="5279529" y="5203031"/>
            <a:ext cx="456316" cy="342900"/>
          </a:xfrm>
          <a:prstGeom prst="rect">
            <a:avLst/>
          </a:prstGeom>
          <a:noFill/>
          <a:ln/>
        </p:spPr>
        <p:txBody>
          <a:bodyPr wrap="none" lIns="0" tIns="0" rIns="0" bIns="0" rtlCol="0" anchor="t"/>
          <a:lstStyle/>
          <a:p>
            <a:pPr marL="0" indent="0" algn="l">
              <a:lnSpc>
                <a:spcPts val="2700"/>
              </a:lnSpc>
              <a:buNone/>
            </a:pPr>
            <a:r>
              <a:rPr lang="en-US" sz="2250" b="1" dirty="0">
                <a:solidFill>
                  <a:srgbClr val="E11D48"/>
                </a:solidFill>
              </a:rPr>
              <a:t>04</a:t>
            </a:r>
            <a:endParaRPr lang="en-US" sz="2250" dirty="0"/>
          </a:p>
        </p:txBody>
      </p:sp>
      <p:sp>
        <p:nvSpPr>
          <p:cNvPr id="24" name="Text 22"/>
          <p:cNvSpPr txBox="1"/>
          <p:nvPr/>
        </p:nvSpPr>
        <p:spPr>
          <a:xfrm>
            <a:off x="6048375" y="5226844"/>
            <a:ext cx="4720983" cy="295275"/>
          </a:xfrm>
          <a:prstGeom prst="rect">
            <a:avLst/>
          </a:prstGeom>
          <a:noFill/>
          <a:ln/>
        </p:spPr>
        <p:txBody>
          <a:bodyPr wrap="none" lIns="0" tIns="0" rIns="0" bIns="0" rtlCol="0" anchor="t"/>
          <a:lstStyle/>
          <a:p>
            <a:pPr marL="0" indent="0" algn="l">
              <a:lnSpc>
                <a:spcPts val="2340"/>
              </a:lnSpc>
              <a:buNone/>
            </a:pPr>
            <a:r>
              <a:rPr lang="en-US" sz="1950" b="1" dirty="0">
                <a:solidFill>
                  <a:srgbClr val="0F172A"/>
                </a:solidFill>
              </a:rPr>
              <a:t>Mô hình hợp tác và lộ trình triển khai</a:t>
            </a:r>
            <a:endParaRPr lang="en-US" sz="1950" dirty="0"/>
          </a:p>
        </p:txBody>
      </p:sp>
      <p:sp>
        <p:nvSpPr>
          <p:cNvPr id="25" name="Shape 23"/>
          <p:cNvSpPr/>
          <p:nvPr/>
        </p:nvSpPr>
        <p:spPr>
          <a:xfrm>
            <a:off x="10796588" y="6343650"/>
            <a:ext cx="323850" cy="323850"/>
          </a:xfrm>
          <a:prstGeom prst="ellipse">
            <a:avLst/>
          </a:prstGeom>
          <a:solidFill>
            <a:srgbClr val="F0001E"/>
          </a:solidFill>
          <a:ln/>
        </p:spPr>
      </p:sp>
      <p:sp>
        <p:nvSpPr>
          <p:cNvPr id="26" name="Shape 24"/>
          <p:cNvSpPr/>
          <p:nvPr/>
        </p:nvSpPr>
        <p:spPr>
          <a:xfrm>
            <a:off x="10901363" y="6415088"/>
            <a:ext cx="114300" cy="180975"/>
          </a:xfrm>
          <a:prstGeom prst="roundRect">
            <a:avLst>
              <a:gd name="adj" fmla="val 29167"/>
            </a:avLst>
          </a:prstGeom>
          <a:ln w="19050">
            <a:solidFill>
              <a:srgbClr val="FFFFFF"/>
            </a:solidFill>
            <a:prstDash val="solid"/>
          </a:ln>
        </p:spPr>
      </p:sp>
      <p:sp>
        <p:nvSpPr>
          <p:cNvPr id="27" name="Text 25"/>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28" name="Text 26"/>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742950" y="3543300"/>
            <a:ext cx="2228252" cy="1724025"/>
          </a:xfrm>
          <a:prstGeom prst="rect">
            <a:avLst/>
          </a:prstGeom>
          <a:noFill/>
          <a:ln/>
        </p:spPr>
        <p:txBody>
          <a:bodyPr wrap="none" lIns="0" tIns="0" rIns="0" bIns="0" rtlCol="0" anchor="t"/>
          <a:lstStyle/>
          <a:p>
            <a:pPr marL="0" indent="0" algn="l">
              <a:lnSpc>
                <a:spcPts val="11250"/>
              </a:lnSpc>
              <a:buNone/>
            </a:pPr>
            <a:r>
              <a:rPr lang="en-US" sz="11250" b="1" kern="0" spc="-340" dirty="0">
                <a:solidFill>
                  <a:srgbClr val="F0001E"/>
                </a:solidFill>
              </a:rPr>
              <a:t>01.</a:t>
            </a:r>
            <a:endParaRPr lang="en-US" sz="11250" dirty="0"/>
          </a:p>
        </p:txBody>
      </p:sp>
      <p:sp>
        <p:nvSpPr>
          <p:cNvPr id="4" name="Text 1"/>
          <p:cNvSpPr txBox="1"/>
          <p:nvPr/>
        </p:nvSpPr>
        <p:spPr>
          <a:xfrm>
            <a:off x="781050" y="5334000"/>
            <a:ext cx="2592199" cy="714375"/>
          </a:xfrm>
          <a:prstGeom prst="rect">
            <a:avLst/>
          </a:prstGeom>
          <a:noFill/>
          <a:ln/>
        </p:spPr>
        <p:txBody>
          <a:bodyPr wrap="none" lIns="0" tIns="0" rIns="0" bIns="0" rtlCol="0" anchor="t"/>
          <a:lstStyle/>
          <a:p>
            <a:pPr marL="0" indent="0" algn="l">
              <a:lnSpc>
                <a:spcPts val="5580"/>
              </a:lnSpc>
              <a:buNone/>
            </a:pPr>
            <a:r>
              <a:rPr lang="en-US" sz="4650" b="1" kern="0" spc="-90" dirty="0">
                <a:solidFill>
                  <a:srgbClr val="0F172A"/>
                </a:solidFill>
              </a:rPr>
              <a:t>Bối cảnh</a:t>
            </a:r>
            <a:endParaRPr lang="en-US" sz="4650" dirty="0"/>
          </a:p>
        </p:txBody>
      </p:sp>
      <p:sp>
        <p:nvSpPr>
          <p:cNvPr id="5" name="Shape 2"/>
          <p:cNvSpPr/>
          <p:nvPr/>
        </p:nvSpPr>
        <p:spPr>
          <a:xfrm>
            <a:off x="10796588" y="6343650"/>
            <a:ext cx="323850" cy="323850"/>
          </a:xfrm>
          <a:prstGeom prst="ellipse">
            <a:avLst/>
          </a:prstGeom>
          <a:solidFill>
            <a:srgbClr val="F0001E"/>
          </a:solidFill>
          <a:ln/>
        </p:spPr>
      </p:sp>
      <p:sp>
        <p:nvSpPr>
          <p:cNvPr id="6" name="Shape 3"/>
          <p:cNvSpPr/>
          <p:nvPr/>
        </p:nvSpPr>
        <p:spPr>
          <a:xfrm>
            <a:off x="10901363" y="6415088"/>
            <a:ext cx="114300" cy="180975"/>
          </a:xfrm>
          <a:prstGeom prst="roundRect">
            <a:avLst>
              <a:gd name="adj" fmla="val 29167"/>
            </a:avLst>
          </a:prstGeom>
          <a:ln w="19050">
            <a:solidFill>
              <a:srgbClr val="FFFFFF"/>
            </a:solidFill>
            <a:prstDash val="solid"/>
          </a:ln>
        </p:spPr>
      </p:sp>
      <p:sp>
        <p:nvSpPr>
          <p:cNvPr id="7" name="Text 4"/>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 name="Text 5"/>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2716039"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BỐI CẢNH · MERCHANT VỪA VÀ NHỎ</a:t>
            </a:r>
            <a:endParaRPr lang="en-US" sz="1050" dirty="0"/>
          </a:p>
        </p:txBody>
      </p:sp>
      <p:sp>
        <p:nvSpPr>
          <p:cNvPr id="3" name="Text 1"/>
          <p:cNvSpPr txBox="1"/>
          <p:nvPr/>
        </p:nvSpPr>
        <p:spPr>
          <a:xfrm>
            <a:off x="609600" y="619125"/>
            <a:ext cx="10557075"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Merchant vừa và nhỏ: </a:t>
            </a:r>
            <a:r>
              <a:rPr lang="en-US" sz="2330" b="1" kern="0" spc="-30" dirty="0">
                <a:solidFill>
                  <a:srgbClr val="E11D48"/>
                </a:solidFill>
              </a:rPr>
              <a:t>tệp lớn, đang số hóa</a:t>
            </a:r>
            <a:r>
              <a:rPr lang="en-US" sz="2330" b="1" kern="0" spc="-30" dirty="0">
                <a:solidFill>
                  <a:srgbClr val="0F172A"/>
                </a:solidFill>
              </a:rPr>
              <a:t>, nhưng chưa nhận được thẻ</a:t>
            </a:r>
            <a:endParaRPr lang="en-US" sz="2330" dirty="0"/>
          </a:p>
        </p:txBody>
      </p:sp>
      <p:sp>
        <p:nvSpPr>
          <p:cNvPr id="4" name="Shape 2"/>
          <p:cNvSpPr/>
          <p:nvPr/>
        </p:nvSpPr>
        <p:spPr>
          <a:xfrm>
            <a:off x="609600" y="1169789"/>
            <a:ext cx="3714750" cy="4315420"/>
          </a:xfrm>
          <a:prstGeom prst="roundRect">
            <a:avLst>
              <a:gd name="adj" fmla="val 3590"/>
            </a:avLst>
          </a:prstGeom>
          <a:solidFill>
            <a:srgbClr val="FFFFFF"/>
          </a:solidFill>
          <a:ln w="9525">
            <a:solidFill>
              <a:srgbClr val="E2E8F0"/>
            </a:solidFill>
            <a:prstDash val="solid"/>
          </a:ln>
        </p:spPr>
      </p:sp>
      <p:pic>
        <p:nvPicPr>
          <p:cNvPr id="5" name="Image 0" descr="Hình minh hoạ"/>
          <p:cNvPicPr>
            <a:picLocks noChangeAspect="1"/>
          </p:cNvPicPr>
          <p:nvPr/>
        </p:nvPicPr>
        <p:blipFill>
          <a:blip r:embed="rId3"/>
          <a:stretch>
            <a:fillRect/>
          </a:stretch>
        </p:blipFill>
        <p:spPr>
          <a:xfrm>
            <a:off x="1581150" y="1898303"/>
            <a:ext cx="1771650" cy="1771650"/>
          </a:xfrm>
          <a:prstGeom prst="rect">
            <a:avLst/>
          </a:prstGeom>
        </p:spPr>
      </p:pic>
      <p:sp>
        <p:nvSpPr>
          <p:cNvPr id="6" name="Text 3"/>
          <p:cNvSpPr txBox="1"/>
          <p:nvPr/>
        </p:nvSpPr>
        <p:spPr>
          <a:xfrm>
            <a:off x="2069455" y="2531715"/>
            <a:ext cx="880684" cy="314325"/>
          </a:xfrm>
          <a:prstGeom prst="rect">
            <a:avLst/>
          </a:prstGeom>
          <a:noFill/>
          <a:ln/>
        </p:spPr>
        <p:txBody>
          <a:bodyPr wrap="none" lIns="0" tIns="0" rIns="0" bIns="0" rtlCol="0" anchor="t"/>
          <a:lstStyle/>
          <a:p>
            <a:pPr marL="0" indent="0" algn="l">
              <a:lnSpc>
                <a:spcPts val="2030"/>
              </a:lnSpc>
              <a:buNone/>
            </a:pPr>
            <a:r>
              <a:rPr lang="en-US" sz="2030" b="1" kern="0" spc="-40" dirty="0">
                <a:solidFill>
                  <a:srgbClr val="0F172A"/>
                </a:solidFill>
              </a:rPr>
              <a:t>5 triệu</a:t>
            </a:r>
            <a:endParaRPr lang="en-US" sz="2030" dirty="0"/>
          </a:p>
        </p:txBody>
      </p:sp>
      <p:sp>
        <p:nvSpPr>
          <p:cNvPr id="7" name="Text 4"/>
          <p:cNvSpPr txBox="1"/>
          <p:nvPr/>
        </p:nvSpPr>
        <p:spPr>
          <a:xfrm>
            <a:off x="2040582" y="2855565"/>
            <a:ext cx="941895" cy="152400"/>
          </a:xfrm>
          <a:prstGeom prst="rect">
            <a:avLst/>
          </a:prstGeom>
          <a:noFill/>
          <a:ln/>
        </p:spPr>
        <p:txBody>
          <a:bodyPr wrap="none" lIns="0" tIns="0" rIns="0" bIns="0" rtlCol="0" anchor="t"/>
          <a:lstStyle/>
          <a:p>
            <a:pPr marL="0" indent="0" algn="l">
              <a:lnSpc>
                <a:spcPts val="1170"/>
              </a:lnSpc>
              <a:buNone/>
            </a:pPr>
            <a:r>
              <a:rPr lang="en-US" sz="980" b="1" dirty="0">
                <a:solidFill>
                  <a:srgbClr val="64748B"/>
                </a:solidFill>
              </a:rPr>
              <a:t>hộ kinh doanh</a:t>
            </a:r>
            <a:endParaRPr lang="en-US" sz="980" dirty="0"/>
          </a:p>
        </p:txBody>
      </p:sp>
      <p:sp>
        <p:nvSpPr>
          <p:cNvPr id="8" name="Shape 5"/>
          <p:cNvSpPr/>
          <p:nvPr/>
        </p:nvSpPr>
        <p:spPr>
          <a:xfrm>
            <a:off x="809625" y="3819971"/>
            <a:ext cx="133350" cy="133350"/>
          </a:xfrm>
          <a:prstGeom prst="roundRect">
            <a:avLst>
              <a:gd name="adj" fmla="val 28571"/>
            </a:avLst>
          </a:prstGeom>
          <a:solidFill>
            <a:srgbClr val="0F172A"/>
          </a:solidFill>
          <a:ln/>
        </p:spPr>
      </p:sp>
      <p:sp>
        <p:nvSpPr>
          <p:cNvPr id="9" name="Text 6"/>
          <p:cNvSpPr txBox="1"/>
          <p:nvPr/>
        </p:nvSpPr>
        <p:spPr>
          <a:xfrm>
            <a:off x="1038225" y="3803005"/>
            <a:ext cx="1338655" cy="152400"/>
          </a:xfrm>
          <a:prstGeom prst="rect">
            <a:avLst/>
          </a:prstGeom>
          <a:noFill/>
          <a:ln/>
        </p:spPr>
        <p:txBody>
          <a:bodyPr wrap="none" lIns="0" tIns="0" rIns="0" bIns="0" rtlCol="0" anchor="t"/>
          <a:lstStyle/>
          <a:p>
            <a:pPr marL="0" indent="0" algn="l">
              <a:lnSpc>
                <a:spcPts val="1320"/>
              </a:lnSpc>
              <a:buNone/>
            </a:pPr>
            <a:r>
              <a:rPr lang="en-US" sz="1010" b="1" dirty="0">
                <a:solidFill>
                  <a:srgbClr val="334155"/>
                </a:solidFill>
              </a:rPr>
              <a:t>Có địa điểm cố định</a:t>
            </a:r>
            <a:endParaRPr lang="en-US" sz="1010" dirty="0"/>
          </a:p>
        </p:txBody>
      </p:sp>
      <p:sp>
        <p:nvSpPr>
          <p:cNvPr id="10" name="Text 7"/>
          <p:cNvSpPr txBox="1"/>
          <p:nvPr/>
        </p:nvSpPr>
        <p:spPr>
          <a:xfrm>
            <a:off x="3416796" y="3793778"/>
            <a:ext cx="788081" cy="180975"/>
          </a:xfrm>
          <a:prstGeom prst="rect">
            <a:avLst/>
          </a:prstGeom>
          <a:noFill/>
          <a:ln/>
        </p:spPr>
        <p:txBody>
          <a:bodyPr wrap="none" lIns="0" tIns="0" rIns="0" bIns="0" rtlCol="0" anchor="t"/>
          <a:lstStyle/>
          <a:p>
            <a:pPr marL="0" indent="0" algn="l">
              <a:lnSpc>
                <a:spcPts val="1460"/>
              </a:lnSpc>
              <a:buNone/>
            </a:pPr>
            <a:r>
              <a:rPr lang="en-US" sz="1130" b="1" dirty="0">
                <a:solidFill>
                  <a:srgbClr val="0F172A"/>
                </a:solidFill>
              </a:rPr>
              <a:t>2,03 triệu</a:t>
            </a:r>
            <a:endParaRPr lang="en-US" sz="1130" dirty="0"/>
          </a:p>
        </p:txBody>
      </p:sp>
      <p:sp>
        <p:nvSpPr>
          <p:cNvPr id="11" name="Shape 8"/>
          <p:cNvSpPr/>
          <p:nvPr/>
        </p:nvSpPr>
        <p:spPr>
          <a:xfrm>
            <a:off x="809625" y="4027140"/>
            <a:ext cx="3314700" cy="9525"/>
          </a:xfrm>
          <a:prstGeom prst="rect">
            <a:avLst/>
          </a:prstGeom>
          <a:solidFill>
            <a:srgbClr val="E2E8F0"/>
          </a:solidFill>
          <a:ln/>
        </p:spPr>
      </p:sp>
      <p:sp>
        <p:nvSpPr>
          <p:cNvPr id="12" name="Shape 9"/>
          <p:cNvSpPr/>
          <p:nvPr/>
        </p:nvSpPr>
        <p:spPr>
          <a:xfrm>
            <a:off x="809625" y="4184749"/>
            <a:ext cx="133350" cy="133350"/>
          </a:xfrm>
          <a:prstGeom prst="roundRect">
            <a:avLst>
              <a:gd name="adj" fmla="val 28571"/>
            </a:avLst>
          </a:prstGeom>
          <a:solidFill>
            <a:srgbClr val="64748B"/>
          </a:solidFill>
          <a:ln/>
        </p:spPr>
      </p:sp>
      <p:sp>
        <p:nvSpPr>
          <p:cNvPr id="13" name="Text 10"/>
          <p:cNvSpPr txBox="1"/>
          <p:nvPr/>
        </p:nvSpPr>
        <p:spPr>
          <a:xfrm>
            <a:off x="1038225" y="4084290"/>
            <a:ext cx="2371725" cy="319534"/>
          </a:xfrm>
          <a:prstGeom prst="rect">
            <a:avLst/>
          </a:prstGeom>
          <a:noFill/>
          <a:ln/>
        </p:spPr>
        <p:txBody>
          <a:bodyPr wrap="square" lIns="0" tIns="0" rIns="0" bIns="0" rtlCol="0" anchor="t"/>
          <a:lstStyle/>
          <a:p>
            <a:pPr marL="0" indent="0" algn="l">
              <a:lnSpc>
                <a:spcPts val="1320"/>
              </a:lnSpc>
              <a:buNone/>
            </a:pPr>
            <a:r>
              <a:rPr lang="en-US" sz="1010" b="1" dirty="0">
                <a:solidFill>
                  <a:srgbClr val="334155"/>
                </a:solidFill>
              </a:rPr>
              <a:t>Đăng ký thuế, không có địa điểm cố định</a:t>
            </a:r>
            <a:endParaRPr lang="en-US" sz="1010" dirty="0"/>
          </a:p>
        </p:txBody>
      </p:sp>
      <p:sp>
        <p:nvSpPr>
          <p:cNvPr id="14" name="Text 11"/>
          <p:cNvSpPr txBox="1"/>
          <p:nvPr/>
        </p:nvSpPr>
        <p:spPr>
          <a:xfrm>
            <a:off x="3416796" y="4124516"/>
            <a:ext cx="720876" cy="180975"/>
          </a:xfrm>
          <a:prstGeom prst="rect">
            <a:avLst/>
          </a:prstGeom>
          <a:noFill/>
          <a:ln/>
        </p:spPr>
        <p:txBody>
          <a:bodyPr wrap="none" lIns="0" tIns="0" rIns="0" bIns="0" rtlCol="0" anchor="t"/>
          <a:lstStyle/>
          <a:p>
            <a:pPr marL="0" indent="0" algn="l">
              <a:lnSpc>
                <a:spcPts val="1460"/>
              </a:lnSpc>
              <a:buNone/>
            </a:pPr>
            <a:r>
              <a:rPr lang="en-US" sz="1130" b="1" dirty="0">
                <a:solidFill>
                  <a:srgbClr val="0F172A"/>
                </a:solidFill>
              </a:rPr>
              <a:t>1,21 triệu</a:t>
            </a:r>
            <a:endParaRPr lang="en-US" sz="1130" dirty="0"/>
          </a:p>
        </p:txBody>
      </p:sp>
      <p:sp>
        <p:nvSpPr>
          <p:cNvPr id="15" name="Shape 12"/>
          <p:cNvSpPr/>
          <p:nvPr/>
        </p:nvSpPr>
        <p:spPr>
          <a:xfrm>
            <a:off x="809625" y="4466183"/>
            <a:ext cx="3314700" cy="9525"/>
          </a:xfrm>
          <a:prstGeom prst="rect">
            <a:avLst/>
          </a:prstGeom>
          <a:solidFill>
            <a:srgbClr val="E2E8F0"/>
          </a:solidFill>
          <a:ln/>
        </p:spPr>
      </p:sp>
      <p:sp>
        <p:nvSpPr>
          <p:cNvPr id="16" name="Shape 13"/>
          <p:cNvSpPr/>
          <p:nvPr/>
        </p:nvSpPr>
        <p:spPr>
          <a:xfrm>
            <a:off x="809625" y="4549527"/>
            <a:ext cx="133350" cy="133350"/>
          </a:xfrm>
          <a:prstGeom prst="roundRect">
            <a:avLst>
              <a:gd name="adj" fmla="val 28571"/>
            </a:avLst>
          </a:prstGeom>
          <a:solidFill>
            <a:srgbClr val="CBD5E1"/>
          </a:solidFill>
          <a:ln/>
        </p:spPr>
      </p:sp>
      <p:sp>
        <p:nvSpPr>
          <p:cNvPr id="17" name="Text 14"/>
          <p:cNvSpPr txBox="1"/>
          <p:nvPr/>
        </p:nvSpPr>
        <p:spPr>
          <a:xfrm>
            <a:off x="1038225" y="4532561"/>
            <a:ext cx="1289119" cy="152400"/>
          </a:xfrm>
          <a:prstGeom prst="rect">
            <a:avLst/>
          </a:prstGeom>
          <a:noFill/>
          <a:ln/>
        </p:spPr>
        <p:txBody>
          <a:bodyPr wrap="none" lIns="0" tIns="0" rIns="0" bIns="0" rtlCol="0" anchor="t"/>
          <a:lstStyle/>
          <a:p>
            <a:pPr marL="0" indent="0" algn="l">
              <a:lnSpc>
                <a:spcPts val="1320"/>
              </a:lnSpc>
              <a:buNone/>
            </a:pPr>
            <a:r>
              <a:rPr lang="en-US" sz="1010" b="1" dirty="0">
                <a:solidFill>
                  <a:srgbClr val="334155"/>
                </a:solidFill>
              </a:rPr>
              <a:t>Chưa đăng ký thuế</a:t>
            </a:r>
            <a:endParaRPr lang="en-US" sz="1010" dirty="0"/>
          </a:p>
        </p:txBody>
      </p:sp>
      <p:sp>
        <p:nvSpPr>
          <p:cNvPr id="18" name="Text 15"/>
          <p:cNvSpPr txBox="1"/>
          <p:nvPr/>
        </p:nvSpPr>
        <p:spPr>
          <a:xfrm>
            <a:off x="3363962" y="4523333"/>
            <a:ext cx="844085" cy="180975"/>
          </a:xfrm>
          <a:prstGeom prst="rect">
            <a:avLst/>
          </a:prstGeom>
          <a:noFill/>
          <a:ln/>
        </p:spPr>
        <p:txBody>
          <a:bodyPr wrap="none" lIns="0" tIns="0" rIns="0" bIns="0" rtlCol="0" anchor="t"/>
          <a:lstStyle/>
          <a:p>
            <a:pPr marL="0" indent="0" algn="l">
              <a:lnSpc>
                <a:spcPts val="1460"/>
              </a:lnSpc>
              <a:buNone/>
            </a:pPr>
            <a:r>
              <a:rPr lang="en-US" sz="1130" b="1" dirty="0">
                <a:solidFill>
                  <a:srgbClr val="0F172A"/>
                </a:solidFill>
              </a:rPr>
              <a:t>~1,76 triệu</a:t>
            </a:r>
            <a:endParaRPr lang="en-US" sz="1130" dirty="0"/>
          </a:p>
        </p:txBody>
      </p:sp>
      <p:sp>
        <p:nvSpPr>
          <p:cNvPr id="19" name="Shape 16"/>
          <p:cNvSpPr/>
          <p:nvPr/>
        </p:nvSpPr>
        <p:spPr>
          <a:xfrm>
            <a:off x="4457700" y="1169789"/>
            <a:ext cx="3495675" cy="1518047"/>
          </a:xfrm>
          <a:prstGeom prst="roundRect">
            <a:avLst>
              <a:gd name="adj" fmla="val 8784"/>
            </a:avLst>
          </a:prstGeom>
          <a:solidFill>
            <a:srgbClr val="FFFFFF"/>
          </a:solidFill>
          <a:ln w="9525">
            <a:solidFill>
              <a:srgbClr val="E2E8F0"/>
            </a:solidFill>
            <a:prstDash val="solid"/>
          </a:ln>
        </p:spPr>
      </p:sp>
      <p:sp>
        <p:nvSpPr>
          <p:cNvPr id="20" name="Shape 17"/>
          <p:cNvSpPr/>
          <p:nvPr/>
        </p:nvSpPr>
        <p:spPr>
          <a:xfrm>
            <a:off x="4467225" y="1179314"/>
            <a:ext cx="3476625" cy="47625"/>
          </a:xfrm>
          <a:prstGeom prst="rect">
            <a:avLst/>
          </a:prstGeom>
          <a:solidFill>
            <a:srgbClr val="E11D48"/>
          </a:solidFill>
          <a:ln/>
        </p:spPr>
      </p:sp>
      <p:sp>
        <p:nvSpPr>
          <p:cNvPr id="21" name="Text 18"/>
          <p:cNvSpPr txBox="1"/>
          <p:nvPr/>
        </p:nvSpPr>
        <p:spPr>
          <a:xfrm>
            <a:off x="4676775" y="1562695"/>
            <a:ext cx="2279681" cy="466725"/>
          </a:xfrm>
          <a:prstGeom prst="rect">
            <a:avLst/>
          </a:prstGeom>
          <a:noFill/>
          <a:ln/>
        </p:spPr>
        <p:txBody>
          <a:bodyPr wrap="none" lIns="0" tIns="0" rIns="0" bIns="0" rtlCol="0" anchor="t"/>
          <a:lstStyle/>
          <a:p>
            <a:pPr marL="0" indent="0" algn="l">
              <a:lnSpc>
                <a:spcPts val="3240"/>
              </a:lnSpc>
              <a:buNone/>
            </a:pPr>
            <a:r>
              <a:rPr lang="en-US" sz="3000" b="1" kern="0" spc="-60" dirty="0">
                <a:solidFill>
                  <a:srgbClr val="E11D48"/>
                </a:solidFill>
              </a:rPr>
              <a:t>~520 nghìn</a:t>
            </a:r>
            <a:endParaRPr lang="en-US" sz="3000" dirty="0"/>
          </a:p>
        </p:txBody>
      </p:sp>
      <p:sp>
        <p:nvSpPr>
          <p:cNvPr id="22" name="Text 19"/>
          <p:cNvSpPr txBox="1"/>
          <p:nvPr/>
        </p:nvSpPr>
        <p:spPr>
          <a:xfrm>
            <a:off x="4676775" y="2069306"/>
            <a:ext cx="1696135" cy="180975"/>
          </a:xfrm>
          <a:prstGeom prst="rect">
            <a:avLst/>
          </a:prstGeom>
          <a:noFill/>
          <a:ln/>
        </p:spPr>
        <p:txBody>
          <a:bodyPr wrap="none" lIns="0" tIns="0" rIns="0" bIns="0" rtlCol="0" anchor="t"/>
          <a:lstStyle/>
          <a:p>
            <a:pPr marL="0" indent="0" algn="l">
              <a:lnSpc>
                <a:spcPts val="1630"/>
              </a:lnSpc>
              <a:buNone/>
            </a:pPr>
            <a:r>
              <a:rPr lang="en-US" sz="1160" b="1" dirty="0" err="1">
                <a:solidFill>
                  <a:srgbClr val="334155"/>
                </a:solidFill>
              </a:rPr>
              <a:t>hộ</a:t>
            </a:r>
            <a:r>
              <a:rPr lang="en-US" sz="1160" b="1" dirty="0">
                <a:solidFill>
                  <a:srgbClr val="334155"/>
                </a:solidFill>
              </a:rPr>
              <a:t> </a:t>
            </a:r>
            <a:r>
              <a:rPr lang="en-US" sz="1160" b="1" dirty="0" err="1">
                <a:solidFill>
                  <a:srgbClr val="334155"/>
                </a:solidFill>
              </a:rPr>
              <a:t>kinh</a:t>
            </a:r>
            <a:r>
              <a:rPr lang="en-US" sz="1160" b="1" dirty="0">
                <a:solidFill>
                  <a:srgbClr val="334155"/>
                </a:solidFill>
              </a:rPr>
              <a:t> </a:t>
            </a:r>
            <a:r>
              <a:rPr lang="en-US" sz="1160" b="1" dirty="0" err="1">
                <a:solidFill>
                  <a:srgbClr val="334155"/>
                </a:solidFill>
              </a:rPr>
              <a:t>doanh</a:t>
            </a:r>
            <a:r>
              <a:rPr lang="en-US" sz="1160" b="1" dirty="0">
                <a:solidFill>
                  <a:srgbClr val="334155"/>
                </a:solidFill>
              </a:rPr>
              <a:t> quanh điểm du lịch</a:t>
            </a:r>
            <a:endParaRPr lang="en-US" sz="1160" dirty="0"/>
          </a:p>
        </p:txBody>
      </p:sp>
      <p:sp>
        <p:nvSpPr>
          <p:cNvPr id="23" name="Shape 20"/>
          <p:cNvSpPr/>
          <p:nvPr/>
        </p:nvSpPr>
        <p:spPr>
          <a:xfrm>
            <a:off x="8086725" y="1169789"/>
            <a:ext cx="3495675" cy="1518047"/>
          </a:xfrm>
          <a:prstGeom prst="roundRect">
            <a:avLst>
              <a:gd name="adj" fmla="val 8784"/>
            </a:avLst>
          </a:prstGeom>
          <a:solidFill>
            <a:srgbClr val="FFFFFF"/>
          </a:solidFill>
          <a:ln w="9525">
            <a:solidFill>
              <a:srgbClr val="E2E8F0"/>
            </a:solidFill>
            <a:prstDash val="solid"/>
          </a:ln>
        </p:spPr>
      </p:sp>
      <p:sp>
        <p:nvSpPr>
          <p:cNvPr id="24" name="Shape 21"/>
          <p:cNvSpPr/>
          <p:nvPr/>
        </p:nvSpPr>
        <p:spPr>
          <a:xfrm>
            <a:off x="8096250" y="1179314"/>
            <a:ext cx="3476625" cy="47625"/>
          </a:xfrm>
          <a:prstGeom prst="rect">
            <a:avLst/>
          </a:prstGeom>
          <a:solidFill>
            <a:srgbClr val="0F172A"/>
          </a:solidFill>
          <a:ln/>
        </p:spPr>
      </p:sp>
      <p:sp>
        <p:nvSpPr>
          <p:cNvPr id="25" name="Text 22"/>
          <p:cNvSpPr txBox="1"/>
          <p:nvPr/>
        </p:nvSpPr>
        <p:spPr>
          <a:xfrm>
            <a:off x="8305800" y="1459409"/>
            <a:ext cx="2277945" cy="466725"/>
          </a:xfrm>
          <a:prstGeom prst="rect">
            <a:avLst/>
          </a:prstGeom>
          <a:noFill/>
          <a:ln/>
        </p:spPr>
        <p:txBody>
          <a:bodyPr wrap="none" lIns="0" tIns="0" rIns="0" bIns="0" rtlCol="0" anchor="t"/>
          <a:lstStyle/>
          <a:p>
            <a:pPr marL="0" indent="0" algn="l">
              <a:lnSpc>
                <a:spcPts val="3240"/>
              </a:lnSpc>
              <a:buNone/>
            </a:pPr>
            <a:r>
              <a:rPr lang="en-US" sz="3000" b="1" kern="0" spc="-60" dirty="0">
                <a:solidFill>
                  <a:srgbClr val="0F172A"/>
                </a:solidFill>
              </a:rPr>
              <a:t>308 nghìn+</a:t>
            </a:r>
            <a:endParaRPr lang="en-US" sz="3000" dirty="0"/>
          </a:p>
        </p:txBody>
      </p:sp>
      <p:sp>
        <p:nvSpPr>
          <p:cNvPr id="26" name="Text 23"/>
          <p:cNvSpPr txBox="1"/>
          <p:nvPr/>
        </p:nvSpPr>
        <p:spPr>
          <a:xfrm>
            <a:off x="8305800" y="1966020"/>
            <a:ext cx="3086100" cy="387548"/>
          </a:xfrm>
          <a:prstGeom prst="rect">
            <a:avLst/>
          </a:prstGeom>
          <a:noFill/>
          <a:ln/>
        </p:spPr>
        <p:txBody>
          <a:bodyPr wrap="square" lIns="0" tIns="0" rIns="0" bIns="0" rtlCol="0" anchor="t"/>
          <a:lstStyle/>
          <a:p>
            <a:pPr marL="0" indent="0" algn="l">
              <a:lnSpc>
                <a:spcPts val="1630"/>
              </a:lnSpc>
              <a:buNone/>
            </a:pPr>
            <a:r>
              <a:rPr lang="en-US" sz="1160" b="1" dirty="0">
                <a:solidFill>
                  <a:srgbClr val="334155"/>
                </a:solidFill>
              </a:rPr>
              <a:t>hộ đã dùng hóa đơn điện tử, sau khi bỏ thuế khoán</a:t>
            </a:r>
            <a:endParaRPr lang="en-US" sz="1160" dirty="0"/>
          </a:p>
        </p:txBody>
      </p:sp>
      <p:sp>
        <p:nvSpPr>
          <p:cNvPr id="27" name="Shape 24"/>
          <p:cNvSpPr/>
          <p:nvPr/>
        </p:nvSpPr>
        <p:spPr>
          <a:xfrm>
            <a:off x="4457700" y="2821186"/>
            <a:ext cx="3495675" cy="1311622"/>
          </a:xfrm>
          <a:prstGeom prst="roundRect">
            <a:avLst>
              <a:gd name="adj" fmla="val 10167"/>
            </a:avLst>
          </a:prstGeom>
          <a:solidFill>
            <a:srgbClr val="FFFFFF"/>
          </a:solidFill>
          <a:ln w="9525">
            <a:solidFill>
              <a:srgbClr val="E2E8F0"/>
            </a:solidFill>
            <a:prstDash val="solid"/>
          </a:ln>
        </p:spPr>
      </p:sp>
      <p:sp>
        <p:nvSpPr>
          <p:cNvPr id="28" name="Shape 25"/>
          <p:cNvSpPr/>
          <p:nvPr/>
        </p:nvSpPr>
        <p:spPr>
          <a:xfrm>
            <a:off x="4467225" y="2830711"/>
            <a:ext cx="3476625" cy="47625"/>
          </a:xfrm>
          <a:prstGeom prst="rect">
            <a:avLst/>
          </a:prstGeom>
          <a:solidFill>
            <a:srgbClr val="0F172A"/>
          </a:solidFill>
          <a:ln/>
        </p:spPr>
      </p:sp>
      <p:sp>
        <p:nvSpPr>
          <p:cNvPr id="29" name="Text 26"/>
          <p:cNvSpPr txBox="1"/>
          <p:nvPr/>
        </p:nvSpPr>
        <p:spPr>
          <a:xfrm>
            <a:off x="4676775" y="3110805"/>
            <a:ext cx="1929458" cy="466725"/>
          </a:xfrm>
          <a:prstGeom prst="rect">
            <a:avLst/>
          </a:prstGeom>
          <a:noFill/>
          <a:ln/>
        </p:spPr>
        <p:txBody>
          <a:bodyPr wrap="none" lIns="0" tIns="0" rIns="0" bIns="0" rtlCol="0" anchor="t"/>
          <a:lstStyle/>
          <a:p>
            <a:pPr marL="0" indent="0" algn="l">
              <a:lnSpc>
                <a:spcPts val="3240"/>
              </a:lnSpc>
              <a:buNone/>
            </a:pPr>
            <a:r>
              <a:rPr lang="en-US" sz="3000" b="1" kern="0" spc="-60" dirty="0">
                <a:solidFill>
                  <a:srgbClr val="0F172A"/>
                </a:solidFill>
              </a:rPr>
              <a:t>737 </a:t>
            </a:r>
            <a:r>
              <a:rPr lang="en-US" sz="3000" b="1" kern="0" spc="-60" dirty="0" err="1">
                <a:solidFill>
                  <a:srgbClr val="0F172A"/>
                </a:solidFill>
              </a:rPr>
              <a:t>nghìn</a:t>
            </a:r>
            <a:r>
              <a:rPr lang="en-US" sz="3000" b="1" kern="0" spc="-60" dirty="0">
                <a:solidFill>
                  <a:srgbClr val="0F172A"/>
                </a:solidFill>
              </a:rPr>
              <a:t>+</a:t>
            </a:r>
            <a:endParaRPr lang="en-US" sz="3000" dirty="0"/>
          </a:p>
        </p:txBody>
      </p:sp>
      <p:sp>
        <p:nvSpPr>
          <p:cNvPr id="30" name="Text 27"/>
          <p:cNvSpPr txBox="1"/>
          <p:nvPr/>
        </p:nvSpPr>
        <p:spPr>
          <a:xfrm>
            <a:off x="4676775" y="3617416"/>
            <a:ext cx="1363739" cy="180975"/>
          </a:xfrm>
          <a:prstGeom prst="rect">
            <a:avLst/>
          </a:prstGeom>
          <a:noFill/>
          <a:ln/>
        </p:spPr>
        <p:txBody>
          <a:bodyPr wrap="none" lIns="0" tIns="0" rIns="0" bIns="0" rtlCol="0" anchor="t"/>
          <a:lstStyle/>
          <a:p>
            <a:pPr marL="0" indent="0" algn="l">
              <a:lnSpc>
                <a:spcPts val="1630"/>
              </a:lnSpc>
              <a:buNone/>
            </a:pPr>
            <a:r>
              <a:rPr lang="en-US" sz="1160" b="1" dirty="0">
                <a:solidFill>
                  <a:srgbClr val="334155"/>
                </a:solidFill>
              </a:rPr>
              <a:t>máy POS cả nước</a:t>
            </a:r>
            <a:endParaRPr lang="en-US" sz="1160" dirty="0"/>
          </a:p>
        </p:txBody>
      </p:sp>
      <p:sp>
        <p:nvSpPr>
          <p:cNvPr id="31" name="Shape 28"/>
          <p:cNvSpPr/>
          <p:nvPr/>
        </p:nvSpPr>
        <p:spPr>
          <a:xfrm>
            <a:off x="8086725" y="2821186"/>
            <a:ext cx="3495675" cy="1311622"/>
          </a:xfrm>
          <a:prstGeom prst="roundRect">
            <a:avLst>
              <a:gd name="adj" fmla="val 10167"/>
            </a:avLst>
          </a:prstGeom>
          <a:solidFill>
            <a:srgbClr val="FFFFFF"/>
          </a:solidFill>
          <a:ln w="9525">
            <a:solidFill>
              <a:srgbClr val="E2E8F0"/>
            </a:solidFill>
            <a:prstDash val="solid"/>
          </a:ln>
        </p:spPr>
      </p:sp>
      <p:sp>
        <p:nvSpPr>
          <p:cNvPr id="32" name="Shape 29"/>
          <p:cNvSpPr/>
          <p:nvPr/>
        </p:nvSpPr>
        <p:spPr>
          <a:xfrm>
            <a:off x="8096250" y="2830711"/>
            <a:ext cx="3476625" cy="47625"/>
          </a:xfrm>
          <a:prstGeom prst="rect">
            <a:avLst/>
          </a:prstGeom>
          <a:solidFill>
            <a:srgbClr val="0F172A"/>
          </a:solidFill>
          <a:ln/>
        </p:spPr>
      </p:sp>
      <p:sp>
        <p:nvSpPr>
          <p:cNvPr id="33" name="Text 30"/>
          <p:cNvSpPr txBox="1"/>
          <p:nvPr/>
        </p:nvSpPr>
        <p:spPr>
          <a:xfrm>
            <a:off x="8305800" y="3110805"/>
            <a:ext cx="973762" cy="466725"/>
          </a:xfrm>
          <a:prstGeom prst="rect">
            <a:avLst/>
          </a:prstGeom>
          <a:noFill/>
          <a:ln/>
        </p:spPr>
        <p:txBody>
          <a:bodyPr wrap="none" lIns="0" tIns="0" rIns="0" bIns="0" rtlCol="0" anchor="t"/>
          <a:lstStyle/>
          <a:p>
            <a:pPr marL="0" indent="0" algn="l">
              <a:lnSpc>
                <a:spcPts val="3240"/>
              </a:lnSpc>
              <a:buNone/>
            </a:pPr>
            <a:r>
              <a:rPr lang="en-US" sz="3000" b="1" kern="0" spc="-60" dirty="0">
                <a:solidFill>
                  <a:srgbClr val="0F172A"/>
                </a:solidFill>
              </a:rPr>
              <a:t>~6%</a:t>
            </a:r>
            <a:endParaRPr lang="en-US" sz="3000" dirty="0"/>
          </a:p>
        </p:txBody>
      </p:sp>
      <p:sp>
        <p:nvSpPr>
          <p:cNvPr id="34" name="Text 31"/>
          <p:cNvSpPr txBox="1"/>
          <p:nvPr/>
        </p:nvSpPr>
        <p:spPr>
          <a:xfrm>
            <a:off x="8305800" y="3617416"/>
            <a:ext cx="2020011" cy="180975"/>
          </a:xfrm>
          <a:prstGeom prst="rect">
            <a:avLst/>
          </a:prstGeom>
          <a:noFill/>
          <a:ln/>
        </p:spPr>
        <p:txBody>
          <a:bodyPr wrap="none" lIns="0" tIns="0" rIns="0" bIns="0" rtlCol="0" anchor="t"/>
          <a:lstStyle/>
          <a:p>
            <a:pPr marL="0" indent="0" algn="l">
              <a:lnSpc>
                <a:spcPts val="1630"/>
              </a:lnSpc>
              <a:buNone/>
            </a:pPr>
            <a:r>
              <a:rPr lang="en-US" sz="1160" b="1" dirty="0">
                <a:solidFill>
                  <a:srgbClr val="334155"/>
                </a:solidFill>
              </a:rPr>
              <a:t>điểm bán nhận QR quốc tế</a:t>
            </a:r>
            <a:endParaRPr lang="en-US" sz="1160" dirty="0"/>
          </a:p>
        </p:txBody>
      </p:sp>
      <p:sp>
        <p:nvSpPr>
          <p:cNvPr id="35" name="Shape 32"/>
          <p:cNvSpPr/>
          <p:nvPr/>
        </p:nvSpPr>
        <p:spPr>
          <a:xfrm>
            <a:off x="4457700" y="4266158"/>
            <a:ext cx="7124700" cy="1219051"/>
          </a:xfrm>
          <a:prstGeom prst="roundRect">
            <a:avLst>
              <a:gd name="adj" fmla="val 10939"/>
            </a:avLst>
          </a:prstGeom>
          <a:solidFill>
            <a:srgbClr val="F8FAFC"/>
          </a:solidFill>
          <a:ln w="9525">
            <a:solidFill>
              <a:srgbClr val="E2E8F0"/>
            </a:solidFill>
            <a:prstDash val="solid"/>
          </a:ln>
        </p:spPr>
      </p:sp>
      <p:sp>
        <p:nvSpPr>
          <p:cNvPr id="36" name="Text 33"/>
          <p:cNvSpPr txBox="1"/>
          <p:nvPr/>
        </p:nvSpPr>
        <p:spPr>
          <a:xfrm>
            <a:off x="4657725" y="4389983"/>
            <a:ext cx="3495047"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64748B"/>
                </a:solidFill>
              </a:rPr>
              <a:t>KHẢO SÁT 132 MERCHANT PHỤC VỤ KHÁCH QUỐC TẾ</a:t>
            </a:r>
            <a:endParaRPr lang="en-US" sz="900" dirty="0"/>
          </a:p>
        </p:txBody>
      </p:sp>
      <p:sp>
        <p:nvSpPr>
          <p:cNvPr id="37" name="Text 34"/>
          <p:cNvSpPr txBox="1"/>
          <p:nvPr/>
        </p:nvSpPr>
        <p:spPr>
          <a:xfrm>
            <a:off x="4657725" y="4590008"/>
            <a:ext cx="706678"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0284C7"/>
                </a:solidFill>
              </a:rPr>
              <a:t>78%</a:t>
            </a:r>
            <a:endParaRPr lang="en-US" sz="2250" dirty="0"/>
          </a:p>
        </p:txBody>
      </p:sp>
      <p:sp>
        <p:nvSpPr>
          <p:cNvPr id="38" name="Text 35"/>
          <p:cNvSpPr txBox="1"/>
          <p:nvPr/>
        </p:nvSpPr>
        <p:spPr>
          <a:xfrm>
            <a:off x="4657725" y="4984254"/>
            <a:ext cx="2181225" cy="355253"/>
          </a:xfrm>
          <a:prstGeom prst="rect">
            <a:avLst/>
          </a:prstGeom>
          <a:noFill/>
          <a:ln/>
        </p:spPr>
        <p:txBody>
          <a:bodyPr wrap="square" lIns="0" tIns="0" rIns="0" bIns="0" rtlCol="0" anchor="t"/>
          <a:lstStyle/>
          <a:p>
            <a:pPr marL="0" indent="0" algn="l">
              <a:lnSpc>
                <a:spcPts val="1520"/>
              </a:lnSpc>
              <a:buNone/>
            </a:pPr>
            <a:r>
              <a:rPr lang="en-US" sz="1090" b="1" dirty="0">
                <a:solidFill>
                  <a:srgbClr val="334155"/>
                </a:solidFill>
              </a:rPr>
              <a:t>có </a:t>
            </a:r>
            <a:r>
              <a:rPr lang="en-US" sz="1090" b="1" dirty="0" err="1">
                <a:solidFill>
                  <a:srgbClr val="334155"/>
                </a:solidFill>
              </a:rPr>
              <a:t>trên</a:t>
            </a:r>
            <a:r>
              <a:rPr lang="en-US" sz="1090" b="1" dirty="0">
                <a:solidFill>
                  <a:srgbClr val="334155"/>
                </a:solidFill>
              </a:rPr>
              <a:t> 50% khách là khách quốc tế</a:t>
            </a:r>
            <a:endParaRPr lang="en-US" sz="1090" dirty="0"/>
          </a:p>
        </p:txBody>
      </p:sp>
      <p:sp>
        <p:nvSpPr>
          <p:cNvPr id="39" name="Text 36"/>
          <p:cNvSpPr txBox="1"/>
          <p:nvPr/>
        </p:nvSpPr>
        <p:spPr>
          <a:xfrm>
            <a:off x="6943725" y="4590008"/>
            <a:ext cx="1020931"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D97706"/>
                </a:solidFill>
              </a:rPr>
              <a:t>48,5%</a:t>
            </a:r>
            <a:endParaRPr lang="en-US" sz="2250" dirty="0"/>
          </a:p>
        </p:txBody>
      </p:sp>
      <p:sp>
        <p:nvSpPr>
          <p:cNvPr id="40" name="Text 37"/>
          <p:cNvSpPr txBox="1"/>
          <p:nvPr/>
        </p:nvSpPr>
        <p:spPr>
          <a:xfrm>
            <a:off x="6943725" y="4984254"/>
            <a:ext cx="2181225" cy="355253"/>
          </a:xfrm>
          <a:prstGeom prst="rect">
            <a:avLst/>
          </a:prstGeom>
          <a:noFill/>
          <a:ln/>
        </p:spPr>
        <p:txBody>
          <a:bodyPr wrap="square" lIns="0" tIns="0" rIns="0" bIns="0" rtlCol="0" anchor="t"/>
          <a:lstStyle/>
          <a:p>
            <a:pPr marL="0" indent="0" algn="l">
              <a:lnSpc>
                <a:spcPts val="1520"/>
              </a:lnSpc>
              <a:buNone/>
            </a:pPr>
            <a:r>
              <a:rPr lang="en-US" sz="1090" b="1" dirty="0">
                <a:solidFill>
                  <a:srgbClr val="334155"/>
                </a:solidFill>
              </a:rPr>
              <a:t>coi phí POS 3–5% </a:t>
            </a:r>
            <a:r>
              <a:rPr lang="en-US" sz="1090" b="1" dirty="0" err="1">
                <a:solidFill>
                  <a:srgbClr val="334155"/>
                </a:solidFill>
              </a:rPr>
              <a:t>là</a:t>
            </a:r>
            <a:r>
              <a:rPr lang="en-US" sz="1090" b="1" dirty="0">
                <a:solidFill>
                  <a:srgbClr val="334155"/>
                </a:solidFill>
              </a:rPr>
              <a:t> </a:t>
            </a:r>
            <a:r>
              <a:rPr lang="en-US" sz="1090" b="1" dirty="0" err="1">
                <a:solidFill>
                  <a:srgbClr val="334155"/>
                </a:solidFill>
              </a:rPr>
              <a:t>rào</a:t>
            </a:r>
            <a:r>
              <a:rPr lang="en-US" sz="1090" b="1" dirty="0">
                <a:solidFill>
                  <a:srgbClr val="334155"/>
                </a:solidFill>
              </a:rPr>
              <a:t> </a:t>
            </a:r>
            <a:r>
              <a:rPr lang="en-US" sz="1090" b="1" dirty="0" err="1">
                <a:solidFill>
                  <a:srgbClr val="334155"/>
                </a:solidFill>
              </a:rPr>
              <a:t>cản</a:t>
            </a:r>
            <a:r>
              <a:rPr lang="en-US" sz="1090" b="1" dirty="0">
                <a:solidFill>
                  <a:srgbClr val="334155"/>
                </a:solidFill>
              </a:rPr>
              <a:t> lớn nhất</a:t>
            </a:r>
            <a:endParaRPr lang="en-US" sz="1090" dirty="0"/>
          </a:p>
        </p:txBody>
      </p:sp>
      <p:sp>
        <p:nvSpPr>
          <p:cNvPr id="41" name="Text 38"/>
          <p:cNvSpPr txBox="1"/>
          <p:nvPr/>
        </p:nvSpPr>
        <p:spPr>
          <a:xfrm>
            <a:off x="9229725" y="4590008"/>
            <a:ext cx="724820"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16A34A"/>
                </a:solidFill>
              </a:rPr>
              <a:t>58%</a:t>
            </a:r>
            <a:endParaRPr lang="en-US" sz="2250" dirty="0"/>
          </a:p>
        </p:txBody>
      </p:sp>
      <p:sp>
        <p:nvSpPr>
          <p:cNvPr id="42" name="Text 39"/>
          <p:cNvSpPr txBox="1"/>
          <p:nvPr/>
        </p:nvSpPr>
        <p:spPr>
          <a:xfrm>
            <a:off x="9229725" y="4984254"/>
            <a:ext cx="2052036" cy="161925"/>
          </a:xfrm>
          <a:prstGeom prst="rect">
            <a:avLst/>
          </a:prstGeom>
          <a:noFill/>
          <a:ln/>
        </p:spPr>
        <p:txBody>
          <a:bodyPr wrap="none" lIns="0" tIns="0" rIns="0" bIns="0" rtlCol="0" anchor="t"/>
          <a:lstStyle/>
          <a:p>
            <a:pPr marL="0" indent="0" algn="l">
              <a:lnSpc>
                <a:spcPts val="1520"/>
              </a:lnSpc>
              <a:buNone/>
            </a:pPr>
            <a:r>
              <a:rPr lang="en-US" sz="1090" b="1" dirty="0">
                <a:solidFill>
                  <a:srgbClr val="334155"/>
                </a:solidFill>
              </a:rPr>
              <a:t>sẵn sàng dùng giải pháp mới</a:t>
            </a:r>
            <a:endParaRPr lang="en-US" sz="1090" dirty="0"/>
          </a:p>
        </p:txBody>
      </p:sp>
      <p:sp>
        <p:nvSpPr>
          <p:cNvPr id="43" name="Shape 40"/>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44" name="Text 41"/>
          <p:cNvSpPr txBox="1"/>
          <p:nvPr/>
        </p:nvSpPr>
        <p:spPr>
          <a:xfrm>
            <a:off x="1152525" y="5790009"/>
            <a:ext cx="4931432"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Tệp lớn, đang số hóa, </a:t>
            </a:r>
            <a:r>
              <a:rPr lang="en-US" sz="1280" b="1" dirty="0">
                <a:solidFill>
                  <a:srgbClr val="15803D"/>
                </a:solidFill>
              </a:rPr>
              <a:t>nhưng phần lớn chưa nhận được thẻ.</a:t>
            </a:r>
            <a:endParaRPr lang="en-US" sz="1280" dirty="0"/>
          </a:p>
        </p:txBody>
      </p:sp>
      <p:sp>
        <p:nvSpPr>
          <p:cNvPr id="45" name="Shape 42"/>
          <p:cNvSpPr/>
          <p:nvPr/>
        </p:nvSpPr>
        <p:spPr>
          <a:xfrm rot="5400000">
            <a:off x="828675" y="5790605"/>
            <a:ext cx="152400" cy="190500"/>
          </a:xfrm>
          <a:prstGeom prst="triangle">
            <a:avLst/>
          </a:prstGeom>
          <a:solidFill>
            <a:srgbClr val="E11D48"/>
          </a:solidFill>
          <a:ln/>
        </p:spPr>
      </p:sp>
      <p:sp>
        <p:nvSpPr>
          <p:cNvPr id="46" name="Text 43"/>
          <p:cNvSpPr txBox="1"/>
          <p:nvPr/>
        </p:nvSpPr>
        <p:spPr>
          <a:xfrm>
            <a:off x="609600" y="6501854"/>
            <a:ext cx="10110148"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Nguồn: Báo Chính phủ (2025); Tổng cục Thuế (8/2024); Bộ Tài chính (5/2026); NHNN (cuối 2024, 9/2026); khảo sát 132 merchant tại Hà Nội, TP.HCM (7/2026). 500 nghìn hộ: ước tính VDF.</a:t>
            </a:r>
            <a:endParaRPr lang="en-US" sz="830" dirty="0"/>
          </a:p>
        </p:txBody>
      </p:sp>
      <p:sp>
        <p:nvSpPr>
          <p:cNvPr id="47" name="Shape 44"/>
          <p:cNvSpPr/>
          <p:nvPr/>
        </p:nvSpPr>
        <p:spPr>
          <a:xfrm>
            <a:off x="10796588" y="6343650"/>
            <a:ext cx="323850" cy="323850"/>
          </a:xfrm>
          <a:prstGeom prst="ellipse">
            <a:avLst/>
          </a:prstGeom>
          <a:solidFill>
            <a:srgbClr val="F0001E"/>
          </a:solidFill>
          <a:ln/>
        </p:spPr>
      </p:sp>
      <p:sp>
        <p:nvSpPr>
          <p:cNvPr id="48" name="Shape 45"/>
          <p:cNvSpPr/>
          <p:nvPr/>
        </p:nvSpPr>
        <p:spPr>
          <a:xfrm>
            <a:off x="10901363" y="6415088"/>
            <a:ext cx="114300" cy="180975"/>
          </a:xfrm>
          <a:prstGeom prst="roundRect">
            <a:avLst>
              <a:gd name="adj" fmla="val 29167"/>
            </a:avLst>
          </a:prstGeom>
          <a:ln w="19050">
            <a:solidFill>
              <a:srgbClr val="FFFFFF"/>
            </a:solidFill>
            <a:prstDash val="solid"/>
          </a:ln>
        </p:spPr>
      </p:sp>
      <p:sp>
        <p:nvSpPr>
          <p:cNvPr id="49" name="Text 46"/>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50" name="Text 47"/>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51" name="Text 48"/>
          <p:cNvSpPr txBox="1"/>
          <p:nvPr/>
        </p:nvSpPr>
        <p:spPr>
          <a:xfrm>
            <a:off x="10570220" y="6429375"/>
            <a:ext cx="121554"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2114982"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BỐI CẢNH · KHÁCH QUỐC TẾ</a:t>
            </a:r>
            <a:endParaRPr lang="en-US" sz="1050" dirty="0"/>
          </a:p>
        </p:txBody>
      </p:sp>
      <p:sp>
        <p:nvSpPr>
          <p:cNvPr id="3" name="Text 1"/>
          <p:cNvSpPr txBox="1"/>
          <p:nvPr/>
        </p:nvSpPr>
        <p:spPr>
          <a:xfrm>
            <a:off x="609600" y="619125"/>
            <a:ext cx="10742756"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Khách quốc tế tăng nhanh, chi nhiều, </a:t>
            </a:r>
            <a:r>
              <a:rPr lang="en-US" sz="2330" b="1" kern="0" spc="-30" dirty="0">
                <a:solidFill>
                  <a:srgbClr val="E11D48"/>
                </a:solidFill>
              </a:rPr>
              <a:t>nhưng khó trả tiền ở cửa hàng nhỏ</a:t>
            </a:r>
            <a:endParaRPr lang="en-US" sz="2330" dirty="0"/>
          </a:p>
        </p:txBody>
      </p:sp>
      <p:sp>
        <p:nvSpPr>
          <p:cNvPr id="4" name="Shape 2"/>
          <p:cNvSpPr/>
          <p:nvPr/>
        </p:nvSpPr>
        <p:spPr>
          <a:xfrm>
            <a:off x="609600" y="1169789"/>
            <a:ext cx="2381250" cy="1362224"/>
          </a:xfrm>
          <a:prstGeom prst="roundRect">
            <a:avLst>
              <a:gd name="adj" fmla="val 9789"/>
            </a:avLst>
          </a:prstGeom>
          <a:solidFill>
            <a:srgbClr val="FFFFFF"/>
          </a:solidFill>
          <a:ln w="9525">
            <a:solidFill>
              <a:srgbClr val="E2E8F0"/>
            </a:solidFill>
            <a:prstDash val="solid"/>
          </a:ln>
        </p:spPr>
      </p:sp>
      <p:sp>
        <p:nvSpPr>
          <p:cNvPr id="5" name="Shape 3"/>
          <p:cNvSpPr/>
          <p:nvPr/>
        </p:nvSpPr>
        <p:spPr>
          <a:xfrm>
            <a:off x="619125" y="1179314"/>
            <a:ext cx="57150" cy="1343174"/>
          </a:xfrm>
          <a:prstGeom prst="rect">
            <a:avLst/>
          </a:prstGeom>
          <a:solidFill>
            <a:srgbClr val="0284C7"/>
          </a:solidFill>
          <a:ln/>
        </p:spPr>
      </p:sp>
      <p:sp>
        <p:nvSpPr>
          <p:cNvPr id="6" name="Text 4"/>
          <p:cNvSpPr txBox="1"/>
          <p:nvPr/>
        </p:nvSpPr>
        <p:spPr>
          <a:xfrm>
            <a:off x="809625" y="1555700"/>
            <a:ext cx="1297323"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0284C7"/>
                </a:solidFill>
              </a:rPr>
              <a:t>17,7 triệu</a:t>
            </a:r>
            <a:endParaRPr lang="en-US" sz="2250" dirty="0"/>
          </a:p>
        </p:txBody>
      </p:sp>
      <p:sp>
        <p:nvSpPr>
          <p:cNvPr id="7" name="Text 5"/>
          <p:cNvSpPr txBox="1"/>
          <p:nvPr/>
        </p:nvSpPr>
        <p:spPr>
          <a:xfrm>
            <a:off x="809625" y="1949946"/>
            <a:ext cx="1866040" cy="161925"/>
          </a:xfrm>
          <a:prstGeom prst="rect">
            <a:avLst/>
          </a:prstGeom>
          <a:noFill/>
          <a:ln/>
        </p:spPr>
        <p:txBody>
          <a:bodyPr wrap="none" lIns="0" tIns="0" rIns="0" bIns="0" rtlCol="0" anchor="t"/>
          <a:lstStyle/>
          <a:p>
            <a:pPr marL="0" indent="0" algn="l">
              <a:lnSpc>
                <a:spcPts val="1470"/>
              </a:lnSpc>
              <a:buNone/>
            </a:pPr>
            <a:r>
              <a:rPr lang="en-US" sz="1050" b="1" dirty="0">
                <a:solidFill>
                  <a:srgbClr val="334155"/>
                </a:solidFill>
              </a:rPr>
              <a:t>lượt, 9 tháng 2026 </a:t>
            </a:r>
            <a:r>
              <a:rPr lang="en-US" sz="1050" b="1" dirty="0">
                <a:solidFill>
                  <a:srgbClr val="16A34A"/>
                </a:solidFill>
              </a:rPr>
              <a:t>+14,5%</a:t>
            </a:r>
            <a:endParaRPr lang="en-US" sz="1050" dirty="0"/>
          </a:p>
        </p:txBody>
      </p:sp>
      <p:sp>
        <p:nvSpPr>
          <p:cNvPr id="8" name="Shape 6"/>
          <p:cNvSpPr/>
          <p:nvPr/>
        </p:nvSpPr>
        <p:spPr>
          <a:xfrm>
            <a:off x="609600" y="2646313"/>
            <a:ext cx="2381250" cy="1362373"/>
          </a:xfrm>
          <a:prstGeom prst="roundRect">
            <a:avLst>
              <a:gd name="adj" fmla="val 9788"/>
            </a:avLst>
          </a:prstGeom>
          <a:solidFill>
            <a:srgbClr val="FFFFFF"/>
          </a:solidFill>
          <a:ln w="9525">
            <a:solidFill>
              <a:srgbClr val="E2E8F0"/>
            </a:solidFill>
            <a:prstDash val="solid"/>
          </a:ln>
        </p:spPr>
      </p:sp>
      <p:sp>
        <p:nvSpPr>
          <p:cNvPr id="9" name="Shape 7"/>
          <p:cNvSpPr/>
          <p:nvPr/>
        </p:nvSpPr>
        <p:spPr>
          <a:xfrm>
            <a:off x="619125" y="2655838"/>
            <a:ext cx="57150" cy="1343174"/>
          </a:xfrm>
          <a:prstGeom prst="rect">
            <a:avLst/>
          </a:prstGeom>
          <a:solidFill>
            <a:srgbClr val="D97706"/>
          </a:solidFill>
          <a:ln/>
        </p:spPr>
      </p:sp>
      <p:sp>
        <p:nvSpPr>
          <p:cNvPr id="10" name="Text 8"/>
          <p:cNvSpPr txBox="1"/>
          <p:nvPr/>
        </p:nvSpPr>
        <p:spPr>
          <a:xfrm>
            <a:off x="809625" y="3032224"/>
            <a:ext cx="1475116"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D97706"/>
                </a:solidFill>
              </a:rPr>
              <a:t>700–1.150</a:t>
            </a:r>
            <a:endParaRPr lang="en-US" sz="2250" dirty="0"/>
          </a:p>
        </p:txBody>
      </p:sp>
      <p:sp>
        <p:nvSpPr>
          <p:cNvPr id="11" name="Text 9"/>
          <p:cNvSpPr txBox="1"/>
          <p:nvPr/>
        </p:nvSpPr>
        <p:spPr>
          <a:xfrm>
            <a:off x="809625" y="3426470"/>
            <a:ext cx="1374309" cy="161925"/>
          </a:xfrm>
          <a:prstGeom prst="rect">
            <a:avLst/>
          </a:prstGeom>
          <a:noFill/>
          <a:ln/>
        </p:spPr>
        <p:txBody>
          <a:bodyPr wrap="none" lIns="0" tIns="0" rIns="0" bIns="0" rtlCol="0" anchor="t"/>
          <a:lstStyle/>
          <a:p>
            <a:pPr marL="0" indent="0" algn="l">
              <a:lnSpc>
                <a:spcPts val="1470"/>
              </a:lnSpc>
              <a:buNone/>
            </a:pPr>
            <a:r>
              <a:rPr lang="en-US" sz="1050" b="1" dirty="0">
                <a:solidFill>
                  <a:srgbClr val="334155"/>
                </a:solidFill>
              </a:rPr>
              <a:t>USD mỗi lượt khách</a:t>
            </a:r>
            <a:endParaRPr lang="en-US" sz="1050" dirty="0"/>
          </a:p>
        </p:txBody>
      </p:sp>
      <p:sp>
        <p:nvSpPr>
          <p:cNvPr id="12" name="Shape 10"/>
          <p:cNvSpPr/>
          <p:nvPr/>
        </p:nvSpPr>
        <p:spPr>
          <a:xfrm>
            <a:off x="609600" y="4122986"/>
            <a:ext cx="2381250" cy="1362224"/>
          </a:xfrm>
          <a:prstGeom prst="roundRect">
            <a:avLst>
              <a:gd name="adj" fmla="val 9789"/>
            </a:avLst>
          </a:prstGeom>
          <a:solidFill>
            <a:srgbClr val="FFFFFF"/>
          </a:solidFill>
          <a:ln w="9525">
            <a:solidFill>
              <a:srgbClr val="E2E8F0"/>
            </a:solidFill>
            <a:prstDash val="solid"/>
          </a:ln>
        </p:spPr>
      </p:sp>
      <p:sp>
        <p:nvSpPr>
          <p:cNvPr id="13" name="Shape 11"/>
          <p:cNvSpPr/>
          <p:nvPr/>
        </p:nvSpPr>
        <p:spPr>
          <a:xfrm>
            <a:off x="619125" y="4132511"/>
            <a:ext cx="57150" cy="1343174"/>
          </a:xfrm>
          <a:prstGeom prst="rect">
            <a:avLst/>
          </a:prstGeom>
          <a:solidFill>
            <a:srgbClr val="E11D48"/>
          </a:solidFill>
          <a:ln/>
        </p:spPr>
      </p:sp>
      <p:sp>
        <p:nvSpPr>
          <p:cNvPr id="14" name="Text 12"/>
          <p:cNvSpPr txBox="1"/>
          <p:nvPr/>
        </p:nvSpPr>
        <p:spPr>
          <a:xfrm>
            <a:off x="809625" y="4415582"/>
            <a:ext cx="1596747" cy="342900"/>
          </a:xfrm>
          <a:prstGeom prst="rect">
            <a:avLst/>
          </a:prstGeom>
          <a:noFill/>
          <a:ln/>
        </p:spPr>
        <p:txBody>
          <a:bodyPr wrap="none" lIns="0" tIns="0" rIns="0" bIns="0" rtlCol="0" anchor="t"/>
          <a:lstStyle/>
          <a:p>
            <a:pPr marL="0" indent="0" algn="l">
              <a:lnSpc>
                <a:spcPts val="2430"/>
              </a:lnSpc>
              <a:buNone/>
            </a:pPr>
            <a:r>
              <a:rPr lang="en-US" sz="2250" b="1" kern="0" spc="-40" dirty="0">
                <a:solidFill>
                  <a:srgbClr val="E11D48"/>
                </a:solidFill>
              </a:rPr>
              <a:t>5–8 tỷ USD</a:t>
            </a:r>
            <a:endParaRPr lang="en-US" sz="2250" dirty="0"/>
          </a:p>
        </p:txBody>
      </p:sp>
      <p:sp>
        <p:nvSpPr>
          <p:cNvPr id="15" name="Text 13"/>
          <p:cNvSpPr txBox="1"/>
          <p:nvPr/>
        </p:nvSpPr>
        <p:spPr>
          <a:xfrm>
            <a:off x="809625" y="4809827"/>
            <a:ext cx="2009775" cy="348555"/>
          </a:xfrm>
          <a:prstGeom prst="rect">
            <a:avLst/>
          </a:prstGeom>
          <a:noFill/>
          <a:ln/>
        </p:spPr>
        <p:txBody>
          <a:bodyPr wrap="square" lIns="0" tIns="0" rIns="0" bIns="0" rtlCol="0" anchor="t"/>
          <a:lstStyle/>
          <a:p>
            <a:pPr marL="0" indent="0" algn="l">
              <a:lnSpc>
                <a:spcPts val="1470"/>
              </a:lnSpc>
              <a:buNone/>
            </a:pPr>
            <a:r>
              <a:rPr lang="en-US" sz="1050" b="1" dirty="0">
                <a:solidFill>
                  <a:srgbClr val="334155"/>
                </a:solidFill>
              </a:rPr>
              <a:t>mỗi năm cho ăn uống, mua sắm</a:t>
            </a:r>
            <a:endParaRPr lang="en-US" sz="1050" dirty="0"/>
          </a:p>
        </p:txBody>
      </p:sp>
      <p:sp>
        <p:nvSpPr>
          <p:cNvPr id="16" name="Shape 14"/>
          <p:cNvSpPr/>
          <p:nvPr/>
        </p:nvSpPr>
        <p:spPr>
          <a:xfrm>
            <a:off x="3124200" y="1169789"/>
            <a:ext cx="5562600" cy="4315420"/>
          </a:xfrm>
          <a:prstGeom prst="roundRect">
            <a:avLst>
              <a:gd name="adj" fmla="val 3090"/>
            </a:avLst>
          </a:prstGeom>
          <a:solidFill>
            <a:srgbClr val="FFFFFF"/>
          </a:solidFill>
          <a:ln w="9525">
            <a:solidFill>
              <a:srgbClr val="E2E8F0"/>
            </a:solidFill>
            <a:prstDash val="solid"/>
          </a:ln>
        </p:spPr>
      </p:sp>
      <p:sp>
        <p:nvSpPr>
          <p:cNvPr id="17" name="Text 15"/>
          <p:cNvSpPr txBox="1"/>
          <p:nvPr/>
        </p:nvSpPr>
        <p:spPr>
          <a:xfrm>
            <a:off x="3324225" y="1331714"/>
            <a:ext cx="2416141"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64748B"/>
                </a:solidFill>
              </a:rPr>
              <a:t>KHÁCH ĐẾN TỪ ĐÂU · 9 THÁNG 2026</a:t>
            </a:r>
            <a:endParaRPr lang="en-US" sz="900" dirty="0"/>
          </a:p>
        </p:txBody>
      </p:sp>
      <p:pic>
        <p:nvPicPr>
          <p:cNvPr id="18" name="Image 0" descr="Tỉ trọng khách quốc tế theo nước, 9 tháng 2026"/>
          <p:cNvPicPr>
            <a:picLocks noChangeAspect="1"/>
          </p:cNvPicPr>
          <p:nvPr/>
        </p:nvPicPr>
        <p:blipFill>
          <a:blip r:embed="rId3"/>
          <a:stretch>
            <a:fillRect/>
          </a:stretch>
        </p:blipFill>
        <p:spPr>
          <a:xfrm>
            <a:off x="3324225" y="1531739"/>
            <a:ext cx="5162550" cy="2372469"/>
          </a:xfrm>
          <a:prstGeom prst="rect">
            <a:avLst/>
          </a:prstGeom>
        </p:spPr>
      </p:pic>
      <p:sp>
        <p:nvSpPr>
          <p:cNvPr id="19" name="Text 16"/>
          <p:cNvSpPr txBox="1"/>
          <p:nvPr/>
        </p:nvSpPr>
        <p:spPr>
          <a:xfrm>
            <a:off x="4957129" y="2138599"/>
            <a:ext cx="397341" cy="171450"/>
          </a:xfrm>
          <a:prstGeom prst="rect">
            <a:avLst/>
          </a:prstGeom>
          <a:noFill/>
          <a:ln/>
        </p:spPr>
        <p:txBody>
          <a:bodyPr wrap="none" lIns="0" tIns="0" rIns="0" bIns="0" rtlCol="0" anchor="t"/>
          <a:lstStyle/>
          <a:p>
            <a:pPr marL="0" indent="0" algn="ctr">
              <a:lnSpc>
                <a:spcPts val="1350"/>
              </a:lnSpc>
              <a:buNone/>
            </a:pPr>
            <a:r>
              <a:rPr lang="en-US" sz="1120" b="1" dirty="0">
                <a:solidFill>
                  <a:srgbClr val="FFFFFF"/>
                </a:solidFill>
              </a:rPr>
              <a:t>22%</a:t>
            </a:r>
            <a:endParaRPr lang="en-US" sz="1120" dirty="0"/>
          </a:p>
        </p:txBody>
      </p:sp>
      <p:sp>
        <p:nvSpPr>
          <p:cNvPr id="20" name="Text 17"/>
          <p:cNvSpPr txBox="1"/>
          <p:nvPr/>
        </p:nvSpPr>
        <p:spPr>
          <a:xfrm>
            <a:off x="5175303" y="2850340"/>
            <a:ext cx="359569" cy="171450"/>
          </a:xfrm>
          <a:prstGeom prst="rect">
            <a:avLst/>
          </a:prstGeom>
          <a:noFill/>
          <a:ln/>
        </p:spPr>
        <p:txBody>
          <a:bodyPr wrap="none" lIns="0" tIns="0" rIns="0" bIns="0" rtlCol="0" anchor="t"/>
          <a:lstStyle/>
          <a:p>
            <a:pPr marL="0" indent="0" algn="ctr">
              <a:lnSpc>
                <a:spcPts val="1350"/>
              </a:lnSpc>
              <a:buNone/>
            </a:pPr>
            <a:r>
              <a:rPr lang="en-US" sz="1120" b="1" dirty="0">
                <a:solidFill>
                  <a:srgbClr val="FFFFFF"/>
                </a:solidFill>
              </a:rPr>
              <a:t>17%</a:t>
            </a:r>
            <a:endParaRPr lang="en-US" sz="1120" dirty="0"/>
          </a:p>
        </p:txBody>
      </p:sp>
      <p:sp>
        <p:nvSpPr>
          <p:cNvPr id="21" name="Text 18"/>
          <p:cNvSpPr txBox="1"/>
          <p:nvPr/>
        </p:nvSpPr>
        <p:spPr>
          <a:xfrm>
            <a:off x="3947010" y="2461255"/>
            <a:ext cx="367766" cy="171450"/>
          </a:xfrm>
          <a:prstGeom prst="rect">
            <a:avLst/>
          </a:prstGeom>
          <a:noFill/>
          <a:ln/>
        </p:spPr>
        <p:txBody>
          <a:bodyPr wrap="none" lIns="0" tIns="0" rIns="0" bIns="0" rtlCol="0" anchor="t"/>
          <a:lstStyle/>
          <a:p>
            <a:pPr marL="0" indent="0" algn="ctr">
              <a:lnSpc>
                <a:spcPts val="1350"/>
              </a:lnSpc>
              <a:buNone/>
            </a:pPr>
            <a:r>
              <a:rPr lang="en-US" sz="1120" b="1" dirty="0">
                <a:solidFill>
                  <a:srgbClr val="075985"/>
                </a:solidFill>
              </a:rPr>
              <a:t>41%</a:t>
            </a:r>
            <a:endParaRPr lang="en-US" sz="1120" dirty="0"/>
          </a:p>
        </p:txBody>
      </p:sp>
      <p:sp>
        <p:nvSpPr>
          <p:cNvPr id="22" name="Text 19"/>
          <p:cNvSpPr txBox="1"/>
          <p:nvPr/>
        </p:nvSpPr>
        <p:spPr>
          <a:xfrm>
            <a:off x="6228156" y="1616691"/>
            <a:ext cx="1223194" cy="152400"/>
          </a:xfrm>
          <a:prstGeom prst="rect">
            <a:avLst/>
          </a:prstGeom>
          <a:noFill/>
          <a:ln/>
        </p:spPr>
        <p:txBody>
          <a:bodyPr wrap="none" lIns="0" tIns="0" rIns="0" bIns="0" rtlCol="0" anchor="t"/>
          <a:lstStyle/>
          <a:p>
            <a:pPr marL="0" indent="0" algn="l">
              <a:lnSpc>
                <a:spcPts val="1200"/>
              </a:lnSpc>
              <a:buNone/>
            </a:pPr>
            <a:r>
              <a:rPr lang="en-US" sz="970" b="1" dirty="0">
                <a:solidFill>
                  <a:srgbClr val="D97706"/>
                </a:solidFill>
              </a:rPr>
              <a:t>Trung Quốc · 22%</a:t>
            </a:r>
            <a:endParaRPr lang="en-US" sz="970" dirty="0"/>
          </a:p>
        </p:txBody>
      </p:sp>
      <p:sp>
        <p:nvSpPr>
          <p:cNvPr id="23" name="Text 20"/>
          <p:cNvSpPr txBox="1"/>
          <p:nvPr/>
        </p:nvSpPr>
        <p:spPr>
          <a:xfrm>
            <a:off x="6228156" y="1768248"/>
            <a:ext cx="1074515" cy="249141"/>
          </a:xfrm>
          <a:prstGeom prst="rect">
            <a:avLst/>
          </a:prstGeom>
          <a:noFill/>
          <a:ln/>
        </p:spPr>
        <p:txBody>
          <a:bodyPr wrap="none" lIns="0" tIns="0" rIns="0" bIns="0" rtlCol="0" anchor="t"/>
          <a:lstStyle/>
          <a:p>
            <a:pPr marL="0" indent="0" algn="l">
              <a:lnSpc>
                <a:spcPts val="1960"/>
              </a:lnSpc>
              <a:buNone/>
            </a:pPr>
            <a:r>
              <a:rPr lang="en-US" sz="1640" b="1" dirty="0">
                <a:solidFill>
                  <a:srgbClr val="0F172A"/>
                </a:solidFill>
              </a:rPr>
              <a:t>Ví nội địa</a:t>
            </a:r>
            <a:endParaRPr lang="en-US" sz="1640" dirty="0"/>
          </a:p>
        </p:txBody>
      </p:sp>
      <p:sp>
        <p:nvSpPr>
          <p:cNvPr id="24" name="Text 21"/>
          <p:cNvSpPr txBox="1"/>
          <p:nvPr/>
        </p:nvSpPr>
        <p:spPr>
          <a:xfrm>
            <a:off x="6228156" y="2024791"/>
            <a:ext cx="1258074" cy="142875"/>
          </a:xfrm>
          <a:prstGeom prst="rect">
            <a:avLst/>
          </a:prstGeom>
          <a:noFill/>
          <a:ln/>
        </p:spPr>
        <p:txBody>
          <a:bodyPr wrap="none" lIns="0" tIns="0" rIns="0" bIns="0" rtlCol="0" anchor="t"/>
          <a:lstStyle/>
          <a:p>
            <a:pPr marL="0" indent="0" algn="l">
              <a:lnSpc>
                <a:spcPts val="1130"/>
              </a:lnSpc>
              <a:buNone/>
            </a:pPr>
            <a:r>
              <a:rPr lang="en-US" sz="930" b="1" dirty="0">
                <a:solidFill>
                  <a:srgbClr val="64748B"/>
                </a:solidFill>
              </a:rPr>
              <a:t>Alipay, WeChat Pay</a:t>
            </a:r>
            <a:endParaRPr lang="en-US" sz="930" dirty="0"/>
          </a:p>
        </p:txBody>
      </p:sp>
      <p:sp>
        <p:nvSpPr>
          <p:cNvPr id="25" name="Text 22"/>
          <p:cNvSpPr txBox="1"/>
          <p:nvPr/>
        </p:nvSpPr>
        <p:spPr>
          <a:xfrm>
            <a:off x="6228156" y="3097112"/>
            <a:ext cx="1526178" cy="152400"/>
          </a:xfrm>
          <a:prstGeom prst="rect">
            <a:avLst/>
          </a:prstGeom>
          <a:noFill/>
          <a:ln/>
        </p:spPr>
        <p:txBody>
          <a:bodyPr wrap="none" lIns="0" tIns="0" rIns="0" bIns="0" rtlCol="0" anchor="t"/>
          <a:lstStyle/>
          <a:p>
            <a:pPr marL="0" indent="0" algn="l">
              <a:lnSpc>
                <a:spcPts val="1200"/>
              </a:lnSpc>
              <a:buNone/>
            </a:pPr>
            <a:r>
              <a:rPr lang="en-US" sz="970" b="1" dirty="0">
                <a:solidFill>
                  <a:srgbClr val="0284C7"/>
                </a:solidFill>
              </a:rPr>
              <a:t>Các nước còn lại · 78%</a:t>
            </a:r>
            <a:endParaRPr lang="en-US" sz="970" dirty="0"/>
          </a:p>
        </p:txBody>
      </p:sp>
      <p:sp>
        <p:nvSpPr>
          <p:cNvPr id="26" name="Text 23"/>
          <p:cNvSpPr txBox="1"/>
          <p:nvPr/>
        </p:nvSpPr>
        <p:spPr>
          <a:xfrm>
            <a:off x="6228156" y="3248669"/>
            <a:ext cx="1838807" cy="247650"/>
          </a:xfrm>
          <a:prstGeom prst="rect">
            <a:avLst/>
          </a:prstGeom>
          <a:noFill/>
          <a:ln/>
        </p:spPr>
        <p:txBody>
          <a:bodyPr wrap="none" lIns="0" tIns="0" rIns="0" bIns="0" rtlCol="0" anchor="t"/>
          <a:lstStyle/>
          <a:p>
            <a:pPr marL="0" indent="0" algn="l">
              <a:lnSpc>
                <a:spcPts val="1950"/>
              </a:lnSpc>
              <a:buNone/>
            </a:pPr>
            <a:r>
              <a:rPr lang="en-US" sz="1640" b="1" dirty="0">
                <a:solidFill>
                  <a:srgbClr val="0F172A"/>
                </a:solidFill>
              </a:rPr>
              <a:t>~2/3 trả qua thẻ</a:t>
            </a:r>
            <a:endParaRPr lang="en-US" sz="1640" dirty="0"/>
          </a:p>
        </p:txBody>
      </p:sp>
      <p:sp>
        <p:nvSpPr>
          <p:cNvPr id="27" name="Text 24"/>
          <p:cNvSpPr txBox="1"/>
          <p:nvPr/>
        </p:nvSpPr>
        <p:spPr>
          <a:xfrm>
            <a:off x="6228156" y="3505212"/>
            <a:ext cx="2068014" cy="142875"/>
          </a:xfrm>
          <a:prstGeom prst="rect">
            <a:avLst/>
          </a:prstGeom>
          <a:noFill/>
          <a:ln/>
        </p:spPr>
        <p:txBody>
          <a:bodyPr wrap="none" lIns="0" tIns="0" rIns="0" bIns="0" rtlCol="0" anchor="t"/>
          <a:lstStyle/>
          <a:p>
            <a:pPr marL="0" indent="0" algn="l">
              <a:lnSpc>
                <a:spcPts val="1120"/>
              </a:lnSpc>
              <a:buNone/>
            </a:pPr>
            <a:r>
              <a:rPr lang="en-US" sz="930" b="1" dirty="0">
                <a:solidFill>
                  <a:srgbClr val="64748B"/>
                </a:solidFill>
              </a:rPr>
              <a:t>theo thói quen ở nước của khách</a:t>
            </a:r>
            <a:endParaRPr lang="en-US" sz="930" dirty="0"/>
          </a:p>
        </p:txBody>
      </p:sp>
      <p:sp>
        <p:nvSpPr>
          <p:cNvPr id="28" name="Shape 25"/>
          <p:cNvSpPr/>
          <p:nvPr/>
        </p:nvSpPr>
        <p:spPr>
          <a:xfrm>
            <a:off x="3324225" y="3999458"/>
            <a:ext cx="95250" cy="95250"/>
          </a:xfrm>
          <a:prstGeom prst="roundRect">
            <a:avLst>
              <a:gd name="adj" fmla="val 30000"/>
            </a:avLst>
          </a:prstGeom>
          <a:solidFill>
            <a:srgbClr val="D97706"/>
          </a:solidFill>
          <a:ln/>
        </p:spPr>
      </p:sp>
      <p:sp>
        <p:nvSpPr>
          <p:cNvPr id="29" name="Text 26"/>
          <p:cNvSpPr txBox="1"/>
          <p:nvPr/>
        </p:nvSpPr>
        <p:spPr>
          <a:xfrm>
            <a:off x="3467100" y="3980408"/>
            <a:ext cx="1424633"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Trung Quốc </a:t>
            </a:r>
            <a:r>
              <a:rPr lang="en-US" sz="860" b="1" dirty="0">
                <a:solidFill>
                  <a:srgbClr val="0F172A"/>
                </a:solidFill>
              </a:rPr>
              <a:t>3,9 tr</a:t>
            </a:r>
            <a:r>
              <a:rPr lang="en-US" sz="860" b="1" dirty="0">
                <a:solidFill>
                  <a:srgbClr val="64748B"/>
                </a:solidFill>
              </a:rPr>
              <a:t> +1,5%</a:t>
            </a:r>
            <a:endParaRPr lang="en-US" sz="860" dirty="0"/>
          </a:p>
        </p:txBody>
      </p:sp>
      <p:sp>
        <p:nvSpPr>
          <p:cNvPr id="30" name="Shape 27"/>
          <p:cNvSpPr/>
          <p:nvPr/>
        </p:nvSpPr>
        <p:spPr>
          <a:xfrm>
            <a:off x="4889450" y="3999458"/>
            <a:ext cx="95250" cy="95250"/>
          </a:xfrm>
          <a:prstGeom prst="roundRect">
            <a:avLst>
              <a:gd name="adj" fmla="val 30000"/>
            </a:avLst>
          </a:prstGeom>
          <a:solidFill>
            <a:srgbClr val="0284C7"/>
          </a:solidFill>
          <a:ln/>
        </p:spPr>
      </p:sp>
      <p:sp>
        <p:nvSpPr>
          <p:cNvPr id="31" name="Text 28"/>
          <p:cNvSpPr txBox="1"/>
          <p:nvPr/>
        </p:nvSpPr>
        <p:spPr>
          <a:xfrm>
            <a:off x="5032325" y="3980408"/>
            <a:ext cx="1343861"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Hàn Quốc </a:t>
            </a:r>
            <a:r>
              <a:rPr lang="en-US" sz="860" b="1" dirty="0">
                <a:solidFill>
                  <a:srgbClr val="0F172A"/>
                </a:solidFill>
              </a:rPr>
              <a:t>3,0 tr</a:t>
            </a:r>
            <a:r>
              <a:rPr lang="en-US" sz="860" b="1" dirty="0">
                <a:solidFill>
                  <a:srgbClr val="64748B"/>
                </a:solidFill>
              </a:rPr>
              <a:t> </a:t>
            </a:r>
            <a:r>
              <a:rPr lang="en-US" sz="860" b="1" dirty="0">
                <a:solidFill>
                  <a:srgbClr val="E11D48"/>
                </a:solidFill>
              </a:rPr>
              <a:t>−5,5%</a:t>
            </a:r>
            <a:endParaRPr lang="en-US" sz="860" dirty="0"/>
          </a:p>
        </p:txBody>
      </p:sp>
      <p:sp>
        <p:nvSpPr>
          <p:cNvPr id="32" name="Shape 29"/>
          <p:cNvSpPr/>
          <p:nvPr/>
        </p:nvSpPr>
        <p:spPr>
          <a:xfrm>
            <a:off x="6378476" y="3999458"/>
            <a:ext cx="95250" cy="95250"/>
          </a:xfrm>
          <a:prstGeom prst="roundRect">
            <a:avLst>
              <a:gd name="adj" fmla="val 30000"/>
            </a:avLst>
          </a:prstGeom>
          <a:solidFill>
            <a:srgbClr val="0369A1"/>
          </a:solidFill>
          <a:ln/>
        </p:spPr>
      </p:sp>
      <p:sp>
        <p:nvSpPr>
          <p:cNvPr id="33" name="Text 30"/>
          <p:cNvSpPr txBox="1"/>
          <p:nvPr/>
        </p:nvSpPr>
        <p:spPr>
          <a:xfrm>
            <a:off x="6521351" y="3980408"/>
            <a:ext cx="1092080"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Nga </a:t>
            </a:r>
            <a:r>
              <a:rPr lang="en-US" sz="860" b="1" dirty="0">
                <a:solidFill>
                  <a:srgbClr val="0F172A"/>
                </a:solidFill>
              </a:rPr>
              <a:t>1,1 tr</a:t>
            </a:r>
            <a:r>
              <a:rPr lang="en-US" sz="860" b="1" dirty="0">
                <a:solidFill>
                  <a:srgbClr val="64748B"/>
                </a:solidFill>
              </a:rPr>
              <a:t> </a:t>
            </a:r>
            <a:r>
              <a:rPr lang="en-US" sz="860" b="1" dirty="0">
                <a:solidFill>
                  <a:srgbClr val="16A34A"/>
                </a:solidFill>
              </a:rPr>
              <a:t>+160,6%</a:t>
            </a:r>
            <a:endParaRPr lang="en-US" sz="860" dirty="0"/>
          </a:p>
        </p:txBody>
      </p:sp>
      <p:sp>
        <p:nvSpPr>
          <p:cNvPr id="34" name="Shape 31"/>
          <p:cNvSpPr/>
          <p:nvPr/>
        </p:nvSpPr>
        <p:spPr>
          <a:xfrm>
            <a:off x="3324225" y="4180433"/>
            <a:ext cx="95250" cy="95250"/>
          </a:xfrm>
          <a:prstGeom prst="roundRect">
            <a:avLst>
              <a:gd name="adj" fmla="val 30000"/>
            </a:avLst>
          </a:prstGeom>
          <a:solidFill>
            <a:srgbClr val="38BDF8"/>
          </a:solidFill>
          <a:ln/>
        </p:spPr>
      </p:sp>
      <p:sp>
        <p:nvSpPr>
          <p:cNvPr id="35" name="Text 32"/>
          <p:cNvSpPr txBox="1"/>
          <p:nvPr/>
        </p:nvSpPr>
        <p:spPr>
          <a:xfrm>
            <a:off x="3467100" y="4161383"/>
            <a:ext cx="1342442"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Đài Loan </a:t>
            </a:r>
            <a:r>
              <a:rPr lang="en-US" sz="860" b="1" dirty="0">
                <a:solidFill>
                  <a:srgbClr val="0F172A"/>
                </a:solidFill>
              </a:rPr>
              <a:t>964 ng</a:t>
            </a:r>
            <a:r>
              <a:rPr lang="en-US" sz="860" b="1" dirty="0">
                <a:solidFill>
                  <a:srgbClr val="64748B"/>
                </a:solidFill>
              </a:rPr>
              <a:t> +4,1%</a:t>
            </a:r>
            <a:endParaRPr lang="en-US" sz="860" dirty="0"/>
          </a:p>
        </p:txBody>
      </p:sp>
      <p:sp>
        <p:nvSpPr>
          <p:cNvPr id="36" name="Shape 33"/>
          <p:cNvSpPr/>
          <p:nvPr/>
        </p:nvSpPr>
        <p:spPr>
          <a:xfrm>
            <a:off x="4811911" y="4180433"/>
            <a:ext cx="95250" cy="95250"/>
          </a:xfrm>
          <a:prstGeom prst="roundRect">
            <a:avLst>
              <a:gd name="adj" fmla="val 30000"/>
            </a:avLst>
          </a:prstGeom>
          <a:solidFill>
            <a:srgbClr val="075985"/>
          </a:solidFill>
          <a:ln/>
        </p:spPr>
      </p:sp>
      <p:sp>
        <p:nvSpPr>
          <p:cNvPr id="37" name="Text 34"/>
          <p:cNvSpPr txBox="1"/>
          <p:nvPr/>
        </p:nvSpPr>
        <p:spPr>
          <a:xfrm>
            <a:off x="4954786" y="4161383"/>
            <a:ext cx="640577"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Mỹ </a:t>
            </a:r>
            <a:r>
              <a:rPr lang="en-US" sz="860" b="1" dirty="0">
                <a:solidFill>
                  <a:srgbClr val="0F172A"/>
                </a:solidFill>
              </a:rPr>
              <a:t>764 ng</a:t>
            </a:r>
            <a:endParaRPr lang="en-US" sz="860" dirty="0"/>
          </a:p>
        </p:txBody>
      </p:sp>
      <p:sp>
        <p:nvSpPr>
          <p:cNvPr id="38" name="Shape 35"/>
          <p:cNvSpPr/>
          <p:nvPr/>
        </p:nvSpPr>
        <p:spPr>
          <a:xfrm>
            <a:off x="5637461" y="4180433"/>
            <a:ext cx="95250" cy="95250"/>
          </a:xfrm>
          <a:prstGeom prst="roundRect">
            <a:avLst>
              <a:gd name="adj" fmla="val 30000"/>
            </a:avLst>
          </a:prstGeom>
          <a:solidFill>
            <a:srgbClr val="7DD3FC"/>
          </a:solidFill>
          <a:ln/>
        </p:spPr>
      </p:sp>
      <p:sp>
        <p:nvSpPr>
          <p:cNvPr id="39" name="Text 36"/>
          <p:cNvSpPr txBox="1"/>
          <p:nvPr/>
        </p:nvSpPr>
        <p:spPr>
          <a:xfrm>
            <a:off x="5780336" y="4161383"/>
            <a:ext cx="972184"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Nhật Bản </a:t>
            </a:r>
            <a:r>
              <a:rPr lang="en-US" sz="860" b="1" dirty="0">
                <a:solidFill>
                  <a:srgbClr val="0F172A"/>
                </a:solidFill>
              </a:rPr>
              <a:t>674 ng</a:t>
            </a:r>
            <a:endParaRPr lang="en-US" sz="860" dirty="0"/>
          </a:p>
        </p:txBody>
      </p:sp>
      <p:sp>
        <p:nvSpPr>
          <p:cNvPr id="40" name="Shape 37"/>
          <p:cNvSpPr/>
          <p:nvPr/>
        </p:nvSpPr>
        <p:spPr>
          <a:xfrm>
            <a:off x="6775847" y="4180433"/>
            <a:ext cx="95250" cy="95250"/>
          </a:xfrm>
          <a:prstGeom prst="roundRect">
            <a:avLst>
              <a:gd name="adj" fmla="val 30000"/>
            </a:avLst>
          </a:prstGeom>
          <a:solidFill>
            <a:srgbClr val="BAE6FD"/>
          </a:solidFill>
          <a:ln/>
        </p:spPr>
      </p:sp>
      <p:sp>
        <p:nvSpPr>
          <p:cNvPr id="41" name="Text 38"/>
          <p:cNvSpPr txBox="1"/>
          <p:nvPr/>
        </p:nvSpPr>
        <p:spPr>
          <a:xfrm>
            <a:off x="6918722" y="4161383"/>
            <a:ext cx="644363" cy="133350"/>
          </a:xfrm>
          <a:prstGeom prst="rect">
            <a:avLst/>
          </a:prstGeom>
          <a:noFill/>
          <a:ln/>
        </p:spPr>
        <p:txBody>
          <a:bodyPr wrap="none" lIns="0" tIns="0" rIns="0" bIns="0" rtlCol="0" anchor="t"/>
          <a:lstStyle/>
          <a:p>
            <a:pPr marL="0" indent="0" algn="l">
              <a:lnSpc>
                <a:spcPts val="1040"/>
              </a:lnSpc>
              <a:buNone/>
            </a:pPr>
            <a:r>
              <a:rPr lang="en-US" sz="860" b="1" dirty="0">
                <a:solidFill>
                  <a:srgbClr val="64748B"/>
                </a:solidFill>
              </a:rPr>
              <a:t>Khác </a:t>
            </a:r>
            <a:r>
              <a:rPr lang="en-US" sz="860" b="1" dirty="0">
                <a:solidFill>
                  <a:srgbClr val="0F172A"/>
                </a:solidFill>
              </a:rPr>
              <a:t>7,3 tr</a:t>
            </a:r>
            <a:endParaRPr lang="en-US" sz="860" dirty="0"/>
          </a:p>
        </p:txBody>
      </p:sp>
      <p:sp>
        <p:nvSpPr>
          <p:cNvPr id="42" name="Shape 39"/>
          <p:cNvSpPr/>
          <p:nvPr/>
        </p:nvSpPr>
        <p:spPr>
          <a:xfrm>
            <a:off x="3324225" y="4805363"/>
            <a:ext cx="5162550" cy="517922"/>
          </a:xfrm>
          <a:prstGeom prst="roundRect">
            <a:avLst>
              <a:gd name="adj" fmla="val 18391"/>
            </a:avLst>
          </a:prstGeom>
          <a:solidFill>
            <a:srgbClr val="F1F5F9"/>
          </a:solidFill>
          <a:ln/>
        </p:spPr>
      </p:sp>
      <p:sp>
        <p:nvSpPr>
          <p:cNvPr id="43" name="Text 40"/>
          <p:cNvSpPr txBox="1"/>
          <p:nvPr/>
        </p:nvSpPr>
        <p:spPr>
          <a:xfrm>
            <a:off x="3457575" y="4900613"/>
            <a:ext cx="4924425" cy="325636"/>
          </a:xfrm>
          <a:prstGeom prst="rect">
            <a:avLst/>
          </a:prstGeom>
          <a:noFill/>
          <a:ln/>
        </p:spPr>
        <p:txBody>
          <a:bodyPr wrap="square" lIns="0" tIns="0" rIns="0" bIns="0" rtlCol="0" anchor="t"/>
          <a:lstStyle/>
          <a:p>
            <a:pPr marL="0" indent="0" algn="l">
              <a:lnSpc>
                <a:spcPts val="1370"/>
              </a:lnSpc>
              <a:buNone/>
            </a:pPr>
            <a:r>
              <a:rPr lang="en-US" sz="980" b="1" dirty="0">
                <a:solidFill>
                  <a:srgbClr val="334155"/>
                </a:solidFill>
              </a:rPr>
              <a:t>Tăng nhanh nhất: </a:t>
            </a:r>
            <a:r>
              <a:rPr lang="en-US" sz="980" b="1" dirty="0">
                <a:solidFill>
                  <a:srgbClr val="15803D"/>
                </a:solidFill>
              </a:rPr>
              <a:t>châu Âu +55%</a:t>
            </a:r>
            <a:r>
              <a:rPr lang="en-US" sz="980" b="1" dirty="0">
                <a:solidFill>
                  <a:srgbClr val="334155"/>
                </a:solidFill>
              </a:rPr>
              <a:t> · </a:t>
            </a:r>
            <a:r>
              <a:rPr lang="en-US" sz="980" b="1" dirty="0">
                <a:solidFill>
                  <a:srgbClr val="15803D"/>
                </a:solidFill>
              </a:rPr>
              <a:t>Ấn Độ +33%</a:t>
            </a:r>
            <a:r>
              <a:rPr lang="en-US" sz="980" b="1" dirty="0">
                <a:solidFill>
                  <a:srgbClr val="334155"/>
                </a:solidFill>
              </a:rPr>
              <a:t> · </a:t>
            </a:r>
            <a:r>
              <a:rPr lang="en-US" sz="980" b="1" dirty="0">
                <a:solidFill>
                  <a:srgbClr val="15803D"/>
                </a:solidFill>
              </a:rPr>
              <a:t>châu Úc +21%</a:t>
            </a:r>
            <a:r>
              <a:rPr lang="en-US" sz="980" b="1" dirty="0">
                <a:solidFill>
                  <a:srgbClr val="334155"/>
                </a:solidFill>
              </a:rPr>
              <a:t> · </a:t>
            </a:r>
            <a:r>
              <a:rPr lang="en-US" sz="980" b="1" dirty="0">
                <a:solidFill>
                  <a:srgbClr val="15803D"/>
                </a:solidFill>
              </a:rPr>
              <a:t>châu Mỹ +20%</a:t>
            </a:r>
            <a:endParaRPr lang="en-US" sz="980" dirty="0"/>
          </a:p>
        </p:txBody>
      </p:sp>
      <p:sp>
        <p:nvSpPr>
          <p:cNvPr id="44" name="Shape 41"/>
          <p:cNvSpPr/>
          <p:nvPr/>
        </p:nvSpPr>
        <p:spPr>
          <a:xfrm>
            <a:off x="8820150" y="1169789"/>
            <a:ext cx="2762250" cy="4315420"/>
          </a:xfrm>
          <a:prstGeom prst="roundRect">
            <a:avLst>
              <a:gd name="adj" fmla="val 4828"/>
            </a:avLst>
          </a:prstGeom>
          <a:solidFill>
            <a:srgbClr val="FFF1F2"/>
          </a:solidFill>
          <a:ln w="9525">
            <a:solidFill>
              <a:srgbClr val="FECDD3"/>
            </a:solidFill>
            <a:prstDash val="solid"/>
          </a:ln>
        </p:spPr>
      </p:sp>
      <p:sp>
        <p:nvSpPr>
          <p:cNvPr id="45" name="Text 42"/>
          <p:cNvSpPr txBox="1"/>
          <p:nvPr/>
        </p:nvSpPr>
        <p:spPr>
          <a:xfrm>
            <a:off x="9020175" y="1331714"/>
            <a:ext cx="1559043"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E11D48"/>
                </a:solidFill>
              </a:rPr>
              <a:t>KHÁCH QUỐC TẾ NÓI GÌ</a:t>
            </a:r>
            <a:endParaRPr lang="en-US" sz="900" dirty="0"/>
          </a:p>
        </p:txBody>
      </p:sp>
      <p:sp>
        <p:nvSpPr>
          <p:cNvPr id="46" name="Text 43"/>
          <p:cNvSpPr txBox="1"/>
          <p:nvPr/>
        </p:nvSpPr>
        <p:spPr>
          <a:xfrm>
            <a:off x="9172575" y="1636514"/>
            <a:ext cx="1871719"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Vẫn phải mang tiền mặt</a:t>
            </a:r>
            <a:endParaRPr lang="en-US" sz="1200" dirty="0"/>
          </a:p>
        </p:txBody>
      </p:sp>
      <p:sp>
        <p:nvSpPr>
          <p:cNvPr id="47" name="Shape 44"/>
          <p:cNvSpPr/>
          <p:nvPr/>
        </p:nvSpPr>
        <p:spPr>
          <a:xfrm>
            <a:off x="9029700" y="1703189"/>
            <a:ext cx="57150" cy="57150"/>
          </a:xfrm>
          <a:prstGeom prst="ellipse">
            <a:avLst/>
          </a:prstGeom>
          <a:solidFill>
            <a:srgbClr val="334155"/>
          </a:solidFill>
          <a:ln/>
        </p:spPr>
      </p:sp>
      <p:sp>
        <p:nvSpPr>
          <p:cNvPr id="48" name="Text 45"/>
          <p:cNvSpPr txBox="1"/>
          <p:nvPr/>
        </p:nvSpPr>
        <p:spPr>
          <a:xfrm>
            <a:off x="9172575" y="1945035"/>
            <a:ext cx="2238375" cy="61704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Không trả được thẻ: nhờ trả hộ, đi rút tiền, sang quán khác</a:t>
            </a:r>
            <a:endParaRPr lang="en-US" sz="1200" dirty="0"/>
          </a:p>
        </p:txBody>
      </p:sp>
      <p:sp>
        <p:nvSpPr>
          <p:cNvPr id="49" name="Shape 46"/>
          <p:cNvSpPr/>
          <p:nvPr/>
        </p:nvSpPr>
        <p:spPr>
          <a:xfrm>
            <a:off x="9029700" y="2011710"/>
            <a:ext cx="57150" cy="57150"/>
          </a:xfrm>
          <a:prstGeom prst="ellipse">
            <a:avLst/>
          </a:prstGeom>
          <a:solidFill>
            <a:srgbClr val="334155"/>
          </a:solidFill>
          <a:ln/>
        </p:spPr>
      </p:sp>
      <p:sp>
        <p:nvSpPr>
          <p:cNvPr id="50" name="Text 47"/>
          <p:cNvSpPr txBox="1"/>
          <p:nvPr/>
        </p:nvSpPr>
        <p:spPr>
          <a:xfrm>
            <a:off x="9172575" y="2680097"/>
            <a:ext cx="2238375"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Khó nhất ở quán ăn, cà phê, điểm tham quan</a:t>
            </a:r>
            <a:endParaRPr lang="en-US" sz="1200" dirty="0"/>
          </a:p>
        </p:txBody>
      </p:sp>
      <p:sp>
        <p:nvSpPr>
          <p:cNvPr id="51" name="Shape 48"/>
          <p:cNvSpPr/>
          <p:nvPr/>
        </p:nvSpPr>
        <p:spPr>
          <a:xfrm>
            <a:off x="9029700" y="2746772"/>
            <a:ext cx="57150" cy="57150"/>
          </a:xfrm>
          <a:prstGeom prst="ellipse">
            <a:avLst/>
          </a:prstGeom>
          <a:solidFill>
            <a:srgbClr val="334155"/>
          </a:solidFill>
          <a:ln/>
        </p:spPr>
      </p:sp>
      <p:sp>
        <p:nvSpPr>
          <p:cNvPr id="52" name="Text 49"/>
          <p:cNvSpPr txBox="1"/>
          <p:nvPr/>
        </p:nvSpPr>
        <p:spPr>
          <a:xfrm>
            <a:off x="9172575" y="3201888"/>
            <a:ext cx="2238375"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Sẵn sàng dùng cách mới nếu tiện</a:t>
            </a:r>
            <a:endParaRPr lang="en-US" sz="1200" dirty="0"/>
          </a:p>
        </p:txBody>
      </p:sp>
      <p:sp>
        <p:nvSpPr>
          <p:cNvPr id="53" name="Shape 50"/>
          <p:cNvSpPr/>
          <p:nvPr/>
        </p:nvSpPr>
        <p:spPr>
          <a:xfrm>
            <a:off x="9029700" y="3268563"/>
            <a:ext cx="57150" cy="57150"/>
          </a:xfrm>
          <a:prstGeom prst="ellipse">
            <a:avLst/>
          </a:prstGeom>
          <a:solidFill>
            <a:srgbClr val="334155"/>
          </a:solidFill>
          <a:ln/>
        </p:spPr>
      </p:sp>
      <p:sp>
        <p:nvSpPr>
          <p:cNvPr id="54" name="Text 51"/>
          <p:cNvSpPr txBox="1"/>
          <p:nvPr/>
        </p:nvSpPr>
        <p:spPr>
          <a:xfrm>
            <a:off x="9020175" y="5176689"/>
            <a:ext cx="1669789"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Khảo sát thăm dò, 16/10/2026.</a:t>
            </a:r>
            <a:endParaRPr lang="en-US" sz="830" dirty="0"/>
          </a:p>
        </p:txBody>
      </p:sp>
      <p:sp>
        <p:nvSpPr>
          <p:cNvPr id="55" name="Shape 52"/>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56" name="Text 53"/>
          <p:cNvSpPr txBox="1"/>
          <p:nvPr/>
        </p:nvSpPr>
        <p:spPr>
          <a:xfrm>
            <a:off x="1152525" y="5790009"/>
            <a:ext cx="6117613"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Khách muốn trả không tiền mặt. </a:t>
            </a:r>
            <a:r>
              <a:rPr lang="en-US" sz="1280" b="1" dirty="0">
                <a:solidFill>
                  <a:srgbClr val="15803D"/>
                </a:solidFill>
              </a:rPr>
              <a:t>Cửa hàng không nhận thẻ thì mất khách.</a:t>
            </a:r>
            <a:endParaRPr lang="en-US" sz="1280" dirty="0"/>
          </a:p>
        </p:txBody>
      </p:sp>
      <p:sp>
        <p:nvSpPr>
          <p:cNvPr id="57" name="Shape 54"/>
          <p:cNvSpPr/>
          <p:nvPr/>
        </p:nvSpPr>
        <p:spPr>
          <a:xfrm rot="5400000">
            <a:off x="828675" y="5790605"/>
            <a:ext cx="152400" cy="190500"/>
          </a:xfrm>
          <a:prstGeom prst="triangle">
            <a:avLst/>
          </a:prstGeom>
          <a:solidFill>
            <a:srgbClr val="E11D48"/>
          </a:solidFill>
          <a:ln/>
        </p:spPr>
      </p:sp>
      <p:sp>
        <p:nvSpPr>
          <p:cNvPr id="58" name="Text 55"/>
          <p:cNvSpPr txBox="1"/>
          <p:nvPr/>
        </p:nvSpPr>
        <p:spPr>
          <a:xfrm>
            <a:off x="609600" y="6355259"/>
            <a:ext cx="9648825" cy="279946"/>
          </a:xfrm>
          <a:prstGeom prst="rect">
            <a:avLst/>
          </a:prstGeom>
          <a:noFill/>
          <a:ln/>
        </p:spPr>
        <p:txBody>
          <a:bodyPr wrap="square" lIns="0" tIns="0" rIns="0" bIns="0" rtlCol="0" anchor="t"/>
          <a:lstStyle/>
          <a:p>
            <a:pPr marL="0" indent="0" algn="l">
              <a:lnSpc>
                <a:spcPts val="1160"/>
              </a:lnSpc>
              <a:buNone/>
            </a:pPr>
            <a:r>
              <a:rPr lang="en-US" sz="830" b="1" dirty="0">
                <a:solidFill>
                  <a:srgbClr val="94A3B8"/>
                </a:solidFill>
              </a:rPr>
              <a:t>Nguồn: Cục Thống kê, Cục Du lịch Quốc gia (9 tháng 2026); Tổng cục Thống kê; Worldpay Global Payments Report 2025, 2026. Ví nội địa, tỉ lệ trả qua thẻ: thói quen trả tiền tại cửa hàng ở nước của khách.</a:t>
            </a:r>
            <a:endParaRPr lang="en-US" sz="830" dirty="0"/>
          </a:p>
        </p:txBody>
      </p:sp>
      <p:sp>
        <p:nvSpPr>
          <p:cNvPr id="59" name="Shape 56"/>
          <p:cNvSpPr/>
          <p:nvPr/>
        </p:nvSpPr>
        <p:spPr>
          <a:xfrm>
            <a:off x="10796588" y="6343650"/>
            <a:ext cx="323850" cy="323850"/>
          </a:xfrm>
          <a:prstGeom prst="ellipse">
            <a:avLst/>
          </a:prstGeom>
          <a:solidFill>
            <a:srgbClr val="F0001E"/>
          </a:solidFill>
          <a:ln/>
        </p:spPr>
      </p:sp>
      <p:sp>
        <p:nvSpPr>
          <p:cNvPr id="60" name="Shape 57"/>
          <p:cNvSpPr/>
          <p:nvPr/>
        </p:nvSpPr>
        <p:spPr>
          <a:xfrm>
            <a:off x="10901363" y="6415088"/>
            <a:ext cx="114300" cy="180975"/>
          </a:xfrm>
          <a:prstGeom prst="roundRect">
            <a:avLst>
              <a:gd name="adj" fmla="val 29167"/>
            </a:avLst>
          </a:prstGeom>
          <a:ln w="19050">
            <a:solidFill>
              <a:srgbClr val="FFFFFF"/>
            </a:solidFill>
            <a:prstDash val="solid"/>
          </a:ln>
        </p:spPr>
      </p:sp>
      <p:sp>
        <p:nvSpPr>
          <p:cNvPr id="61" name="Text 58"/>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62" name="Text 59"/>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63" name="Text 60"/>
          <p:cNvSpPr txBox="1"/>
          <p:nvPr/>
        </p:nvSpPr>
        <p:spPr>
          <a:xfrm>
            <a:off x="10576471" y="6429375"/>
            <a:ext cx="114928"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4705996"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BỐI CẢNH · KHÁCH TRẢ TIỀN THẾ NÀO, THEO NHÓM MERCHANT</a:t>
            </a:r>
            <a:endParaRPr lang="en-US" sz="1050" dirty="0"/>
          </a:p>
        </p:txBody>
      </p:sp>
      <p:sp>
        <p:nvSpPr>
          <p:cNvPr id="3" name="Text 1"/>
          <p:cNvSpPr txBox="1"/>
          <p:nvPr/>
        </p:nvSpPr>
        <p:spPr>
          <a:xfrm>
            <a:off x="609600" y="619125"/>
            <a:ext cx="8234092"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Merchant càng nhỏ, </a:t>
            </a:r>
            <a:r>
              <a:rPr lang="en-US" sz="2330" b="1" kern="0" spc="-30" dirty="0">
                <a:solidFill>
                  <a:srgbClr val="E11D48"/>
                </a:solidFill>
              </a:rPr>
              <a:t>khách quốc tế càng ít cách trả tiền</a:t>
            </a:r>
            <a:endParaRPr lang="en-US" sz="2330" dirty="0"/>
          </a:p>
        </p:txBody>
      </p:sp>
      <p:sp>
        <p:nvSpPr>
          <p:cNvPr id="4" name="Shape 2"/>
          <p:cNvSpPr/>
          <p:nvPr/>
        </p:nvSpPr>
        <p:spPr>
          <a:xfrm>
            <a:off x="609600" y="1169789"/>
            <a:ext cx="10972800" cy="3279130"/>
          </a:xfrm>
          <a:prstGeom prst="roundRect">
            <a:avLst>
              <a:gd name="adj" fmla="val 3486"/>
            </a:avLst>
          </a:prstGeom>
          <a:solidFill>
            <a:srgbClr val="FFFFFF"/>
          </a:solidFill>
          <a:ln w="9525">
            <a:solidFill>
              <a:srgbClr val="E2E8F0"/>
            </a:solidFill>
            <a:prstDash val="solid"/>
          </a:ln>
        </p:spPr>
        <p:txBody>
          <a:bodyPr/>
          <a:lstStyle/>
          <a:p>
            <a:endParaRPr lang="en-VN" dirty="0"/>
          </a:p>
        </p:txBody>
      </p:sp>
      <p:sp>
        <p:nvSpPr>
          <p:cNvPr id="5" name="Shape 3"/>
          <p:cNvSpPr/>
          <p:nvPr/>
        </p:nvSpPr>
        <p:spPr>
          <a:xfrm>
            <a:off x="619125" y="1179314"/>
            <a:ext cx="2571750" cy="563166"/>
          </a:xfrm>
          <a:prstGeom prst="rect">
            <a:avLst/>
          </a:prstGeom>
          <a:solidFill>
            <a:srgbClr val="F1F5F9"/>
          </a:solidFill>
          <a:ln/>
        </p:spPr>
      </p:sp>
      <p:sp>
        <p:nvSpPr>
          <p:cNvPr id="6" name="Shape 4"/>
          <p:cNvSpPr/>
          <p:nvPr/>
        </p:nvSpPr>
        <p:spPr>
          <a:xfrm>
            <a:off x="619125" y="1732955"/>
            <a:ext cx="2571750" cy="9525"/>
          </a:xfrm>
          <a:prstGeom prst="rect">
            <a:avLst/>
          </a:prstGeom>
          <a:solidFill>
            <a:srgbClr val="E2E8F0"/>
          </a:solidFill>
          <a:ln/>
        </p:spPr>
      </p:sp>
      <p:sp>
        <p:nvSpPr>
          <p:cNvPr id="7" name="Text 5"/>
          <p:cNvSpPr txBox="1"/>
          <p:nvPr/>
        </p:nvSpPr>
        <p:spPr>
          <a:xfrm>
            <a:off x="752475" y="1284089"/>
            <a:ext cx="1101388" cy="161925"/>
          </a:xfrm>
          <a:prstGeom prst="rect">
            <a:avLst/>
          </a:prstGeom>
          <a:noFill/>
          <a:ln/>
        </p:spPr>
        <p:txBody>
          <a:bodyPr wrap="none" lIns="0" tIns="0" rIns="0" bIns="0" rtlCol="0" anchor="t"/>
          <a:lstStyle/>
          <a:p>
            <a:pPr marL="0" indent="0" algn="l">
              <a:lnSpc>
                <a:spcPts val="1370"/>
              </a:lnSpc>
              <a:buNone/>
            </a:pPr>
            <a:r>
              <a:rPr lang="en-US" sz="1050" b="1" dirty="0">
                <a:solidFill>
                  <a:srgbClr val="0F172A"/>
                </a:solidFill>
              </a:rPr>
              <a:t>Khách trả bằng</a:t>
            </a:r>
            <a:endParaRPr lang="en-US" sz="1050" dirty="0"/>
          </a:p>
        </p:txBody>
      </p:sp>
      <p:sp>
        <p:nvSpPr>
          <p:cNvPr id="8" name="Shape 6"/>
          <p:cNvSpPr/>
          <p:nvPr/>
        </p:nvSpPr>
        <p:spPr>
          <a:xfrm>
            <a:off x="3190875" y="1179314"/>
            <a:ext cx="2793950" cy="563166"/>
          </a:xfrm>
          <a:prstGeom prst="rect">
            <a:avLst/>
          </a:prstGeom>
          <a:solidFill>
            <a:srgbClr val="FFE4E6"/>
          </a:solidFill>
          <a:ln/>
        </p:spPr>
      </p:sp>
      <p:sp>
        <p:nvSpPr>
          <p:cNvPr id="9" name="Shape 7"/>
          <p:cNvSpPr/>
          <p:nvPr/>
        </p:nvSpPr>
        <p:spPr>
          <a:xfrm>
            <a:off x="3190875" y="1732955"/>
            <a:ext cx="2793950" cy="9525"/>
          </a:xfrm>
          <a:prstGeom prst="rect">
            <a:avLst/>
          </a:prstGeom>
          <a:solidFill>
            <a:srgbClr val="E2E8F0"/>
          </a:solidFill>
          <a:ln/>
        </p:spPr>
      </p:sp>
      <p:sp>
        <p:nvSpPr>
          <p:cNvPr id="10" name="Text 8"/>
          <p:cNvSpPr txBox="1"/>
          <p:nvPr/>
        </p:nvSpPr>
        <p:spPr>
          <a:xfrm>
            <a:off x="3324225" y="1284089"/>
            <a:ext cx="823103" cy="161925"/>
          </a:xfrm>
          <a:prstGeom prst="rect">
            <a:avLst/>
          </a:prstGeom>
          <a:noFill/>
          <a:ln/>
        </p:spPr>
        <p:txBody>
          <a:bodyPr wrap="none" lIns="0" tIns="0" rIns="0" bIns="0" rtlCol="0" anchor="t"/>
          <a:lstStyle/>
          <a:p>
            <a:pPr marL="0" indent="0" algn="l">
              <a:lnSpc>
                <a:spcPts val="1370"/>
              </a:lnSpc>
              <a:buNone/>
            </a:pPr>
            <a:r>
              <a:rPr lang="en-US" sz="1050" b="1" dirty="0">
                <a:solidFill>
                  <a:srgbClr val="E11D48"/>
                </a:solidFill>
              </a:rPr>
              <a:t>Vừa và nhỏ</a:t>
            </a:r>
            <a:endParaRPr lang="en-US" sz="1050" dirty="0"/>
          </a:p>
        </p:txBody>
      </p:sp>
      <p:sp>
        <p:nvSpPr>
          <p:cNvPr id="11" name="Text 9"/>
          <p:cNvSpPr txBox="1"/>
          <p:nvPr/>
        </p:nvSpPr>
        <p:spPr>
          <a:xfrm>
            <a:off x="3324225" y="1485900"/>
            <a:ext cx="2049670" cy="133350"/>
          </a:xfrm>
          <a:prstGeom prst="rect">
            <a:avLst/>
          </a:prstGeom>
          <a:noFill/>
          <a:ln/>
        </p:spPr>
        <p:txBody>
          <a:bodyPr wrap="none" lIns="0" tIns="0" rIns="0" bIns="0" rtlCol="0" anchor="t"/>
          <a:lstStyle/>
          <a:p>
            <a:pPr marL="0" indent="0" algn="l">
              <a:lnSpc>
                <a:spcPts val="1120"/>
              </a:lnSpc>
              <a:buNone/>
            </a:pPr>
            <a:r>
              <a:rPr lang="en-US" sz="860" b="1" i="1" dirty="0">
                <a:solidFill>
                  <a:srgbClr val="64748B"/>
                </a:solidFill>
              </a:rPr>
              <a:t>quán ăn, cà phê, sạp chợ, homestay</a:t>
            </a:r>
            <a:endParaRPr lang="en-US" sz="860" dirty="0"/>
          </a:p>
        </p:txBody>
      </p:sp>
      <p:sp>
        <p:nvSpPr>
          <p:cNvPr id="12" name="Shape 10"/>
          <p:cNvSpPr/>
          <p:nvPr/>
        </p:nvSpPr>
        <p:spPr>
          <a:xfrm>
            <a:off x="5984825" y="1179314"/>
            <a:ext cx="2793950" cy="563166"/>
          </a:xfrm>
          <a:prstGeom prst="rect">
            <a:avLst/>
          </a:prstGeom>
          <a:solidFill>
            <a:srgbClr val="F1F5F9"/>
          </a:solidFill>
          <a:ln/>
        </p:spPr>
      </p:sp>
      <p:sp>
        <p:nvSpPr>
          <p:cNvPr id="13" name="Shape 11"/>
          <p:cNvSpPr/>
          <p:nvPr/>
        </p:nvSpPr>
        <p:spPr>
          <a:xfrm>
            <a:off x="5984825" y="1732955"/>
            <a:ext cx="2793950" cy="9525"/>
          </a:xfrm>
          <a:prstGeom prst="rect">
            <a:avLst/>
          </a:prstGeom>
          <a:solidFill>
            <a:srgbClr val="E2E8F0"/>
          </a:solidFill>
          <a:ln/>
        </p:spPr>
      </p:sp>
      <p:sp>
        <p:nvSpPr>
          <p:cNvPr id="14" name="Text 12"/>
          <p:cNvSpPr txBox="1"/>
          <p:nvPr/>
        </p:nvSpPr>
        <p:spPr>
          <a:xfrm>
            <a:off x="6118175" y="1284089"/>
            <a:ext cx="795811" cy="161925"/>
          </a:xfrm>
          <a:prstGeom prst="rect">
            <a:avLst/>
          </a:prstGeom>
          <a:noFill/>
          <a:ln/>
        </p:spPr>
        <p:txBody>
          <a:bodyPr wrap="none" lIns="0" tIns="0" rIns="0" bIns="0" rtlCol="0" anchor="t"/>
          <a:lstStyle/>
          <a:p>
            <a:pPr marL="0" indent="0" algn="l">
              <a:lnSpc>
                <a:spcPts val="1370"/>
              </a:lnSpc>
              <a:buNone/>
            </a:pPr>
            <a:r>
              <a:rPr lang="en-US" sz="1050" b="1" dirty="0">
                <a:solidFill>
                  <a:srgbClr val="0F172A"/>
                </a:solidFill>
              </a:rPr>
              <a:t>Trung bình</a:t>
            </a:r>
            <a:endParaRPr lang="en-US" sz="1050" dirty="0"/>
          </a:p>
        </p:txBody>
      </p:sp>
      <p:sp>
        <p:nvSpPr>
          <p:cNvPr id="15" name="Text 13"/>
          <p:cNvSpPr txBox="1"/>
          <p:nvPr/>
        </p:nvSpPr>
        <p:spPr>
          <a:xfrm>
            <a:off x="6118175" y="1485900"/>
            <a:ext cx="1704811" cy="133350"/>
          </a:xfrm>
          <a:prstGeom prst="rect">
            <a:avLst/>
          </a:prstGeom>
          <a:noFill/>
          <a:ln/>
        </p:spPr>
        <p:txBody>
          <a:bodyPr wrap="none" lIns="0" tIns="0" rIns="0" bIns="0" rtlCol="0" anchor="t"/>
          <a:lstStyle/>
          <a:p>
            <a:pPr marL="0" indent="0" algn="l">
              <a:lnSpc>
                <a:spcPts val="1120"/>
              </a:lnSpc>
              <a:buNone/>
            </a:pPr>
            <a:r>
              <a:rPr lang="en-US" sz="860" b="1" i="1" dirty="0">
                <a:solidFill>
                  <a:srgbClr val="64748B"/>
                </a:solidFill>
              </a:rPr>
              <a:t>nhà hàng, spa, khách sạn nhỏ</a:t>
            </a:r>
            <a:endParaRPr lang="en-US" sz="860" dirty="0"/>
          </a:p>
        </p:txBody>
      </p:sp>
      <p:sp>
        <p:nvSpPr>
          <p:cNvPr id="16" name="Shape 14"/>
          <p:cNvSpPr/>
          <p:nvPr/>
        </p:nvSpPr>
        <p:spPr>
          <a:xfrm>
            <a:off x="8778776" y="1179314"/>
            <a:ext cx="2794099" cy="563166"/>
          </a:xfrm>
          <a:prstGeom prst="rect">
            <a:avLst/>
          </a:prstGeom>
          <a:solidFill>
            <a:srgbClr val="F1F5F9"/>
          </a:solidFill>
          <a:ln/>
        </p:spPr>
      </p:sp>
      <p:sp>
        <p:nvSpPr>
          <p:cNvPr id="17" name="Shape 15"/>
          <p:cNvSpPr/>
          <p:nvPr/>
        </p:nvSpPr>
        <p:spPr>
          <a:xfrm>
            <a:off x="8778776" y="1732955"/>
            <a:ext cx="2794099" cy="9525"/>
          </a:xfrm>
          <a:prstGeom prst="rect">
            <a:avLst/>
          </a:prstGeom>
          <a:solidFill>
            <a:srgbClr val="E2E8F0"/>
          </a:solidFill>
          <a:ln/>
        </p:spPr>
      </p:sp>
      <p:sp>
        <p:nvSpPr>
          <p:cNvPr id="18" name="Text 16"/>
          <p:cNvSpPr txBox="1"/>
          <p:nvPr/>
        </p:nvSpPr>
        <p:spPr>
          <a:xfrm>
            <a:off x="8912126" y="1284089"/>
            <a:ext cx="825154" cy="161925"/>
          </a:xfrm>
          <a:prstGeom prst="rect">
            <a:avLst/>
          </a:prstGeom>
          <a:noFill/>
          <a:ln/>
        </p:spPr>
        <p:txBody>
          <a:bodyPr wrap="none" lIns="0" tIns="0" rIns="0" bIns="0" rtlCol="0" anchor="t"/>
          <a:lstStyle/>
          <a:p>
            <a:pPr marL="0" indent="0" algn="l">
              <a:lnSpc>
                <a:spcPts val="1370"/>
              </a:lnSpc>
              <a:buNone/>
            </a:pPr>
            <a:r>
              <a:rPr lang="en-US" sz="1050" b="1" dirty="0">
                <a:solidFill>
                  <a:srgbClr val="0F172A"/>
                </a:solidFill>
              </a:rPr>
              <a:t>Lớn (chuỗi)</a:t>
            </a:r>
            <a:endParaRPr lang="en-US" sz="1050" dirty="0"/>
          </a:p>
        </p:txBody>
      </p:sp>
      <p:sp>
        <p:nvSpPr>
          <p:cNvPr id="19" name="Text 17"/>
          <p:cNvSpPr txBox="1"/>
          <p:nvPr/>
        </p:nvSpPr>
        <p:spPr>
          <a:xfrm>
            <a:off x="8912126" y="1485900"/>
            <a:ext cx="2096208" cy="133350"/>
          </a:xfrm>
          <a:prstGeom prst="rect">
            <a:avLst/>
          </a:prstGeom>
          <a:noFill/>
          <a:ln/>
        </p:spPr>
        <p:txBody>
          <a:bodyPr wrap="none" lIns="0" tIns="0" rIns="0" bIns="0" rtlCol="0" anchor="t"/>
          <a:lstStyle/>
          <a:p>
            <a:pPr marL="0" indent="0" algn="l">
              <a:lnSpc>
                <a:spcPts val="1120"/>
              </a:lnSpc>
              <a:buNone/>
            </a:pPr>
            <a:r>
              <a:rPr lang="en-US" sz="860" b="1" i="1" dirty="0">
                <a:solidFill>
                  <a:srgbClr val="64748B"/>
                </a:solidFill>
              </a:rPr>
              <a:t>khách sạn chuỗi, TTTM, chuỗi bán lẻ</a:t>
            </a:r>
            <a:endParaRPr lang="en-US" sz="860" dirty="0"/>
          </a:p>
        </p:txBody>
      </p:sp>
      <p:sp>
        <p:nvSpPr>
          <p:cNvPr id="20" name="Shape 18"/>
          <p:cNvSpPr/>
          <p:nvPr/>
        </p:nvSpPr>
        <p:spPr>
          <a:xfrm>
            <a:off x="619125" y="2274243"/>
            <a:ext cx="2571750" cy="9525"/>
          </a:xfrm>
          <a:prstGeom prst="rect">
            <a:avLst/>
          </a:prstGeom>
          <a:solidFill>
            <a:srgbClr val="E2E8F0"/>
          </a:solidFill>
          <a:ln/>
        </p:spPr>
      </p:sp>
      <p:sp>
        <p:nvSpPr>
          <p:cNvPr id="21" name="Text 19"/>
          <p:cNvSpPr txBox="1"/>
          <p:nvPr/>
        </p:nvSpPr>
        <p:spPr>
          <a:xfrm>
            <a:off x="752475" y="1930450"/>
            <a:ext cx="1478271"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Tiền mặt, đổi ngoại tệ</a:t>
            </a:r>
            <a:endParaRPr lang="en-US" sz="1010" dirty="0"/>
          </a:p>
        </p:txBody>
      </p:sp>
      <p:sp>
        <p:nvSpPr>
          <p:cNvPr id="22" name="Shape 20"/>
          <p:cNvSpPr/>
          <p:nvPr/>
        </p:nvSpPr>
        <p:spPr>
          <a:xfrm>
            <a:off x="3190875" y="1742480"/>
            <a:ext cx="2793950" cy="541288"/>
          </a:xfrm>
          <a:prstGeom prst="rect">
            <a:avLst/>
          </a:prstGeom>
          <a:solidFill>
            <a:srgbClr val="FFF5F6"/>
          </a:solidFill>
          <a:ln/>
        </p:spPr>
      </p:sp>
      <p:sp>
        <p:nvSpPr>
          <p:cNvPr id="23" name="Shape 21"/>
          <p:cNvSpPr/>
          <p:nvPr/>
        </p:nvSpPr>
        <p:spPr>
          <a:xfrm>
            <a:off x="3190875" y="2274243"/>
            <a:ext cx="2793950" cy="9525"/>
          </a:xfrm>
          <a:prstGeom prst="rect">
            <a:avLst/>
          </a:prstGeom>
          <a:solidFill>
            <a:srgbClr val="E2E8F0"/>
          </a:solidFill>
          <a:ln/>
        </p:spPr>
      </p:sp>
      <p:pic>
        <p:nvPicPr>
          <p:cNvPr id="24" name="Image 0" descr="●"/>
          <p:cNvPicPr>
            <a:picLocks noChangeAspect="1"/>
          </p:cNvPicPr>
          <p:nvPr/>
        </p:nvPicPr>
        <p:blipFill>
          <a:blip r:embed="rId3"/>
          <a:stretch>
            <a:fillRect/>
          </a:stretch>
        </p:blipFill>
        <p:spPr>
          <a:xfrm>
            <a:off x="3314700" y="1885355"/>
            <a:ext cx="190054" cy="238125"/>
          </a:xfrm>
          <a:prstGeom prst="rect">
            <a:avLst/>
          </a:prstGeom>
        </p:spPr>
      </p:pic>
      <p:sp>
        <p:nvSpPr>
          <p:cNvPr id="25" name="Text 22"/>
          <p:cNvSpPr txBox="1"/>
          <p:nvPr/>
        </p:nvSpPr>
        <p:spPr>
          <a:xfrm>
            <a:off x="3571429" y="1923455"/>
            <a:ext cx="1142562" cy="152400"/>
          </a:xfrm>
          <a:prstGeom prst="rect">
            <a:avLst/>
          </a:prstGeom>
          <a:noFill/>
          <a:ln/>
        </p:spPr>
        <p:txBody>
          <a:bodyPr wrap="none" lIns="0" tIns="0" rIns="0" bIns="0" rtlCol="0" anchor="t"/>
          <a:lstStyle/>
          <a:p>
            <a:pPr marL="0" indent="0" algn="l">
              <a:lnSpc>
                <a:spcPts val="1330"/>
              </a:lnSpc>
              <a:buNone/>
            </a:pPr>
            <a:r>
              <a:rPr lang="en-US" sz="980" b="1" dirty="0" err="1">
                <a:solidFill>
                  <a:srgbClr val="334155"/>
                </a:solidFill>
              </a:rPr>
              <a:t>cách</a:t>
            </a:r>
            <a:r>
              <a:rPr lang="en-US" sz="980" b="1" dirty="0">
                <a:solidFill>
                  <a:srgbClr val="334155"/>
                </a:solidFill>
              </a:rPr>
              <a:t> </a:t>
            </a:r>
            <a:r>
              <a:rPr lang="en-US" sz="980" b="1" dirty="0" err="1">
                <a:solidFill>
                  <a:srgbClr val="334155"/>
                </a:solidFill>
              </a:rPr>
              <a:t>nhận</a:t>
            </a:r>
            <a:r>
              <a:rPr lang="en-US" sz="980" b="1" dirty="0">
                <a:solidFill>
                  <a:srgbClr val="334155"/>
                </a:solidFill>
              </a:rPr>
              <a:t> </a:t>
            </a:r>
            <a:r>
              <a:rPr lang="en-US" sz="980" b="1" dirty="0" err="1">
                <a:solidFill>
                  <a:srgbClr val="334155"/>
                </a:solidFill>
              </a:rPr>
              <a:t>gần</a:t>
            </a:r>
            <a:r>
              <a:rPr lang="en-US" sz="980" b="1" dirty="0">
                <a:solidFill>
                  <a:srgbClr val="334155"/>
                </a:solidFill>
              </a:rPr>
              <a:t> như duy nhất</a:t>
            </a:r>
            <a:endParaRPr lang="en-US" sz="980" dirty="0"/>
          </a:p>
        </p:txBody>
      </p:sp>
      <p:sp>
        <p:nvSpPr>
          <p:cNvPr id="26" name="Shape 23"/>
          <p:cNvSpPr/>
          <p:nvPr/>
        </p:nvSpPr>
        <p:spPr>
          <a:xfrm>
            <a:off x="5984825" y="2274243"/>
            <a:ext cx="2793950" cy="9525"/>
          </a:xfrm>
          <a:prstGeom prst="rect">
            <a:avLst/>
          </a:prstGeom>
          <a:solidFill>
            <a:srgbClr val="E2E8F0"/>
          </a:solidFill>
          <a:ln/>
        </p:spPr>
      </p:sp>
      <p:pic>
        <p:nvPicPr>
          <p:cNvPr id="27" name="Image 1" descr="●"/>
          <p:cNvPicPr>
            <a:picLocks noChangeAspect="1"/>
          </p:cNvPicPr>
          <p:nvPr/>
        </p:nvPicPr>
        <p:blipFill>
          <a:blip r:embed="rId4"/>
          <a:stretch>
            <a:fillRect/>
          </a:stretch>
        </p:blipFill>
        <p:spPr>
          <a:xfrm>
            <a:off x="6108650" y="1885355"/>
            <a:ext cx="190054" cy="238125"/>
          </a:xfrm>
          <a:prstGeom prst="rect">
            <a:avLst/>
          </a:prstGeom>
        </p:spPr>
      </p:pic>
      <p:sp>
        <p:nvSpPr>
          <p:cNvPr id="28" name="Shape 24"/>
          <p:cNvSpPr/>
          <p:nvPr/>
        </p:nvSpPr>
        <p:spPr>
          <a:xfrm>
            <a:off x="8778776" y="2274243"/>
            <a:ext cx="2794099" cy="9525"/>
          </a:xfrm>
          <a:prstGeom prst="rect">
            <a:avLst/>
          </a:prstGeom>
          <a:solidFill>
            <a:srgbClr val="E2E8F0"/>
          </a:solidFill>
          <a:ln/>
        </p:spPr>
      </p:sp>
      <p:pic>
        <p:nvPicPr>
          <p:cNvPr id="29" name="Image 2" descr="◐"/>
          <p:cNvPicPr>
            <a:picLocks noChangeAspect="1"/>
          </p:cNvPicPr>
          <p:nvPr/>
        </p:nvPicPr>
        <p:blipFill>
          <a:blip r:embed="rId5"/>
          <a:stretch>
            <a:fillRect/>
          </a:stretch>
        </p:blipFill>
        <p:spPr>
          <a:xfrm>
            <a:off x="8902601" y="1885355"/>
            <a:ext cx="175617" cy="238125"/>
          </a:xfrm>
          <a:prstGeom prst="rect">
            <a:avLst/>
          </a:prstGeom>
        </p:spPr>
      </p:pic>
      <p:sp>
        <p:nvSpPr>
          <p:cNvPr id="30" name="Shape 25"/>
          <p:cNvSpPr/>
          <p:nvPr/>
        </p:nvSpPr>
        <p:spPr>
          <a:xfrm>
            <a:off x="619125" y="2815530"/>
            <a:ext cx="2571750" cy="9525"/>
          </a:xfrm>
          <a:prstGeom prst="rect">
            <a:avLst/>
          </a:prstGeom>
          <a:solidFill>
            <a:srgbClr val="E2E8F0"/>
          </a:solidFill>
          <a:ln/>
        </p:spPr>
      </p:sp>
      <p:sp>
        <p:nvSpPr>
          <p:cNvPr id="31" name="Text 26"/>
          <p:cNvSpPr txBox="1"/>
          <p:nvPr/>
        </p:nvSpPr>
        <p:spPr>
          <a:xfrm>
            <a:off x="752475" y="2471738"/>
            <a:ext cx="1214658"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Thẻ qua máy POS</a:t>
            </a:r>
            <a:endParaRPr lang="en-US" sz="1010" dirty="0"/>
          </a:p>
        </p:txBody>
      </p:sp>
      <p:sp>
        <p:nvSpPr>
          <p:cNvPr id="32" name="Shape 27"/>
          <p:cNvSpPr/>
          <p:nvPr/>
        </p:nvSpPr>
        <p:spPr>
          <a:xfrm>
            <a:off x="3190875" y="2283768"/>
            <a:ext cx="2793950" cy="541288"/>
          </a:xfrm>
          <a:prstGeom prst="rect">
            <a:avLst/>
          </a:prstGeom>
          <a:solidFill>
            <a:srgbClr val="FFF5F6"/>
          </a:solidFill>
          <a:ln/>
        </p:spPr>
      </p:sp>
      <p:sp>
        <p:nvSpPr>
          <p:cNvPr id="33" name="Shape 28"/>
          <p:cNvSpPr/>
          <p:nvPr/>
        </p:nvSpPr>
        <p:spPr>
          <a:xfrm>
            <a:off x="3190875" y="2815530"/>
            <a:ext cx="2793950" cy="9525"/>
          </a:xfrm>
          <a:prstGeom prst="rect">
            <a:avLst/>
          </a:prstGeom>
          <a:solidFill>
            <a:srgbClr val="E2E8F0"/>
          </a:solidFill>
          <a:ln/>
        </p:spPr>
      </p:sp>
      <p:pic>
        <p:nvPicPr>
          <p:cNvPr id="34" name="Image 3" descr="○"/>
          <p:cNvPicPr>
            <a:picLocks noChangeAspect="1"/>
          </p:cNvPicPr>
          <p:nvPr/>
        </p:nvPicPr>
        <p:blipFill>
          <a:blip r:embed="rId6"/>
          <a:stretch>
            <a:fillRect/>
          </a:stretch>
        </p:blipFill>
        <p:spPr>
          <a:xfrm>
            <a:off x="3314700" y="2426643"/>
            <a:ext cx="190054" cy="238125"/>
          </a:xfrm>
          <a:prstGeom prst="rect">
            <a:avLst/>
          </a:prstGeom>
        </p:spPr>
      </p:pic>
      <p:sp>
        <p:nvSpPr>
          <p:cNvPr id="36" name="Shape 30"/>
          <p:cNvSpPr/>
          <p:nvPr/>
        </p:nvSpPr>
        <p:spPr>
          <a:xfrm>
            <a:off x="5984825" y="2815530"/>
            <a:ext cx="2793950" cy="9525"/>
          </a:xfrm>
          <a:prstGeom prst="rect">
            <a:avLst/>
          </a:prstGeom>
          <a:solidFill>
            <a:srgbClr val="E2E8F0"/>
          </a:solidFill>
          <a:ln/>
        </p:spPr>
      </p:sp>
      <p:pic>
        <p:nvPicPr>
          <p:cNvPr id="37" name="Image 4" descr="◐"/>
          <p:cNvPicPr>
            <a:picLocks noChangeAspect="1"/>
          </p:cNvPicPr>
          <p:nvPr/>
        </p:nvPicPr>
        <p:blipFill>
          <a:blip r:embed="rId7"/>
          <a:stretch>
            <a:fillRect/>
          </a:stretch>
        </p:blipFill>
        <p:spPr>
          <a:xfrm>
            <a:off x="6108650" y="2426643"/>
            <a:ext cx="175617" cy="238125"/>
          </a:xfrm>
          <a:prstGeom prst="rect">
            <a:avLst/>
          </a:prstGeom>
        </p:spPr>
      </p:pic>
      <p:sp>
        <p:nvSpPr>
          <p:cNvPr id="38" name="Text 31"/>
          <p:cNvSpPr txBox="1"/>
          <p:nvPr/>
        </p:nvSpPr>
        <p:spPr>
          <a:xfrm>
            <a:off x="6350943" y="2464743"/>
            <a:ext cx="1349225" cy="152400"/>
          </a:xfrm>
          <a:prstGeom prst="rect">
            <a:avLst/>
          </a:prstGeom>
          <a:noFill/>
          <a:ln/>
        </p:spPr>
        <p:txBody>
          <a:bodyPr wrap="none" lIns="0" tIns="0" rIns="0" bIns="0" rtlCol="0" anchor="t"/>
          <a:lstStyle/>
          <a:p>
            <a:pPr marL="0" indent="0" algn="l">
              <a:lnSpc>
                <a:spcPts val="1330"/>
              </a:lnSpc>
              <a:buNone/>
            </a:pPr>
            <a:r>
              <a:rPr lang="en-US" sz="980" b="1" dirty="0">
                <a:solidFill>
                  <a:srgbClr val="334155"/>
                </a:solidFill>
              </a:rPr>
              <a:t>thường cộng phụ phí</a:t>
            </a:r>
            <a:endParaRPr lang="en-US" sz="980" dirty="0"/>
          </a:p>
        </p:txBody>
      </p:sp>
      <p:sp>
        <p:nvSpPr>
          <p:cNvPr id="39" name="Shape 32"/>
          <p:cNvSpPr/>
          <p:nvPr/>
        </p:nvSpPr>
        <p:spPr>
          <a:xfrm>
            <a:off x="8778776" y="2815530"/>
            <a:ext cx="2794099" cy="9525"/>
          </a:xfrm>
          <a:prstGeom prst="rect">
            <a:avLst/>
          </a:prstGeom>
          <a:solidFill>
            <a:srgbClr val="E2E8F0"/>
          </a:solidFill>
          <a:ln/>
        </p:spPr>
      </p:sp>
      <p:pic>
        <p:nvPicPr>
          <p:cNvPr id="40" name="Image 5" descr="●"/>
          <p:cNvPicPr>
            <a:picLocks noChangeAspect="1"/>
          </p:cNvPicPr>
          <p:nvPr/>
        </p:nvPicPr>
        <p:blipFill>
          <a:blip r:embed="rId8"/>
          <a:stretch>
            <a:fillRect/>
          </a:stretch>
        </p:blipFill>
        <p:spPr>
          <a:xfrm>
            <a:off x="8902601" y="2426643"/>
            <a:ext cx="190054" cy="238125"/>
          </a:xfrm>
          <a:prstGeom prst="rect">
            <a:avLst/>
          </a:prstGeom>
        </p:spPr>
      </p:pic>
      <p:sp>
        <p:nvSpPr>
          <p:cNvPr id="41" name="Shape 33"/>
          <p:cNvSpPr/>
          <p:nvPr/>
        </p:nvSpPr>
        <p:spPr>
          <a:xfrm>
            <a:off x="619125" y="3356818"/>
            <a:ext cx="2571750" cy="9525"/>
          </a:xfrm>
          <a:prstGeom prst="rect">
            <a:avLst/>
          </a:prstGeom>
          <a:solidFill>
            <a:srgbClr val="E2E8F0"/>
          </a:solidFill>
          <a:ln/>
        </p:spPr>
      </p:sp>
      <p:sp>
        <p:nvSpPr>
          <p:cNvPr id="42" name="Text 34"/>
          <p:cNvSpPr txBox="1"/>
          <p:nvPr/>
        </p:nvSpPr>
        <p:spPr>
          <a:xfrm>
            <a:off x="752475" y="3013025"/>
            <a:ext cx="767572"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QR quốc tế</a:t>
            </a:r>
            <a:endParaRPr lang="en-US" sz="1010" dirty="0"/>
          </a:p>
        </p:txBody>
      </p:sp>
      <p:sp>
        <p:nvSpPr>
          <p:cNvPr id="43" name="Shape 35"/>
          <p:cNvSpPr/>
          <p:nvPr/>
        </p:nvSpPr>
        <p:spPr>
          <a:xfrm>
            <a:off x="3190875" y="2825055"/>
            <a:ext cx="2793950" cy="541288"/>
          </a:xfrm>
          <a:prstGeom prst="rect">
            <a:avLst/>
          </a:prstGeom>
          <a:solidFill>
            <a:srgbClr val="FFF5F6"/>
          </a:solidFill>
          <a:ln/>
        </p:spPr>
      </p:sp>
      <p:sp>
        <p:nvSpPr>
          <p:cNvPr id="44" name="Shape 36"/>
          <p:cNvSpPr/>
          <p:nvPr/>
        </p:nvSpPr>
        <p:spPr>
          <a:xfrm>
            <a:off x="3190875" y="3356818"/>
            <a:ext cx="2793950" cy="9525"/>
          </a:xfrm>
          <a:prstGeom prst="rect">
            <a:avLst/>
          </a:prstGeom>
          <a:solidFill>
            <a:srgbClr val="E2E8F0"/>
          </a:solidFill>
          <a:ln/>
        </p:spPr>
      </p:sp>
      <p:pic>
        <p:nvPicPr>
          <p:cNvPr id="45" name="Image 6" descr="○"/>
          <p:cNvPicPr>
            <a:picLocks noChangeAspect="1"/>
          </p:cNvPicPr>
          <p:nvPr/>
        </p:nvPicPr>
        <p:blipFill>
          <a:blip r:embed="rId6"/>
          <a:stretch>
            <a:fillRect/>
          </a:stretch>
        </p:blipFill>
        <p:spPr>
          <a:xfrm>
            <a:off x="3314700" y="2967930"/>
            <a:ext cx="190054" cy="238125"/>
          </a:xfrm>
          <a:prstGeom prst="rect">
            <a:avLst/>
          </a:prstGeom>
        </p:spPr>
      </p:pic>
      <p:sp>
        <p:nvSpPr>
          <p:cNvPr id="46" name="Shape 37"/>
          <p:cNvSpPr/>
          <p:nvPr/>
        </p:nvSpPr>
        <p:spPr>
          <a:xfrm>
            <a:off x="5984825" y="3356818"/>
            <a:ext cx="2793950" cy="9525"/>
          </a:xfrm>
          <a:prstGeom prst="rect">
            <a:avLst/>
          </a:prstGeom>
          <a:solidFill>
            <a:srgbClr val="E2E8F0"/>
          </a:solidFill>
          <a:ln/>
        </p:spPr>
      </p:sp>
      <p:pic>
        <p:nvPicPr>
          <p:cNvPr id="47" name="Image 7" descr="○"/>
          <p:cNvPicPr>
            <a:picLocks noChangeAspect="1"/>
          </p:cNvPicPr>
          <p:nvPr/>
        </p:nvPicPr>
        <p:blipFill>
          <a:blip r:embed="rId9"/>
          <a:stretch>
            <a:fillRect/>
          </a:stretch>
        </p:blipFill>
        <p:spPr>
          <a:xfrm>
            <a:off x="6108650" y="2967930"/>
            <a:ext cx="190054" cy="238125"/>
          </a:xfrm>
          <a:prstGeom prst="rect">
            <a:avLst/>
          </a:prstGeom>
        </p:spPr>
      </p:pic>
      <p:sp>
        <p:nvSpPr>
          <p:cNvPr id="48" name="Shape 38"/>
          <p:cNvSpPr/>
          <p:nvPr/>
        </p:nvSpPr>
        <p:spPr>
          <a:xfrm>
            <a:off x="8778776" y="3356818"/>
            <a:ext cx="2794099" cy="9525"/>
          </a:xfrm>
          <a:prstGeom prst="rect">
            <a:avLst/>
          </a:prstGeom>
          <a:solidFill>
            <a:srgbClr val="E2E8F0"/>
          </a:solidFill>
          <a:ln/>
        </p:spPr>
      </p:sp>
      <p:pic>
        <p:nvPicPr>
          <p:cNvPr id="49" name="Image 8" descr="◐"/>
          <p:cNvPicPr>
            <a:picLocks noChangeAspect="1"/>
          </p:cNvPicPr>
          <p:nvPr/>
        </p:nvPicPr>
        <p:blipFill>
          <a:blip r:embed="rId5"/>
          <a:stretch>
            <a:fillRect/>
          </a:stretch>
        </p:blipFill>
        <p:spPr>
          <a:xfrm>
            <a:off x="8902601" y="2967930"/>
            <a:ext cx="175617" cy="238125"/>
          </a:xfrm>
          <a:prstGeom prst="rect">
            <a:avLst/>
          </a:prstGeom>
        </p:spPr>
      </p:pic>
      <p:sp>
        <p:nvSpPr>
          <p:cNvPr id="50" name="Text 39"/>
          <p:cNvSpPr txBox="1"/>
          <p:nvPr/>
        </p:nvSpPr>
        <p:spPr>
          <a:xfrm>
            <a:off x="9144893" y="3006030"/>
            <a:ext cx="841087" cy="152400"/>
          </a:xfrm>
          <a:prstGeom prst="rect">
            <a:avLst/>
          </a:prstGeom>
          <a:noFill/>
          <a:ln/>
        </p:spPr>
        <p:txBody>
          <a:bodyPr wrap="none" lIns="0" tIns="0" rIns="0" bIns="0" rtlCol="0" anchor="t"/>
          <a:lstStyle/>
          <a:p>
            <a:pPr marL="0" indent="0" algn="l">
              <a:lnSpc>
                <a:spcPts val="1330"/>
              </a:lnSpc>
              <a:buNone/>
            </a:pPr>
            <a:r>
              <a:rPr lang="en-US" sz="980" b="1" dirty="0" err="1">
                <a:solidFill>
                  <a:srgbClr val="334155"/>
                </a:solidFill>
              </a:rPr>
              <a:t>chỉ</a:t>
            </a:r>
            <a:r>
              <a:rPr lang="en-US" sz="980" b="1" dirty="0">
                <a:solidFill>
                  <a:srgbClr val="334155"/>
                </a:solidFill>
              </a:rPr>
              <a:t> </a:t>
            </a:r>
            <a:r>
              <a:rPr lang="en-US" sz="980" b="1" dirty="0" err="1">
                <a:solidFill>
                  <a:srgbClr val="334155"/>
                </a:solidFill>
              </a:rPr>
              <a:t>áp</a:t>
            </a:r>
            <a:r>
              <a:rPr lang="en-US" sz="980" b="1" dirty="0">
                <a:solidFill>
                  <a:srgbClr val="334155"/>
                </a:solidFill>
              </a:rPr>
              <a:t> </a:t>
            </a:r>
            <a:r>
              <a:rPr lang="en-US" sz="980" b="1" dirty="0" err="1">
                <a:solidFill>
                  <a:srgbClr val="334155"/>
                </a:solidFill>
              </a:rPr>
              <a:t>dụng</a:t>
            </a:r>
            <a:r>
              <a:rPr lang="en-US" sz="980" b="1" dirty="0">
                <a:solidFill>
                  <a:srgbClr val="334155"/>
                </a:solidFill>
              </a:rPr>
              <a:t> </a:t>
            </a:r>
            <a:r>
              <a:rPr lang="en-US" sz="980" b="1" dirty="0" err="1">
                <a:solidFill>
                  <a:srgbClr val="334155"/>
                </a:solidFill>
              </a:rPr>
              <a:t>với</a:t>
            </a:r>
            <a:r>
              <a:rPr lang="en-US" sz="980" b="1" dirty="0">
                <a:solidFill>
                  <a:srgbClr val="334155"/>
                </a:solidFill>
              </a:rPr>
              <a:t> </a:t>
            </a:r>
            <a:r>
              <a:rPr lang="en-US" sz="980" b="1" dirty="0" err="1">
                <a:solidFill>
                  <a:srgbClr val="334155"/>
                </a:solidFill>
              </a:rPr>
              <a:t>chuỗi</a:t>
            </a:r>
            <a:r>
              <a:rPr lang="en-US" sz="980" b="1" dirty="0">
                <a:solidFill>
                  <a:srgbClr val="334155"/>
                </a:solidFill>
              </a:rPr>
              <a:t> lớn</a:t>
            </a:r>
            <a:endParaRPr lang="en-US" sz="980" dirty="0"/>
          </a:p>
        </p:txBody>
      </p:sp>
      <p:sp>
        <p:nvSpPr>
          <p:cNvPr id="51" name="Shape 40"/>
          <p:cNvSpPr/>
          <p:nvPr/>
        </p:nvSpPr>
        <p:spPr>
          <a:xfrm>
            <a:off x="619125" y="3898106"/>
            <a:ext cx="2571750" cy="9525"/>
          </a:xfrm>
          <a:prstGeom prst="rect">
            <a:avLst/>
          </a:prstGeom>
          <a:solidFill>
            <a:srgbClr val="E2E8F0"/>
          </a:solidFill>
          <a:ln/>
        </p:spPr>
      </p:sp>
      <p:sp>
        <p:nvSpPr>
          <p:cNvPr id="52" name="Text 41"/>
          <p:cNvSpPr txBox="1"/>
          <p:nvPr/>
        </p:nvSpPr>
        <p:spPr>
          <a:xfrm>
            <a:off x="752475" y="3554313"/>
            <a:ext cx="1735890"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App Việt Nam liên kết thẻ</a:t>
            </a:r>
            <a:endParaRPr lang="en-US" sz="1010" dirty="0"/>
          </a:p>
        </p:txBody>
      </p:sp>
      <p:sp>
        <p:nvSpPr>
          <p:cNvPr id="53" name="Shape 42"/>
          <p:cNvSpPr/>
          <p:nvPr/>
        </p:nvSpPr>
        <p:spPr>
          <a:xfrm>
            <a:off x="3190875" y="3366343"/>
            <a:ext cx="2793950" cy="541288"/>
          </a:xfrm>
          <a:prstGeom prst="rect">
            <a:avLst/>
          </a:prstGeom>
          <a:solidFill>
            <a:srgbClr val="FFF5F6"/>
          </a:solidFill>
          <a:ln/>
        </p:spPr>
      </p:sp>
      <p:sp>
        <p:nvSpPr>
          <p:cNvPr id="54" name="Shape 43"/>
          <p:cNvSpPr/>
          <p:nvPr/>
        </p:nvSpPr>
        <p:spPr>
          <a:xfrm>
            <a:off x="3190875" y="3898106"/>
            <a:ext cx="2793950" cy="9525"/>
          </a:xfrm>
          <a:prstGeom prst="rect">
            <a:avLst/>
          </a:prstGeom>
          <a:solidFill>
            <a:srgbClr val="E2E8F0"/>
          </a:solidFill>
          <a:ln/>
        </p:spPr>
      </p:sp>
      <p:pic>
        <p:nvPicPr>
          <p:cNvPr id="55" name="Image 9" descr="◐"/>
          <p:cNvPicPr>
            <a:picLocks noChangeAspect="1"/>
          </p:cNvPicPr>
          <p:nvPr/>
        </p:nvPicPr>
        <p:blipFill>
          <a:blip r:embed="rId10"/>
          <a:stretch>
            <a:fillRect/>
          </a:stretch>
        </p:blipFill>
        <p:spPr>
          <a:xfrm>
            <a:off x="3314700" y="3509218"/>
            <a:ext cx="175617" cy="238125"/>
          </a:xfrm>
          <a:prstGeom prst="rect">
            <a:avLst/>
          </a:prstGeom>
        </p:spPr>
      </p:pic>
      <p:sp>
        <p:nvSpPr>
          <p:cNvPr id="57" name="Shape 45"/>
          <p:cNvSpPr/>
          <p:nvPr/>
        </p:nvSpPr>
        <p:spPr>
          <a:xfrm>
            <a:off x="5984825" y="3898106"/>
            <a:ext cx="2793950" cy="9525"/>
          </a:xfrm>
          <a:prstGeom prst="rect">
            <a:avLst/>
          </a:prstGeom>
          <a:solidFill>
            <a:srgbClr val="E2E8F0"/>
          </a:solidFill>
          <a:ln/>
        </p:spPr>
      </p:sp>
      <p:pic>
        <p:nvPicPr>
          <p:cNvPr id="58" name="Image 10" descr="◐"/>
          <p:cNvPicPr>
            <a:picLocks noChangeAspect="1"/>
          </p:cNvPicPr>
          <p:nvPr/>
        </p:nvPicPr>
        <p:blipFill>
          <a:blip r:embed="rId7"/>
          <a:stretch>
            <a:fillRect/>
          </a:stretch>
        </p:blipFill>
        <p:spPr>
          <a:xfrm>
            <a:off x="6108650" y="3509218"/>
            <a:ext cx="175617" cy="238125"/>
          </a:xfrm>
          <a:prstGeom prst="rect">
            <a:avLst/>
          </a:prstGeom>
        </p:spPr>
      </p:pic>
      <p:sp>
        <p:nvSpPr>
          <p:cNvPr id="59" name="Shape 46"/>
          <p:cNvSpPr/>
          <p:nvPr/>
        </p:nvSpPr>
        <p:spPr>
          <a:xfrm>
            <a:off x="8778776" y="3898106"/>
            <a:ext cx="2794099" cy="9525"/>
          </a:xfrm>
          <a:prstGeom prst="rect">
            <a:avLst/>
          </a:prstGeom>
          <a:solidFill>
            <a:srgbClr val="E2E8F0"/>
          </a:solidFill>
          <a:ln/>
        </p:spPr>
      </p:sp>
      <p:pic>
        <p:nvPicPr>
          <p:cNvPr id="60" name="Image 11" descr="◐"/>
          <p:cNvPicPr>
            <a:picLocks noChangeAspect="1"/>
          </p:cNvPicPr>
          <p:nvPr/>
        </p:nvPicPr>
        <p:blipFill>
          <a:blip r:embed="rId5"/>
          <a:stretch>
            <a:fillRect/>
          </a:stretch>
        </p:blipFill>
        <p:spPr>
          <a:xfrm>
            <a:off x="8902601" y="3509218"/>
            <a:ext cx="175617" cy="238125"/>
          </a:xfrm>
          <a:prstGeom prst="rect">
            <a:avLst/>
          </a:prstGeom>
        </p:spPr>
      </p:pic>
      <p:sp>
        <p:nvSpPr>
          <p:cNvPr id="61" name="Text 47"/>
          <p:cNvSpPr txBox="1"/>
          <p:nvPr/>
        </p:nvSpPr>
        <p:spPr>
          <a:xfrm>
            <a:off x="752475" y="4095601"/>
            <a:ext cx="910658"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Tap to Phone</a:t>
            </a:r>
            <a:endParaRPr lang="en-US" sz="1010" dirty="0"/>
          </a:p>
        </p:txBody>
      </p:sp>
      <p:sp>
        <p:nvSpPr>
          <p:cNvPr id="62" name="Shape 48"/>
          <p:cNvSpPr/>
          <p:nvPr/>
        </p:nvSpPr>
        <p:spPr>
          <a:xfrm>
            <a:off x="3190875" y="3907631"/>
            <a:ext cx="2793950" cy="531763"/>
          </a:xfrm>
          <a:prstGeom prst="rect">
            <a:avLst/>
          </a:prstGeom>
          <a:solidFill>
            <a:srgbClr val="FFF5F6"/>
          </a:solidFill>
          <a:ln/>
        </p:spPr>
      </p:sp>
      <p:pic>
        <p:nvPicPr>
          <p:cNvPr id="63" name="Image 12" descr="○"/>
          <p:cNvPicPr>
            <a:picLocks noChangeAspect="1"/>
          </p:cNvPicPr>
          <p:nvPr/>
        </p:nvPicPr>
        <p:blipFill>
          <a:blip r:embed="rId6"/>
          <a:stretch>
            <a:fillRect/>
          </a:stretch>
        </p:blipFill>
        <p:spPr>
          <a:xfrm>
            <a:off x="3314700" y="4050506"/>
            <a:ext cx="190054" cy="238125"/>
          </a:xfrm>
          <a:prstGeom prst="rect">
            <a:avLst/>
          </a:prstGeom>
        </p:spPr>
      </p:pic>
      <p:pic>
        <p:nvPicPr>
          <p:cNvPr id="64" name="Image 13" descr="◐"/>
          <p:cNvPicPr>
            <a:picLocks noChangeAspect="1"/>
          </p:cNvPicPr>
          <p:nvPr/>
        </p:nvPicPr>
        <p:blipFill>
          <a:blip r:embed="rId7"/>
          <a:stretch>
            <a:fillRect/>
          </a:stretch>
        </p:blipFill>
        <p:spPr>
          <a:xfrm>
            <a:off x="6108650" y="4050506"/>
            <a:ext cx="175617" cy="238125"/>
          </a:xfrm>
          <a:prstGeom prst="rect">
            <a:avLst/>
          </a:prstGeom>
        </p:spPr>
      </p:pic>
      <p:pic>
        <p:nvPicPr>
          <p:cNvPr id="66" name="Image 14" descr="◐"/>
          <p:cNvPicPr>
            <a:picLocks noChangeAspect="1"/>
          </p:cNvPicPr>
          <p:nvPr/>
        </p:nvPicPr>
        <p:blipFill>
          <a:blip r:embed="rId5"/>
          <a:stretch>
            <a:fillRect/>
          </a:stretch>
        </p:blipFill>
        <p:spPr>
          <a:xfrm>
            <a:off x="8902601" y="4050506"/>
            <a:ext cx="175617" cy="238125"/>
          </a:xfrm>
          <a:prstGeom prst="rect">
            <a:avLst/>
          </a:prstGeom>
        </p:spPr>
      </p:pic>
      <p:pic>
        <p:nvPicPr>
          <p:cNvPr id="68" name="Image 15" descr="●"/>
          <p:cNvPicPr>
            <a:picLocks noChangeAspect="1"/>
          </p:cNvPicPr>
          <p:nvPr/>
        </p:nvPicPr>
        <p:blipFill>
          <a:blip r:embed="rId3"/>
          <a:stretch>
            <a:fillRect/>
          </a:stretch>
        </p:blipFill>
        <p:spPr>
          <a:xfrm>
            <a:off x="600075" y="4572744"/>
            <a:ext cx="190054" cy="238125"/>
          </a:xfrm>
          <a:prstGeom prst="rect">
            <a:avLst/>
          </a:prstGeom>
        </p:spPr>
      </p:pic>
      <p:sp>
        <p:nvSpPr>
          <p:cNvPr id="69" name="Text 51"/>
          <p:cNvSpPr txBox="1"/>
          <p:nvPr/>
        </p:nvSpPr>
        <p:spPr>
          <a:xfrm>
            <a:off x="856804" y="4620369"/>
            <a:ext cx="573372" cy="142875"/>
          </a:xfrm>
          <a:prstGeom prst="rect">
            <a:avLst/>
          </a:prstGeom>
          <a:noFill/>
          <a:ln/>
        </p:spPr>
        <p:txBody>
          <a:bodyPr wrap="none" lIns="0" tIns="0" rIns="0" bIns="0" rtlCol="0" anchor="t"/>
          <a:lstStyle/>
          <a:p>
            <a:pPr marL="0" indent="0" algn="l">
              <a:lnSpc>
                <a:spcPts val="1130"/>
              </a:lnSpc>
              <a:buNone/>
            </a:pPr>
            <a:r>
              <a:rPr lang="en-US" sz="940" b="1" dirty="0">
                <a:solidFill>
                  <a:srgbClr val="64748B"/>
                </a:solidFill>
              </a:rPr>
              <a:t>Phổ biến</a:t>
            </a:r>
            <a:endParaRPr lang="en-US" sz="940" dirty="0"/>
          </a:p>
        </p:txBody>
      </p:sp>
      <p:pic>
        <p:nvPicPr>
          <p:cNvPr id="70" name="Image 16" descr="◐"/>
          <p:cNvPicPr>
            <a:picLocks noChangeAspect="1"/>
          </p:cNvPicPr>
          <p:nvPr/>
        </p:nvPicPr>
        <p:blipFill>
          <a:blip r:embed="rId10"/>
          <a:stretch>
            <a:fillRect/>
          </a:stretch>
        </p:blipFill>
        <p:spPr>
          <a:xfrm>
            <a:off x="1542752" y="4572744"/>
            <a:ext cx="175617" cy="238125"/>
          </a:xfrm>
          <a:prstGeom prst="rect">
            <a:avLst/>
          </a:prstGeom>
        </p:spPr>
      </p:pic>
      <p:sp>
        <p:nvSpPr>
          <p:cNvPr id="71" name="Text 52"/>
          <p:cNvSpPr txBox="1"/>
          <p:nvPr/>
        </p:nvSpPr>
        <p:spPr>
          <a:xfrm>
            <a:off x="1785045" y="4620369"/>
            <a:ext cx="1155814" cy="142875"/>
          </a:xfrm>
          <a:prstGeom prst="rect">
            <a:avLst/>
          </a:prstGeom>
          <a:noFill/>
          <a:ln/>
        </p:spPr>
        <p:txBody>
          <a:bodyPr wrap="none" lIns="0" tIns="0" rIns="0" bIns="0" rtlCol="0" anchor="t"/>
          <a:lstStyle/>
          <a:p>
            <a:pPr marL="0" indent="0" algn="l">
              <a:lnSpc>
                <a:spcPts val="1130"/>
              </a:lnSpc>
              <a:buNone/>
            </a:pPr>
            <a:r>
              <a:rPr lang="en-US" sz="940" b="1" dirty="0">
                <a:solidFill>
                  <a:srgbClr val="64748B"/>
                </a:solidFill>
              </a:rPr>
              <a:t>Có nhưng hạn chế</a:t>
            </a:r>
            <a:endParaRPr lang="en-US" sz="940" dirty="0"/>
          </a:p>
        </p:txBody>
      </p:sp>
      <p:pic>
        <p:nvPicPr>
          <p:cNvPr id="72" name="Image 17" descr="○"/>
          <p:cNvPicPr>
            <a:picLocks noChangeAspect="1"/>
          </p:cNvPicPr>
          <p:nvPr/>
        </p:nvPicPr>
        <p:blipFill>
          <a:blip r:embed="rId11"/>
          <a:stretch>
            <a:fillRect/>
          </a:stretch>
        </p:blipFill>
        <p:spPr>
          <a:xfrm>
            <a:off x="3020467" y="4572744"/>
            <a:ext cx="190054" cy="238125"/>
          </a:xfrm>
          <a:prstGeom prst="rect">
            <a:avLst/>
          </a:prstGeom>
        </p:spPr>
      </p:pic>
      <p:sp>
        <p:nvSpPr>
          <p:cNvPr id="73" name="Text 53"/>
          <p:cNvSpPr txBox="1"/>
          <p:nvPr/>
        </p:nvSpPr>
        <p:spPr>
          <a:xfrm>
            <a:off x="3277195" y="4620369"/>
            <a:ext cx="1153921" cy="142875"/>
          </a:xfrm>
          <a:prstGeom prst="rect">
            <a:avLst/>
          </a:prstGeom>
          <a:noFill/>
          <a:ln/>
        </p:spPr>
        <p:txBody>
          <a:bodyPr wrap="none" lIns="0" tIns="0" rIns="0" bIns="0" rtlCol="0" anchor="t"/>
          <a:lstStyle/>
          <a:p>
            <a:pPr marL="0" indent="0" algn="l">
              <a:lnSpc>
                <a:spcPts val="1130"/>
              </a:lnSpc>
              <a:buNone/>
            </a:pPr>
            <a:r>
              <a:rPr lang="en-US" sz="940" b="1" dirty="0">
                <a:solidFill>
                  <a:srgbClr val="64748B"/>
                </a:solidFill>
              </a:rPr>
              <a:t>Gần như không có</a:t>
            </a:r>
            <a:endParaRPr lang="en-US" sz="940" dirty="0"/>
          </a:p>
        </p:txBody>
      </p:sp>
      <p:sp>
        <p:nvSpPr>
          <p:cNvPr id="74" name="Shape 54"/>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75" name="Text 55"/>
          <p:cNvSpPr txBox="1"/>
          <p:nvPr/>
        </p:nvSpPr>
        <p:spPr>
          <a:xfrm>
            <a:off x="1152525" y="5790009"/>
            <a:ext cx="7163389"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Nhóm lớn đã nhận được thẻ. </a:t>
            </a:r>
            <a:r>
              <a:rPr lang="en-US" sz="1280" b="1" dirty="0">
                <a:solidFill>
                  <a:srgbClr val="E11D48"/>
                </a:solidFill>
              </a:rPr>
              <a:t>Nhóm vừa và nhỏ, đông nhất, vẫn chủ yếu nhận tiền mặt.</a:t>
            </a:r>
            <a:endParaRPr lang="en-US" sz="1280" dirty="0"/>
          </a:p>
        </p:txBody>
      </p:sp>
      <p:sp>
        <p:nvSpPr>
          <p:cNvPr id="76" name="Shape 56"/>
          <p:cNvSpPr/>
          <p:nvPr/>
        </p:nvSpPr>
        <p:spPr>
          <a:xfrm rot="5400000">
            <a:off x="828675" y="5790605"/>
            <a:ext cx="152400" cy="190500"/>
          </a:xfrm>
          <a:prstGeom prst="triangle">
            <a:avLst/>
          </a:prstGeom>
          <a:solidFill>
            <a:srgbClr val="E11D48"/>
          </a:solidFill>
          <a:ln/>
        </p:spPr>
      </p:sp>
      <p:sp>
        <p:nvSpPr>
          <p:cNvPr id="77" name="Text 57"/>
          <p:cNvSpPr txBox="1"/>
          <p:nvPr/>
        </p:nvSpPr>
        <p:spPr>
          <a:xfrm>
            <a:off x="609600" y="6501854"/>
            <a:ext cx="5765024"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Đánh giá của VDF dựa trên khảo sát 132 merchant (7/2026) và thông tin công khai về các giải pháp hiện có.</a:t>
            </a:r>
            <a:endParaRPr lang="en-US" sz="830" dirty="0"/>
          </a:p>
        </p:txBody>
      </p:sp>
      <p:sp>
        <p:nvSpPr>
          <p:cNvPr id="78" name="Shape 58"/>
          <p:cNvSpPr/>
          <p:nvPr/>
        </p:nvSpPr>
        <p:spPr>
          <a:xfrm>
            <a:off x="10796588" y="6343650"/>
            <a:ext cx="323850" cy="323850"/>
          </a:xfrm>
          <a:prstGeom prst="ellipse">
            <a:avLst/>
          </a:prstGeom>
          <a:solidFill>
            <a:srgbClr val="F0001E"/>
          </a:solidFill>
          <a:ln/>
        </p:spPr>
      </p:sp>
      <p:sp>
        <p:nvSpPr>
          <p:cNvPr id="79" name="Shape 59"/>
          <p:cNvSpPr/>
          <p:nvPr/>
        </p:nvSpPr>
        <p:spPr>
          <a:xfrm>
            <a:off x="10901363" y="6415088"/>
            <a:ext cx="114300" cy="180975"/>
          </a:xfrm>
          <a:prstGeom prst="roundRect">
            <a:avLst>
              <a:gd name="adj" fmla="val 29167"/>
            </a:avLst>
          </a:prstGeom>
          <a:ln w="19050">
            <a:solidFill>
              <a:srgbClr val="FFFFFF"/>
            </a:solidFill>
            <a:prstDash val="solid"/>
          </a:ln>
        </p:spPr>
      </p:sp>
      <p:sp>
        <p:nvSpPr>
          <p:cNvPr id="80" name="Text 60"/>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1" name="Text 61"/>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82" name="Text 62"/>
          <p:cNvSpPr txBox="1"/>
          <p:nvPr/>
        </p:nvSpPr>
        <p:spPr>
          <a:xfrm>
            <a:off x="10573196" y="6429375"/>
            <a:ext cx="118399"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2624539"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BỐI CẢNH · CÁC GIẢI PHÁP HIỆN CÓ</a:t>
            </a:r>
            <a:endParaRPr lang="en-US" sz="1050" dirty="0"/>
          </a:p>
        </p:txBody>
      </p:sp>
      <p:sp>
        <p:nvSpPr>
          <p:cNvPr id="3" name="Text 1"/>
          <p:cNvSpPr txBox="1"/>
          <p:nvPr/>
        </p:nvSpPr>
        <p:spPr>
          <a:xfrm>
            <a:off x="609600" y="619125"/>
            <a:ext cx="8527994"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Ba giải pháp hiện có </a:t>
            </a:r>
            <a:r>
              <a:rPr lang="en-US" sz="2330" b="1" kern="0" spc="-30" dirty="0">
                <a:solidFill>
                  <a:srgbClr val="E11D48"/>
                </a:solidFill>
              </a:rPr>
              <a:t>chưa đến được merchant vừa và nhỏ</a:t>
            </a:r>
            <a:endParaRPr lang="en-US" sz="2330" dirty="0"/>
          </a:p>
        </p:txBody>
      </p:sp>
      <p:sp>
        <p:nvSpPr>
          <p:cNvPr id="4" name="Shape 2"/>
          <p:cNvSpPr/>
          <p:nvPr/>
        </p:nvSpPr>
        <p:spPr>
          <a:xfrm>
            <a:off x="609600" y="1169789"/>
            <a:ext cx="3568601" cy="4315420"/>
          </a:xfrm>
          <a:prstGeom prst="roundRect">
            <a:avLst>
              <a:gd name="adj" fmla="val 3737"/>
            </a:avLst>
          </a:prstGeom>
          <a:solidFill>
            <a:srgbClr val="FFFFFF"/>
          </a:solidFill>
          <a:ln w="9525">
            <a:solidFill>
              <a:srgbClr val="E2E8F0"/>
            </a:solidFill>
            <a:prstDash val="solid"/>
          </a:ln>
        </p:spPr>
      </p:sp>
      <p:sp>
        <p:nvSpPr>
          <p:cNvPr id="5" name="Shape 3"/>
          <p:cNvSpPr/>
          <p:nvPr/>
        </p:nvSpPr>
        <p:spPr>
          <a:xfrm>
            <a:off x="619125" y="1179314"/>
            <a:ext cx="3549551" cy="619125"/>
          </a:xfrm>
          <a:prstGeom prst="rect">
            <a:avLst/>
          </a:prstGeom>
          <a:solidFill>
            <a:srgbClr val="FFFFFF"/>
          </a:solidFill>
          <a:ln/>
        </p:spPr>
      </p:sp>
      <p:sp>
        <p:nvSpPr>
          <p:cNvPr id="6" name="Shape 4"/>
          <p:cNvSpPr/>
          <p:nvPr/>
        </p:nvSpPr>
        <p:spPr>
          <a:xfrm>
            <a:off x="619125" y="1788914"/>
            <a:ext cx="3549551" cy="9525"/>
          </a:xfrm>
          <a:prstGeom prst="rect">
            <a:avLst/>
          </a:prstGeom>
          <a:solidFill>
            <a:srgbClr val="E2E8F0"/>
          </a:solidFill>
          <a:ln/>
        </p:spPr>
      </p:sp>
      <p:sp>
        <p:nvSpPr>
          <p:cNvPr id="7" name="Shape 5"/>
          <p:cNvSpPr/>
          <p:nvPr/>
        </p:nvSpPr>
        <p:spPr>
          <a:xfrm>
            <a:off x="809625" y="1312664"/>
            <a:ext cx="342900" cy="342900"/>
          </a:xfrm>
          <a:prstGeom prst="roundRect">
            <a:avLst>
              <a:gd name="adj" fmla="val 27778"/>
            </a:avLst>
          </a:prstGeom>
          <a:solidFill>
            <a:srgbClr val="0F172A"/>
          </a:solidFill>
          <a:ln/>
        </p:spPr>
      </p:sp>
      <p:sp>
        <p:nvSpPr>
          <p:cNvPr id="8" name="Text 6"/>
          <p:cNvSpPr txBox="1"/>
          <p:nvPr/>
        </p:nvSpPr>
        <p:spPr>
          <a:xfrm>
            <a:off x="942231" y="1384102"/>
            <a:ext cx="120292" cy="200025"/>
          </a:xfrm>
          <a:prstGeom prst="rect">
            <a:avLst/>
          </a:prstGeom>
          <a:noFill/>
          <a:ln/>
        </p:spPr>
        <p:txBody>
          <a:bodyPr wrap="none" lIns="0" tIns="0" rIns="0" bIns="0" rtlCol="0" anchor="t"/>
          <a:lstStyle/>
          <a:p>
            <a:pPr marL="0" indent="0" algn="l">
              <a:lnSpc>
                <a:spcPts val="1620"/>
              </a:lnSpc>
              <a:buNone/>
            </a:pPr>
            <a:r>
              <a:rPr lang="en-US" sz="1350" b="1" dirty="0">
                <a:solidFill>
                  <a:srgbClr val="FFFFFF"/>
                </a:solidFill>
              </a:rPr>
              <a:t>1</a:t>
            </a:r>
            <a:endParaRPr lang="en-US" sz="1350" dirty="0"/>
          </a:p>
        </p:txBody>
      </p:sp>
      <p:sp>
        <p:nvSpPr>
          <p:cNvPr id="9" name="Text 7"/>
          <p:cNvSpPr txBox="1"/>
          <p:nvPr/>
        </p:nvSpPr>
        <p:spPr>
          <a:xfrm>
            <a:off x="1266825" y="1368326"/>
            <a:ext cx="1064788" cy="219075"/>
          </a:xfrm>
          <a:prstGeom prst="rect">
            <a:avLst/>
          </a:prstGeom>
          <a:noFill/>
          <a:ln/>
        </p:spPr>
        <p:txBody>
          <a:bodyPr wrap="none" lIns="0" tIns="0" rIns="0" bIns="0" rtlCol="0" anchor="t"/>
          <a:lstStyle/>
          <a:p>
            <a:pPr marL="0" indent="0" algn="l">
              <a:lnSpc>
                <a:spcPts val="1820"/>
              </a:lnSpc>
              <a:buNone/>
            </a:pPr>
            <a:r>
              <a:rPr lang="en-US" sz="1430" b="1" dirty="0">
                <a:solidFill>
                  <a:srgbClr val="0F172A"/>
                </a:solidFill>
              </a:rPr>
              <a:t>QR quốc tế</a:t>
            </a:r>
            <a:endParaRPr lang="en-US" sz="1430" dirty="0"/>
          </a:p>
        </p:txBody>
      </p:sp>
      <p:sp>
        <p:nvSpPr>
          <p:cNvPr id="10" name="Text 8"/>
          <p:cNvSpPr txBox="1"/>
          <p:nvPr/>
        </p:nvSpPr>
        <p:spPr>
          <a:xfrm>
            <a:off x="828675" y="1969889"/>
            <a:ext cx="3027768" cy="200025"/>
          </a:xfrm>
          <a:prstGeom prst="rect">
            <a:avLst/>
          </a:prstGeom>
          <a:noFill/>
          <a:ln/>
        </p:spPr>
        <p:txBody>
          <a:bodyPr wrap="none" lIns="0" tIns="0" rIns="0" bIns="0" rtlCol="0" anchor="t"/>
          <a:lstStyle/>
          <a:p>
            <a:pPr marL="0" indent="0" algn="l">
              <a:lnSpc>
                <a:spcPts val="1890"/>
              </a:lnSpc>
              <a:buNone/>
            </a:pPr>
            <a:r>
              <a:rPr lang="en-US" sz="1350" b="1" dirty="0">
                <a:solidFill>
                  <a:srgbClr val="0F172A"/>
                </a:solidFill>
              </a:rPr>
              <a:t>Khách quét QR bằng ví nước mình</a:t>
            </a:r>
            <a:endParaRPr lang="en-US" sz="1350" dirty="0"/>
          </a:p>
        </p:txBody>
      </p:sp>
      <p:sp>
        <p:nvSpPr>
          <p:cNvPr id="11" name="Text 9"/>
          <p:cNvSpPr txBox="1"/>
          <p:nvPr/>
        </p:nvSpPr>
        <p:spPr>
          <a:xfrm>
            <a:off x="1076325" y="2505968"/>
            <a:ext cx="2147953"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Cửa hàng đặt mã QR tại quầy</a:t>
            </a:r>
            <a:endParaRPr lang="en-US" sz="1130" dirty="0"/>
          </a:p>
        </p:txBody>
      </p:sp>
      <p:sp>
        <p:nvSpPr>
          <p:cNvPr id="12" name="Shape 10"/>
          <p:cNvSpPr/>
          <p:nvPr/>
        </p:nvSpPr>
        <p:spPr>
          <a:xfrm>
            <a:off x="828675" y="2515493"/>
            <a:ext cx="190500" cy="190500"/>
          </a:xfrm>
          <a:prstGeom prst="ellipse">
            <a:avLst/>
          </a:prstGeom>
          <a:solidFill>
            <a:srgbClr val="F1F5F9"/>
          </a:solidFill>
          <a:ln w="9525">
            <a:solidFill>
              <a:srgbClr val="E2E8F0"/>
            </a:solidFill>
            <a:prstDash val="solid"/>
          </a:ln>
        </p:spPr>
      </p:sp>
      <p:sp>
        <p:nvSpPr>
          <p:cNvPr id="13" name="Text 11"/>
          <p:cNvSpPr txBox="1"/>
          <p:nvPr/>
        </p:nvSpPr>
        <p:spPr>
          <a:xfrm>
            <a:off x="900708" y="2537371"/>
            <a:ext cx="8716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1</a:t>
            </a:r>
            <a:endParaRPr lang="en-US" sz="830" dirty="0"/>
          </a:p>
        </p:txBody>
      </p:sp>
      <p:sp>
        <p:nvSpPr>
          <p:cNvPr id="14" name="Text 12"/>
          <p:cNvSpPr txBox="1"/>
          <p:nvPr/>
        </p:nvSpPr>
        <p:spPr>
          <a:xfrm>
            <a:off x="1076325" y="2772668"/>
            <a:ext cx="2914650" cy="581025"/>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Khách quét bằng Alipay, WeChat Pay, Toss Pay… hoặc app ngân hàng nước mình</a:t>
            </a:r>
            <a:endParaRPr lang="en-US" sz="1130" dirty="0"/>
          </a:p>
        </p:txBody>
      </p:sp>
      <p:sp>
        <p:nvSpPr>
          <p:cNvPr id="15" name="Shape 13"/>
          <p:cNvSpPr/>
          <p:nvPr/>
        </p:nvSpPr>
        <p:spPr>
          <a:xfrm>
            <a:off x="828675" y="2782193"/>
            <a:ext cx="190500" cy="190500"/>
          </a:xfrm>
          <a:prstGeom prst="ellipse">
            <a:avLst/>
          </a:prstGeom>
          <a:solidFill>
            <a:srgbClr val="F1F5F9"/>
          </a:solidFill>
          <a:ln w="9525">
            <a:solidFill>
              <a:srgbClr val="E2E8F0"/>
            </a:solidFill>
            <a:prstDash val="solid"/>
          </a:ln>
        </p:spPr>
      </p:sp>
      <p:sp>
        <p:nvSpPr>
          <p:cNvPr id="16" name="Text 14"/>
          <p:cNvSpPr txBox="1"/>
          <p:nvPr/>
        </p:nvSpPr>
        <p:spPr>
          <a:xfrm>
            <a:off x="890439" y="2804071"/>
            <a:ext cx="10893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2</a:t>
            </a:r>
            <a:endParaRPr lang="en-US" sz="830" dirty="0"/>
          </a:p>
        </p:txBody>
      </p:sp>
      <p:sp>
        <p:nvSpPr>
          <p:cNvPr id="17" name="Text 15"/>
          <p:cNvSpPr txBox="1"/>
          <p:nvPr/>
        </p:nvSpPr>
        <p:spPr>
          <a:xfrm>
            <a:off x="1076325" y="3439418"/>
            <a:ext cx="1829124"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Cửa hàng nhận tiền VND</a:t>
            </a:r>
            <a:endParaRPr lang="en-US" sz="1130" dirty="0"/>
          </a:p>
        </p:txBody>
      </p:sp>
      <p:sp>
        <p:nvSpPr>
          <p:cNvPr id="18" name="Shape 16"/>
          <p:cNvSpPr/>
          <p:nvPr/>
        </p:nvSpPr>
        <p:spPr>
          <a:xfrm>
            <a:off x="828675" y="3448943"/>
            <a:ext cx="190500" cy="190500"/>
          </a:xfrm>
          <a:prstGeom prst="ellipse">
            <a:avLst/>
          </a:prstGeom>
          <a:solidFill>
            <a:srgbClr val="F1F5F9"/>
          </a:solidFill>
          <a:ln w="9525">
            <a:solidFill>
              <a:srgbClr val="E2E8F0"/>
            </a:solidFill>
            <a:prstDash val="solid"/>
          </a:ln>
        </p:spPr>
      </p:sp>
      <p:sp>
        <p:nvSpPr>
          <p:cNvPr id="19" name="Text 17"/>
          <p:cNvSpPr txBox="1"/>
          <p:nvPr/>
        </p:nvSpPr>
        <p:spPr>
          <a:xfrm>
            <a:off x="889397" y="3470821"/>
            <a:ext cx="111142"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3</a:t>
            </a:r>
            <a:endParaRPr lang="en-US" sz="830" dirty="0"/>
          </a:p>
        </p:txBody>
      </p:sp>
      <p:sp>
        <p:nvSpPr>
          <p:cNvPr id="20" name="Text 18"/>
          <p:cNvSpPr txBox="1"/>
          <p:nvPr/>
        </p:nvSpPr>
        <p:spPr>
          <a:xfrm>
            <a:off x="828675" y="3907036"/>
            <a:ext cx="2322275" cy="161925"/>
          </a:xfrm>
          <a:prstGeom prst="rect">
            <a:avLst/>
          </a:prstGeom>
          <a:noFill/>
          <a:ln/>
        </p:spPr>
        <p:txBody>
          <a:bodyPr wrap="none" lIns="0" tIns="0" rIns="0" bIns="0" rtlCol="0" anchor="t"/>
          <a:lstStyle/>
          <a:p>
            <a:pPr marL="0" indent="0" algn="l">
              <a:lnSpc>
                <a:spcPts val="1470"/>
              </a:lnSpc>
              <a:buNone/>
            </a:pPr>
            <a:r>
              <a:rPr lang="en-US" sz="1050" b="1" dirty="0">
                <a:solidFill>
                  <a:srgbClr val="64748B"/>
                </a:solidFill>
              </a:rPr>
              <a:t>NAPAS VietQR Global, VNPAY-QR</a:t>
            </a:r>
            <a:endParaRPr lang="en-US" sz="1050" dirty="0"/>
          </a:p>
        </p:txBody>
      </p:sp>
      <p:sp>
        <p:nvSpPr>
          <p:cNvPr id="21" name="Shape 19"/>
          <p:cNvSpPr/>
          <p:nvPr/>
        </p:nvSpPr>
        <p:spPr>
          <a:xfrm>
            <a:off x="828675" y="4389834"/>
            <a:ext cx="3130451" cy="933450"/>
          </a:xfrm>
          <a:prstGeom prst="roundRect">
            <a:avLst>
              <a:gd name="adj" fmla="val 10204"/>
            </a:avLst>
          </a:prstGeom>
          <a:solidFill>
            <a:srgbClr val="FFF1F2"/>
          </a:solidFill>
          <a:ln w="9525">
            <a:solidFill>
              <a:srgbClr val="FECDD3"/>
            </a:solidFill>
            <a:prstDash val="solid"/>
          </a:ln>
        </p:spPr>
      </p:sp>
      <p:sp>
        <p:nvSpPr>
          <p:cNvPr id="22" name="Text 20"/>
          <p:cNvSpPr txBox="1"/>
          <p:nvPr/>
        </p:nvSpPr>
        <p:spPr>
          <a:xfrm>
            <a:off x="990600" y="4513659"/>
            <a:ext cx="679228" cy="152400"/>
          </a:xfrm>
          <a:prstGeom prst="rect">
            <a:avLst/>
          </a:prstGeom>
          <a:noFill/>
          <a:ln/>
        </p:spPr>
        <p:txBody>
          <a:bodyPr wrap="none" lIns="0" tIns="0" rIns="0" bIns="0" rtlCol="0" anchor="t"/>
          <a:lstStyle/>
          <a:p>
            <a:pPr marL="0" indent="0" algn="l">
              <a:lnSpc>
                <a:spcPts val="1170"/>
              </a:lnSpc>
              <a:buNone/>
            </a:pPr>
            <a:r>
              <a:rPr lang="en-US" sz="980" b="1" kern="0" spc="40" dirty="0">
                <a:solidFill>
                  <a:srgbClr val="E11D48"/>
                </a:solidFill>
              </a:rPr>
              <a:t>HẠN CHẾ</a:t>
            </a:r>
            <a:endParaRPr lang="en-US" sz="980" dirty="0"/>
          </a:p>
        </p:txBody>
      </p:sp>
      <p:sp>
        <p:nvSpPr>
          <p:cNvPr id="23" name="Text 21"/>
          <p:cNvSpPr txBox="1"/>
          <p:nvPr/>
        </p:nvSpPr>
        <p:spPr>
          <a:xfrm>
            <a:off x="1143000" y="4732734"/>
            <a:ext cx="2323853"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Chỉ khách từ 6 nước đã kết nối</a:t>
            </a:r>
            <a:endParaRPr lang="en-US" sz="1160" dirty="0"/>
          </a:p>
        </p:txBody>
      </p:sp>
      <p:sp>
        <p:nvSpPr>
          <p:cNvPr id="24" name="Shape 22"/>
          <p:cNvSpPr/>
          <p:nvPr/>
        </p:nvSpPr>
        <p:spPr>
          <a:xfrm>
            <a:off x="1000125" y="4799409"/>
            <a:ext cx="57150" cy="57150"/>
          </a:xfrm>
          <a:prstGeom prst="ellipse">
            <a:avLst/>
          </a:prstGeom>
          <a:solidFill>
            <a:srgbClr val="E11D48"/>
          </a:solidFill>
          <a:ln/>
        </p:spPr>
      </p:sp>
      <p:sp>
        <p:nvSpPr>
          <p:cNvPr id="25" name="Text 23"/>
          <p:cNvSpPr txBox="1"/>
          <p:nvPr/>
        </p:nvSpPr>
        <p:spPr>
          <a:xfrm>
            <a:off x="1143000" y="4999434"/>
            <a:ext cx="1872666"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Mới ~6% điểm bán nhận</a:t>
            </a:r>
            <a:endParaRPr lang="en-US" sz="1160" dirty="0"/>
          </a:p>
        </p:txBody>
      </p:sp>
      <p:sp>
        <p:nvSpPr>
          <p:cNvPr id="26" name="Shape 24"/>
          <p:cNvSpPr/>
          <p:nvPr/>
        </p:nvSpPr>
        <p:spPr>
          <a:xfrm>
            <a:off x="1000125" y="5066109"/>
            <a:ext cx="57150" cy="57150"/>
          </a:xfrm>
          <a:prstGeom prst="ellipse">
            <a:avLst/>
          </a:prstGeom>
          <a:solidFill>
            <a:srgbClr val="E11D48"/>
          </a:solidFill>
          <a:ln/>
        </p:spPr>
      </p:sp>
      <p:sp>
        <p:nvSpPr>
          <p:cNvPr id="27" name="Shape 25"/>
          <p:cNvSpPr/>
          <p:nvPr/>
        </p:nvSpPr>
        <p:spPr>
          <a:xfrm>
            <a:off x="4311551" y="1169789"/>
            <a:ext cx="3568750" cy="4315420"/>
          </a:xfrm>
          <a:prstGeom prst="roundRect">
            <a:avLst>
              <a:gd name="adj" fmla="val 3737"/>
            </a:avLst>
          </a:prstGeom>
          <a:solidFill>
            <a:srgbClr val="FFFFFF"/>
          </a:solidFill>
          <a:ln w="9525">
            <a:solidFill>
              <a:srgbClr val="E2E8F0"/>
            </a:solidFill>
            <a:prstDash val="solid"/>
          </a:ln>
        </p:spPr>
      </p:sp>
      <p:sp>
        <p:nvSpPr>
          <p:cNvPr id="28" name="Shape 26"/>
          <p:cNvSpPr/>
          <p:nvPr/>
        </p:nvSpPr>
        <p:spPr>
          <a:xfrm>
            <a:off x="4321076" y="1179314"/>
            <a:ext cx="3549700" cy="619125"/>
          </a:xfrm>
          <a:prstGeom prst="rect">
            <a:avLst/>
          </a:prstGeom>
          <a:solidFill>
            <a:srgbClr val="FFFFFF"/>
          </a:solidFill>
          <a:ln/>
        </p:spPr>
      </p:sp>
      <p:sp>
        <p:nvSpPr>
          <p:cNvPr id="29" name="Shape 27"/>
          <p:cNvSpPr/>
          <p:nvPr/>
        </p:nvSpPr>
        <p:spPr>
          <a:xfrm>
            <a:off x="4321076" y="1788914"/>
            <a:ext cx="3549700" cy="9525"/>
          </a:xfrm>
          <a:prstGeom prst="rect">
            <a:avLst/>
          </a:prstGeom>
          <a:solidFill>
            <a:srgbClr val="E2E8F0"/>
          </a:solidFill>
          <a:ln/>
        </p:spPr>
      </p:sp>
      <p:sp>
        <p:nvSpPr>
          <p:cNvPr id="30" name="Shape 28"/>
          <p:cNvSpPr/>
          <p:nvPr/>
        </p:nvSpPr>
        <p:spPr>
          <a:xfrm>
            <a:off x="4511576" y="1312664"/>
            <a:ext cx="342900" cy="342900"/>
          </a:xfrm>
          <a:prstGeom prst="roundRect">
            <a:avLst>
              <a:gd name="adj" fmla="val 27778"/>
            </a:avLst>
          </a:prstGeom>
          <a:solidFill>
            <a:srgbClr val="0F172A"/>
          </a:solidFill>
          <a:ln/>
        </p:spPr>
      </p:sp>
      <p:sp>
        <p:nvSpPr>
          <p:cNvPr id="31" name="Text 29"/>
          <p:cNvSpPr txBox="1"/>
          <p:nvPr/>
        </p:nvSpPr>
        <p:spPr>
          <a:xfrm>
            <a:off x="4627513" y="1384102"/>
            <a:ext cx="155630" cy="200025"/>
          </a:xfrm>
          <a:prstGeom prst="rect">
            <a:avLst/>
          </a:prstGeom>
          <a:noFill/>
          <a:ln/>
        </p:spPr>
        <p:txBody>
          <a:bodyPr wrap="none" lIns="0" tIns="0" rIns="0" bIns="0" rtlCol="0" anchor="t"/>
          <a:lstStyle/>
          <a:p>
            <a:pPr marL="0" indent="0" algn="l">
              <a:lnSpc>
                <a:spcPts val="1620"/>
              </a:lnSpc>
              <a:buNone/>
            </a:pPr>
            <a:r>
              <a:rPr lang="en-US" sz="1350" b="1" dirty="0">
                <a:solidFill>
                  <a:srgbClr val="FFFFFF"/>
                </a:solidFill>
              </a:rPr>
              <a:t>2</a:t>
            </a:r>
            <a:endParaRPr lang="en-US" sz="1350" dirty="0"/>
          </a:p>
        </p:txBody>
      </p:sp>
      <p:sp>
        <p:nvSpPr>
          <p:cNvPr id="32" name="Text 30"/>
          <p:cNvSpPr txBox="1"/>
          <p:nvPr/>
        </p:nvSpPr>
        <p:spPr>
          <a:xfrm>
            <a:off x="4968776" y="1368326"/>
            <a:ext cx="2427658" cy="219075"/>
          </a:xfrm>
          <a:prstGeom prst="rect">
            <a:avLst/>
          </a:prstGeom>
          <a:noFill/>
          <a:ln/>
        </p:spPr>
        <p:txBody>
          <a:bodyPr wrap="none" lIns="0" tIns="0" rIns="0" bIns="0" rtlCol="0" anchor="t"/>
          <a:lstStyle/>
          <a:p>
            <a:pPr marL="0" indent="0" algn="l">
              <a:lnSpc>
                <a:spcPts val="1820"/>
              </a:lnSpc>
              <a:buNone/>
            </a:pPr>
            <a:r>
              <a:rPr lang="en-US" sz="1430" b="1" dirty="0">
                <a:solidFill>
                  <a:srgbClr val="0F172A"/>
                </a:solidFill>
              </a:rPr>
              <a:t>App Việt Nam liên kết thẻ</a:t>
            </a:r>
            <a:endParaRPr lang="en-US" sz="1430" dirty="0"/>
          </a:p>
        </p:txBody>
      </p:sp>
      <p:sp>
        <p:nvSpPr>
          <p:cNvPr id="33" name="Text 31"/>
          <p:cNvSpPr txBox="1"/>
          <p:nvPr/>
        </p:nvSpPr>
        <p:spPr>
          <a:xfrm>
            <a:off x="4530626" y="1969889"/>
            <a:ext cx="3162300" cy="439936"/>
          </a:xfrm>
          <a:prstGeom prst="rect">
            <a:avLst/>
          </a:prstGeom>
          <a:noFill/>
          <a:ln/>
        </p:spPr>
        <p:txBody>
          <a:bodyPr wrap="square" lIns="0" tIns="0" rIns="0" bIns="0" rtlCol="0" anchor="t"/>
          <a:lstStyle/>
          <a:p>
            <a:pPr marL="0" indent="0" algn="l">
              <a:lnSpc>
                <a:spcPts val="1890"/>
              </a:lnSpc>
              <a:buNone/>
            </a:pPr>
            <a:r>
              <a:rPr lang="en-US" sz="1350" b="1" dirty="0">
                <a:solidFill>
                  <a:srgbClr val="0F172A"/>
                </a:solidFill>
              </a:rPr>
              <a:t>Khách dùng app Việt Nam để quét QR nội địa</a:t>
            </a:r>
            <a:endParaRPr lang="en-US" sz="1350" dirty="0"/>
          </a:p>
        </p:txBody>
      </p:sp>
      <p:sp>
        <p:nvSpPr>
          <p:cNvPr id="34" name="Text 32"/>
          <p:cNvSpPr txBox="1"/>
          <p:nvPr/>
        </p:nvSpPr>
        <p:spPr>
          <a:xfrm>
            <a:off x="4778276" y="2599283"/>
            <a:ext cx="2914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Khách tải app thanh toán Việt Nam, đăng ký tài khoản</a:t>
            </a:r>
            <a:endParaRPr lang="en-US" sz="1130" dirty="0"/>
          </a:p>
        </p:txBody>
      </p:sp>
      <p:sp>
        <p:nvSpPr>
          <p:cNvPr id="35" name="Shape 33"/>
          <p:cNvSpPr/>
          <p:nvPr/>
        </p:nvSpPr>
        <p:spPr>
          <a:xfrm>
            <a:off x="4530626" y="2608808"/>
            <a:ext cx="190500" cy="190500"/>
          </a:xfrm>
          <a:prstGeom prst="ellipse">
            <a:avLst/>
          </a:prstGeom>
          <a:solidFill>
            <a:srgbClr val="F1F5F9"/>
          </a:solidFill>
          <a:ln w="9525">
            <a:solidFill>
              <a:srgbClr val="E2E8F0"/>
            </a:solidFill>
            <a:prstDash val="solid"/>
          </a:ln>
        </p:spPr>
      </p:sp>
      <p:sp>
        <p:nvSpPr>
          <p:cNvPr id="36" name="Text 34"/>
          <p:cNvSpPr txBox="1"/>
          <p:nvPr/>
        </p:nvSpPr>
        <p:spPr>
          <a:xfrm>
            <a:off x="4602659" y="2630686"/>
            <a:ext cx="8716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1</a:t>
            </a:r>
            <a:endParaRPr lang="en-US" sz="830" dirty="0"/>
          </a:p>
        </p:txBody>
      </p:sp>
      <p:sp>
        <p:nvSpPr>
          <p:cNvPr id="37" name="Text 35"/>
          <p:cNvSpPr txBox="1"/>
          <p:nvPr/>
        </p:nvSpPr>
        <p:spPr>
          <a:xfrm>
            <a:off x="4778276" y="3066008"/>
            <a:ext cx="2914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Liên kết thẻ quốc tế (Visa, Mastercard) vào app</a:t>
            </a:r>
            <a:endParaRPr lang="en-US" sz="1130" dirty="0"/>
          </a:p>
        </p:txBody>
      </p:sp>
      <p:sp>
        <p:nvSpPr>
          <p:cNvPr id="38" name="Shape 36"/>
          <p:cNvSpPr/>
          <p:nvPr/>
        </p:nvSpPr>
        <p:spPr>
          <a:xfrm>
            <a:off x="4530626" y="3075533"/>
            <a:ext cx="190500" cy="190500"/>
          </a:xfrm>
          <a:prstGeom prst="ellipse">
            <a:avLst/>
          </a:prstGeom>
          <a:solidFill>
            <a:srgbClr val="F1F5F9"/>
          </a:solidFill>
          <a:ln w="9525">
            <a:solidFill>
              <a:srgbClr val="E2E8F0"/>
            </a:solidFill>
            <a:prstDash val="solid"/>
          </a:ln>
        </p:spPr>
      </p:sp>
      <p:sp>
        <p:nvSpPr>
          <p:cNvPr id="39" name="Text 37"/>
          <p:cNvSpPr txBox="1"/>
          <p:nvPr/>
        </p:nvSpPr>
        <p:spPr>
          <a:xfrm>
            <a:off x="4592389" y="3097411"/>
            <a:ext cx="10893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2</a:t>
            </a:r>
            <a:endParaRPr lang="en-US" sz="830" dirty="0"/>
          </a:p>
        </p:txBody>
      </p:sp>
      <p:sp>
        <p:nvSpPr>
          <p:cNvPr id="40" name="Text 38"/>
          <p:cNvSpPr txBox="1"/>
          <p:nvPr/>
        </p:nvSpPr>
        <p:spPr>
          <a:xfrm>
            <a:off x="4778276" y="3532733"/>
            <a:ext cx="2914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Quét QR nội địa của cửa hàng như khách Việt</a:t>
            </a:r>
            <a:endParaRPr lang="en-US" sz="1130" dirty="0"/>
          </a:p>
        </p:txBody>
      </p:sp>
      <p:sp>
        <p:nvSpPr>
          <p:cNvPr id="41" name="Shape 39"/>
          <p:cNvSpPr/>
          <p:nvPr/>
        </p:nvSpPr>
        <p:spPr>
          <a:xfrm>
            <a:off x="4530626" y="3542258"/>
            <a:ext cx="190500" cy="190500"/>
          </a:xfrm>
          <a:prstGeom prst="ellipse">
            <a:avLst/>
          </a:prstGeom>
          <a:solidFill>
            <a:srgbClr val="F1F5F9"/>
          </a:solidFill>
          <a:ln w="9525">
            <a:solidFill>
              <a:srgbClr val="E2E8F0"/>
            </a:solidFill>
            <a:prstDash val="solid"/>
          </a:ln>
        </p:spPr>
      </p:sp>
      <p:sp>
        <p:nvSpPr>
          <p:cNvPr id="42" name="Text 40"/>
          <p:cNvSpPr txBox="1"/>
          <p:nvPr/>
        </p:nvSpPr>
        <p:spPr>
          <a:xfrm>
            <a:off x="4591348" y="3564136"/>
            <a:ext cx="111142"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3</a:t>
            </a:r>
            <a:endParaRPr lang="en-US" sz="830" dirty="0"/>
          </a:p>
        </p:txBody>
      </p:sp>
      <p:sp>
        <p:nvSpPr>
          <p:cNvPr id="43" name="Text 41"/>
          <p:cNvSpPr txBox="1"/>
          <p:nvPr/>
        </p:nvSpPr>
        <p:spPr>
          <a:xfrm>
            <a:off x="4530626" y="4053632"/>
            <a:ext cx="1883078" cy="161925"/>
          </a:xfrm>
          <a:prstGeom prst="rect">
            <a:avLst/>
          </a:prstGeom>
          <a:noFill/>
          <a:ln/>
        </p:spPr>
        <p:txBody>
          <a:bodyPr wrap="none" lIns="0" tIns="0" rIns="0" bIns="0" rtlCol="0" anchor="t"/>
          <a:lstStyle/>
          <a:p>
            <a:pPr marL="0" indent="0" algn="l">
              <a:lnSpc>
                <a:spcPts val="1470"/>
              </a:lnSpc>
              <a:buNone/>
            </a:pPr>
            <a:r>
              <a:rPr lang="en-US" sz="1050" b="1" dirty="0">
                <a:solidFill>
                  <a:srgbClr val="64748B"/>
                </a:solidFill>
              </a:rPr>
              <a:t>VNPAY hợp tác Mastercard</a:t>
            </a:r>
            <a:endParaRPr lang="en-US" sz="1050" dirty="0"/>
          </a:p>
        </p:txBody>
      </p:sp>
      <p:sp>
        <p:nvSpPr>
          <p:cNvPr id="44" name="Shape 42"/>
          <p:cNvSpPr/>
          <p:nvPr/>
        </p:nvSpPr>
        <p:spPr>
          <a:xfrm>
            <a:off x="4530626" y="4389834"/>
            <a:ext cx="3130600" cy="933450"/>
          </a:xfrm>
          <a:prstGeom prst="roundRect">
            <a:avLst>
              <a:gd name="adj" fmla="val 10204"/>
            </a:avLst>
          </a:prstGeom>
          <a:solidFill>
            <a:srgbClr val="FFF1F2"/>
          </a:solidFill>
          <a:ln w="9525">
            <a:solidFill>
              <a:srgbClr val="FECDD3"/>
            </a:solidFill>
            <a:prstDash val="solid"/>
          </a:ln>
        </p:spPr>
      </p:sp>
      <p:sp>
        <p:nvSpPr>
          <p:cNvPr id="45" name="Text 43"/>
          <p:cNvSpPr txBox="1"/>
          <p:nvPr/>
        </p:nvSpPr>
        <p:spPr>
          <a:xfrm>
            <a:off x="4692551" y="4513659"/>
            <a:ext cx="679228" cy="152400"/>
          </a:xfrm>
          <a:prstGeom prst="rect">
            <a:avLst/>
          </a:prstGeom>
          <a:noFill/>
          <a:ln/>
        </p:spPr>
        <p:txBody>
          <a:bodyPr wrap="none" lIns="0" tIns="0" rIns="0" bIns="0" rtlCol="0" anchor="t"/>
          <a:lstStyle/>
          <a:p>
            <a:pPr marL="0" indent="0" algn="l">
              <a:lnSpc>
                <a:spcPts val="1170"/>
              </a:lnSpc>
              <a:buNone/>
            </a:pPr>
            <a:r>
              <a:rPr lang="en-US" sz="980" b="1" kern="0" spc="40" dirty="0">
                <a:solidFill>
                  <a:srgbClr val="E11D48"/>
                </a:solidFill>
              </a:rPr>
              <a:t>HẠN CHẾ</a:t>
            </a:r>
            <a:endParaRPr lang="en-US" sz="980" dirty="0"/>
          </a:p>
        </p:txBody>
      </p:sp>
      <p:sp>
        <p:nvSpPr>
          <p:cNvPr id="46" name="Text 44"/>
          <p:cNvSpPr txBox="1"/>
          <p:nvPr/>
        </p:nvSpPr>
        <p:spPr>
          <a:xfrm>
            <a:off x="4844951" y="4732734"/>
            <a:ext cx="2694742"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Phải cài app, đăng </a:t>
            </a:r>
            <a:r>
              <a:rPr lang="en-US" sz="1160" b="1" dirty="0" err="1">
                <a:solidFill>
                  <a:srgbClr val="334155"/>
                </a:solidFill>
              </a:rPr>
              <a:t>ký</a:t>
            </a:r>
            <a:r>
              <a:rPr lang="en-US" sz="1160" b="1" dirty="0">
                <a:solidFill>
                  <a:srgbClr val="334155"/>
                </a:solidFill>
              </a:rPr>
              <a:t> </a:t>
            </a:r>
            <a:r>
              <a:rPr lang="en-US" sz="1160" b="1" dirty="0" err="1">
                <a:solidFill>
                  <a:srgbClr val="334155"/>
                </a:solidFill>
              </a:rPr>
              <a:t>tại</a:t>
            </a:r>
            <a:r>
              <a:rPr lang="en-US" sz="1160" b="1" dirty="0">
                <a:solidFill>
                  <a:srgbClr val="334155"/>
                </a:solidFill>
              </a:rPr>
              <a:t> quầy</a:t>
            </a:r>
            <a:endParaRPr lang="en-US" sz="1160" dirty="0"/>
          </a:p>
        </p:txBody>
      </p:sp>
      <p:sp>
        <p:nvSpPr>
          <p:cNvPr id="47" name="Shape 45"/>
          <p:cNvSpPr/>
          <p:nvPr/>
        </p:nvSpPr>
        <p:spPr>
          <a:xfrm>
            <a:off x="4702076" y="4799409"/>
            <a:ext cx="57150" cy="57150"/>
          </a:xfrm>
          <a:prstGeom prst="ellipse">
            <a:avLst/>
          </a:prstGeom>
          <a:solidFill>
            <a:srgbClr val="E11D48"/>
          </a:solidFill>
          <a:ln/>
        </p:spPr>
      </p:sp>
      <p:sp>
        <p:nvSpPr>
          <p:cNvPr id="48" name="Text 46"/>
          <p:cNvSpPr txBox="1"/>
          <p:nvPr/>
        </p:nvSpPr>
        <p:spPr>
          <a:xfrm>
            <a:off x="4844951" y="4999434"/>
            <a:ext cx="2469621"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Khách thường bỏ cuộc ở lần đầu</a:t>
            </a:r>
            <a:endParaRPr lang="en-US" sz="1160" dirty="0"/>
          </a:p>
        </p:txBody>
      </p:sp>
      <p:sp>
        <p:nvSpPr>
          <p:cNvPr id="49" name="Shape 47"/>
          <p:cNvSpPr/>
          <p:nvPr/>
        </p:nvSpPr>
        <p:spPr>
          <a:xfrm>
            <a:off x="4702076" y="5066109"/>
            <a:ext cx="57150" cy="57150"/>
          </a:xfrm>
          <a:prstGeom prst="ellipse">
            <a:avLst/>
          </a:prstGeom>
          <a:solidFill>
            <a:srgbClr val="E11D48"/>
          </a:solidFill>
          <a:ln/>
        </p:spPr>
      </p:sp>
      <p:sp>
        <p:nvSpPr>
          <p:cNvPr id="50" name="Shape 48"/>
          <p:cNvSpPr/>
          <p:nvPr/>
        </p:nvSpPr>
        <p:spPr>
          <a:xfrm>
            <a:off x="8013650" y="1169789"/>
            <a:ext cx="3568601" cy="4315420"/>
          </a:xfrm>
          <a:prstGeom prst="roundRect">
            <a:avLst>
              <a:gd name="adj" fmla="val 3737"/>
            </a:avLst>
          </a:prstGeom>
          <a:solidFill>
            <a:srgbClr val="FFFFFF"/>
          </a:solidFill>
          <a:ln w="9525">
            <a:solidFill>
              <a:srgbClr val="E2E8F0"/>
            </a:solidFill>
            <a:prstDash val="solid"/>
          </a:ln>
        </p:spPr>
      </p:sp>
      <p:sp>
        <p:nvSpPr>
          <p:cNvPr id="51" name="Shape 49"/>
          <p:cNvSpPr/>
          <p:nvPr/>
        </p:nvSpPr>
        <p:spPr>
          <a:xfrm>
            <a:off x="8023175" y="1179314"/>
            <a:ext cx="3549551" cy="619125"/>
          </a:xfrm>
          <a:prstGeom prst="rect">
            <a:avLst/>
          </a:prstGeom>
          <a:solidFill>
            <a:srgbClr val="FFFFFF"/>
          </a:solidFill>
          <a:ln/>
        </p:spPr>
      </p:sp>
      <p:sp>
        <p:nvSpPr>
          <p:cNvPr id="52" name="Shape 50"/>
          <p:cNvSpPr/>
          <p:nvPr/>
        </p:nvSpPr>
        <p:spPr>
          <a:xfrm>
            <a:off x="8023175" y="1788914"/>
            <a:ext cx="3549551" cy="9525"/>
          </a:xfrm>
          <a:prstGeom prst="rect">
            <a:avLst/>
          </a:prstGeom>
          <a:solidFill>
            <a:srgbClr val="E2E8F0"/>
          </a:solidFill>
          <a:ln/>
        </p:spPr>
      </p:sp>
      <p:sp>
        <p:nvSpPr>
          <p:cNvPr id="53" name="Shape 51"/>
          <p:cNvSpPr/>
          <p:nvPr/>
        </p:nvSpPr>
        <p:spPr>
          <a:xfrm>
            <a:off x="8213675" y="1312664"/>
            <a:ext cx="342900" cy="342900"/>
          </a:xfrm>
          <a:prstGeom prst="roundRect">
            <a:avLst>
              <a:gd name="adj" fmla="val 27778"/>
            </a:avLst>
          </a:prstGeom>
          <a:solidFill>
            <a:srgbClr val="0F172A"/>
          </a:solidFill>
          <a:ln/>
        </p:spPr>
      </p:sp>
      <p:sp>
        <p:nvSpPr>
          <p:cNvPr id="54" name="Text 52"/>
          <p:cNvSpPr txBox="1"/>
          <p:nvPr/>
        </p:nvSpPr>
        <p:spPr>
          <a:xfrm>
            <a:off x="8327678" y="1384102"/>
            <a:ext cx="159731" cy="200025"/>
          </a:xfrm>
          <a:prstGeom prst="rect">
            <a:avLst/>
          </a:prstGeom>
          <a:noFill/>
          <a:ln/>
        </p:spPr>
        <p:txBody>
          <a:bodyPr wrap="none" lIns="0" tIns="0" rIns="0" bIns="0" rtlCol="0" anchor="t"/>
          <a:lstStyle/>
          <a:p>
            <a:pPr marL="0" indent="0" algn="l">
              <a:lnSpc>
                <a:spcPts val="1620"/>
              </a:lnSpc>
              <a:buNone/>
            </a:pPr>
            <a:r>
              <a:rPr lang="en-US" sz="1350" b="1" dirty="0">
                <a:solidFill>
                  <a:srgbClr val="FFFFFF"/>
                </a:solidFill>
              </a:rPr>
              <a:t>3</a:t>
            </a:r>
            <a:endParaRPr lang="en-US" sz="1350" dirty="0"/>
          </a:p>
        </p:txBody>
      </p:sp>
      <p:sp>
        <p:nvSpPr>
          <p:cNvPr id="55" name="Text 53"/>
          <p:cNvSpPr txBox="1"/>
          <p:nvPr/>
        </p:nvSpPr>
        <p:spPr>
          <a:xfrm>
            <a:off x="8670875" y="1368326"/>
            <a:ext cx="2699474" cy="219075"/>
          </a:xfrm>
          <a:prstGeom prst="rect">
            <a:avLst/>
          </a:prstGeom>
          <a:noFill/>
          <a:ln/>
        </p:spPr>
        <p:txBody>
          <a:bodyPr wrap="none" lIns="0" tIns="0" rIns="0" bIns="0" rtlCol="0" anchor="t"/>
          <a:lstStyle/>
          <a:p>
            <a:pPr marL="0" indent="0" algn="l">
              <a:lnSpc>
                <a:spcPts val="1820"/>
              </a:lnSpc>
              <a:buNone/>
            </a:pPr>
            <a:r>
              <a:rPr lang="en-US" sz="1430" b="1" dirty="0">
                <a:solidFill>
                  <a:srgbClr val="0F172A"/>
                </a:solidFill>
              </a:rPr>
              <a:t>Tap to Phone</a:t>
            </a:r>
            <a:endParaRPr lang="en-US" sz="1430" dirty="0"/>
          </a:p>
        </p:txBody>
      </p:sp>
      <p:sp>
        <p:nvSpPr>
          <p:cNvPr id="56" name="Text 54"/>
          <p:cNvSpPr txBox="1"/>
          <p:nvPr/>
        </p:nvSpPr>
        <p:spPr>
          <a:xfrm>
            <a:off x="8232725" y="1969889"/>
            <a:ext cx="3162300" cy="439936"/>
          </a:xfrm>
          <a:prstGeom prst="rect">
            <a:avLst/>
          </a:prstGeom>
          <a:noFill/>
          <a:ln/>
        </p:spPr>
        <p:txBody>
          <a:bodyPr wrap="square" lIns="0" tIns="0" rIns="0" bIns="0" rtlCol="0" anchor="t"/>
          <a:lstStyle/>
          <a:p>
            <a:pPr marL="0" indent="0" algn="l">
              <a:lnSpc>
                <a:spcPts val="1890"/>
              </a:lnSpc>
              <a:buNone/>
            </a:pPr>
            <a:r>
              <a:rPr lang="en-US" sz="1350" b="1" dirty="0">
                <a:solidFill>
                  <a:srgbClr val="0F172A"/>
                </a:solidFill>
              </a:rPr>
              <a:t>Điện thoại Android thành máy nhận thẻ</a:t>
            </a:r>
            <a:endParaRPr lang="en-US" sz="1350" dirty="0"/>
          </a:p>
        </p:txBody>
      </p:sp>
      <p:sp>
        <p:nvSpPr>
          <p:cNvPr id="57" name="Text 55"/>
          <p:cNvSpPr txBox="1"/>
          <p:nvPr/>
        </p:nvSpPr>
        <p:spPr>
          <a:xfrm>
            <a:off x="8480375" y="2665958"/>
            <a:ext cx="2914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Cửa hàng bật tính năng nhận thẻ trong app ngân hàng</a:t>
            </a:r>
            <a:endParaRPr lang="en-US" sz="1130" dirty="0"/>
          </a:p>
        </p:txBody>
      </p:sp>
      <p:sp>
        <p:nvSpPr>
          <p:cNvPr id="58" name="Shape 56"/>
          <p:cNvSpPr/>
          <p:nvPr/>
        </p:nvSpPr>
        <p:spPr>
          <a:xfrm>
            <a:off x="8232725" y="2675483"/>
            <a:ext cx="190500" cy="190500"/>
          </a:xfrm>
          <a:prstGeom prst="ellipse">
            <a:avLst/>
          </a:prstGeom>
          <a:solidFill>
            <a:srgbClr val="F1F5F9"/>
          </a:solidFill>
          <a:ln w="9525">
            <a:solidFill>
              <a:srgbClr val="E2E8F0"/>
            </a:solidFill>
            <a:prstDash val="solid"/>
          </a:ln>
        </p:spPr>
      </p:sp>
      <p:sp>
        <p:nvSpPr>
          <p:cNvPr id="59" name="Text 57"/>
          <p:cNvSpPr txBox="1"/>
          <p:nvPr/>
        </p:nvSpPr>
        <p:spPr>
          <a:xfrm>
            <a:off x="8304758" y="2697361"/>
            <a:ext cx="8716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1</a:t>
            </a:r>
            <a:endParaRPr lang="en-US" sz="830" dirty="0"/>
          </a:p>
        </p:txBody>
      </p:sp>
      <p:sp>
        <p:nvSpPr>
          <p:cNvPr id="60" name="Text 58"/>
          <p:cNvSpPr txBox="1"/>
          <p:nvPr/>
        </p:nvSpPr>
        <p:spPr>
          <a:xfrm>
            <a:off x="8480375" y="3132683"/>
            <a:ext cx="2914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Khách chạm thẻ vào điện thoại của cửa hàng</a:t>
            </a:r>
            <a:endParaRPr lang="en-US" sz="1130" dirty="0"/>
          </a:p>
        </p:txBody>
      </p:sp>
      <p:sp>
        <p:nvSpPr>
          <p:cNvPr id="61" name="Shape 59"/>
          <p:cNvSpPr/>
          <p:nvPr/>
        </p:nvSpPr>
        <p:spPr>
          <a:xfrm>
            <a:off x="8232725" y="3142208"/>
            <a:ext cx="190500" cy="190500"/>
          </a:xfrm>
          <a:prstGeom prst="ellipse">
            <a:avLst/>
          </a:prstGeom>
          <a:solidFill>
            <a:srgbClr val="F1F5F9"/>
          </a:solidFill>
          <a:ln w="9525">
            <a:solidFill>
              <a:srgbClr val="E2E8F0"/>
            </a:solidFill>
            <a:prstDash val="solid"/>
          </a:ln>
        </p:spPr>
      </p:sp>
      <p:sp>
        <p:nvSpPr>
          <p:cNvPr id="62" name="Text 60"/>
          <p:cNvSpPr txBox="1"/>
          <p:nvPr/>
        </p:nvSpPr>
        <p:spPr>
          <a:xfrm>
            <a:off x="8294489" y="3164086"/>
            <a:ext cx="108933" cy="133350"/>
          </a:xfrm>
          <a:prstGeom prst="rect">
            <a:avLst/>
          </a:prstGeom>
          <a:noFill/>
          <a:ln/>
        </p:spPr>
        <p:txBody>
          <a:bodyPr wrap="none" lIns="0" tIns="0" rIns="0" bIns="0" rtlCol="0" anchor="t"/>
          <a:lstStyle/>
          <a:p>
            <a:pPr marL="0" indent="0" algn="l">
              <a:lnSpc>
                <a:spcPts val="1160"/>
              </a:lnSpc>
              <a:buNone/>
            </a:pPr>
            <a:r>
              <a:rPr lang="en-US" sz="830" b="1" dirty="0">
                <a:solidFill>
                  <a:srgbClr val="0F172A"/>
                </a:solidFill>
              </a:rPr>
              <a:t>2</a:t>
            </a:r>
            <a:endParaRPr lang="en-US" sz="830" dirty="0"/>
          </a:p>
        </p:txBody>
      </p:sp>
      <p:sp>
        <p:nvSpPr>
          <p:cNvPr id="65" name="Text 63"/>
          <p:cNvSpPr txBox="1"/>
          <p:nvPr/>
        </p:nvSpPr>
        <p:spPr>
          <a:xfrm>
            <a:off x="8293447" y="3630811"/>
            <a:ext cx="111142" cy="133350"/>
          </a:xfrm>
          <a:prstGeom prst="rect">
            <a:avLst/>
          </a:prstGeom>
          <a:noFill/>
          <a:ln/>
        </p:spPr>
        <p:txBody>
          <a:bodyPr wrap="none" lIns="0" tIns="0" rIns="0" bIns="0" rtlCol="0" anchor="t"/>
          <a:lstStyle/>
          <a:p>
            <a:pPr marL="0" indent="0" algn="l">
              <a:lnSpc>
                <a:spcPts val="1160"/>
              </a:lnSpc>
              <a:buNone/>
            </a:pPr>
            <a:endParaRPr lang="en-US" sz="830" dirty="0"/>
          </a:p>
        </p:txBody>
      </p:sp>
      <p:sp>
        <p:nvSpPr>
          <p:cNvPr id="66" name="Text 64"/>
          <p:cNvSpPr txBox="1"/>
          <p:nvPr/>
        </p:nvSpPr>
        <p:spPr>
          <a:xfrm>
            <a:off x="8232725" y="3986957"/>
            <a:ext cx="3317727" cy="161925"/>
          </a:xfrm>
          <a:prstGeom prst="rect">
            <a:avLst/>
          </a:prstGeom>
          <a:noFill/>
          <a:ln/>
        </p:spPr>
        <p:txBody>
          <a:bodyPr wrap="none" lIns="0" tIns="0" rIns="0" bIns="0" rtlCol="0" anchor="t"/>
          <a:lstStyle/>
          <a:p>
            <a:pPr marL="0" indent="0" algn="l">
              <a:lnSpc>
                <a:spcPts val="1470"/>
              </a:lnSpc>
              <a:buNone/>
            </a:pPr>
            <a:r>
              <a:rPr lang="en-US" sz="1050" b="1" dirty="0">
                <a:solidFill>
                  <a:srgbClr val="64748B"/>
                </a:solidFill>
              </a:rPr>
              <a:t>VPBank, Sacombank, VIB; VNPAY SoftPOS; VCB</a:t>
            </a:r>
            <a:endParaRPr lang="en-US" sz="1050" dirty="0"/>
          </a:p>
        </p:txBody>
      </p:sp>
      <p:sp>
        <p:nvSpPr>
          <p:cNvPr id="67" name="Shape 65"/>
          <p:cNvSpPr/>
          <p:nvPr/>
        </p:nvSpPr>
        <p:spPr>
          <a:xfrm>
            <a:off x="8232725" y="4389834"/>
            <a:ext cx="3130451" cy="933450"/>
          </a:xfrm>
          <a:prstGeom prst="roundRect">
            <a:avLst>
              <a:gd name="adj" fmla="val 10204"/>
            </a:avLst>
          </a:prstGeom>
          <a:solidFill>
            <a:srgbClr val="FFF1F2"/>
          </a:solidFill>
          <a:ln w="9525">
            <a:solidFill>
              <a:srgbClr val="FECDD3"/>
            </a:solidFill>
            <a:prstDash val="solid"/>
          </a:ln>
        </p:spPr>
      </p:sp>
      <p:sp>
        <p:nvSpPr>
          <p:cNvPr id="68" name="Text 66"/>
          <p:cNvSpPr txBox="1"/>
          <p:nvPr/>
        </p:nvSpPr>
        <p:spPr>
          <a:xfrm>
            <a:off x="8394650" y="4513659"/>
            <a:ext cx="679228" cy="152400"/>
          </a:xfrm>
          <a:prstGeom prst="rect">
            <a:avLst/>
          </a:prstGeom>
          <a:noFill/>
          <a:ln/>
        </p:spPr>
        <p:txBody>
          <a:bodyPr wrap="none" lIns="0" tIns="0" rIns="0" bIns="0" rtlCol="0" anchor="t"/>
          <a:lstStyle/>
          <a:p>
            <a:pPr marL="0" indent="0" algn="l">
              <a:lnSpc>
                <a:spcPts val="1170"/>
              </a:lnSpc>
              <a:buNone/>
            </a:pPr>
            <a:r>
              <a:rPr lang="en-US" sz="980" b="1" kern="0" spc="40" dirty="0">
                <a:solidFill>
                  <a:srgbClr val="E11D48"/>
                </a:solidFill>
              </a:rPr>
              <a:t>HẠN CHẾ</a:t>
            </a:r>
            <a:endParaRPr lang="en-US" sz="980" dirty="0"/>
          </a:p>
        </p:txBody>
      </p:sp>
      <p:sp>
        <p:nvSpPr>
          <p:cNvPr id="69" name="Text 67"/>
          <p:cNvSpPr txBox="1"/>
          <p:nvPr/>
        </p:nvSpPr>
        <p:spPr>
          <a:xfrm>
            <a:off x="8547050" y="4732734"/>
            <a:ext cx="2823314"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Phí 2,5–3,9% với thẻ khách </a:t>
            </a:r>
            <a:r>
              <a:rPr lang="en-US" sz="1160" b="1" dirty="0" err="1">
                <a:solidFill>
                  <a:srgbClr val="334155"/>
                </a:solidFill>
              </a:rPr>
              <a:t>quốc</a:t>
            </a:r>
            <a:r>
              <a:rPr lang="en-US" sz="1160" b="1" dirty="0">
                <a:solidFill>
                  <a:srgbClr val="334155"/>
                </a:solidFill>
              </a:rPr>
              <a:t> </a:t>
            </a:r>
            <a:r>
              <a:rPr lang="en-US" sz="1160" b="1" dirty="0" err="1">
                <a:solidFill>
                  <a:srgbClr val="334155"/>
                </a:solidFill>
              </a:rPr>
              <a:t>tế</a:t>
            </a:r>
            <a:endParaRPr lang="en-US" sz="1160" dirty="0"/>
          </a:p>
        </p:txBody>
      </p:sp>
      <p:sp>
        <p:nvSpPr>
          <p:cNvPr id="70" name="Shape 68"/>
          <p:cNvSpPr/>
          <p:nvPr/>
        </p:nvSpPr>
        <p:spPr>
          <a:xfrm>
            <a:off x="8404175" y="4799409"/>
            <a:ext cx="57150" cy="57150"/>
          </a:xfrm>
          <a:prstGeom prst="ellipse">
            <a:avLst/>
          </a:prstGeom>
          <a:solidFill>
            <a:srgbClr val="E11D48"/>
          </a:solidFill>
          <a:ln/>
        </p:spPr>
      </p:sp>
      <p:sp>
        <p:nvSpPr>
          <p:cNvPr id="71" name="Text 69"/>
          <p:cNvSpPr txBox="1"/>
          <p:nvPr/>
        </p:nvSpPr>
        <p:spPr>
          <a:xfrm>
            <a:off x="8547050" y="4999434"/>
            <a:ext cx="2747117" cy="180975"/>
          </a:xfrm>
          <a:prstGeom prst="rect">
            <a:avLst/>
          </a:prstGeom>
          <a:noFill/>
          <a:ln/>
        </p:spPr>
        <p:txBody>
          <a:bodyPr wrap="none" lIns="0" tIns="0" rIns="0" bIns="0" rtlCol="0" anchor="t"/>
          <a:lstStyle/>
          <a:p>
            <a:pPr marL="0" indent="0" algn="l">
              <a:lnSpc>
                <a:spcPts val="1650"/>
              </a:lnSpc>
              <a:buNone/>
            </a:pPr>
            <a:r>
              <a:rPr lang="en-US" sz="1160" b="1" dirty="0">
                <a:solidFill>
                  <a:srgbClr val="334155"/>
                </a:solidFill>
              </a:rPr>
              <a:t>Tách khỏi bán hàng, ghi sổ bằng tay</a:t>
            </a:r>
            <a:endParaRPr lang="en-US" sz="1160" dirty="0"/>
          </a:p>
        </p:txBody>
      </p:sp>
      <p:sp>
        <p:nvSpPr>
          <p:cNvPr id="72" name="Shape 70"/>
          <p:cNvSpPr/>
          <p:nvPr/>
        </p:nvSpPr>
        <p:spPr>
          <a:xfrm>
            <a:off x="8404175" y="5066109"/>
            <a:ext cx="57150" cy="57150"/>
          </a:xfrm>
          <a:prstGeom prst="ellipse">
            <a:avLst/>
          </a:prstGeom>
          <a:solidFill>
            <a:srgbClr val="E11D48"/>
          </a:solidFill>
          <a:ln/>
        </p:spPr>
      </p:sp>
      <p:sp>
        <p:nvSpPr>
          <p:cNvPr id="73" name="Shape 71"/>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74" name="Text 72"/>
          <p:cNvSpPr txBox="1"/>
          <p:nvPr/>
        </p:nvSpPr>
        <p:spPr>
          <a:xfrm>
            <a:off x="1152525" y="5790009"/>
            <a:ext cx="5772281"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Thiếu một giải pháp </a:t>
            </a:r>
            <a:r>
              <a:rPr lang="en-US" sz="1280" b="1" dirty="0">
                <a:solidFill>
                  <a:srgbClr val="15803D"/>
                </a:solidFill>
              </a:rPr>
              <a:t>đến được hộ nhỏ, gắn với bán hàng, chi phí thấp.</a:t>
            </a:r>
            <a:endParaRPr lang="en-US" sz="1280" dirty="0"/>
          </a:p>
        </p:txBody>
      </p:sp>
      <p:sp>
        <p:nvSpPr>
          <p:cNvPr id="75" name="Shape 73"/>
          <p:cNvSpPr/>
          <p:nvPr/>
        </p:nvSpPr>
        <p:spPr>
          <a:xfrm rot="5400000">
            <a:off x="828675" y="5790605"/>
            <a:ext cx="152400" cy="190500"/>
          </a:xfrm>
          <a:prstGeom prst="triangle">
            <a:avLst/>
          </a:prstGeom>
          <a:solidFill>
            <a:srgbClr val="E11D48"/>
          </a:solidFill>
          <a:ln/>
        </p:spPr>
      </p:sp>
      <p:sp>
        <p:nvSpPr>
          <p:cNvPr id="76" name="Text 74"/>
          <p:cNvSpPr txBox="1"/>
          <p:nvPr/>
        </p:nvSpPr>
        <p:spPr>
          <a:xfrm>
            <a:off x="609600" y="6501854"/>
            <a:ext cx="9430369"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 Tap to Phone/SoftPOS thông thường của ngân hàng (biểu phí VPBank, Techcombank), không phải phí Visa Accept. Nguồn: NAPAS; NHNN, Cục Du lịch (9/2026); VNPAY; Visa.</a:t>
            </a:r>
            <a:endParaRPr lang="en-US" sz="830" dirty="0"/>
          </a:p>
        </p:txBody>
      </p:sp>
      <p:sp>
        <p:nvSpPr>
          <p:cNvPr id="77" name="Shape 75"/>
          <p:cNvSpPr/>
          <p:nvPr/>
        </p:nvSpPr>
        <p:spPr>
          <a:xfrm>
            <a:off x="10796588" y="6343650"/>
            <a:ext cx="323850" cy="323850"/>
          </a:xfrm>
          <a:prstGeom prst="ellipse">
            <a:avLst/>
          </a:prstGeom>
          <a:solidFill>
            <a:srgbClr val="F0001E"/>
          </a:solidFill>
          <a:ln/>
        </p:spPr>
      </p:sp>
      <p:sp>
        <p:nvSpPr>
          <p:cNvPr id="78" name="Shape 76"/>
          <p:cNvSpPr/>
          <p:nvPr/>
        </p:nvSpPr>
        <p:spPr>
          <a:xfrm>
            <a:off x="10901363" y="6415088"/>
            <a:ext cx="114300" cy="180975"/>
          </a:xfrm>
          <a:prstGeom prst="roundRect">
            <a:avLst>
              <a:gd name="adj" fmla="val 29167"/>
            </a:avLst>
          </a:prstGeom>
          <a:ln w="19050">
            <a:solidFill>
              <a:srgbClr val="FFFFFF"/>
            </a:solidFill>
            <a:prstDash val="solid"/>
          </a:ln>
        </p:spPr>
      </p:sp>
      <p:sp>
        <p:nvSpPr>
          <p:cNvPr id="79" name="Text 77"/>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0" name="Text 78"/>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81" name="Text 79"/>
          <p:cNvSpPr txBox="1"/>
          <p:nvPr/>
        </p:nvSpPr>
        <p:spPr>
          <a:xfrm>
            <a:off x="10581680" y="6429375"/>
            <a:ext cx="109407"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3387772"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BỐI CẢNH · KHÁCH TÌM VÀ ĐẶT CHỖ THẾ NÀO</a:t>
            </a:r>
            <a:endParaRPr lang="en-US" sz="1050" dirty="0"/>
          </a:p>
        </p:txBody>
      </p:sp>
      <p:sp>
        <p:nvSpPr>
          <p:cNvPr id="3" name="Text 1"/>
          <p:cNvSpPr txBox="1"/>
          <p:nvPr/>
        </p:nvSpPr>
        <p:spPr>
          <a:xfrm>
            <a:off x="609600" y="619125"/>
            <a:ext cx="9383988"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Khách hỏi AI và đặt chỗ online, </a:t>
            </a:r>
            <a:r>
              <a:rPr lang="en-US" sz="2330" b="1" kern="0" spc="-30" dirty="0">
                <a:solidFill>
                  <a:srgbClr val="E11D48"/>
                </a:solidFill>
              </a:rPr>
              <a:t>merchant nhỏ chưa có mặt ở đó</a:t>
            </a:r>
            <a:endParaRPr lang="en-US" sz="2330" dirty="0"/>
          </a:p>
        </p:txBody>
      </p:sp>
      <p:sp>
        <p:nvSpPr>
          <p:cNvPr id="4" name="Shape 2"/>
          <p:cNvSpPr/>
          <p:nvPr/>
        </p:nvSpPr>
        <p:spPr>
          <a:xfrm>
            <a:off x="609600" y="1169789"/>
            <a:ext cx="3568601" cy="4315420"/>
          </a:xfrm>
          <a:prstGeom prst="roundRect">
            <a:avLst>
              <a:gd name="adj" fmla="val 3737"/>
            </a:avLst>
          </a:prstGeom>
          <a:solidFill>
            <a:srgbClr val="FFFFFF"/>
          </a:solidFill>
          <a:ln w="9525">
            <a:solidFill>
              <a:srgbClr val="E2E8F0"/>
            </a:solidFill>
            <a:prstDash val="solid"/>
          </a:ln>
        </p:spPr>
      </p:sp>
      <p:sp>
        <p:nvSpPr>
          <p:cNvPr id="5" name="Text 3"/>
          <p:cNvSpPr txBox="1"/>
          <p:nvPr/>
        </p:nvSpPr>
        <p:spPr>
          <a:xfrm>
            <a:off x="809625" y="1331714"/>
            <a:ext cx="2373389"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E11D48"/>
                </a:solidFill>
              </a:rPr>
              <a:t>1 · KHÁCH HỎI AI KHI LÊN KẾ HOẠCH</a:t>
            </a:r>
            <a:endParaRPr lang="en-US" sz="900" dirty="0"/>
          </a:p>
        </p:txBody>
      </p:sp>
      <p:sp>
        <p:nvSpPr>
          <p:cNvPr id="6" name="Shape 4"/>
          <p:cNvSpPr/>
          <p:nvPr/>
        </p:nvSpPr>
        <p:spPr>
          <a:xfrm>
            <a:off x="809625" y="1474589"/>
            <a:ext cx="3168551" cy="9525"/>
          </a:xfrm>
          <a:prstGeom prst="rect">
            <a:avLst/>
          </a:prstGeom>
          <a:solidFill>
            <a:srgbClr val="E2E8F0"/>
          </a:solidFill>
          <a:ln/>
        </p:spPr>
      </p:sp>
      <p:sp>
        <p:nvSpPr>
          <p:cNvPr id="7" name="Text 5"/>
          <p:cNvSpPr txBox="1"/>
          <p:nvPr/>
        </p:nvSpPr>
        <p:spPr>
          <a:xfrm>
            <a:off x="809625" y="1569839"/>
            <a:ext cx="1044122" cy="514350"/>
          </a:xfrm>
          <a:prstGeom prst="rect">
            <a:avLst/>
          </a:prstGeom>
          <a:noFill/>
          <a:ln/>
        </p:spPr>
        <p:txBody>
          <a:bodyPr wrap="none" lIns="0" tIns="0" rIns="0" bIns="0" rtlCol="0" anchor="t"/>
          <a:lstStyle/>
          <a:p>
            <a:pPr marL="0" indent="0" algn="l">
              <a:lnSpc>
                <a:spcPts val="3560"/>
              </a:lnSpc>
              <a:buNone/>
            </a:pPr>
            <a:r>
              <a:rPr lang="en-US" sz="3300" b="1" kern="0" spc="-70" dirty="0">
                <a:solidFill>
                  <a:srgbClr val="1E3A8A"/>
                </a:solidFill>
              </a:rPr>
              <a:t>56%</a:t>
            </a:r>
            <a:endParaRPr lang="en-US" sz="3300" dirty="0"/>
          </a:p>
        </p:txBody>
      </p:sp>
      <p:sp>
        <p:nvSpPr>
          <p:cNvPr id="8" name="Text 6"/>
          <p:cNvSpPr txBox="1"/>
          <p:nvPr/>
        </p:nvSpPr>
        <p:spPr>
          <a:xfrm>
            <a:off x="809625" y="2108150"/>
            <a:ext cx="3200400" cy="630436"/>
          </a:xfrm>
          <a:prstGeom prst="rect">
            <a:avLst/>
          </a:prstGeom>
          <a:noFill/>
          <a:ln/>
        </p:spPr>
        <p:txBody>
          <a:bodyPr wrap="square" lIns="0" tIns="0" rIns="0" bIns="0" rtlCol="0" anchor="t"/>
          <a:lstStyle/>
          <a:p>
            <a:pPr marL="0" indent="0" algn="l">
              <a:lnSpc>
                <a:spcPts val="1730"/>
              </a:lnSpc>
              <a:buNone/>
            </a:pPr>
            <a:r>
              <a:rPr lang="en-US" sz="1240" b="1" dirty="0" err="1">
                <a:solidFill>
                  <a:srgbClr val="334155"/>
                </a:solidFill>
              </a:rPr>
              <a:t>khách</a:t>
            </a:r>
            <a:r>
              <a:rPr lang="en-US" sz="1240" b="1" dirty="0">
                <a:solidFill>
                  <a:srgbClr val="334155"/>
                </a:solidFill>
              </a:rPr>
              <a:t> du </a:t>
            </a:r>
            <a:r>
              <a:rPr lang="en-US" sz="1240" b="1" dirty="0" err="1">
                <a:solidFill>
                  <a:srgbClr val="334155"/>
                </a:solidFill>
              </a:rPr>
              <a:t>lịch</a:t>
            </a:r>
            <a:r>
              <a:rPr lang="en-US" sz="1240" b="1" dirty="0">
                <a:solidFill>
                  <a:srgbClr val="334155"/>
                </a:solidFill>
              </a:rPr>
              <a:t> </a:t>
            </a:r>
            <a:r>
              <a:rPr lang="en-US" sz="1240" b="1" dirty="0" err="1">
                <a:solidFill>
                  <a:srgbClr val="334155"/>
                </a:solidFill>
              </a:rPr>
              <a:t>quốc</a:t>
            </a:r>
            <a:r>
              <a:rPr lang="en-US" sz="1240" b="1" dirty="0">
                <a:solidFill>
                  <a:srgbClr val="334155"/>
                </a:solidFill>
              </a:rPr>
              <a:t> </a:t>
            </a:r>
            <a:r>
              <a:rPr lang="en-US" sz="1240" b="1" dirty="0" err="1">
                <a:solidFill>
                  <a:srgbClr val="334155"/>
                </a:solidFill>
              </a:rPr>
              <a:t>tế</a:t>
            </a:r>
            <a:r>
              <a:rPr lang="en-US" sz="1240" b="1" dirty="0">
                <a:solidFill>
                  <a:srgbClr val="334155"/>
                </a:solidFill>
              </a:rPr>
              <a:t> đã dùng AI cho chuyến đi trong 12 tháng qua, để lên kế hoạch hoặc đặt chỗ</a:t>
            </a:r>
            <a:endParaRPr lang="en-US" sz="1240" dirty="0"/>
          </a:p>
        </p:txBody>
      </p:sp>
      <p:sp>
        <p:nvSpPr>
          <p:cNvPr id="9" name="Shape 7"/>
          <p:cNvSpPr/>
          <p:nvPr/>
        </p:nvSpPr>
        <p:spPr>
          <a:xfrm>
            <a:off x="809625" y="2882354"/>
            <a:ext cx="3168551" cy="9525"/>
          </a:xfrm>
          <a:prstGeom prst="rect">
            <a:avLst/>
          </a:prstGeom>
          <a:solidFill>
            <a:srgbClr val="E2E8F0"/>
          </a:solidFill>
          <a:ln/>
        </p:spPr>
      </p:sp>
      <p:sp>
        <p:nvSpPr>
          <p:cNvPr id="10" name="Text 8"/>
          <p:cNvSpPr txBox="1"/>
          <p:nvPr/>
        </p:nvSpPr>
        <p:spPr>
          <a:xfrm>
            <a:off x="809625" y="2977604"/>
            <a:ext cx="959879" cy="514350"/>
          </a:xfrm>
          <a:prstGeom prst="rect">
            <a:avLst/>
          </a:prstGeom>
          <a:noFill/>
          <a:ln/>
        </p:spPr>
        <p:txBody>
          <a:bodyPr wrap="none" lIns="0" tIns="0" rIns="0" bIns="0" rtlCol="0" anchor="t"/>
          <a:lstStyle/>
          <a:p>
            <a:pPr marL="0" indent="0" algn="l">
              <a:lnSpc>
                <a:spcPts val="3560"/>
              </a:lnSpc>
              <a:buNone/>
            </a:pPr>
            <a:r>
              <a:rPr lang="en-US" sz="3300" b="1" kern="0" spc="-70" dirty="0">
                <a:solidFill>
                  <a:srgbClr val="1E3A8A"/>
                </a:solidFill>
              </a:rPr>
              <a:t>81%</a:t>
            </a:r>
            <a:endParaRPr lang="en-US" sz="3300" dirty="0"/>
          </a:p>
        </p:txBody>
      </p:sp>
      <p:sp>
        <p:nvSpPr>
          <p:cNvPr id="11" name="Text 9"/>
          <p:cNvSpPr txBox="1"/>
          <p:nvPr/>
        </p:nvSpPr>
        <p:spPr>
          <a:xfrm>
            <a:off x="809625" y="3515916"/>
            <a:ext cx="3200400" cy="410468"/>
          </a:xfrm>
          <a:prstGeom prst="rect">
            <a:avLst/>
          </a:prstGeom>
          <a:noFill/>
          <a:ln/>
        </p:spPr>
        <p:txBody>
          <a:bodyPr wrap="square" lIns="0" tIns="0" rIns="0" bIns="0" rtlCol="0" anchor="t"/>
          <a:lstStyle/>
          <a:p>
            <a:pPr marL="0" indent="0" algn="l">
              <a:lnSpc>
                <a:spcPts val="1730"/>
              </a:lnSpc>
              <a:buNone/>
            </a:pPr>
            <a:r>
              <a:rPr lang="en-US" sz="1240" b="1" dirty="0">
                <a:solidFill>
                  <a:srgbClr val="334155"/>
                </a:solidFill>
              </a:rPr>
              <a:t>khách Việt dự định dùng AI cho chuyến tới, cao nhất châu Á (trung bình 63%)</a:t>
            </a:r>
            <a:endParaRPr lang="en-US" sz="1240" dirty="0"/>
          </a:p>
        </p:txBody>
      </p:sp>
      <p:sp>
        <p:nvSpPr>
          <p:cNvPr id="12" name="Shape 10"/>
          <p:cNvSpPr/>
          <p:nvPr/>
        </p:nvSpPr>
        <p:spPr>
          <a:xfrm>
            <a:off x="4311551" y="1169789"/>
            <a:ext cx="3568750" cy="4315420"/>
          </a:xfrm>
          <a:prstGeom prst="roundRect">
            <a:avLst>
              <a:gd name="adj" fmla="val 3737"/>
            </a:avLst>
          </a:prstGeom>
          <a:solidFill>
            <a:srgbClr val="FFFFFF"/>
          </a:solidFill>
          <a:ln w="9525">
            <a:solidFill>
              <a:srgbClr val="E2E8F0"/>
            </a:solidFill>
            <a:prstDash val="solid"/>
          </a:ln>
        </p:spPr>
      </p:sp>
      <p:sp>
        <p:nvSpPr>
          <p:cNvPr id="13" name="Text 11"/>
          <p:cNvSpPr txBox="1"/>
          <p:nvPr/>
        </p:nvSpPr>
        <p:spPr>
          <a:xfrm>
            <a:off x="4511576" y="1331714"/>
            <a:ext cx="1784952"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E11D48"/>
                </a:solidFill>
              </a:rPr>
              <a:t>2 · ĐẶT CHỖ ĐÃ LÊN MẠNG</a:t>
            </a:r>
            <a:endParaRPr lang="en-US" sz="900" dirty="0"/>
          </a:p>
        </p:txBody>
      </p:sp>
      <p:sp>
        <p:nvSpPr>
          <p:cNvPr id="14" name="Shape 12"/>
          <p:cNvSpPr/>
          <p:nvPr/>
        </p:nvSpPr>
        <p:spPr>
          <a:xfrm>
            <a:off x="4511576" y="1474589"/>
            <a:ext cx="3168700" cy="9525"/>
          </a:xfrm>
          <a:prstGeom prst="rect">
            <a:avLst/>
          </a:prstGeom>
          <a:solidFill>
            <a:srgbClr val="E2E8F0"/>
          </a:solidFill>
          <a:ln/>
        </p:spPr>
      </p:sp>
      <p:sp>
        <p:nvSpPr>
          <p:cNvPr id="15" name="Text 13"/>
          <p:cNvSpPr txBox="1"/>
          <p:nvPr/>
        </p:nvSpPr>
        <p:spPr>
          <a:xfrm>
            <a:off x="4511576" y="1569839"/>
            <a:ext cx="2144798" cy="514350"/>
          </a:xfrm>
          <a:prstGeom prst="rect">
            <a:avLst/>
          </a:prstGeom>
          <a:noFill/>
          <a:ln/>
        </p:spPr>
        <p:txBody>
          <a:bodyPr wrap="none" lIns="0" tIns="0" rIns="0" bIns="0" rtlCol="0" anchor="t"/>
          <a:lstStyle/>
          <a:p>
            <a:pPr marL="0" indent="0" algn="l">
              <a:lnSpc>
                <a:spcPts val="3560"/>
              </a:lnSpc>
              <a:buNone/>
            </a:pPr>
            <a:r>
              <a:rPr lang="en-US" sz="3300" b="1" kern="0" spc="-70" dirty="0">
                <a:solidFill>
                  <a:srgbClr val="0F172A"/>
                </a:solidFill>
              </a:rPr>
              <a:t>~4 tỷ USD</a:t>
            </a:r>
            <a:endParaRPr lang="en-US" sz="3300" dirty="0"/>
          </a:p>
        </p:txBody>
      </p:sp>
      <p:sp>
        <p:nvSpPr>
          <p:cNvPr id="16" name="Text 14"/>
          <p:cNvSpPr txBox="1"/>
          <p:nvPr/>
        </p:nvSpPr>
        <p:spPr>
          <a:xfrm>
            <a:off x="4511576" y="2108150"/>
            <a:ext cx="3200400" cy="630436"/>
          </a:xfrm>
          <a:prstGeom prst="rect">
            <a:avLst/>
          </a:prstGeom>
          <a:noFill/>
          <a:ln/>
        </p:spPr>
        <p:txBody>
          <a:bodyPr wrap="square" lIns="0" tIns="0" rIns="0" bIns="0" rtlCol="0" anchor="t"/>
          <a:lstStyle/>
          <a:p>
            <a:pPr marL="0" indent="0" algn="l">
              <a:lnSpc>
                <a:spcPts val="1730"/>
              </a:lnSpc>
              <a:buNone/>
            </a:pPr>
            <a:r>
              <a:rPr lang="en-US" sz="1240" b="1" dirty="0">
                <a:solidFill>
                  <a:srgbClr val="334155"/>
                </a:solidFill>
              </a:rPr>
              <a:t>thị trường du lịch trực tuyến Việt Nam 2025, tăng 16%, gồm khách nội địa và quốc tế</a:t>
            </a:r>
            <a:endParaRPr lang="en-US" sz="1240" dirty="0"/>
          </a:p>
        </p:txBody>
      </p:sp>
      <p:sp>
        <p:nvSpPr>
          <p:cNvPr id="17" name="Shape 15"/>
          <p:cNvSpPr/>
          <p:nvPr/>
        </p:nvSpPr>
        <p:spPr>
          <a:xfrm>
            <a:off x="4511576" y="2882354"/>
            <a:ext cx="3168700" cy="9525"/>
          </a:xfrm>
          <a:prstGeom prst="rect">
            <a:avLst/>
          </a:prstGeom>
          <a:solidFill>
            <a:srgbClr val="E2E8F0"/>
          </a:solidFill>
          <a:ln/>
        </p:spPr>
      </p:sp>
      <p:sp>
        <p:nvSpPr>
          <p:cNvPr id="18" name="Text 16"/>
          <p:cNvSpPr txBox="1"/>
          <p:nvPr/>
        </p:nvSpPr>
        <p:spPr>
          <a:xfrm>
            <a:off x="4511576" y="2977604"/>
            <a:ext cx="1706547" cy="514350"/>
          </a:xfrm>
          <a:prstGeom prst="rect">
            <a:avLst/>
          </a:prstGeom>
          <a:noFill/>
          <a:ln/>
        </p:spPr>
        <p:txBody>
          <a:bodyPr wrap="none" lIns="0" tIns="0" rIns="0" bIns="0" rtlCol="0" anchor="t"/>
          <a:lstStyle/>
          <a:p>
            <a:pPr marL="0" indent="0" algn="l">
              <a:lnSpc>
                <a:spcPts val="3560"/>
              </a:lnSpc>
              <a:buNone/>
            </a:pPr>
            <a:r>
              <a:rPr lang="en-US" sz="3300" b="1" kern="0" spc="-70" dirty="0">
                <a:solidFill>
                  <a:srgbClr val="E11D48"/>
                </a:solidFill>
              </a:rPr>
              <a:t>15–25%</a:t>
            </a:r>
            <a:endParaRPr lang="en-US" sz="3300" dirty="0"/>
          </a:p>
        </p:txBody>
      </p:sp>
      <p:sp>
        <p:nvSpPr>
          <p:cNvPr id="19" name="Text 17"/>
          <p:cNvSpPr txBox="1"/>
          <p:nvPr/>
        </p:nvSpPr>
        <p:spPr>
          <a:xfrm>
            <a:off x="4511576" y="3515916"/>
            <a:ext cx="3200400" cy="410468"/>
          </a:xfrm>
          <a:prstGeom prst="rect">
            <a:avLst/>
          </a:prstGeom>
          <a:noFill/>
          <a:ln/>
        </p:spPr>
        <p:txBody>
          <a:bodyPr wrap="square" lIns="0" tIns="0" rIns="0" bIns="0" rtlCol="0" anchor="t"/>
          <a:lstStyle/>
          <a:p>
            <a:pPr marL="0" indent="0" algn="l">
              <a:lnSpc>
                <a:spcPts val="1730"/>
              </a:lnSpc>
              <a:buNone/>
            </a:pPr>
            <a:r>
              <a:rPr lang="en-US" sz="1240" b="1" dirty="0">
                <a:solidFill>
                  <a:srgbClr val="334155"/>
                </a:solidFill>
              </a:rPr>
              <a:t>hoa hồng khách sạn trả OTA mỗi lượt đặt; OTA chiếm khoảng 59% lượt đặt phòng</a:t>
            </a:r>
            <a:endParaRPr lang="en-US" sz="1240" dirty="0"/>
          </a:p>
        </p:txBody>
      </p:sp>
      <p:sp>
        <p:nvSpPr>
          <p:cNvPr id="20" name="Shape 18"/>
          <p:cNvSpPr/>
          <p:nvPr/>
        </p:nvSpPr>
        <p:spPr>
          <a:xfrm>
            <a:off x="4511576" y="4070152"/>
            <a:ext cx="3168700" cy="9525"/>
          </a:xfrm>
          <a:prstGeom prst="rect">
            <a:avLst/>
          </a:prstGeom>
          <a:solidFill>
            <a:srgbClr val="E2E8F0"/>
          </a:solidFill>
          <a:ln/>
        </p:spPr>
      </p:sp>
      <p:sp>
        <p:nvSpPr>
          <p:cNvPr id="21" name="Text 19"/>
          <p:cNvSpPr txBox="1"/>
          <p:nvPr/>
        </p:nvSpPr>
        <p:spPr>
          <a:xfrm>
            <a:off x="4511576" y="4165402"/>
            <a:ext cx="2094000" cy="514350"/>
          </a:xfrm>
          <a:prstGeom prst="rect">
            <a:avLst/>
          </a:prstGeom>
          <a:noFill/>
          <a:ln/>
        </p:spPr>
        <p:txBody>
          <a:bodyPr wrap="none" lIns="0" tIns="0" rIns="0" bIns="0" rtlCol="0" anchor="t"/>
          <a:lstStyle/>
          <a:p>
            <a:pPr marL="0" indent="0" algn="l">
              <a:lnSpc>
                <a:spcPts val="3560"/>
              </a:lnSpc>
              <a:buNone/>
            </a:pPr>
            <a:r>
              <a:rPr lang="en-US" sz="3300" b="1" kern="0" spc="-70" dirty="0">
                <a:solidFill>
                  <a:srgbClr val="0F172A"/>
                </a:solidFill>
              </a:rPr>
              <a:t>50,2 triệu</a:t>
            </a:r>
            <a:endParaRPr lang="en-US" sz="3300" dirty="0"/>
          </a:p>
        </p:txBody>
      </p:sp>
      <p:sp>
        <p:nvSpPr>
          <p:cNvPr id="22" name="Text 20"/>
          <p:cNvSpPr txBox="1"/>
          <p:nvPr/>
        </p:nvSpPr>
        <p:spPr>
          <a:xfrm>
            <a:off x="4511576" y="4703713"/>
            <a:ext cx="3200400" cy="410468"/>
          </a:xfrm>
          <a:prstGeom prst="rect">
            <a:avLst/>
          </a:prstGeom>
          <a:noFill/>
          <a:ln/>
        </p:spPr>
        <p:txBody>
          <a:bodyPr wrap="square" lIns="0" tIns="0" rIns="0" bIns="0" rtlCol="0" anchor="t"/>
          <a:lstStyle/>
          <a:p>
            <a:pPr marL="0" indent="0" algn="l">
              <a:lnSpc>
                <a:spcPts val="1730"/>
              </a:lnSpc>
              <a:buNone/>
            </a:pPr>
            <a:r>
              <a:rPr lang="en-US" sz="1240" b="1" dirty="0">
                <a:solidFill>
                  <a:srgbClr val="334155"/>
                </a:solidFill>
              </a:rPr>
              <a:t>thẻ quốc tế người Việt </a:t>
            </a:r>
            <a:r>
              <a:rPr lang="en-US" sz="1240" b="1" dirty="0" err="1">
                <a:solidFill>
                  <a:srgbClr val="334155"/>
                </a:solidFill>
              </a:rPr>
              <a:t>đang</a:t>
            </a:r>
            <a:r>
              <a:rPr lang="en-US" sz="1240" b="1" dirty="0">
                <a:solidFill>
                  <a:srgbClr val="334155"/>
                </a:solidFill>
              </a:rPr>
              <a:t> </a:t>
            </a:r>
            <a:r>
              <a:rPr lang="en-US" sz="1240" b="1" dirty="0" err="1">
                <a:solidFill>
                  <a:srgbClr val="334155"/>
                </a:solidFill>
              </a:rPr>
              <a:t>dùng</a:t>
            </a:r>
            <a:endParaRPr lang="en-US" sz="1240" dirty="0"/>
          </a:p>
        </p:txBody>
      </p:sp>
      <p:sp>
        <p:nvSpPr>
          <p:cNvPr id="23" name="Shape 21"/>
          <p:cNvSpPr/>
          <p:nvPr/>
        </p:nvSpPr>
        <p:spPr>
          <a:xfrm>
            <a:off x="8013650" y="1169789"/>
            <a:ext cx="3568601" cy="4315420"/>
          </a:xfrm>
          <a:prstGeom prst="roundRect">
            <a:avLst>
              <a:gd name="adj" fmla="val 3737"/>
            </a:avLst>
          </a:prstGeom>
          <a:solidFill>
            <a:srgbClr val="FFF1F2"/>
          </a:solidFill>
          <a:ln w="9525">
            <a:solidFill>
              <a:srgbClr val="FECDD3"/>
            </a:solidFill>
            <a:prstDash val="solid"/>
          </a:ln>
        </p:spPr>
      </p:sp>
      <p:sp>
        <p:nvSpPr>
          <p:cNvPr id="24" name="Text 22"/>
          <p:cNvSpPr txBox="1"/>
          <p:nvPr/>
        </p:nvSpPr>
        <p:spPr>
          <a:xfrm>
            <a:off x="8213675" y="1331714"/>
            <a:ext cx="3200400" cy="285750"/>
          </a:xfrm>
          <a:prstGeom prst="rect">
            <a:avLst/>
          </a:prstGeom>
          <a:noFill/>
          <a:ln/>
        </p:spPr>
        <p:txBody>
          <a:bodyPr wrap="square" lIns="0" tIns="0" rIns="0" bIns="0" rtlCol="0" anchor="t"/>
          <a:lstStyle/>
          <a:p>
            <a:pPr marL="0" indent="0" algn="l">
              <a:lnSpc>
                <a:spcPts val="1080"/>
              </a:lnSpc>
              <a:buNone/>
            </a:pPr>
            <a:r>
              <a:rPr lang="en-US" sz="900" b="1" kern="0" spc="40" dirty="0">
                <a:solidFill>
                  <a:srgbClr val="E11D48"/>
                </a:solidFill>
              </a:rPr>
              <a:t>3 · AI CỦA NỀN TẢNG LỚN CHỈ GIỚI THIỆU MERCHANT CỦA MÌNH</a:t>
            </a:r>
            <a:endParaRPr lang="en-US" sz="900" dirty="0"/>
          </a:p>
        </p:txBody>
      </p:sp>
      <p:sp>
        <p:nvSpPr>
          <p:cNvPr id="25" name="Text 23"/>
          <p:cNvSpPr txBox="1"/>
          <p:nvPr/>
        </p:nvSpPr>
        <p:spPr>
          <a:xfrm>
            <a:off x="8366075" y="1865114"/>
            <a:ext cx="3048000" cy="439936"/>
          </a:xfrm>
          <a:prstGeom prst="rect">
            <a:avLst/>
          </a:prstGeom>
          <a:noFill/>
          <a:ln/>
        </p:spPr>
        <p:txBody>
          <a:bodyPr wrap="square" lIns="0" tIns="0" rIns="0" bIns="0" rtlCol="0" anchor="t"/>
          <a:lstStyle/>
          <a:p>
            <a:pPr marL="0" indent="0" algn="l">
              <a:lnSpc>
                <a:spcPts val="1890"/>
              </a:lnSpc>
              <a:buNone/>
            </a:pPr>
            <a:r>
              <a:rPr lang="en-US" sz="1350" b="1" dirty="0">
                <a:solidFill>
                  <a:srgbClr val="334155"/>
                </a:solidFill>
              </a:rPr>
              <a:t>Booking.com, Expedia đã có app trong ChatGPT (10/2025)</a:t>
            </a:r>
            <a:endParaRPr lang="en-US" sz="1350" dirty="0"/>
          </a:p>
        </p:txBody>
      </p:sp>
      <p:sp>
        <p:nvSpPr>
          <p:cNvPr id="26" name="Shape 24"/>
          <p:cNvSpPr/>
          <p:nvPr/>
        </p:nvSpPr>
        <p:spPr>
          <a:xfrm>
            <a:off x="8223200" y="1922264"/>
            <a:ext cx="57150" cy="57150"/>
          </a:xfrm>
          <a:prstGeom prst="ellipse">
            <a:avLst/>
          </a:prstGeom>
          <a:solidFill>
            <a:srgbClr val="334155"/>
          </a:solidFill>
          <a:ln/>
        </p:spPr>
      </p:sp>
      <p:sp>
        <p:nvSpPr>
          <p:cNvPr id="27" name="Text 25"/>
          <p:cNvSpPr txBox="1"/>
          <p:nvPr/>
        </p:nvSpPr>
        <p:spPr>
          <a:xfrm>
            <a:off x="8366075" y="2497336"/>
            <a:ext cx="3156656" cy="200025"/>
          </a:xfrm>
          <a:prstGeom prst="rect">
            <a:avLst/>
          </a:prstGeom>
          <a:noFill/>
          <a:ln/>
        </p:spPr>
        <p:txBody>
          <a:bodyPr wrap="none" lIns="0" tIns="0" rIns="0" bIns="0" rtlCol="0" anchor="t"/>
          <a:lstStyle/>
          <a:p>
            <a:pPr marL="0" indent="0" algn="l">
              <a:lnSpc>
                <a:spcPts val="1890"/>
              </a:lnSpc>
              <a:buNone/>
            </a:pPr>
            <a:r>
              <a:rPr lang="en-US" sz="1350" b="1" dirty="0">
                <a:solidFill>
                  <a:srgbClr val="334155"/>
                </a:solidFill>
              </a:rPr>
              <a:t>Chỉ gợi ý merchant có trên nền tảng</a:t>
            </a:r>
            <a:endParaRPr lang="en-US" sz="1350" dirty="0"/>
          </a:p>
        </p:txBody>
      </p:sp>
      <p:sp>
        <p:nvSpPr>
          <p:cNvPr id="28" name="Shape 26"/>
          <p:cNvSpPr/>
          <p:nvPr/>
        </p:nvSpPr>
        <p:spPr>
          <a:xfrm>
            <a:off x="8223200" y="2554486"/>
            <a:ext cx="57150" cy="57150"/>
          </a:xfrm>
          <a:prstGeom prst="ellipse">
            <a:avLst/>
          </a:prstGeom>
          <a:solidFill>
            <a:srgbClr val="334155"/>
          </a:solidFill>
          <a:ln/>
        </p:spPr>
      </p:sp>
      <p:sp>
        <p:nvSpPr>
          <p:cNvPr id="29" name="Text 27"/>
          <p:cNvSpPr txBox="1"/>
          <p:nvPr/>
        </p:nvSpPr>
        <p:spPr>
          <a:xfrm>
            <a:off x="8366075" y="2889647"/>
            <a:ext cx="3048000" cy="439936"/>
          </a:xfrm>
          <a:prstGeom prst="rect">
            <a:avLst/>
          </a:prstGeom>
          <a:noFill/>
          <a:ln/>
        </p:spPr>
        <p:txBody>
          <a:bodyPr wrap="square" lIns="0" tIns="0" rIns="0" bIns="0" rtlCol="0" anchor="t"/>
          <a:lstStyle/>
          <a:p>
            <a:pPr marL="0" indent="0" algn="l">
              <a:lnSpc>
                <a:spcPts val="1890"/>
              </a:lnSpc>
              <a:buNone/>
            </a:pPr>
            <a:r>
              <a:rPr lang="en-US" sz="1350" b="1" dirty="0">
                <a:solidFill>
                  <a:srgbClr val="334155"/>
                </a:solidFill>
              </a:rPr>
              <a:t>Quán nhỏ không có mặt, nên không được AI giới thiệu</a:t>
            </a:r>
            <a:endParaRPr lang="en-US" sz="1350" dirty="0"/>
          </a:p>
        </p:txBody>
      </p:sp>
      <p:sp>
        <p:nvSpPr>
          <p:cNvPr id="30" name="Shape 28"/>
          <p:cNvSpPr/>
          <p:nvPr/>
        </p:nvSpPr>
        <p:spPr>
          <a:xfrm>
            <a:off x="8223200" y="2946797"/>
            <a:ext cx="57150" cy="57150"/>
          </a:xfrm>
          <a:prstGeom prst="ellipse">
            <a:avLst/>
          </a:prstGeom>
          <a:solidFill>
            <a:srgbClr val="334155"/>
          </a:solidFill>
          <a:ln/>
        </p:spPr>
      </p:sp>
      <p:sp>
        <p:nvSpPr>
          <p:cNvPr id="31" name="Shape 29"/>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32" name="Text 30"/>
          <p:cNvSpPr txBox="1"/>
          <p:nvPr/>
        </p:nvSpPr>
        <p:spPr>
          <a:xfrm>
            <a:off x="1152525" y="5790009"/>
            <a:ext cx="6321751"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Khách đã hỏi AI và đặt online. </a:t>
            </a:r>
            <a:r>
              <a:rPr lang="en-US" sz="1280" b="1" dirty="0">
                <a:solidFill>
                  <a:srgbClr val="15803D"/>
                </a:solidFill>
              </a:rPr>
              <a:t>Merchant vừa và nhỏ chưa được AI giới thiệu.</a:t>
            </a:r>
            <a:endParaRPr lang="en-US" sz="1280" dirty="0"/>
          </a:p>
        </p:txBody>
      </p:sp>
      <p:sp>
        <p:nvSpPr>
          <p:cNvPr id="33" name="Shape 31"/>
          <p:cNvSpPr/>
          <p:nvPr/>
        </p:nvSpPr>
        <p:spPr>
          <a:xfrm rot="5400000">
            <a:off x="828675" y="5790605"/>
            <a:ext cx="152400" cy="190500"/>
          </a:xfrm>
          <a:prstGeom prst="triangle">
            <a:avLst/>
          </a:prstGeom>
          <a:solidFill>
            <a:srgbClr val="E11D48"/>
          </a:solidFill>
          <a:ln/>
        </p:spPr>
      </p:sp>
      <p:sp>
        <p:nvSpPr>
          <p:cNvPr id="34" name="Text 32"/>
          <p:cNvSpPr txBox="1"/>
          <p:nvPr/>
        </p:nvSpPr>
        <p:spPr>
          <a:xfrm>
            <a:off x="609600" y="6501854"/>
            <a:ext cx="7769653"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Nguồn: Phocuswright (3/2026); Agoda (3/2026); e-Conomy SEA 2025; Tạp chí Kinh tế – Tài chính (5/2026); NHNN (quý I/2025); Skift (10/2025).</a:t>
            </a:r>
            <a:endParaRPr lang="en-US" sz="830" dirty="0"/>
          </a:p>
        </p:txBody>
      </p:sp>
      <p:sp>
        <p:nvSpPr>
          <p:cNvPr id="35" name="Shape 33"/>
          <p:cNvSpPr/>
          <p:nvPr/>
        </p:nvSpPr>
        <p:spPr>
          <a:xfrm>
            <a:off x="10796588" y="6343650"/>
            <a:ext cx="323850" cy="323850"/>
          </a:xfrm>
          <a:prstGeom prst="ellipse">
            <a:avLst/>
          </a:prstGeom>
          <a:solidFill>
            <a:srgbClr val="F0001E"/>
          </a:solidFill>
          <a:ln/>
        </p:spPr>
      </p:sp>
      <p:sp>
        <p:nvSpPr>
          <p:cNvPr id="36" name="Shape 34"/>
          <p:cNvSpPr/>
          <p:nvPr/>
        </p:nvSpPr>
        <p:spPr>
          <a:xfrm>
            <a:off x="10901363" y="6415088"/>
            <a:ext cx="114300" cy="180975"/>
          </a:xfrm>
          <a:prstGeom prst="roundRect">
            <a:avLst>
              <a:gd name="adj" fmla="val 29167"/>
            </a:avLst>
          </a:prstGeom>
          <a:ln w="19050">
            <a:solidFill>
              <a:srgbClr val="FFFFFF"/>
            </a:solidFill>
            <a:prstDash val="solid"/>
          </a:ln>
        </p:spPr>
      </p:sp>
      <p:sp>
        <p:nvSpPr>
          <p:cNvPr id="37" name="Text 35"/>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38" name="Text 36"/>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39" name="Text 37"/>
          <p:cNvSpPr txBox="1"/>
          <p:nvPr/>
        </p:nvSpPr>
        <p:spPr>
          <a:xfrm>
            <a:off x="10572899" y="6429375"/>
            <a:ext cx="118714"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742950" y="3543300"/>
            <a:ext cx="2522628" cy="1724025"/>
          </a:xfrm>
          <a:prstGeom prst="rect">
            <a:avLst/>
          </a:prstGeom>
          <a:noFill/>
          <a:ln/>
        </p:spPr>
        <p:txBody>
          <a:bodyPr wrap="none" lIns="0" tIns="0" rIns="0" bIns="0" rtlCol="0" anchor="t"/>
          <a:lstStyle/>
          <a:p>
            <a:pPr marL="0" indent="0" algn="l">
              <a:lnSpc>
                <a:spcPts val="11250"/>
              </a:lnSpc>
              <a:buNone/>
            </a:pPr>
            <a:r>
              <a:rPr lang="en-US" sz="11250" b="1" kern="0" spc="-340" dirty="0">
                <a:solidFill>
                  <a:srgbClr val="F0001E"/>
                </a:solidFill>
              </a:rPr>
              <a:t>02.</a:t>
            </a:r>
            <a:endParaRPr lang="en-US" sz="11250" dirty="0"/>
          </a:p>
        </p:txBody>
      </p:sp>
      <p:sp>
        <p:nvSpPr>
          <p:cNvPr id="4" name="Text 1"/>
          <p:cNvSpPr txBox="1"/>
          <p:nvPr/>
        </p:nvSpPr>
        <p:spPr>
          <a:xfrm>
            <a:off x="781050" y="5334000"/>
            <a:ext cx="7490106" cy="714375"/>
          </a:xfrm>
          <a:prstGeom prst="rect">
            <a:avLst/>
          </a:prstGeom>
          <a:noFill/>
          <a:ln/>
        </p:spPr>
        <p:txBody>
          <a:bodyPr wrap="none" lIns="0" tIns="0" rIns="0" bIns="0" rtlCol="0" anchor="t"/>
          <a:lstStyle/>
          <a:p>
            <a:pPr marL="0" indent="0" algn="l">
              <a:lnSpc>
                <a:spcPts val="5580"/>
              </a:lnSpc>
              <a:buNone/>
            </a:pPr>
            <a:r>
              <a:rPr lang="en-US" sz="4650" b="1" kern="0" spc="-90" dirty="0">
                <a:solidFill>
                  <a:srgbClr val="0F172A"/>
                </a:solidFill>
              </a:rPr>
              <a:t>Vấn đề và cơ hội của VDF</a:t>
            </a:r>
            <a:endParaRPr lang="en-US" sz="4650" dirty="0"/>
          </a:p>
        </p:txBody>
      </p:sp>
      <p:sp>
        <p:nvSpPr>
          <p:cNvPr id="5" name="Shape 2"/>
          <p:cNvSpPr/>
          <p:nvPr/>
        </p:nvSpPr>
        <p:spPr>
          <a:xfrm>
            <a:off x="10796588" y="6343650"/>
            <a:ext cx="323850" cy="323850"/>
          </a:xfrm>
          <a:prstGeom prst="ellipse">
            <a:avLst/>
          </a:prstGeom>
          <a:solidFill>
            <a:srgbClr val="F0001E"/>
          </a:solidFill>
          <a:ln/>
        </p:spPr>
      </p:sp>
      <p:sp>
        <p:nvSpPr>
          <p:cNvPr id="6" name="Shape 3"/>
          <p:cNvSpPr/>
          <p:nvPr/>
        </p:nvSpPr>
        <p:spPr>
          <a:xfrm>
            <a:off x="10901363" y="6415088"/>
            <a:ext cx="114300" cy="180975"/>
          </a:xfrm>
          <a:prstGeom prst="roundRect">
            <a:avLst>
              <a:gd name="adj" fmla="val 29167"/>
            </a:avLst>
          </a:prstGeom>
          <a:ln w="19050">
            <a:solidFill>
              <a:srgbClr val="FFFFFF"/>
            </a:solidFill>
            <a:prstDash val="solid"/>
          </a:ln>
        </p:spPr>
      </p:sp>
      <p:sp>
        <p:nvSpPr>
          <p:cNvPr id="7" name="Text 4"/>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 name="Text 5"/>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2100468"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VẤN ĐỀ VÀ CƠ HỘI CỦA VDF</a:t>
            </a:r>
            <a:endParaRPr lang="en-US" sz="1050" dirty="0"/>
          </a:p>
        </p:txBody>
      </p:sp>
      <p:sp>
        <p:nvSpPr>
          <p:cNvPr id="3" name="Text 1"/>
          <p:cNvSpPr txBox="1"/>
          <p:nvPr/>
        </p:nvSpPr>
        <p:spPr>
          <a:xfrm>
            <a:off x="609600" y="619125"/>
            <a:ext cx="10526628"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Merchant nhỏ </a:t>
            </a:r>
            <a:r>
              <a:rPr lang="en-US" sz="2330" b="1" kern="0" spc="-30" dirty="0">
                <a:solidFill>
                  <a:srgbClr val="E11D48"/>
                </a:solidFill>
              </a:rPr>
              <a:t>mất khách ở cả </a:t>
            </a:r>
            <a:r>
              <a:rPr lang="en-US" sz="2330" b="1" kern="0" spc="-30" dirty="0" err="1">
                <a:solidFill>
                  <a:srgbClr val="E11D48"/>
                </a:solidFill>
              </a:rPr>
              <a:t>hai</a:t>
            </a:r>
            <a:r>
              <a:rPr lang="en-US" sz="2330" b="1" kern="0" spc="-30" dirty="0">
                <a:solidFill>
                  <a:srgbClr val="E11D48"/>
                </a:solidFill>
              </a:rPr>
              <a:t> </a:t>
            </a:r>
            <a:r>
              <a:rPr lang="en-US" sz="2330" b="1" kern="0" spc="-30" dirty="0" err="1">
                <a:solidFill>
                  <a:srgbClr val="E11D48"/>
                </a:solidFill>
              </a:rPr>
              <a:t>đầu</a:t>
            </a:r>
            <a:r>
              <a:rPr lang="en-US" sz="2330" b="1" kern="0" spc="-30" dirty="0">
                <a:solidFill>
                  <a:srgbClr val="E11D48"/>
                </a:solidFill>
              </a:rPr>
              <a:t> </a:t>
            </a:r>
            <a:r>
              <a:rPr lang="en-US" sz="2330" b="1" kern="0" spc="-30" dirty="0" err="1">
                <a:solidFill>
                  <a:srgbClr val="E11D48"/>
                </a:solidFill>
              </a:rPr>
              <a:t>đón</a:t>
            </a:r>
            <a:r>
              <a:rPr lang="en-US" sz="2330" b="1" kern="0" spc="-30" dirty="0">
                <a:solidFill>
                  <a:srgbClr val="E11D48"/>
                </a:solidFill>
              </a:rPr>
              <a:t> </a:t>
            </a:r>
            <a:r>
              <a:rPr lang="en-US" sz="2330" b="1" kern="0" spc="-30" dirty="0" err="1">
                <a:solidFill>
                  <a:srgbClr val="E11D48"/>
                </a:solidFill>
              </a:rPr>
              <a:t>khách</a:t>
            </a:r>
            <a:r>
              <a:rPr lang="en-US" sz="2330" b="1" kern="0" spc="-30" dirty="0">
                <a:solidFill>
                  <a:srgbClr val="0F172A"/>
                </a:solidFill>
              </a:rPr>
              <a:t>: khoảng trống VDF có thể lấp</a:t>
            </a:r>
            <a:endParaRPr lang="en-US" sz="2330" dirty="0"/>
          </a:p>
        </p:txBody>
      </p:sp>
      <p:sp>
        <p:nvSpPr>
          <p:cNvPr id="4" name="Shape 2"/>
          <p:cNvSpPr/>
          <p:nvPr/>
        </p:nvSpPr>
        <p:spPr>
          <a:xfrm>
            <a:off x="2286000" y="1169789"/>
            <a:ext cx="4610100" cy="428625"/>
          </a:xfrm>
          <a:prstGeom prst="roundRect">
            <a:avLst>
              <a:gd name="adj" fmla="val 26667"/>
            </a:avLst>
          </a:prstGeom>
          <a:solidFill>
            <a:srgbClr val="E11D48"/>
          </a:solidFill>
          <a:ln/>
        </p:spPr>
      </p:sp>
      <p:sp>
        <p:nvSpPr>
          <p:cNvPr id="5" name="Text 3"/>
          <p:cNvSpPr txBox="1"/>
          <p:nvPr/>
        </p:nvSpPr>
        <p:spPr>
          <a:xfrm>
            <a:off x="2457450" y="1274564"/>
            <a:ext cx="1503197" cy="219075"/>
          </a:xfrm>
          <a:prstGeom prst="rect">
            <a:avLst/>
          </a:prstGeom>
          <a:noFill/>
          <a:ln/>
        </p:spPr>
        <p:txBody>
          <a:bodyPr wrap="none" lIns="0" tIns="0" rIns="0" bIns="0" rtlCol="0" anchor="t"/>
          <a:lstStyle/>
          <a:p>
            <a:pPr marL="0" indent="0" algn="l">
              <a:lnSpc>
                <a:spcPts val="1710"/>
              </a:lnSpc>
              <a:buNone/>
            </a:pPr>
            <a:r>
              <a:rPr lang="en-US" sz="1430" b="1" dirty="0">
                <a:solidFill>
                  <a:srgbClr val="FFFFFF"/>
                </a:solidFill>
              </a:rPr>
              <a:t>1 · Tại cửa hàng</a:t>
            </a:r>
            <a:endParaRPr lang="en-US" sz="1430" dirty="0"/>
          </a:p>
        </p:txBody>
      </p:sp>
      <p:sp>
        <p:nvSpPr>
          <p:cNvPr id="6" name="Shape 4"/>
          <p:cNvSpPr/>
          <p:nvPr/>
        </p:nvSpPr>
        <p:spPr>
          <a:xfrm>
            <a:off x="6972300" y="1169789"/>
            <a:ext cx="4610100" cy="428625"/>
          </a:xfrm>
          <a:prstGeom prst="roundRect">
            <a:avLst>
              <a:gd name="adj" fmla="val 26667"/>
            </a:avLst>
          </a:prstGeom>
          <a:solidFill>
            <a:srgbClr val="1E3A8A"/>
          </a:solidFill>
          <a:ln/>
        </p:spPr>
      </p:sp>
      <p:sp>
        <p:nvSpPr>
          <p:cNvPr id="7" name="Text 5"/>
          <p:cNvSpPr txBox="1"/>
          <p:nvPr/>
        </p:nvSpPr>
        <p:spPr>
          <a:xfrm>
            <a:off x="7143750" y="1274564"/>
            <a:ext cx="2255544" cy="219075"/>
          </a:xfrm>
          <a:prstGeom prst="rect">
            <a:avLst/>
          </a:prstGeom>
          <a:noFill/>
          <a:ln/>
        </p:spPr>
        <p:txBody>
          <a:bodyPr wrap="none" lIns="0" tIns="0" rIns="0" bIns="0" rtlCol="0" anchor="t"/>
          <a:lstStyle/>
          <a:p>
            <a:pPr marL="0" indent="0" algn="l">
              <a:lnSpc>
                <a:spcPts val="1710"/>
              </a:lnSpc>
              <a:buNone/>
            </a:pPr>
            <a:r>
              <a:rPr lang="en-US" sz="1430" b="1" dirty="0">
                <a:solidFill>
                  <a:srgbClr val="FFFFFF"/>
                </a:solidFill>
              </a:rPr>
              <a:t>2 · Trước khi khách đến</a:t>
            </a:r>
            <a:endParaRPr lang="en-US" sz="1430" dirty="0"/>
          </a:p>
        </p:txBody>
      </p:sp>
      <p:sp>
        <p:nvSpPr>
          <p:cNvPr id="8" name="Shape 6"/>
          <p:cNvSpPr/>
          <p:nvPr/>
        </p:nvSpPr>
        <p:spPr>
          <a:xfrm>
            <a:off x="609600" y="1674614"/>
            <a:ext cx="1600200" cy="1381125"/>
          </a:xfrm>
          <a:prstGeom prst="roundRect">
            <a:avLst>
              <a:gd name="adj" fmla="val 8276"/>
            </a:avLst>
          </a:prstGeom>
          <a:solidFill>
            <a:srgbClr val="F1F5F9"/>
          </a:solidFill>
          <a:ln/>
        </p:spPr>
      </p:sp>
      <p:sp>
        <p:nvSpPr>
          <p:cNvPr id="9" name="Text 7"/>
          <p:cNvSpPr txBox="1"/>
          <p:nvPr/>
        </p:nvSpPr>
        <p:spPr>
          <a:xfrm>
            <a:off x="762000" y="2275433"/>
            <a:ext cx="543398" cy="161925"/>
          </a:xfrm>
          <a:prstGeom prst="rect">
            <a:avLst/>
          </a:prstGeom>
          <a:noFill/>
          <a:ln/>
        </p:spPr>
        <p:txBody>
          <a:bodyPr wrap="none" lIns="0" tIns="0" rIns="0" bIns="0" rtlCol="0" anchor="t"/>
          <a:lstStyle/>
          <a:p>
            <a:pPr marL="0" indent="0" algn="l">
              <a:lnSpc>
                <a:spcPts val="1410"/>
              </a:lnSpc>
              <a:buNone/>
            </a:pPr>
            <a:r>
              <a:rPr lang="en-US" sz="1090" b="1" dirty="0">
                <a:solidFill>
                  <a:srgbClr val="0F172A"/>
                </a:solidFill>
              </a:rPr>
              <a:t>Vấn đề</a:t>
            </a:r>
            <a:endParaRPr lang="en-US" sz="1090" dirty="0"/>
          </a:p>
        </p:txBody>
      </p:sp>
      <p:sp>
        <p:nvSpPr>
          <p:cNvPr id="10" name="Shape 8"/>
          <p:cNvSpPr/>
          <p:nvPr/>
        </p:nvSpPr>
        <p:spPr>
          <a:xfrm>
            <a:off x="2286000" y="1674614"/>
            <a:ext cx="4610100" cy="1381125"/>
          </a:xfrm>
          <a:prstGeom prst="roundRect">
            <a:avLst>
              <a:gd name="adj" fmla="val 8276"/>
            </a:avLst>
          </a:prstGeom>
          <a:solidFill>
            <a:srgbClr val="FFFFFF"/>
          </a:solidFill>
          <a:ln w="9525">
            <a:solidFill>
              <a:srgbClr val="E2E8F0"/>
            </a:solidFill>
            <a:prstDash val="solid"/>
          </a:ln>
        </p:spPr>
      </p:sp>
      <p:sp>
        <p:nvSpPr>
          <p:cNvPr id="11" name="Text 9"/>
          <p:cNvSpPr txBox="1"/>
          <p:nvPr/>
        </p:nvSpPr>
        <p:spPr>
          <a:xfrm>
            <a:off x="2466975" y="1938337"/>
            <a:ext cx="4205115" cy="200025"/>
          </a:xfrm>
          <a:prstGeom prst="rect">
            <a:avLst/>
          </a:prstGeom>
          <a:noFill/>
          <a:ln/>
        </p:spPr>
        <p:txBody>
          <a:bodyPr wrap="none" lIns="0" tIns="0" rIns="0" bIns="0" rtlCol="0" anchor="t"/>
          <a:lstStyle/>
          <a:p>
            <a:pPr marL="0" indent="0" algn="l">
              <a:lnSpc>
                <a:spcPts val="1900"/>
              </a:lnSpc>
              <a:buNone/>
            </a:pPr>
            <a:r>
              <a:rPr lang="en-US" sz="1310" b="1" dirty="0">
                <a:solidFill>
                  <a:srgbClr val="0F172A"/>
                </a:solidFill>
              </a:rPr>
              <a:t>Khách muốn trả thẻ, cửa hàng không nhận được</a:t>
            </a:r>
            <a:endParaRPr lang="en-US" sz="1310" dirty="0"/>
          </a:p>
        </p:txBody>
      </p:sp>
      <p:sp>
        <p:nvSpPr>
          <p:cNvPr id="12" name="Text 10"/>
          <p:cNvSpPr txBox="1"/>
          <p:nvPr/>
        </p:nvSpPr>
        <p:spPr>
          <a:xfrm>
            <a:off x="2466975" y="2199084"/>
            <a:ext cx="4133701" cy="595313"/>
          </a:xfrm>
          <a:prstGeom prst="rect">
            <a:avLst/>
          </a:prstGeom>
          <a:noFill/>
          <a:ln/>
        </p:spPr>
        <p:txBody>
          <a:bodyPr wrap="square" lIns="0" tIns="0" rIns="0" bIns="0" rtlCol="0" anchor="t"/>
          <a:lstStyle/>
          <a:p>
            <a:pPr marL="0" indent="0" algn="l">
              <a:lnSpc>
                <a:spcPts val="1630"/>
              </a:lnSpc>
              <a:buNone/>
            </a:pPr>
            <a:r>
              <a:rPr lang="en-US" sz="1130" b="1" dirty="0">
                <a:solidFill>
                  <a:srgbClr val="334155"/>
                </a:solidFill>
              </a:rPr>
              <a:t>Chủ yếu nhận tiền mặt: không có máy POS, chỉ ~6% điểm bán nhận QR quốc tế. Khách phải đi rút tiền hoặc sang quán khác.</a:t>
            </a:r>
            <a:endParaRPr lang="en-US" sz="1130" dirty="0"/>
          </a:p>
        </p:txBody>
      </p:sp>
      <p:sp>
        <p:nvSpPr>
          <p:cNvPr id="13" name="Shape 11"/>
          <p:cNvSpPr/>
          <p:nvPr/>
        </p:nvSpPr>
        <p:spPr>
          <a:xfrm>
            <a:off x="6972300" y="1674614"/>
            <a:ext cx="4610100" cy="1381125"/>
          </a:xfrm>
          <a:prstGeom prst="roundRect">
            <a:avLst>
              <a:gd name="adj" fmla="val 8276"/>
            </a:avLst>
          </a:prstGeom>
          <a:solidFill>
            <a:srgbClr val="FFFFFF"/>
          </a:solidFill>
          <a:ln w="9525">
            <a:solidFill>
              <a:srgbClr val="E2E8F0"/>
            </a:solidFill>
            <a:prstDash val="solid"/>
          </a:ln>
        </p:spPr>
      </p:sp>
      <p:sp>
        <p:nvSpPr>
          <p:cNvPr id="14" name="Text 12"/>
          <p:cNvSpPr txBox="1"/>
          <p:nvPr/>
        </p:nvSpPr>
        <p:spPr>
          <a:xfrm>
            <a:off x="7153275" y="1817489"/>
            <a:ext cx="4276725" cy="441722"/>
          </a:xfrm>
          <a:prstGeom prst="rect">
            <a:avLst/>
          </a:prstGeom>
          <a:noFill/>
          <a:ln/>
        </p:spPr>
        <p:txBody>
          <a:bodyPr wrap="square" lIns="0" tIns="0" rIns="0" bIns="0" rtlCol="0" anchor="t"/>
          <a:lstStyle/>
          <a:p>
            <a:pPr marL="0" indent="0" algn="l">
              <a:lnSpc>
                <a:spcPts val="1900"/>
              </a:lnSpc>
              <a:buNone/>
            </a:pPr>
            <a:r>
              <a:rPr lang="en-US" sz="1310" b="1" dirty="0">
                <a:solidFill>
                  <a:srgbClr val="0F172A"/>
                </a:solidFill>
              </a:rPr>
              <a:t>Khách hỏi AI để chọn quán, cửa hàng không xuất hiện</a:t>
            </a:r>
            <a:endParaRPr lang="en-US" sz="1310" dirty="0"/>
          </a:p>
        </p:txBody>
      </p:sp>
      <p:sp>
        <p:nvSpPr>
          <p:cNvPr id="15" name="Text 13"/>
          <p:cNvSpPr txBox="1"/>
          <p:nvPr/>
        </p:nvSpPr>
        <p:spPr>
          <a:xfrm>
            <a:off x="7153275" y="2319933"/>
            <a:ext cx="4153793" cy="595313"/>
          </a:xfrm>
          <a:prstGeom prst="rect">
            <a:avLst/>
          </a:prstGeom>
          <a:noFill/>
          <a:ln/>
        </p:spPr>
        <p:txBody>
          <a:bodyPr wrap="square" lIns="0" tIns="0" rIns="0" bIns="0" rtlCol="0" anchor="t"/>
          <a:lstStyle/>
          <a:p>
            <a:pPr marL="0" indent="0" algn="l">
              <a:lnSpc>
                <a:spcPts val="1630"/>
              </a:lnSpc>
              <a:buNone/>
            </a:pPr>
            <a:r>
              <a:rPr lang="en-US" sz="1130" b="1" dirty="0">
                <a:solidFill>
                  <a:srgbClr val="334155"/>
                </a:solidFill>
              </a:rPr>
              <a:t>AI của Booking.com, Expedia chỉ gợi ý merchant có trên nền tảng của mình. Merchant nhỏ không có mặt nên mất khách ngay từ khi khách lên kế hoạch.</a:t>
            </a:r>
            <a:endParaRPr lang="en-US" sz="1130" dirty="0"/>
          </a:p>
        </p:txBody>
      </p:sp>
      <p:sp>
        <p:nvSpPr>
          <p:cNvPr id="16" name="Shape 14"/>
          <p:cNvSpPr/>
          <p:nvPr/>
        </p:nvSpPr>
        <p:spPr>
          <a:xfrm>
            <a:off x="609600" y="3131939"/>
            <a:ext cx="1600200" cy="1187946"/>
          </a:xfrm>
          <a:prstGeom prst="roundRect">
            <a:avLst>
              <a:gd name="adj" fmla="val 9622"/>
            </a:avLst>
          </a:prstGeom>
          <a:solidFill>
            <a:srgbClr val="F1F5F9"/>
          </a:solidFill>
          <a:ln/>
        </p:spPr>
      </p:sp>
      <p:sp>
        <p:nvSpPr>
          <p:cNvPr id="17" name="Text 15"/>
          <p:cNvSpPr txBox="1"/>
          <p:nvPr/>
        </p:nvSpPr>
        <p:spPr>
          <a:xfrm>
            <a:off x="762000" y="3636169"/>
            <a:ext cx="1323668" cy="161925"/>
          </a:xfrm>
          <a:prstGeom prst="rect">
            <a:avLst/>
          </a:prstGeom>
          <a:noFill/>
          <a:ln/>
        </p:spPr>
        <p:txBody>
          <a:bodyPr wrap="none" lIns="0" tIns="0" rIns="0" bIns="0" rtlCol="0" anchor="t"/>
          <a:lstStyle/>
          <a:p>
            <a:pPr marL="0" indent="0" algn="l">
              <a:lnSpc>
                <a:spcPts val="1410"/>
              </a:lnSpc>
              <a:buNone/>
            </a:pPr>
            <a:r>
              <a:rPr lang="en-US" sz="1090" b="1" dirty="0">
                <a:solidFill>
                  <a:srgbClr val="0F172A"/>
                </a:solidFill>
              </a:rPr>
              <a:t>Quy mô, sẵn sàng</a:t>
            </a:r>
            <a:endParaRPr lang="en-US" sz="1090" dirty="0"/>
          </a:p>
        </p:txBody>
      </p:sp>
      <p:sp>
        <p:nvSpPr>
          <p:cNvPr id="18" name="Shape 16"/>
          <p:cNvSpPr/>
          <p:nvPr/>
        </p:nvSpPr>
        <p:spPr>
          <a:xfrm>
            <a:off x="2286000" y="3131939"/>
            <a:ext cx="4610100" cy="1187946"/>
          </a:xfrm>
          <a:prstGeom prst="roundRect">
            <a:avLst>
              <a:gd name="adj" fmla="val 9622"/>
            </a:avLst>
          </a:prstGeom>
          <a:solidFill>
            <a:srgbClr val="FFFFFF"/>
          </a:solidFill>
          <a:ln w="9525">
            <a:solidFill>
              <a:srgbClr val="E2E8F0"/>
            </a:solidFill>
            <a:prstDash val="solid"/>
          </a:ln>
        </p:spPr>
      </p:sp>
      <p:sp>
        <p:nvSpPr>
          <p:cNvPr id="19" name="Text 17"/>
          <p:cNvSpPr txBox="1"/>
          <p:nvPr/>
        </p:nvSpPr>
        <p:spPr>
          <a:xfrm>
            <a:off x="2466975" y="3509516"/>
            <a:ext cx="1244790"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500 nghìn</a:t>
            </a:r>
            <a:endParaRPr lang="en-US" sz="1800" dirty="0"/>
          </a:p>
        </p:txBody>
      </p:sp>
      <p:sp>
        <p:nvSpPr>
          <p:cNvPr id="20" name="Text 18"/>
          <p:cNvSpPr txBox="1"/>
          <p:nvPr/>
        </p:nvSpPr>
        <p:spPr>
          <a:xfrm>
            <a:off x="2466975" y="3797052"/>
            <a:ext cx="1385825"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hộ quanh điểm du lịch</a:t>
            </a:r>
            <a:endParaRPr lang="en-US" sz="940" dirty="0"/>
          </a:p>
        </p:txBody>
      </p:sp>
      <p:sp>
        <p:nvSpPr>
          <p:cNvPr id="21" name="Text 19"/>
          <p:cNvSpPr txBox="1"/>
          <p:nvPr/>
        </p:nvSpPr>
        <p:spPr>
          <a:xfrm>
            <a:off x="3978325" y="3509516"/>
            <a:ext cx="1290697"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5–8 tỷ USD</a:t>
            </a:r>
            <a:endParaRPr lang="en-US" sz="1800" dirty="0"/>
          </a:p>
        </p:txBody>
      </p:sp>
      <p:sp>
        <p:nvSpPr>
          <p:cNvPr id="22" name="Text 20"/>
          <p:cNvSpPr txBox="1"/>
          <p:nvPr/>
        </p:nvSpPr>
        <p:spPr>
          <a:xfrm>
            <a:off x="3978325" y="3797052"/>
            <a:ext cx="1186577"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khách chi mỗi năm</a:t>
            </a:r>
            <a:endParaRPr lang="en-US" sz="940" dirty="0"/>
          </a:p>
        </p:txBody>
      </p:sp>
      <p:sp>
        <p:nvSpPr>
          <p:cNvPr id="23" name="Text 21"/>
          <p:cNvSpPr txBox="1"/>
          <p:nvPr/>
        </p:nvSpPr>
        <p:spPr>
          <a:xfrm>
            <a:off x="5399782" y="3509516"/>
            <a:ext cx="787923"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81,5%</a:t>
            </a:r>
            <a:endParaRPr lang="en-US" sz="1800" dirty="0"/>
          </a:p>
        </p:txBody>
      </p:sp>
      <p:sp>
        <p:nvSpPr>
          <p:cNvPr id="24" name="Text 22"/>
          <p:cNvSpPr txBox="1"/>
          <p:nvPr/>
        </p:nvSpPr>
        <p:spPr>
          <a:xfrm>
            <a:off x="5399782" y="3797052"/>
            <a:ext cx="1432364"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sẵn sàng nếu phí 1–2%</a:t>
            </a:r>
            <a:endParaRPr lang="en-US" sz="940" dirty="0"/>
          </a:p>
        </p:txBody>
      </p:sp>
      <p:sp>
        <p:nvSpPr>
          <p:cNvPr id="25" name="Shape 23"/>
          <p:cNvSpPr/>
          <p:nvPr/>
        </p:nvSpPr>
        <p:spPr>
          <a:xfrm>
            <a:off x="6972300" y="3131939"/>
            <a:ext cx="4610100" cy="1187946"/>
          </a:xfrm>
          <a:prstGeom prst="roundRect">
            <a:avLst>
              <a:gd name="adj" fmla="val 9622"/>
            </a:avLst>
          </a:prstGeom>
          <a:solidFill>
            <a:srgbClr val="FFFFFF"/>
          </a:solidFill>
          <a:ln w="9525">
            <a:solidFill>
              <a:srgbClr val="E2E8F0"/>
            </a:solidFill>
            <a:prstDash val="solid"/>
          </a:ln>
        </p:spPr>
      </p:sp>
      <p:sp>
        <p:nvSpPr>
          <p:cNvPr id="26" name="Text 24"/>
          <p:cNvSpPr txBox="1"/>
          <p:nvPr/>
        </p:nvSpPr>
        <p:spPr>
          <a:xfrm>
            <a:off x="7153275" y="3509516"/>
            <a:ext cx="596720"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56%</a:t>
            </a:r>
            <a:endParaRPr lang="en-US" sz="1800" dirty="0"/>
          </a:p>
        </p:txBody>
      </p:sp>
      <p:sp>
        <p:nvSpPr>
          <p:cNvPr id="27" name="Text 25"/>
          <p:cNvSpPr txBox="1"/>
          <p:nvPr/>
        </p:nvSpPr>
        <p:spPr>
          <a:xfrm>
            <a:off x="7153275" y="3797052"/>
            <a:ext cx="1145402"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khách Mỹ dùng AI</a:t>
            </a:r>
            <a:endParaRPr lang="en-US" sz="940" dirty="0"/>
          </a:p>
        </p:txBody>
      </p:sp>
      <p:sp>
        <p:nvSpPr>
          <p:cNvPr id="28" name="Text 26"/>
          <p:cNvSpPr txBox="1"/>
          <p:nvPr/>
        </p:nvSpPr>
        <p:spPr>
          <a:xfrm>
            <a:off x="8792021" y="3509516"/>
            <a:ext cx="1028346"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4 tỷ USD</a:t>
            </a:r>
            <a:endParaRPr lang="en-US" sz="1800" dirty="0"/>
          </a:p>
        </p:txBody>
      </p:sp>
      <p:sp>
        <p:nvSpPr>
          <p:cNvPr id="29" name="Text 27"/>
          <p:cNvSpPr txBox="1"/>
          <p:nvPr/>
        </p:nvSpPr>
        <p:spPr>
          <a:xfrm>
            <a:off x="8792021" y="3797052"/>
            <a:ext cx="855601"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du lịch online</a:t>
            </a:r>
            <a:endParaRPr lang="en-US" sz="940" dirty="0"/>
          </a:p>
        </p:txBody>
      </p:sp>
      <p:sp>
        <p:nvSpPr>
          <p:cNvPr id="30" name="Text 28"/>
          <p:cNvSpPr txBox="1"/>
          <p:nvPr/>
        </p:nvSpPr>
        <p:spPr>
          <a:xfrm>
            <a:off x="10320338" y="3509516"/>
            <a:ext cx="1184053" cy="276225"/>
          </a:xfrm>
          <a:prstGeom prst="rect">
            <a:avLst/>
          </a:prstGeom>
          <a:noFill/>
          <a:ln/>
        </p:spPr>
        <p:txBody>
          <a:bodyPr wrap="none" lIns="0" tIns="0" rIns="0" bIns="0" rtlCol="0" anchor="t"/>
          <a:lstStyle/>
          <a:p>
            <a:pPr marL="0" indent="0" algn="l">
              <a:lnSpc>
                <a:spcPts val="2340"/>
              </a:lnSpc>
              <a:buNone/>
            </a:pPr>
            <a:r>
              <a:rPr lang="en-US" sz="1800" b="1" kern="0" spc="-40" dirty="0">
                <a:solidFill>
                  <a:srgbClr val="0F172A"/>
                </a:solidFill>
              </a:rPr>
              <a:t>50,2 triệu</a:t>
            </a:r>
            <a:endParaRPr lang="en-US" sz="1800" dirty="0"/>
          </a:p>
        </p:txBody>
      </p:sp>
      <p:sp>
        <p:nvSpPr>
          <p:cNvPr id="31" name="Text 29"/>
          <p:cNvSpPr txBox="1"/>
          <p:nvPr/>
        </p:nvSpPr>
        <p:spPr>
          <a:xfrm>
            <a:off x="10320338" y="3797052"/>
            <a:ext cx="729552" cy="142875"/>
          </a:xfrm>
          <a:prstGeom prst="rect">
            <a:avLst/>
          </a:prstGeom>
          <a:noFill/>
          <a:ln/>
        </p:spPr>
        <p:txBody>
          <a:bodyPr wrap="none" lIns="0" tIns="0" rIns="0" bIns="0" rtlCol="0" anchor="t"/>
          <a:lstStyle/>
          <a:p>
            <a:pPr marL="0" indent="0" algn="l">
              <a:lnSpc>
                <a:spcPts val="1220"/>
              </a:lnSpc>
              <a:buNone/>
            </a:pPr>
            <a:r>
              <a:rPr lang="en-US" sz="940" b="1" dirty="0">
                <a:solidFill>
                  <a:srgbClr val="64748B"/>
                </a:solidFill>
              </a:rPr>
              <a:t>thẻ quốc tế</a:t>
            </a:r>
            <a:endParaRPr lang="en-US" sz="940" dirty="0"/>
          </a:p>
        </p:txBody>
      </p:sp>
      <p:sp>
        <p:nvSpPr>
          <p:cNvPr id="32" name="Shape 30"/>
          <p:cNvSpPr/>
          <p:nvPr/>
        </p:nvSpPr>
        <p:spPr>
          <a:xfrm>
            <a:off x="609600" y="4396085"/>
            <a:ext cx="1600200" cy="1187946"/>
          </a:xfrm>
          <a:prstGeom prst="roundRect">
            <a:avLst>
              <a:gd name="adj" fmla="val 9622"/>
            </a:avLst>
          </a:prstGeom>
          <a:solidFill>
            <a:srgbClr val="EEFBF3"/>
          </a:solidFill>
          <a:ln/>
        </p:spPr>
      </p:sp>
      <p:sp>
        <p:nvSpPr>
          <p:cNvPr id="33" name="Text 31"/>
          <p:cNvSpPr txBox="1"/>
          <p:nvPr/>
        </p:nvSpPr>
        <p:spPr>
          <a:xfrm>
            <a:off x="762000" y="4900315"/>
            <a:ext cx="1133728" cy="161925"/>
          </a:xfrm>
          <a:prstGeom prst="rect">
            <a:avLst/>
          </a:prstGeom>
          <a:noFill/>
          <a:ln/>
        </p:spPr>
        <p:txBody>
          <a:bodyPr wrap="none" lIns="0" tIns="0" rIns="0" bIns="0" rtlCol="0" anchor="t"/>
          <a:lstStyle/>
          <a:p>
            <a:pPr marL="0" indent="0" algn="l">
              <a:lnSpc>
                <a:spcPts val="1410"/>
              </a:lnSpc>
              <a:buNone/>
            </a:pPr>
            <a:r>
              <a:rPr lang="en-US" sz="1090" b="1" dirty="0">
                <a:solidFill>
                  <a:srgbClr val="15803D"/>
                </a:solidFill>
              </a:rPr>
              <a:t>Cơ hội cho VDF</a:t>
            </a:r>
            <a:endParaRPr lang="en-US" sz="1090" dirty="0"/>
          </a:p>
        </p:txBody>
      </p:sp>
      <p:sp>
        <p:nvSpPr>
          <p:cNvPr id="34" name="Shape 32"/>
          <p:cNvSpPr/>
          <p:nvPr/>
        </p:nvSpPr>
        <p:spPr>
          <a:xfrm>
            <a:off x="2286000" y="4396085"/>
            <a:ext cx="4610100" cy="1187946"/>
          </a:xfrm>
          <a:prstGeom prst="roundRect">
            <a:avLst>
              <a:gd name="adj" fmla="val 9622"/>
            </a:avLst>
          </a:prstGeom>
          <a:solidFill>
            <a:srgbClr val="EEFBF3"/>
          </a:solidFill>
          <a:ln w="9525">
            <a:solidFill>
              <a:srgbClr val="86EFAC"/>
            </a:solidFill>
            <a:prstDash val="solid"/>
          </a:ln>
        </p:spPr>
      </p:sp>
      <p:sp>
        <p:nvSpPr>
          <p:cNvPr id="35" name="Text 33"/>
          <p:cNvSpPr txBox="1"/>
          <p:nvPr/>
        </p:nvSpPr>
        <p:spPr>
          <a:xfrm>
            <a:off x="2466975" y="4765049"/>
            <a:ext cx="4376598" cy="190500"/>
          </a:xfrm>
          <a:prstGeom prst="rect">
            <a:avLst/>
          </a:prstGeom>
          <a:noFill/>
          <a:ln/>
        </p:spPr>
        <p:txBody>
          <a:bodyPr wrap="none" lIns="0" tIns="0" rIns="0" bIns="0" rtlCol="0" anchor="t"/>
          <a:lstStyle/>
          <a:p>
            <a:pPr marL="0" indent="0" algn="l">
              <a:lnSpc>
                <a:spcPts val="1790"/>
              </a:lnSpc>
              <a:buNone/>
            </a:pPr>
            <a:r>
              <a:rPr lang="en-US" sz="1240" b="1" dirty="0" err="1">
                <a:solidFill>
                  <a:srgbClr val="0F172A"/>
                </a:solidFill>
              </a:rPr>
              <a:t>Phát</a:t>
            </a:r>
            <a:r>
              <a:rPr lang="en-US" sz="1240" b="1" dirty="0">
                <a:solidFill>
                  <a:srgbClr val="0F172A"/>
                </a:solidFill>
              </a:rPr>
              <a:t> </a:t>
            </a:r>
            <a:r>
              <a:rPr lang="en-US" sz="1240" b="1" dirty="0" err="1">
                <a:solidFill>
                  <a:srgbClr val="0F172A"/>
                </a:solidFill>
              </a:rPr>
              <a:t>triển</a:t>
            </a:r>
            <a:r>
              <a:rPr lang="en-US" sz="1240" b="1" dirty="0">
                <a:solidFill>
                  <a:srgbClr val="0F172A"/>
                </a:solidFill>
              </a:rPr>
              <a:t> </a:t>
            </a:r>
            <a:r>
              <a:rPr lang="en-US" sz="1240" b="1" dirty="0" err="1">
                <a:solidFill>
                  <a:srgbClr val="0F172A"/>
                </a:solidFill>
              </a:rPr>
              <a:t>cách</a:t>
            </a:r>
            <a:r>
              <a:rPr lang="en-US" sz="1240" b="1" dirty="0">
                <a:solidFill>
                  <a:srgbClr val="0F172A"/>
                </a:solidFill>
              </a:rPr>
              <a:t> </a:t>
            </a:r>
            <a:r>
              <a:rPr lang="en-US" sz="1240" b="1" dirty="0" err="1">
                <a:solidFill>
                  <a:srgbClr val="0F172A"/>
                </a:solidFill>
              </a:rPr>
              <a:t>nhận</a:t>
            </a:r>
            <a:r>
              <a:rPr lang="en-US" sz="1240" b="1" dirty="0">
                <a:solidFill>
                  <a:srgbClr val="0F172A"/>
                </a:solidFill>
              </a:rPr>
              <a:t> </a:t>
            </a:r>
            <a:r>
              <a:rPr lang="en-US" sz="1240" b="1" dirty="0" err="1">
                <a:solidFill>
                  <a:srgbClr val="0F172A"/>
                </a:solidFill>
              </a:rPr>
              <a:t>thẻ</a:t>
            </a:r>
            <a:r>
              <a:rPr lang="en-US" sz="1240" b="1" dirty="0">
                <a:solidFill>
                  <a:srgbClr val="0F172A"/>
                </a:solidFill>
              </a:rPr>
              <a:t> </a:t>
            </a:r>
            <a:r>
              <a:rPr lang="en-US" sz="1240" b="1" dirty="0" err="1">
                <a:solidFill>
                  <a:srgbClr val="0F172A"/>
                </a:solidFill>
              </a:rPr>
              <a:t>thanh</a:t>
            </a:r>
            <a:r>
              <a:rPr lang="en-US" sz="1240" b="1" dirty="0">
                <a:solidFill>
                  <a:srgbClr val="0F172A"/>
                </a:solidFill>
              </a:rPr>
              <a:t> </a:t>
            </a:r>
            <a:r>
              <a:rPr lang="en-US" sz="1240" b="1" dirty="0" err="1">
                <a:solidFill>
                  <a:srgbClr val="0F172A"/>
                </a:solidFill>
              </a:rPr>
              <a:t>toán</a:t>
            </a:r>
            <a:r>
              <a:rPr lang="en-US" sz="1240" b="1" dirty="0">
                <a:solidFill>
                  <a:srgbClr val="0F172A"/>
                </a:solidFill>
              </a:rPr>
              <a:t> </a:t>
            </a:r>
            <a:r>
              <a:rPr lang="en-US" sz="1240" b="1" dirty="0" err="1">
                <a:solidFill>
                  <a:srgbClr val="0F172A"/>
                </a:solidFill>
              </a:rPr>
              <a:t>quốc</a:t>
            </a:r>
            <a:r>
              <a:rPr lang="en-US" sz="1240" b="1" dirty="0">
                <a:solidFill>
                  <a:srgbClr val="0F172A"/>
                </a:solidFill>
              </a:rPr>
              <a:t> </a:t>
            </a:r>
            <a:r>
              <a:rPr lang="en-US" sz="1240" b="1" dirty="0" err="1">
                <a:solidFill>
                  <a:srgbClr val="0F172A"/>
                </a:solidFill>
              </a:rPr>
              <a:t>tế</a:t>
            </a:r>
            <a:r>
              <a:rPr lang="en-US" sz="1240" b="1" dirty="0">
                <a:solidFill>
                  <a:srgbClr val="0F172A"/>
                </a:solidFill>
              </a:rPr>
              <a:t> cho hộ </a:t>
            </a:r>
            <a:r>
              <a:rPr lang="en-US" sz="1240" b="1" dirty="0" err="1">
                <a:solidFill>
                  <a:srgbClr val="0F172A"/>
                </a:solidFill>
              </a:rPr>
              <a:t>nhỏ</a:t>
            </a:r>
            <a:r>
              <a:rPr lang="en-US" sz="1240" b="1" dirty="0">
                <a:solidFill>
                  <a:srgbClr val="0F172A"/>
                </a:solidFill>
              </a:rPr>
              <a:t>,</a:t>
            </a:r>
          </a:p>
          <a:p>
            <a:pPr marL="0" indent="0" algn="l">
              <a:lnSpc>
                <a:spcPts val="1790"/>
              </a:lnSpc>
              <a:buNone/>
            </a:pPr>
            <a:r>
              <a:rPr lang="en-US" sz="1240" b="1" dirty="0" err="1">
                <a:solidFill>
                  <a:srgbClr val="0F172A"/>
                </a:solidFill>
              </a:rPr>
              <a:t>gắn</a:t>
            </a:r>
            <a:r>
              <a:rPr lang="en-US" sz="1240" b="1" dirty="0">
                <a:solidFill>
                  <a:srgbClr val="0F172A"/>
                </a:solidFill>
              </a:rPr>
              <a:t> </a:t>
            </a:r>
            <a:r>
              <a:rPr lang="en-US" sz="1240" b="1" dirty="0" err="1">
                <a:solidFill>
                  <a:srgbClr val="0F172A"/>
                </a:solidFill>
              </a:rPr>
              <a:t>với</a:t>
            </a:r>
            <a:r>
              <a:rPr lang="en-US" sz="1240" b="1" dirty="0">
                <a:solidFill>
                  <a:srgbClr val="0F172A"/>
                </a:solidFill>
              </a:rPr>
              <a:t> </a:t>
            </a:r>
            <a:r>
              <a:rPr lang="en-US" sz="1240" b="1" dirty="0" err="1">
                <a:solidFill>
                  <a:srgbClr val="0F172A"/>
                </a:solidFill>
              </a:rPr>
              <a:t>quản</a:t>
            </a:r>
            <a:r>
              <a:rPr lang="en-US" sz="1240" b="1" dirty="0">
                <a:solidFill>
                  <a:srgbClr val="0F172A"/>
                </a:solidFill>
              </a:rPr>
              <a:t> </a:t>
            </a:r>
            <a:r>
              <a:rPr lang="en-US" sz="1240" b="1" dirty="0" err="1">
                <a:solidFill>
                  <a:srgbClr val="0F172A"/>
                </a:solidFill>
              </a:rPr>
              <a:t>lí</a:t>
            </a:r>
            <a:r>
              <a:rPr lang="en-US" sz="1240" b="1" dirty="0">
                <a:solidFill>
                  <a:srgbClr val="0F172A"/>
                </a:solidFill>
              </a:rPr>
              <a:t> bán hàng, chi phí thấp</a:t>
            </a:r>
            <a:endParaRPr lang="en-US" sz="1240" dirty="0"/>
          </a:p>
        </p:txBody>
      </p:sp>
      <p:sp>
        <p:nvSpPr>
          <p:cNvPr id="36" name="Shape 34"/>
          <p:cNvSpPr/>
          <p:nvPr/>
        </p:nvSpPr>
        <p:spPr>
          <a:xfrm>
            <a:off x="6972300" y="4396085"/>
            <a:ext cx="4610100" cy="1187946"/>
          </a:xfrm>
          <a:prstGeom prst="roundRect">
            <a:avLst>
              <a:gd name="adj" fmla="val 9622"/>
            </a:avLst>
          </a:prstGeom>
          <a:solidFill>
            <a:srgbClr val="EEFBF3"/>
          </a:solidFill>
          <a:ln w="9525">
            <a:solidFill>
              <a:srgbClr val="86EFAC"/>
            </a:solidFill>
            <a:prstDash val="solid"/>
          </a:ln>
        </p:spPr>
      </p:sp>
      <p:sp>
        <p:nvSpPr>
          <p:cNvPr id="37" name="Text 35"/>
          <p:cNvSpPr txBox="1"/>
          <p:nvPr/>
        </p:nvSpPr>
        <p:spPr>
          <a:xfrm>
            <a:off x="7153275" y="4771727"/>
            <a:ext cx="4276725" cy="418356"/>
          </a:xfrm>
          <a:prstGeom prst="rect">
            <a:avLst/>
          </a:prstGeom>
          <a:noFill/>
          <a:ln/>
        </p:spPr>
        <p:txBody>
          <a:bodyPr wrap="square" lIns="0" tIns="0" rIns="0" bIns="0" rtlCol="0" anchor="t"/>
          <a:lstStyle/>
          <a:p>
            <a:pPr marL="0" indent="0" algn="l">
              <a:lnSpc>
                <a:spcPts val="1790"/>
              </a:lnSpc>
              <a:buNone/>
            </a:pPr>
            <a:r>
              <a:rPr lang="en-US" sz="1240" b="1" dirty="0">
                <a:solidFill>
                  <a:srgbClr val="0F172A"/>
                </a:solidFill>
              </a:rPr>
              <a:t>Kênh AI giới thiệu merchant nhỏ, cho khách đặt </a:t>
            </a:r>
            <a:r>
              <a:rPr lang="en-US" sz="1240" b="1" dirty="0" err="1">
                <a:solidFill>
                  <a:srgbClr val="0F172A"/>
                </a:solidFill>
              </a:rPr>
              <a:t>chỗ</a:t>
            </a:r>
            <a:r>
              <a:rPr lang="en-US" sz="1240" b="1" dirty="0">
                <a:solidFill>
                  <a:srgbClr val="0F172A"/>
                </a:solidFill>
              </a:rPr>
              <a:t> </a:t>
            </a:r>
            <a:r>
              <a:rPr lang="en-US" sz="1240" b="1" dirty="0" err="1">
                <a:solidFill>
                  <a:srgbClr val="0F172A"/>
                </a:solidFill>
              </a:rPr>
              <a:t>ngay</a:t>
            </a:r>
            <a:r>
              <a:rPr lang="en-US" sz="1240" b="1" dirty="0">
                <a:solidFill>
                  <a:srgbClr val="0F172A"/>
                </a:solidFill>
              </a:rPr>
              <a:t> </a:t>
            </a:r>
            <a:r>
              <a:rPr lang="en-US" sz="1240" b="1" dirty="0" err="1">
                <a:solidFill>
                  <a:srgbClr val="0F172A"/>
                </a:solidFill>
              </a:rPr>
              <a:t>trên</a:t>
            </a:r>
            <a:r>
              <a:rPr lang="en-US" sz="1240" b="1" dirty="0">
                <a:solidFill>
                  <a:srgbClr val="0F172A"/>
                </a:solidFill>
              </a:rPr>
              <a:t> </a:t>
            </a:r>
            <a:r>
              <a:rPr lang="en-US" sz="1240" b="1" dirty="0" err="1">
                <a:solidFill>
                  <a:srgbClr val="0F172A"/>
                </a:solidFill>
              </a:rPr>
              <a:t>giao</a:t>
            </a:r>
            <a:r>
              <a:rPr lang="en-US" sz="1240" b="1" dirty="0">
                <a:solidFill>
                  <a:srgbClr val="0F172A"/>
                </a:solidFill>
              </a:rPr>
              <a:t> </a:t>
            </a:r>
            <a:r>
              <a:rPr lang="en-US" sz="1240" b="1" dirty="0" err="1">
                <a:solidFill>
                  <a:srgbClr val="0F172A"/>
                </a:solidFill>
              </a:rPr>
              <a:t>diện</a:t>
            </a:r>
            <a:r>
              <a:rPr lang="en-US" sz="1240" b="1" dirty="0">
                <a:solidFill>
                  <a:srgbClr val="0F172A"/>
                </a:solidFill>
              </a:rPr>
              <a:t> AI</a:t>
            </a:r>
            <a:endParaRPr lang="en-US" sz="1240" dirty="0"/>
          </a:p>
        </p:txBody>
      </p:sp>
      <p:sp>
        <p:nvSpPr>
          <p:cNvPr id="38" name="Shape 36"/>
          <p:cNvSpPr/>
          <p:nvPr/>
        </p:nvSpPr>
        <p:spPr>
          <a:xfrm>
            <a:off x="609600" y="5717381"/>
            <a:ext cx="10972800" cy="435769"/>
          </a:xfrm>
          <a:prstGeom prst="roundRect">
            <a:avLst>
              <a:gd name="adj" fmla="val 26229"/>
            </a:avLst>
          </a:prstGeom>
          <a:solidFill>
            <a:srgbClr val="0F172A"/>
          </a:solidFill>
          <a:ln/>
        </p:spPr>
      </p:sp>
      <p:sp>
        <p:nvSpPr>
          <p:cNvPr id="39" name="Text 37"/>
          <p:cNvSpPr txBox="1"/>
          <p:nvPr/>
        </p:nvSpPr>
        <p:spPr>
          <a:xfrm>
            <a:off x="819150" y="5861893"/>
            <a:ext cx="1259619" cy="142875"/>
          </a:xfrm>
          <a:prstGeom prst="rect">
            <a:avLst/>
          </a:prstGeom>
          <a:noFill/>
          <a:ln/>
        </p:spPr>
        <p:txBody>
          <a:bodyPr wrap="none" lIns="0" tIns="0" rIns="0" bIns="0" rtlCol="0" anchor="t"/>
          <a:lstStyle/>
          <a:p>
            <a:pPr marL="0" indent="0" algn="l">
              <a:lnSpc>
                <a:spcPts val="1310"/>
              </a:lnSpc>
              <a:buNone/>
            </a:pPr>
            <a:r>
              <a:rPr lang="en-US" sz="900" b="1" kern="0" spc="40" dirty="0">
                <a:solidFill>
                  <a:srgbClr val="FDA4AF"/>
                </a:solidFill>
              </a:rPr>
              <a:t>LỢI THẾ CÙNG VTT</a:t>
            </a:r>
            <a:endParaRPr lang="en-US" sz="900" dirty="0"/>
          </a:p>
        </p:txBody>
      </p:sp>
      <p:sp>
        <p:nvSpPr>
          <p:cNvPr id="40" name="Text 38"/>
          <p:cNvSpPr txBox="1"/>
          <p:nvPr/>
        </p:nvSpPr>
        <p:spPr>
          <a:xfrm>
            <a:off x="2142976" y="5841206"/>
            <a:ext cx="5885393" cy="180975"/>
          </a:xfrm>
          <a:prstGeom prst="rect">
            <a:avLst/>
          </a:prstGeom>
          <a:noFill/>
          <a:ln/>
        </p:spPr>
        <p:txBody>
          <a:bodyPr wrap="none" lIns="0" tIns="0" rIns="0" bIns="0" rtlCol="0" anchor="t"/>
          <a:lstStyle/>
          <a:p>
            <a:pPr marL="0" indent="0" algn="l">
              <a:lnSpc>
                <a:spcPts val="1630"/>
              </a:lnSpc>
              <a:buNone/>
            </a:pPr>
            <a:r>
              <a:rPr lang="en-US" sz="1130" b="1" dirty="0">
                <a:solidFill>
                  <a:srgbClr val="E2E8F0"/>
                </a:solidFill>
              </a:rPr>
              <a:t>Có sẵn kênh đến merchant: </a:t>
            </a:r>
            <a:r>
              <a:rPr lang="en-US" sz="1130" b="1" dirty="0">
                <a:solidFill>
                  <a:srgbClr val="FFFFFF"/>
                </a:solidFill>
              </a:rPr>
              <a:t>tệp hộ kinh doanh Tendoo</a:t>
            </a:r>
            <a:r>
              <a:rPr lang="en-US" sz="1130" b="1" dirty="0">
                <a:solidFill>
                  <a:srgbClr val="E2E8F0"/>
                </a:solidFill>
              </a:rPr>
              <a:t> và </a:t>
            </a:r>
            <a:r>
              <a:rPr lang="en-US" sz="1130" b="1" dirty="0">
                <a:solidFill>
                  <a:srgbClr val="FFFFFF"/>
                </a:solidFill>
              </a:rPr>
              <a:t>đội kênh bán thực địa</a:t>
            </a:r>
            <a:endParaRPr lang="en-US" sz="1130" dirty="0"/>
          </a:p>
        </p:txBody>
      </p:sp>
      <p:sp>
        <p:nvSpPr>
          <p:cNvPr id="41" name="Text 39"/>
          <p:cNvSpPr txBox="1"/>
          <p:nvPr/>
        </p:nvSpPr>
        <p:spPr>
          <a:xfrm>
            <a:off x="609600" y="6501854"/>
            <a:ext cx="4223257"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Số liệu dẫn từ slide trước; mức phí kỳ vọng từ khảo sát 132 merchant (7/2026).</a:t>
            </a:r>
            <a:endParaRPr lang="en-US" sz="830" dirty="0"/>
          </a:p>
        </p:txBody>
      </p:sp>
      <p:sp>
        <p:nvSpPr>
          <p:cNvPr id="42" name="Shape 40"/>
          <p:cNvSpPr/>
          <p:nvPr/>
        </p:nvSpPr>
        <p:spPr>
          <a:xfrm>
            <a:off x="10796588" y="6343650"/>
            <a:ext cx="323850" cy="323850"/>
          </a:xfrm>
          <a:prstGeom prst="ellipse">
            <a:avLst/>
          </a:prstGeom>
          <a:solidFill>
            <a:srgbClr val="F0001E"/>
          </a:solidFill>
          <a:ln/>
        </p:spPr>
      </p:sp>
      <p:sp>
        <p:nvSpPr>
          <p:cNvPr id="43" name="Shape 41"/>
          <p:cNvSpPr/>
          <p:nvPr/>
        </p:nvSpPr>
        <p:spPr>
          <a:xfrm>
            <a:off x="10901363" y="6415088"/>
            <a:ext cx="114300" cy="180975"/>
          </a:xfrm>
          <a:prstGeom prst="roundRect">
            <a:avLst>
              <a:gd name="adj" fmla="val 29167"/>
            </a:avLst>
          </a:prstGeom>
          <a:ln w="19050">
            <a:solidFill>
              <a:srgbClr val="FFFFFF"/>
            </a:solidFill>
            <a:prstDash val="solid"/>
          </a:ln>
        </p:spPr>
      </p:sp>
      <p:sp>
        <p:nvSpPr>
          <p:cNvPr id="44" name="Text 42"/>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45" name="Text 43"/>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46" name="Text 44"/>
          <p:cNvSpPr txBox="1"/>
          <p:nvPr/>
        </p:nvSpPr>
        <p:spPr>
          <a:xfrm>
            <a:off x="10519321" y="6429375"/>
            <a:ext cx="175507"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742950" y="3543300"/>
            <a:ext cx="2527045" cy="1724025"/>
          </a:xfrm>
          <a:prstGeom prst="rect">
            <a:avLst/>
          </a:prstGeom>
          <a:noFill/>
          <a:ln/>
        </p:spPr>
        <p:txBody>
          <a:bodyPr wrap="none" lIns="0" tIns="0" rIns="0" bIns="0" rtlCol="0" anchor="t"/>
          <a:lstStyle/>
          <a:p>
            <a:pPr marL="0" indent="0" algn="l">
              <a:lnSpc>
                <a:spcPts val="11250"/>
              </a:lnSpc>
              <a:buNone/>
            </a:pPr>
            <a:r>
              <a:rPr lang="en-US" sz="11250" b="1" kern="0" spc="-340" dirty="0">
                <a:solidFill>
                  <a:srgbClr val="F0001E"/>
                </a:solidFill>
              </a:rPr>
              <a:t>03.</a:t>
            </a:r>
            <a:endParaRPr lang="en-US" sz="11250" dirty="0"/>
          </a:p>
        </p:txBody>
      </p:sp>
      <p:sp>
        <p:nvSpPr>
          <p:cNvPr id="4" name="Text 1"/>
          <p:cNvSpPr txBox="1"/>
          <p:nvPr/>
        </p:nvSpPr>
        <p:spPr>
          <a:xfrm>
            <a:off x="781050" y="5334000"/>
            <a:ext cx="2820317" cy="714375"/>
          </a:xfrm>
          <a:prstGeom prst="rect">
            <a:avLst/>
          </a:prstGeom>
          <a:noFill/>
          <a:ln/>
        </p:spPr>
        <p:txBody>
          <a:bodyPr wrap="none" lIns="0" tIns="0" rIns="0" bIns="0" rtlCol="0" anchor="t"/>
          <a:lstStyle/>
          <a:p>
            <a:pPr marL="0" indent="0" algn="l">
              <a:lnSpc>
                <a:spcPts val="5580"/>
              </a:lnSpc>
              <a:buNone/>
            </a:pPr>
            <a:r>
              <a:rPr lang="en-US" sz="4650" b="1" kern="0" spc="-90" dirty="0">
                <a:solidFill>
                  <a:srgbClr val="0F172A"/>
                </a:solidFill>
              </a:rPr>
              <a:t>Giải pháp</a:t>
            </a:r>
            <a:endParaRPr lang="en-US" sz="4650" dirty="0"/>
          </a:p>
        </p:txBody>
      </p:sp>
      <p:sp>
        <p:nvSpPr>
          <p:cNvPr id="5" name="Shape 2"/>
          <p:cNvSpPr/>
          <p:nvPr/>
        </p:nvSpPr>
        <p:spPr>
          <a:xfrm>
            <a:off x="10796588" y="6343650"/>
            <a:ext cx="323850" cy="323850"/>
          </a:xfrm>
          <a:prstGeom prst="ellipse">
            <a:avLst/>
          </a:prstGeom>
          <a:solidFill>
            <a:srgbClr val="F0001E"/>
          </a:solidFill>
          <a:ln/>
        </p:spPr>
      </p:sp>
      <p:sp>
        <p:nvSpPr>
          <p:cNvPr id="6" name="Shape 3"/>
          <p:cNvSpPr/>
          <p:nvPr/>
        </p:nvSpPr>
        <p:spPr>
          <a:xfrm>
            <a:off x="10901363" y="6415088"/>
            <a:ext cx="114300" cy="180975"/>
          </a:xfrm>
          <a:prstGeom prst="roundRect">
            <a:avLst>
              <a:gd name="adj" fmla="val 29167"/>
            </a:avLst>
          </a:prstGeom>
          <a:ln w="19050">
            <a:solidFill>
              <a:srgbClr val="FFFFFF"/>
            </a:solidFill>
            <a:prstDash val="solid"/>
          </a:ln>
        </p:spPr>
      </p:sp>
      <p:sp>
        <p:nvSpPr>
          <p:cNvPr id="7" name="Text 4"/>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 name="Text 5"/>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28625"/>
            <a:ext cx="3017041"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GIẢI PHÁP · TỔNG THỂ </a:t>
            </a:r>
            <a:endParaRPr lang="en-US" sz="1050" dirty="0"/>
          </a:p>
        </p:txBody>
      </p:sp>
      <p:sp>
        <p:nvSpPr>
          <p:cNvPr id="3" name="Text 1"/>
          <p:cNvSpPr txBox="1"/>
          <p:nvPr/>
        </p:nvSpPr>
        <p:spPr>
          <a:xfrm>
            <a:off x="609600" y="647700"/>
            <a:ext cx="9688145"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Merchant thế hệ mới: </a:t>
            </a:r>
            <a:r>
              <a:rPr lang="en-US" sz="2330" b="1" kern="0" spc="-30" dirty="0">
                <a:solidFill>
                  <a:srgbClr val="E11D48"/>
                </a:solidFill>
              </a:rPr>
              <a:t>thanh toán tại cửa hàng</a:t>
            </a:r>
            <a:r>
              <a:rPr lang="en-US" sz="2330" b="1" kern="0" spc="-30" dirty="0">
                <a:solidFill>
                  <a:srgbClr val="0F172A"/>
                </a:solidFill>
              </a:rPr>
              <a:t> và </a:t>
            </a:r>
            <a:r>
              <a:rPr lang="en-US" sz="2330" b="1" kern="0" spc="-30" dirty="0">
                <a:solidFill>
                  <a:srgbClr val="E11D48"/>
                </a:solidFill>
              </a:rPr>
              <a:t>AI tư vấn du lịch</a:t>
            </a:r>
            <a:endParaRPr lang="en-US" sz="2330" dirty="0"/>
          </a:p>
        </p:txBody>
      </p:sp>
      <p:sp>
        <p:nvSpPr>
          <p:cNvPr id="4" name="Shape 2"/>
          <p:cNvSpPr/>
          <p:nvPr/>
        </p:nvSpPr>
        <p:spPr>
          <a:xfrm>
            <a:off x="609600" y="1198364"/>
            <a:ext cx="5419725" cy="4385667"/>
          </a:xfrm>
          <a:prstGeom prst="roundRect">
            <a:avLst>
              <a:gd name="adj" fmla="val 3041"/>
            </a:avLst>
          </a:prstGeom>
          <a:solidFill>
            <a:srgbClr val="FFFFFF"/>
          </a:solidFill>
          <a:ln w="9525">
            <a:solidFill>
              <a:srgbClr val="E2E8F0"/>
            </a:solidFill>
            <a:prstDash val="solid"/>
          </a:ln>
        </p:spPr>
      </p:sp>
      <p:sp>
        <p:nvSpPr>
          <p:cNvPr id="5" name="Shape 3"/>
          <p:cNvSpPr/>
          <p:nvPr/>
        </p:nvSpPr>
        <p:spPr>
          <a:xfrm>
            <a:off x="619125" y="1207889"/>
            <a:ext cx="5400675" cy="495300"/>
          </a:xfrm>
          <a:prstGeom prst="rect">
            <a:avLst/>
          </a:prstGeom>
          <a:solidFill>
            <a:srgbClr val="E11D48"/>
          </a:solidFill>
          <a:ln/>
        </p:spPr>
      </p:sp>
      <p:sp>
        <p:nvSpPr>
          <p:cNvPr id="6" name="Text 4"/>
          <p:cNvSpPr txBox="1"/>
          <p:nvPr/>
        </p:nvSpPr>
        <p:spPr>
          <a:xfrm>
            <a:off x="828675" y="1331714"/>
            <a:ext cx="1070309" cy="247650"/>
          </a:xfrm>
          <a:prstGeom prst="rect">
            <a:avLst/>
          </a:prstGeom>
          <a:noFill/>
          <a:ln/>
        </p:spPr>
        <p:txBody>
          <a:bodyPr wrap="none" lIns="0" tIns="0" rIns="0" bIns="0" rtlCol="0" anchor="t"/>
          <a:lstStyle/>
          <a:p>
            <a:pPr marL="0" indent="0" algn="l">
              <a:lnSpc>
                <a:spcPts val="1980"/>
              </a:lnSpc>
              <a:buNone/>
            </a:pPr>
            <a:r>
              <a:rPr lang="en-US" sz="1650" b="1" dirty="0">
                <a:solidFill>
                  <a:srgbClr val="FFFFFF"/>
                </a:solidFill>
              </a:rPr>
              <a:t>1 · Offline</a:t>
            </a:r>
            <a:endParaRPr lang="en-US" sz="1650" dirty="0"/>
          </a:p>
        </p:txBody>
      </p:sp>
      <p:sp>
        <p:nvSpPr>
          <p:cNvPr id="7" name="Text 5"/>
          <p:cNvSpPr txBox="1"/>
          <p:nvPr/>
        </p:nvSpPr>
        <p:spPr>
          <a:xfrm>
            <a:off x="1916757" y="1398389"/>
            <a:ext cx="1698974"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alpha val="85000"/>
                  </a:srgbClr>
                </a:solidFill>
              </a:rPr>
              <a:t>Thanh toán tại cửa hàng</a:t>
            </a:r>
            <a:endParaRPr lang="en-US" sz="1050" dirty="0"/>
          </a:p>
        </p:txBody>
      </p:sp>
      <p:sp>
        <p:nvSpPr>
          <p:cNvPr id="8" name="Text 6"/>
          <p:cNvSpPr txBox="1"/>
          <p:nvPr/>
        </p:nvSpPr>
        <p:spPr>
          <a:xfrm>
            <a:off x="828675" y="2019300"/>
            <a:ext cx="762682"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a:t>
            </a:r>
            <a:endParaRPr lang="en-US" sz="860" dirty="0"/>
          </a:p>
        </p:txBody>
      </p:sp>
      <p:sp>
        <p:nvSpPr>
          <p:cNvPr id="9" name="Text 7"/>
          <p:cNvSpPr txBox="1"/>
          <p:nvPr/>
        </p:nvSpPr>
        <p:spPr>
          <a:xfrm>
            <a:off x="2162175" y="1995934"/>
            <a:ext cx="861754"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Vừa và nhỏ</a:t>
            </a:r>
            <a:endParaRPr lang="en-US" sz="1130" dirty="0"/>
          </a:p>
        </p:txBody>
      </p:sp>
      <p:sp>
        <p:nvSpPr>
          <p:cNvPr id="10" name="Shape 8"/>
          <p:cNvSpPr/>
          <p:nvPr/>
        </p:nvSpPr>
        <p:spPr>
          <a:xfrm>
            <a:off x="619125" y="2469803"/>
            <a:ext cx="5400675" cy="9525"/>
          </a:xfrm>
          <a:prstGeom prst="rect">
            <a:avLst/>
          </a:prstGeom>
          <a:solidFill>
            <a:srgbClr val="E2E8F0"/>
          </a:solidFill>
          <a:ln/>
        </p:spPr>
      </p:sp>
      <p:sp>
        <p:nvSpPr>
          <p:cNvPr id="11" name="Text 9"/>
          <p:cNvSpPr txBox="1"/>
          <p:nvPr/>
        </p:nvSpPr>
        <p:spPr>
          <a:xfrm>
            <a:off x="828675" y="2795588"/>
            <a:ext cx="491338"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KHÁCH</a:t>
            </a:r>
            <a:endParaRPr lang="en-US" sz="860" dirty="0"/>
          </a:p>
        </p:txBody>
      </p:sp>
      <p:sp>
        <p:nvSpPr>
          <p:cNvPr id="12" name="Text 10"/>
          <p:cNvSpPr txBox="1"/>
          <p:nvPr/>
        </p:nvSpPr>
        <p:spPr>
          <a:xfrm>
            <a:off x="2162175" y="2772221"/>
            <a:ext cx="2026953"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Khách quốc tế tại cửa hàng</a:t>
            </a:r>
            <a:endParaRPr lang="en-US" sz="1130" dirty="0"/>
          </a:p>
        </p:txBody>
      </p:sp>
      <p:sp>
        <p:nvSpPr>
          <p:cNvPr id="13" name="Shape 11"/>
          <p:cNvSpPr/>
          <p:nvPr/>
        </p:nvSpPr>
        <p:spPr>
          <a:xfrm>
            <a:off x="619125" y="3246090"/>
            <a:ext cx="5400675" cy="9525"/>
          </a:xfrm>
          <a:prstGeom prst="rect">
            <a:avLst/>
          </a:prstGeom>
          <a:solidFill>
            <a:srgbClr val="E2E8F0"/>
          </a:solidFill>
          <a:ln/>
        </p:spPr>
      </p:sp>
      <p:sp>
        <p:nvSpPr>
          <p:cNvPr id="14" name="Text 12"/>
          <p:cNvSpPr txBox="1"/>
          <p:nvPr/>
        </p:nvSpPr>
        <p:spPr>
          <a:xfrm>
            <a:off x="828675" y="3571726"/>
            <a:ext cx="676073"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GIẢI PHÁP</a:t>
            </a:r>
            <a:endParaRPr lang="en-US" sz="860" dirty="0"/>
          </a:p>
        </p:txBody>
      </p:sp>
      <p:sp>
        <p:nvSpPr>
          <p:cNvPr id="15" name="Text 13"/>
          <p:cNvSpPr txBox="1"/>
          <p:nvPr/>
        </p:nvSpPr>
        <p:spPr>
          <a:xfrm>
            <a:off x="2162175" y="3448348"/>
            <a:ext cx="2692533" cy="381000"/>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Visa Accept trong app Tendoo</a:t>
            </a:r>
            <a:endParaRPr lang="en-US" sz="1130" dirty="0"/>
          </a:p>
          <a:p>
            <a:pPr marL="0" indent="0" algn="l">
              <a:lnSpc>
                <a:spcPts val="1580"/>
              </a:lnSpc>
              <a:buNone/>
            </a:pPr>
            <a:r>
              <a:rPr lang="en-US" sz="1130" b="1" dirty="0">
                <a:solidFill>
                  <a:srgbClr val="334155"/>
                </a:solidFill>
              </a:rPr>
              <a:t>Chạm thẻ; link khi không chạm được</a:t>
            </a:r>
            <a:endParaRPr lang="en-US" sz="1130" dirty="0"/>
          </a:p>
        </p:txBody>
      </p:sp>
      <p:sp>
        <p:nvSpPr>
          <p:cNvPr id="16" name="Shape 14"/>
          <p:cNvSpPr/>
          <p:nvPr/>
        </p:nvSpPr>
        <p:spPr>
          <a:xfrm>
            <a:off x="619125" y="4022229"/>
            <a:ext cx="5400675" cy="9525"/>
          </a:xfrm>
          <a:prstGeom prst="rect">
            <a:avLst/>
          </a:prstGeom>
          <a:solidFill>
            <a:srgbClr val="E2E8F0"/>
          </a:solidFill>
          <a:ln/>
        </p:spPr>
      </p:sp>
      <p:sp>
        <p:nvSpPr>
          <p:cNvPr id="17" name="Text 15"/>
          <p:cNvSpPr txBox="1"/>
          <p:nvPr/>
        </p:nvSpPr>
        <p:spPr>
          <a:xfrm>
            <a:off x="828675" y="4347865"/>
            <a:ext cx="11627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 ĐƯỢC</a:t>
            </a:r>
            <a:endParaRPr lang="en-US" sz="860" dirty="0"/>
          </a:p>
        </p:txBody>
      </p:sp>
      <p:sp>
        <p:nvSpPr>
          <p:cNvPr id="18" name="Text 16"/>
          <p:cNvSpPr txBox="1"/>
          <p:nvPr/>
        </p:nvSpPr>
        <p:spPr>
          <a:xfrm>
            <a:off x="2162175" y="4224486"/>
            <a:ext cx="3676650" cy="381000"/>
          </a:xfrm>
          <a:prstGeom prst="rect">
            <a:avLst/>
          </a:prstGeom>
          <a:noFill/>
          <a:ln/>
        </p:spPr>
        <p:txBody>
          <a:bodyPr wrap="square" lIns="0" tIns="0" rIns="0" bIns="0" rtlCol="0" anchor="t"/>
          <a:lstStyle/>
          <a:p>
            <a:pPr marL="0" indent="0" algn="l">
              <a:lnSpc>
                <a:spcPts val="1580"/>
              </a:lnSpc>
              <a:buNone/>
            </a:pPr>
            <a:r>
              <a:rPr lang="en-US" sz="1130" b="1" dirty="0">
                <a:solidFill>
                  <a:srgbClr val="15803D"/>
                </a:solidFill>
              </a:rPr>
              <a:t>Nhận được tiền: không cần POS, tiền vào Tendoo, </a:t>
            </a:r>
            <a:r>
              <a:rPr lang="en-US" sz="1130" b="1" dirty="0" err="1">
                <a:solidFill>
                  <a:srgbClr val="15803D"/>
                </a:solidFill>
              </a:rPr>
              <a:t>phí</a:t>
            </a:r>
            <a:r>
              <a:rPr lang="en-US" sz="1130" b="1" dirty="0">
                <a:solidFill>
                  <a:srgbClr val="15803D"/>
                </a:solidFill>
              </a:rPr>
              <a:t> </a:t>
            </a:r>
            <a:r>
              <a:rPr lang="en-US" sz="1130" b="1" dirty="0" err="1">
                <a:solidFill>
                  <a:srgbClr val="15803D"/>
                </a:solidFill>
              </a:rPr>
              <a:t>giao</a:t>
            </a:r>
            <a:r>
              <a:rPr lang="en-US" sz="1130" b="1" dirty="0">
                <a:solidFill>
                  <a:srgbClr val="15803D"/>
                </a:solidFill>
              </a:rPr>
              <a:t> </a:t>
            </a:r>
            <a:r>
              <a:rPr lang="en-US" sz="1130" b="1" dirty="0" err="1">
                <a:solidFill>
                  <a:srgbClr val="15803D"/>
                </a:solidFill>
              </a:rPr>
              <a:t>dịch</a:t>
            </a:r>
            <a:r>
              <a:rPr lang="en-US" sz="1130" b="1" dirty="0">
                <a:solidFill>
                  <a:srgbClr val="15803D"/>
                </a:solidFill>
              </a:rPr>
              <a:t> thấp</a:t>
            </a:r>
            <a:endParaRPr lang="en-US" sz="1130" dirty="0"/>
          </a:p>
        </p:txBody>
      </p:sp>
      <p:sp>
        <p:nvSpPr>
          <p:cNvPr id="19" name="Shape 17"/>
          <p:cNvSpPr/>
          <p:nvPr/>
        </p:nvSpPr>
        <p:spPr>
          <a:xfrm>
            <a:off x="619125" y="4798368"/>
            <a:ext cx="5400675" cy="776139"/>
          </a:xfrm>
          <a:prstGeom prst="rect">
            <a:avLst/>
          </a:prstGeom>
          <a:solidFill>
            <a:srgbClr val="FFF7F8"/>
          </a:solidFill>
          <a:ln/>
        </p:spPr>
      </p:sp>
      <p:sp>
        <p:nvSpPr>
          <p:cNvPr id="20" name="Shape 18"/>
          <p:cNvSpPr/>
          <p:nvPr/>
        </p:nvSpPr>
        <p:spPr>
          <a:xfrm>
            <a:off x="619125" y="4798368"/>
            <a:ext cx="5400675" cy="9525"/>
          </a:xfrm>
          <a:prstGeom prst="rect">
            <a:avLst/>
          </a:prstGeom>
          <a:solidFill>
            <a:srgbClr val="E2E8F0"/>
          </a:solidFill>
          <a:ln/>
        </p:spPr>
      </p:sp>
      <p:sp>
        <p:nvSpPr>
          <p:cNvPr id="21" name="Text 19"/>
          <p:cNvSpPr txBox="1"/>
          <p:nvPr/>
        </p:nvSpPr>
        <p:spPr>
          <a:xfrm>
            <a:off x="828675" y="5124004"/>
            <a:ext cx="5872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VDF THU</a:t>
            </a:r>
            <a:endParaRPr lang="en-US" sz="860" dirty="0"/>
          </a:p>
        </p:txBody>
      </p:sp>
      <p:sp>
        <p:nvSpPr>
          <p:cNvPr id="22" name="Text 20"/>
          <p:cNvSpPr txBox="1"/>
          <p:nvPr/>
        </p:nvSpPr>
        <p:spPr>
          <a:xfrm>
            <a:off x="2162175" y="5100638"/>
            <a:ext cx="1979941" cy="180975"/>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Chia phí giao dịch với VTT</a:t>
            </a:r>
            <a:endParaRPr lang="en-US" sz="1130" dirty="0"/>
          </a:p>
        </p:txBody>
      </p:sp>
      <p:sp>
        <p:nvSpPr>
          <p:cNvPr id="23" name="Shape 21"/>
          <p:cNvSpPr/>
          <p:nvPr/>
        </p:nvSpPr>
        <p:spPr>
          <a:xfrm>
            <a:off x="6162675" y="1198364"/>
            <a:ext cx="5419725" cy="4385667"/>
          </a:xfrm>
          <a:prstGeom prst="roundRect">
            <a:avLst>
              <a:gd name="adj" fmla="val 3041"/>
            </a:avLst>
          </a:prstGeom>
          <a:solidFill>
            <a:srgbClr val="FFFFFF"/>
          </a:solidFill>
          <a:ln w="9525">
            <a:solidFill>
              <a:srgbClr val="E2E8F0"/>
            </a:solidFill>
            <a:prstDash val="solid"/>
          </a:ln>
        </p:spPr>
      </p:sp>
      <p:sp>
        <p:nvSpPr>
          <p:cNvPr id="24" name="Shape 22"/>
          <p:cNvSpPr/>
          <p:nvPr/>
        </p:nvSpPr>
        <p:spPr>
          <a:xfrm>
            <a:off x="6172200" y="1207889"/>
            <a:ext cx="5400675" cy="495300"/>
          </a:xfrm>
          <a:prstGeom prst="rect">
            <a:avLst/>
          </a:prstGeom>
          <a:solidFill>
            <a:srgbClr val="1E3A8A"/>
          </a:solidFill>
          <a:ln/>
        </p:spPr>
      </p:sp>
      <p:sp>
        <p:nvSpPr>
          <p:cNvPr id="25" name="Text 23"/>
          <p:cNvSpPr txBox="1"/>
          <p:nvPr/>
        </p:nvSpPr>
        <p:spPr>
          <a:xfrm>
            <a:off x="6381750" y="1331714"/>
            <a:ext cx="1080090" cy="247650"/>
          </a:xfrm>
          <a:prstGeom prst="rect">
            <a:avLst/>
          </a:prstGeom>
          <a:noFill/>
          <a:ln/>
        </p:spPr>
        <p:txBody>
          <a:bodyPr wrap="none" lIns="0" tIns="0" rIns="0" bIns="0" rtlCol="0" anchor="t"/>
          <a:lstStyle/>
          <a:p>
            <a:pPr marL="0" indent="0" algn="l">
              <a:lnSpc>
                <a:spcPts val="1980"/>
              </a:lnSpc>
              <a:buNone/>
            </a:pPr>
            <a:r>
              <a:rPr lang="en-US" sz="1650" b="1" dirty="0">
                <a:solidFill>
                  <a:srgbClr val="FFFFFF"/>
                </a:solidFill>
              </a:rPr>
              <a:t>2 · Online</a:t>
            </a:r>
            <a:endParaRPr lang="en-US" sz="1650" dirty="0"/>
          </a:p>
        </p:txBody>
      </p:sp>
      <p:sp>
        <p:nvSpPr>
          <p:cNvPr id="26" name="Text 24"/>
          <p:cNvSpPr txBox="1"/>
          <p:nvPr/>
        </p:nvSpPr>
        <p:spPr>
          <a:xfrm>
            <a:off x="7479060" y="1398389"/>
            <a:ext cx="1142089"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alpha val="85000"/>
                  </a:srgbClr>
                </a:solidFill>
              </a:rPr>
              <a:t>AI tư vấn du lịch</a:t>
            </a:r>
            <a:endParaRPr lang="en-US" sz="1050" dirty="0"/>
          </a:p>
        </p:txBody>
      </p:sp>
      <p:sp>
        <p:nvSpPr>
          <p:cNvPr id="27" name="Text 25"/>
          <p:cNvSpPr txBox="1"/>
          <p:nvPr/>
        </p:nvSpPr>
        <p:spPr>
          <a:xfrm>
            <a:off x="6381750" y="2019300"/>
            <a:ext cx="762682"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a:t>
            </a:r>
            <a:endParaRPr lang="en-US" sz="860" dirty="0"/>
          </a:p>
        </p:txBody>
      </p:sp>
      <p:sp>
        <p:nvSpPr>
          <p:cNvPr id="28" name="Text 26"/>
          <p:cNvSpPr txBox="1"/>
          <p:nvPr/>
        </p:nvSpPr>
        <p:spPr>
          <a:xfrm>
            <a:off x="7715250" y="1895921"/>
            <a:ext cx="3676650" cy="381000"/>
          </a:xfrm>
          <a:prstGeom prst="rect">
            <a:avLst/>
          </a:prstGeom>
          <a:noFill/>
          <a:ln/>
        </p:spPr>
        <p:txBody>
          <a:bodyPr wrap="square" lIns="0" tIns="0" rIns="0" bIns="0" rtlCol="0" anchor="t"/>
          <a:lstStyle/>
          <a:p>
            <a:pPr marL="0" indent="0" algn="l">
              <a:lnSpc>
                <a:spcPts val="1580"/>
              </a:lnSpc>
              <a:buNone/>
            </a:pPr>
            <a:r>
              <a:rPr lang="en-US" sz="1130" b="1" dirty="0">
                <a:solidFill>
                  <a:srgbClr val="334155"/>
                </a:solidFill>
              </a:rPr>
              <a:t>Vừa và nhỏ; booking thêm chuỗi nhà hàng, khách sạn lớn</a:t>
            </a:r>
            <a:endParaRPr lang="en-US" sz="1130" dirty="0"/>
          </a:p>
        </p:txBody>
      </p:sp>
      <p:sp>
        <p:nvSpPr>
          <p:cNvPr id="29" name="Shape 27"/>
          <p:cNvSpPr/>
          <p:nvPr/>
        </p:nvSpPr>
        <p:spPr>
          <a:xfrm>
            <a:off x="6172200" y="2469803"/>
            <a:ext cx="5400675" cy="9525"/>
          </a:xfrm>
          <a:prstGeom prst="rect">
            <a:avLst/>
          </a:prstGeom>
          <a:solidFill>
            <a:srgbClr val="E2E8F0"/>
          </a:solidFill>
          <a:ln/>
        </p:spPr>
      </p:sp>
      <p:sp>
        <p:nvSpPr>
          <p:cNvPr id="30" name="Text 28"/>
          <p:cNvSpPr txBox="1"/>
          <p:nvPr/>
        </p:nvSpPr>
        <p:spPr>
          <a:xfrm>
            <a:off x="6381750" y="2795588"/>
            <a:ext cx="491338"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KHÁCH</a:t>
            </a:r>
            <a:endParaRPr lang="en-US" sz="860" dirty="0"/>
          </a:p>
        </p:txBody>
      </p:sp>
      <p:sp>
        <p:nvSpPr>
          <p:cNvPr id="31" name="Text 29"/>
          <p:cNvSpPr txBox="1"/>
          <p:nvPr/>
        </p:nvSpPr>
        <p:spPr>
          <a:xfrm>
            <a:off x="7715250" y="2772221"/>
            <a:ext cx="3227490"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Khách quốc tế, khách Việt dùng thẻ quốc tế</a:t>
            </a:r>
            <a:endParaRPr lang="en-US" sz="1130" dirty="0"/>
          </a:p>
        </p:txBody>
      </p:sp>
      <p:sp>
        <p:nvSpPr>
          <p:cNvPr id="32" name="Shape 30"/>
          <p:cNvSpPr/>
          <p:nvPr/>
        </p:nvSpPr>
        <p:spPr>
          <a:xfrm>
            <a:off x="6172200" y="3246090"/>
            <a:ext cx="5400675" cy="9525"/>
          </a:xfrm>
          <a:prstGeom prst="rect">
            <a:avLst/>
          </a:prstGeom>
          <a:solidFill>
            <a:srgbClr val="E2E8F0"/>
          </a:solidFill>
          <a:ln/>
        </p:spPr>
      </p:sp>
      <p:sp>
        <p:nvSpPr>
          <p:cNvPr id="33" name="Text 31"/>
          <p:cNvSpPr txBox="1"/>
          <p:nvPr/>
        </p:nvSpPr>
        <p:spPr>
          <a:xfrm>
            <a:off x="6381750" y="3571726"/>
            <a:ext cx="676073"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GIẢI PHÁP</a:t>
            </a:r>
            <a:endParaRPr lang="en-US" sz="860" dirty="0"/>
          </a:p>
        </p:txBody>
      </p:sp>
      <p:sp>
        <p:nvSpPr>
          <p:cNvPr id="34" name="Text 32"/>
          <p:cNvSpPr txBox="1"/>
          <p:nvPr/>
        </p:nvSpPr>
        <p:spPr>
          <a:xfrm>
            <a:off x="7715250" y="3448348"/>
            <a:ext cx="2992273" cy="381000"/>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AI tư vấn</a:t>
            </a:r>
            <a:r>
              <a:rPr lang="en-US" sz="1130" b="1" dirty="0">
                <a:solidFill>
                  <a:srgbClr val="334155"/>
                </a:solidFill>
              </a:rPr>
              <a:t> điểm du lịch, ăn chơi, mua sắm</a:t>
            </a:r>
            <a:endParaRPr lang="en-US" sz="1130" dirty="0"/>
          </a:p>
          <a:p>
            <a:pPr marL="0" indent="0" algn="l">
              <a:lnSpc>
                <a:spcPts val="1580"/>
              </a:lnSpc>
              <a:buNone/>
            </a:pPr>
            <a:r>
              <a:rPr lang="en-US" sz="1130" b="1" dirty="0">
                <a:solidFill>
                  <a:srgbClr val="0F172A"/>
                </a:solidFill>
              </a:rPr>
              <a:t>Booking online:</a:t>
            </a:r>
            <a:r>
              <a:rPr lang="en-US" sz="1130" b="1" dirty="0">
                <a:solidFill>
                  <a:srgbClr val="334155"/>
                </a:solidFill>
              </a:rPr>
              <a:t> đặt phòng, đặt bàn</a:t>
            </a:r>
            <a:endParaRPr lang="en-US" sz="1130" dirty="0"/>
          </a:p>
        </p:txBody>
      </p:sp>
      <p:sp>
        <p:nvSpPr>
          <p:cNvPr id="35" name="Shape 33"/>
          <p:cNvSpPr/>
          <p:nvPr/>
        </p:nvSpPr>
        <p:spPr>
          <a:xfrm>
            <a:off x="6172200" y="4022229"/>
            <a:ext cx="5400675" cy="9525"/>
          </a:xfrm>
          <a:prstGeom prst="rect">
            <a:avLst/>
          </a:prstGeom>
          <a:solidFill>
            <a:srgbClr val="E2E8F0"/>
          </a:solidFill>
          <a:ln/>
        </p:spPr>
      </p:sp>
      <p:sp>
        <p:nvSpPr>
          <p:cNvPr id="36" name="Text 34"/>
          <p:cNvSpPr txBox="1"/>
          <p:nvPr/>
        </p:nvSpPr>
        <p:spPr>
          <a:xfrm>
            <a:off x="6381750" y="4347865"/>
            <a:ext cx="11627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 ĐƯỢC</a:t>
            </a:r>
            <a:endParaRPr lang="en-US" sz="860" dirty="0"/>
          </a:p>
        </p:txBody>
      </p:sp>
      <p:sp>
        <p:nvSpPr>
          <p:cNvPr id="37" name="Text 35"/>
          <p:cNvSpPr txBox="1"/>
          <p:nvPr/>
        </p:nvSpPr>
        <p:spPr>
          <a:xfrm>
            <a:off x="7715250" y="4324499"/>
            <a:ext cx="2397841" cy="180975"/>
          </a:xfrm>
          <a:prstGeom prst="rect">
            <a:avLst/>
          </a:prstGeom>
          <a:noFill/>
          <a:ln/>
        </p:spPr>
        <p:txBody>
          <a:bodyPr wrap="none" lIns="0" tIns="0" rIns="0" bIns="0" rtlCol="0" anchor="t"/>
          <a:lstStyle/>
          <a:p>
            <a:pPr marL="0" indent="0" algn="l">
              <a:lnSpc>
                <a:spcPts val="1580"/>
              </a:lnSpc>
              <a:buNone/>
            </a:pPr>
            <a:r>
              <a:rPr lang="en-US" sz="1130" b="1" dirty="0">
                <a:solidFill>
                  <a:srgbClr val="15803D"/>
                </a:solidFill>
              </a:rPr>
              <a:t>Có thêm khách nhờ AI giới thiệu</a:t>
            </a:r>
            <a:endParaRPr lang="en-US" sz="1130" dirty="0"/>
          </a:p>
        </p:txBody>
      </p:sp>
      <p:sp>
        <p:nvSpPr>
          <p:cNvPr id="38" name="Shape 36"/>
          <p:cNvSpPr/>
          <p:nvPr/>
        </p:nvSpPr>
        <p:spPr>
          <a:xfrm>
            <a:off x="6172200" y="4798368"/>
            <a:ext cx="5400675" cy="776139"/>
          </a:xfrm>
          <a:prstGeom prst="rect">
            <a:avLst/>
          </a:prstGeom>
          <a:solidFill>
            <a:srgbClr val="FFF7F8"/>
          </a:solidFill>
          <a:ln/>
        </p:spPr>
      </p:sp>
      <p:sp>
        <p:nvSpPr>
          <p:cNvPr id="39" name="Shape 37"/>
          <p:cNvSpPr/>
          <p:nvPr/>
        </p:nvSpPr>
        <p:spPr>
          <a:xfrm>
            <a:off x="6172200" y="4798368"/>
            <a:ext cx="5400675" cy="9525"/>
          </a:xfrm>
          <a:prstGeom prst="rect">
            <a:avLst/>
          </a:prstGeom>
          <a:solidFill>
            <a:srgbClr val="E2E8F0"/>
          </a:solidFill>
          <a:ln/>
        </p:spPr>
      </p:sp>
      <p:sp>
        <p:nvSpPr>
          <p:cNvPr id="40" name="Text 38"/>
          <p:cNvSpPr txBox="1"/>
          <p:nvPr/>
        </p:nvSpPr>
        <p:spPr>
          <a:xfrm>
            <a:off x="6381750" y="5124004"/>
            <a:ext cx="5872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VDF THU</a:t>
            </a:r>
            <a:endParaRPr lang="en-US" sz="860" dirty="0"/>
          </a:p>
        </p:txBody>
      </p:sp>
      <p:sp>
        <p:nvSpPr>
          <p:cNvPr id="41" name="Text 39"/>
          <p:cNvSpPr txBox="1"/>
          <p:nvPr/>
        </p:nvSpPr>
        <p:spPr>
          <a:xfrm>
            <a:off x="7715250" y="5100638"/>
            <a:ext cx="2339786" cy="180975"/>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Affiliate; một phần phí booking</a:t>
            </a:r>
            <a:endParaRPr lang="en-US" sz="1130" dirty="0"/>
          </a:p>
        </p:txBody>
      </p:sp>
      <p:sp>
        <p:nvSpPr>
          <p:cNvPr id="42" name="Shape 40"/>
          <p:cNvSpPr/>
          <p:nvPr/>
        </p:nvSpPr>
        <p:spPr>
          <a:xfrm>
            <a:off x="609600" y="5717381"/>
            <a:ext cx="10972800" cy="435769"/>
          </a:xfrm>
          <a:prstGeom prst="roundRect">
            <a:avLst>
              <a:gd name="adj" fmla="val 26229"/>
            </a:avLst>
          </a:prstGeom>
          <a:solidFill>
            <a:srgbClr val="0F172A"/>
          </a:solidFill>
          <a:ln/>
        </p:spPr>
      </p:sp>
      <p:sp>
        <p:nvSpPr>
          <p:cNvPr id="43" name="Text 41"/>
          <p:cNvSpPr txBox="1"/>
          <p:nvPr/>
        </p:nvSpPr>
        <p:spPr>
          <a:xfrm>
            <a:off x="819150" y="5861893"/>
            <a:ext cx="1420532" cy="142875"/>
          </a:xfrm>
          <a:prstGeom prst="rect">
            <a:avLst/>
          </a:prstGeom>
          <a:noFill/>
          <a:ln/>
        </p:spPr>
        <p:txBody>
          <a:bodyPr wrap="none" lIns="0" tIns="0" rIns="0" bIns="0" rtlCol="0" anchor="t"/>
          <a:lstStyle/>
          <a:p>
            <a:pPr marL="0" indent="0" algn="l">
              <a:lnSpc>
                <a:spcPts val="1310"/>
              </a:lnSpc>
              <a:buNone/>
            </a:pPr>
            <a:r>
              <a:rPr lang="en-US" sz="900" b="1" kern="0" spc="40" dirty="0">
                <a:solidFill>
                  <a:srgbClr val="FDA4AF"/>
                </a:solidFill>
              </a:rPr>
              <a:t>ĐƯA ĐẾN MERCHANT</a:t>
            </a:r>
            <a:endParaRPr lang="en-US" sz="900" dirty="0"/>
          </a:p>
        </p:txBody>
      </p:sp>
      <p:sp>
        <p:nvSpPr>
          <p:cNvPr id="44" name="Text 42"/>
          <p:cNvSpPr txBox="1"/>
          <p:nvPr/>
        </p:nvSpPr>
        <p:spPr>
          <a:xfrm>
            <a:off x="2294781" y="5841206"/>
            <a:ext cx="3096866" cy="180975"/>
          </a:xfrm>
          <a:prstGeom prst="rect">
            <a:avLst/>
          </a:prstGeom>
          <a:noFill/>
          <a:ln/>
        </p:spPr>
        <p:txBody>
          <a:bodyPr wrap="none" lIns="0" tIns="0" rIns="0" bIns="0" rtlCol="0" anchor="t"/>
          <a:lstStyle/>
          <a:p>
            <a:pPr marL="0" indent="0" algn="l">
              <a:lnSpc>
                <a:spcPts val="1630"/>
              </a:lnSpc>
              <a:buNone/>
            </a:pPr>
            <a:r>
              <a:rPr lang="en-US" sz="1130" b="1" dirty="0">
                <a:solidFill>
                  <a:srgbClr val="FFFFFF"/>
                </a:solidFill>
              </a:rPr>
              <a:t>VTT phát triển merchant cho cả hai kênh</a:t>
            </a:r>
            <a:endParaRPr lang="en-US" sz="1130" dirty="0"/>
          </a:p>
        </p:txBody>
      </p:sp>
      <p:sp>
        <p:nvSpPr>
          <p:cNvPr id="45" name="Shape 43"/>
          <p:cNvSpPr/>
          <p:nvPr/>
        </p:nvSpPr>
        <p:spPr>
          <a:xfrm>
            <a:off x="10796588" y="6343650"/>
            <a:ext cx="323850" cy="323850"/>
          </a:xfrm>
          <a:prstGeom prst="ellipse">
            <a:avLst/>
          </a:prstGeom>
          <a:solidFill>
            <a:srgbClr val="F0001E"/>
          </a:solidFill>
          <a:ln/>
        </p:spPr>
      </p:sp>
      <p:sp>
        <p:nvSpPr>
          <p:cNvPr id="46" name="Shape 44"/>
          <p:cNvSpPr/>
          <p:nvPr/>
        </p:nvSpPr>
        <p:spPr>
          <a:xfrm>
            <a:off x="10901363" y="6415088"/>
            <a:ext cx="114300" cy="180975"/>
          </a:xfrm>
          <a:prstGeom prst="roundRect">
            <a:avLst>
              <a:gd name="adj" fmla="val 29167"/>
            </a:avLst>
          </a:prstGeom>
          <a:ln w="19050">
            <a:solidFill>
              <a:srgbClr val="FFFFFF"/>
            </a:solidFill>
            <a:prstDash val="solid"/>
          </a:ln>
        </p:spPr>
      </p:sp>
      <p:sp>
        <p:nvSpPr>
          <p:cNvPr id="47" name="Text 45"/>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48" name="Text 46"/>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49" name="Text 47"/>
          <p:cNvSpPr txBox="1"/>
          <p:nvPr/>
        </p:nvSpPr>
        <p:spPr>
          <a:xfrm>
            <a:off x="10525571" y="6429375"/>
            <a:ext cx="168881"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3357640"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GIẢI PHÁP CHI TIẾT 1 · OFFLINE: VISA ACCEPT</a:t>
            </a:r>
            <a:endParaRPr lang="en-US" sz="1050" dirty="0"/>
          </a:p>
        </p:txBody>
      </p:sp>
      <p:sp>
        <p:nvSpPr>
          <p:cNvPr id="3" name="Text 1"/>
          <p:cNvSpPr txBox="1"/>
          <p:nvPr/>
        </p:nvSpPr>
        <p:spPr>
          <a:xfrm>
            <a:off x="609600" y="619125"/>
            <a:ext cx="10100367"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Visa Accept: </a:t>
            </a:r>
            <a:r>
              <a:rPr lang="en-US" sz="2330" b="1" kern="0" spc="-30" dirty="0">
                <a:solidFill>
                  <a:srgbClr val="E11D48"/>
                </a:solidFill>
              </a:rPr>
              <a:t>chủ thẻ Visa thành người bán</a:t>
            </a:r>
            <a:r>
              <a:rPr lang="en-US" sz="2330" b="1" kern="0" spc="-30" dirty="0">
                <a:solidFill>
                  <a:srgbClr val="0F172A"/>
                </a:solidFill>
              </a:rPr>
              <a:t>, nhận thẻ trên điện thoại</a:t>
            </a:r>
            <a:endParaRPr lang="en-US" sz="2330" dirty="0"/>
          </a:p>
        </p:txBody>
      </p:sp>
      <p:sp>
        <p:nvSpPr>
          <p:cNvPr id="4" name="Shape 2"/>
          <p:cNvSpPr/>
          <p:nvPr/>
        </p:nvSpPr>
        <p:spPr>
          <a:xfrm>
            <a:off x="609600" y="1169789"/>
            <a:ext cx="5029200" cy="1862733"/>
          </a:xfrm>
          <a:prstGeom prst="roundRect">
            <a:avLst>
              <a:gd name="adj" fmla="val 7159"/>
            </a:avLst>
          </a:prstGeom>
          <a:solidFill>
            <a:srgbClr val="FFFFFF"/>
          </a:solidFill>
          <a:ln w="9525">
            <a:solidFill>
              <a:srgbClr val="E2E8F0"/>
            </a:solidFill>
            <a:prstDash val="solid"/>
          </a:ln>
        </p:spPr>
      </p:sp>
      <p:sp>
        <p:nvSpPr>
          <p:cNvPr id="5" name="Shape 3"/>
          <p:cNvSpPr/>
          <p:nvPr/>
        </p:nvSpPr>
        <p:spPr>
          <a:xfrm>
            <a:off x="809625" y="1331714"/>
            <a:ext cx="266700" cy="266700"/>
          </a:xfrm>
          <a:prstGeom prst="roundRect">
            <a:avLst>
              <a:gd name="adj" fmla="val 28571"/>
            </a:avLst>
          </a:prstGeom>
          <a:solidFill>
            <a:srgbClr val="E11D48"/>
          </a:solidFill>
          <a:ln/>
        </p:spPr>
      </p:sp>
      <p:sp>
        <p:nvSpPr>
          <p:cNvPr id="6" name="Text 4"/>
          <p:cNvSpPr txBox="1"/>
          <p:nvPr/>
        </p:nvSpPr>
        <p:spPr>
          <a:xfrm>
            <a:off x="912763" y="1384102"/>
            <a:ext cx="102150"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solidFill>
              </a:rPr>
              <a:t>1</a:t>
            </a:r>
            <a:endParaRPr lang="en-US" sz="1050" dirty="0"/>
          </a:p>
        </p:txBody>
      </p:sp>
      <p:sp>
        <p:nvSpPr>
          <p:cNvPr id="7" name="Text 5"/>
          <p:cNvSpPr txBox="1"/>
          <p:nvPr/>
        </p:nvSpPr>
        <p:spPr>
          <a:xfrm>
            <a:off x="1171575" y="1364456"/>
            <a:ext cx="1406491" cy="190500"/>
          </a:xfrm>
          <a:prstGeom prst="rect">
            <a:avLst/>
          </a:prstGeom>
          <a:noFill/>
          <a:ln/>
        </p:spPr>
        <p:txBody>
          <a:bodyPr wrap="none" lIns="0" tIns="0" rIns="0" bIns="0" rtlCol="0" anchor="t"/>
          <a:lstStyle/>
          <a:p>
            <a:pPr marL="0" indent="0" algn="l">
              <a:lnSpc>
                <a:spcPts val="1580"/>
              </a:lnSpc>
              <a:buNone/>
            </a:pPr>
            <a:r>
              <a:rPr lang="en-US" sz="1240" b="1" dirty="0">
                <a:solidFill>
                  <a:srgbClr val="0F172A"/>
                </a:solidFill>
              </a:rPr>
              <a:t>Visa Accept là gì</a:t>
            </a:r>
            <a:endParaRPr lang="en-US" sz="1240" dirty="0"/>
          </a:p>
        </p:txBody>
      </p:sp>
      <p:sp>
        <p:nvSpPr>
          <p:cNvPr id="8" name="Text 6"/>
          <p:cNvSpPr txBox="1"/>
          <p:nvPr/>
        </p:nvSpPr>
        <p:spPr>
          <a:xfrm>
            <a:off x="962025" y="1741289"/>
            <a:ext cx="2336789"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Chủ thẻ Visa thành người bán</a:t>
            </a:r>
            <a:endParaRPr lang="en-US" sz="1200" dirty="0"/>
          </a:p>
        </p:txBody>
      </p:sp>
      <p:sp>
        <p:nvSpPr>
          <p:cNvPr id="9" name="Shape 7"/>
          <p:cNvSpPr/>
          <p:nvPr/>
        </p:nvSpPr>
        <p:spPr>
          <a:xfrm>
            <a:off x="819150" y="1807964"/>
            <a:ext cx="57150" cy="57150"/>
          </a:xfrm>
          <a:prstGeom prst="ellipse">
            <a:avLst/>
          </a:prstGeom>
          <a:solidFill>
            <a:srgbClr val="334155"/>
          </a:solidFill>
          <a:ln/>
        </p:spPr>
      </p:sp>
      <p:sp>
        <p:nvSpPr>
          <p:cNvPr id="10" name="Text 8"/>
          <p:cNvSpPr txBox="1"/>
          <p:nvPr/>
        </p:nvSpPr>
        <p:spPr>
          <a:xfrm>
            <a:off x="962025" y="2049810"/>
            <a:ext cx="2136910"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Tích hợp trong app Tendoo</a:t>
            </a:r>
            <a:endParaRPr lang="en-US" sz="1200" dirty="0"/>
          </a:p>
        </p:txBody>
      </p:sp>
      <p:sp>
        <p:nvSpPr>
          <p:cNvPr id="11" name="Shape 9"/>
          <p:cNvSpPr/>
          <p:nvPr/>
        </p:nvSpPr>
        <p:spPr>
          <a:xfrm>
            <a:off x="819150" y="2116485"/>
            <a:ext cx="57150" cy="57150"/>
          </a:xfrm>
          <a:prstGeom prst="ellipse">
            <a:avLst/>
          </a:prstGeom>
          <a:solidFill>
            <a:srgbClr val="334155"/>
          </a:solidFill>
          <a:ln/>
        </p:spPr>
      </p:sp>
      <p:sp>
        <p:nvSpPr>
          <p:cNvPr id="12" name="Text 10"/>
          <p:cNvSpPr txBox="1"/>
          <p:nvPr/>
        </p:nvSpPr>
        <p:spPr>
          <a:xfrm>
            <a:off x="962025" y="2358330"/>
            <a:ext cx="2715408"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Điện thoại có NFC, không cần POS</a:t>
            </a:r>
            <a:endParaRPr lang="en-US" sz="1200" dirty="0"/>
          </a:p>
        </p:txBody>
      </p:sp>
      <p:sp>
        <p:nvSpPr>
          <p:cNvPr id="13" name="Shape 11"/>
          <p:cNvSpPr/>
          <p:nvPr/>
        </p:nvSpPr>
        <p:spPr>
          <a:xfrm>
            <a:off x="819150" y="2425005"/>
            <a:ext cx="57150" cy="57150"/>
          </a:xfrm>
          <a:prstGeom prst="ellipse">
            <a:avLst/>
          </a:prstGeom>
          <a:solidFill>
            <a:srgbClr val="334155"/>
          </a:solidFill>
          <a:ln/>
        </p:spPr>
      </p:sp>
      <p:sp>
        <p:nvSpPr>
          <p:cNvPr id="14" name="Text 12"/>
          <p:cNvSpPr txBox="1"/>
          <p:nvPr/>
        </p:nvSpPr>
        <p:spPr>
          <a:xfrm>
            <a:off x="962025" y="2666851"/>
            <a:ext cx="1824076"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Tiền về gần như tức thì</a:t>
            </a:r>
            <a:endParaRPr lang="en-US" sz="1200" dirty="0"/>
          </a:p>
        </p:txBody>
      </p:sp>
      <p:sp>
        <p:nvSpPr>
          <p:cNvPr id="15" name="Shape 13"/>
          <p:cNvSpPr/>
          <p:nvPr/>
        </p:nvSpPr>
        <p:spPr>
          <a:xfrm>
            <a:off x="819150" y="2733526"/>
            <a:ext cx="57150" cy="57150"/>
          </a:xfrm>
          <a:prstGeom prst="ellipse">
            <a:avLst/>
          </a:prstGeom>
          <a:solidFill>
            <a:srgbClr val="334155"/>
          </a:solidFill>
          <a:ln/>
        </p:spPr>
      </p:sp>
      <p:sp>
        <p:nvSpPr>
          <p:cNvPr id="16" name="Shape 14"/>
          <p:cNvSpPr/>
          <p:nvPr/>
        </p:nvSpPr>
        <p:spPr>
          <a:xfrm>
            <a:off x="609600" y="3165872"/>
            <a:ext cx="5029200" cy="2319338"/>
          </a:xfrm>
          <a:prstGeom prst="roundRect">
            <a:avLst>
              <a:gd name="adj" fmla="val 5749"/>
            </a:avLst>
          </a:prstGeom>
          <a:solidFill>
            <a:srgbClr val="FFFFFF"/>
          </a:solidFill>
          <a:ln w="9525">
            <a:solidFill>
              <a:srgbClr val="E2E8F0"/>
            </a:solidFill>
            <a:prstDash val="solid"/>
          </a:ln>
        </p:spPr>
      </p:sp>
      <p:sp>
        <p:nvSpPr>
          <p:cNvPr id="17" name="Shape 15"/>
          <p:cNvSpPr/>
          <p:nvPr/>
        </p:nvSpPr>
        <p:spPr>
          <a:xfrm>
            <a:off x="809625" y="3327797"/>
            <a:ext cx="266700" cy="266700"/>
          </a:xfrm>
          <a:prstGeom prst="roundRect">
            <a:avLst>
              <a:gd name="adj" fmla="val 28571"/>
            </a:avLst>
          </a:prstGeom>
          <a:solidFill>
            <a:srgbClr val="E11D48"/>
          </a:solidFill>
          <a:ln/>
        </p:spPr>
      </p:sp>
      <p:sp>
        <p:nvSpPr>
          <p:cNvPr id="18" name="Text 16"/>
          <p:cNvSpPr txBox="1"/>
          <p:nvPr/>
        </p:nvSpPr>
        <p:spPr>
          <a:xfrm>
            <a:off x="898327" y="3380184"/>
            <a:ext cx="132755"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solidFill>
              </a:rPr>
              <a:t>3</a:t>
            </a:r>
            <a:endParaRPr lang="en-US" sz="1050" dirty="0"/>
          </a:p>
        </p:txBody>
      </p:sp>
      <p:sp>
        <p:nvSpPr>
          <p:cNvPr id="19" name="Text 17"/>
          <p:cNvSpPr txBox="1"/>
          <p:nvPr/>
        </p:nvSpPr>
        <p:spPr>
          <a:xfrm>
            <a:off x="1171575" y="3360539"/>
            <a:ext cx="1300005" cy="190500"/>
          </a:xfrm>
          <a:prstGeom prst="rect">
            <a:avLst/>
          </a:prstGeom>
          <a:noFill/>
          <a:ln/>
        </p:spPr>
        <p:txBody>
          <a:bodyPr wrap="none" lIns="0" tIns="0" rIns="0" bIns="0" rtlCol="0" anchor="t"/>
          <a:lstStyle/>
          <a:p>
            <a:pPr marL="0" indent="0" algn="l">
              <a:lnSpc>
                <a:spcPts val="1580"/>
              </a:lnSpc>
              <a:buNone/>
            </a:pPr>
            <a:r>
              <a:rPr lang="en-US" sz="1240" b="1" dirty="0">
                <a:solidFill>
                  <a:srgbClr val="0F172A"/>
                </a:solidFill>
              </a:rPr>
              <a:t>Hạn mức và phí</a:t>
            </a:r>
            <a:endParaRPr lang="en-US" sz="1240" dirty="0"/>
          </a:p>
        </p:txBody>
      </p:sp>
      <p:sp>
        <p:nvSpPr>
          <p:cNvPr id="20" name="Text 18"/>
          <p:cNvSpPr txBox="1"/>
          <p:nvPr/>
        </p:nvSpPr>
        <p:spPr>
          <a:xfrm>
            <a:off x="809625" y="3651647"/>
            <a:ext cx="1052798" cy="276225"/>
          </a:xfrm>
          <a:prstGeom prst="rect">
            <a:avLst/>
          </a:prstGeom>
          <a:noFill/>
          <a:ln/>
        </p:spPr>
        <p:txBody>
          <a:bodyPr wrap="none" lIns="0" tIns="0" rIns="0" bIns="0" rtlCol="0" anchor="t"/>
          <a:lstStyle/>
          <a:p>
            <a:pPr marL="0" indent="0" algn="l">
              <a:lnSpc>
                <a:spcPts val="1940"/>
              </a:lnSpc>
              <a:buNone/>
            </a:pPr>
            <a:r>
              <a:rPr lang="en-US" sz="1800" b="1" kern="0" spc="-40" dirty="0">
                <a:solidFill>
                  <a:srgbClr val="0F172A"/>
                </a:solidFill>
              </a:rPr>
              <a:t>100 triệu</a:t>
            </a:r>
            <a:endParaRPr lang="en-US" sz="1800" dirty="0"/>
          </a:p>
        </p:txBody>
      </p:sp>
      <p:sp>
        <p:nvSpPr>
          <p:cNvPr id="21" name="Text 19"/>
          <p:cNvSpPr txBox="1"/>
          <p:nvPr/>
        </p:nvSpPr>
        <p:spPr>
          <a:xfrm>
            <a:off x="809625" y="3984129"/>
            <a:ext cx="716774" cy="161925"/>
          </a:xfrm>
          <a:prstGeom prst="rect">
            <a:avLst/>
          </a:prstGeom>
          <a:noFill/>
          <a:ln/>
        </p:spPr>
        <p:txBody>
          <a:bodyPr wrap="none" lIns="0" tIns="0" rIns="0" bIns="0" rtlCol="0" anchor="t"/>
          <a:lstStyle/>
          <a:p>
            <a:pPr marL="0" indent="0" algn="l">
              <a:lnSpc>
                <a:spcPts val="1470"/>
              </a:lnSpc>
              <a:buNone/>
            </a:pPr>
            <a:r>
              <a:rPr lang="en-US" sz="1050" b="1" dirty="0">
                <a:solidFill>
                  <a:srgbClr val="334155"/>
                </a:solidFill>
              </a:rPr>
              <a:t>mỗi tháng</a:t>
            </a:r>
            <a:endParaRPr lang="en-US" sz="1050" dirty="0"/>
          </a:p>
        </p:txBody>
      </p:sp>
      <p:sp>
        <p:nvSpPr>
          <p:cNvPr id="22" name="Text 20"/>
          <p:cNvSpPr txBox="1"/>
          <p:nvPr/>
        </p:nvSpPr>
        <p:spPr>
          <a:xfrm>
            <a:off x="2397026" y="3651647"/>
            <a:ext cx="749430" cy="276225"/>
          </a:xfrm>
          <a:prstGeom prst="rect">
            <a:avLst/>
          </a:prstGeom>
          <a:noFill/>
          <a:ln/>
        </p:spPr>
        <p:txBody>
          <a:bodyPr wrap="none" lIns="0" tIns="0" rIns="0" bIns="0" rtlCol="0" anchor="t"/>
          <a:lstStyle/>
          <a:p>
            <a:pPr marL="0" indent="0" algn="l">
              <a:lnSpc>
                <a:spcPts val="1940"/>
              </a:lnSpc>
              <a:buNone/>
            </a:pPr>
            <a:r>
              <a:rPr lang="en-US" sz="1800" b="1" kern="0" spc="-40" dirty="0">
                <a:solidFill>
                  <a:srgbClr val="0F172A"/>
                </a:solidFill>
              </a:rPr>
              <a:t>2.000</a:t>
            </a:r>
            <a:endParaRPr lang="en-US" sz="1800" dirty="0"/>
          </a:p>
        </p:txBody>
      </p:sp>
      <p:sp>
        <p:nvSpPr>
          <p:cNvPr id="23" name="Text 21"/>
          <p:cNvSpPr txBox="1"/>
          <p:nvPr/>
        </p:nvSpPr>
        <p:spPr>
          <a:xfrm>
            <a:off x="2397026" y="3984129"/>
            <a:ext cx="1374624" cy="161925"/>
          </a:xfrm>
          <a:prstGeom prst="rect">
            <a:avLst/>
          </a:prstGeom>
          <a:noFill/>
          <a:ln/>
        </p:spPr>
        <p:txBody>
          <a:bodyPr wrap="none" lIns="0" tIns="0" rIns="0" bIns="0" rtlCol="0" anchor="t"/>
          <a:lstStyle/>
          <a:p>
            <a:pPr marL="0" indent="0" algn="l">
              <a:lnSpc>
                <a:spcPts val="1470"/>
              </a:lnSpc>
              <a:buNone/>
            </a:pPr>
            <a:r>
              <a:rPr lang="en-US" sz="1050" b="1" dirty="0">
                <a:solidFill>
                  <a:srgbClr val="334155"/>
                </a:solidFill>
              </a:rPr>
              <a:t>giao dịch mỗi tháng</a:t>
            </a:r>
            <a:endParaRPr lang="en-US" sz="1050" dirty="0"/>
          </a:p>
        </p:txBody>
      </p:sp>
      <p:sp>
        <p:nvSpPr>
          <p:cNvPr id="24" name="Text 22"/>
          <p:cNvSpPr txBox="1"/>
          <p:nvPr/>
        </p:nvSpPr>
        <p:spPr>
          <a:xfrm>
            <a:off x="3984575" y="3651647"/>
            <a:ext cx="781297" cy="276225"/>
          </a:xfrm>
          <a:prstGeom prst="rect">
            <a:avLst/>
          </a:prstGeom>
          <a:noFill/>
          <a:ln/>
        </p:spPr>
        <p:txBody>
          <a:bodyPr wrap="none" lIns="0" tIns="0" rIns="0" bIns="0" rtlCol="0" anchor="t"/>
          <a:lstStyle/>
          <a:p>
            <a:pPr marL="0" indent="0" algn="l">
              <a:lnSpc>
                <a:spcPts val="1940"/>
              </a:lnSpc>
              <a:buNone/>
            </a:pPr>
            <a:r>
              <a:rPr lang="en-US" sz="1800" b="1" kern="0" spc="-40" dirty="0">
                <a:solidFill>
                  <a:srgbClr val="0F172A"/>
                </a:solidFill>
              </a:rPr>
              <a:t>8 triệu</a:t>
            </a:r>
            <a:endParaRPr lang="en-US" sz="1800" dirty="0"/>
          </a:p>
        </p:txBody>
      </p:sp>
      <p:sp>
        <p:nvSpPr>
          <p:cNvPr id="25" name="Text 23"/>
          <p:cNvSpPr txBox="1"/>
          <p:nvPr/>
        </p:nvSpPr>
        <p:spPr>
          <a:xfrm>
            <a:off x="3984575" y="3984129"/>
            <a:ext cx="946312" cy="161925"/>
          </a:xfrm>
          <a:prstGeom prst="rect">
            <a:avLst/>
          </a:prstGeom>
          <a:noFill/>
          <a:ln/>
        </p:spPr>
        <p:txBody>
          <a:bodyPr wrap="none" lIns="0" tIns="0" rIns="0" bIns="0" rtlCol="0" anchor="t"/>
          <a:lstStyle/>
          <a:p>
            <a:pPr marL="0" indent="0" algn="l">
              <a:lnSpc>
                <a:spcPts val="1470"/>
              </a:lnSpc>
              <a:buNone/>
            </a:pPr>
            <a:r>
              <a:rPr lang="en-US" sz="1050" b="1" dirty="0">
                <a:solidFill>
                  <a:srgbClr val="334155"/>
                </a:solidFill>
              </a:rPr>
              <a:t>mỗi giao dịch</a:t>
            </a:r>
            <a:endParaRPr lang="en-US" sz="1050" dirty="0"/>
          </a:p>
        </p:txBody>
      </p:sp>
      <p:sp>
        <p:nvSpPr>
          <p:cNvPr id="26" name="Shape 24"/>
          <p:cNvSpPr/>
          <p:nvPr/>
        </p:nvSpPr>
        <p:spPr>
          <a:xfrm>
            <a:off x="809625" y="4256484"/>
            <a:ext cx="4629150" cy="590848"/>
          </a:xfrm>
          <a:prstGeom prst="roundRect">
            <a:avLst>
              <a:gd name="adj" fmla="val 16121"/>
            </a:avLst>
          </a:prstGeom>
          <a:solidFill>
            <a:srgbClr val="F1F5F9"/>
          </a:solidFill>
          <a:ln/>
        </p:spPr>
      </p:sp>
      <p:sp>
        <p:nvSpPr>
          <p:cNvPr id="27" name="Text 25"/>
          <p:cNvSpPr txBox="1"/>
          <p:nvPr/>
        </p:nvSpPr>
        <p:spPr>
          <a:xfrm>
            <a:off x="942975" y="4370784"/>
            <a:ext cx="4391025" cy="362099"/>
          </a:xfrm>
          <a:prstGeom prst="rect">
            <a:avLst/>
          </a:prstGeom>
          <a:noFill/>
          <a:ln/>
        </p:spPr>
        <p:txBody>
          <a:bodyPr wrap="square" lIns="0" tIns="0" rIns="0" bIns="0" rtlCol="0" anchor="t"/>
          <a:lstStyle/>
          <a:p>
            <a:pPr marL="0" indent="0" algn="l">
              <a:lnSpc>
                <a:spcPts val="1580"/>
              </a:lnSpc>
              <a:buNone/>
            </a:pPr>
            <a:r>
              <a:rPr lang="en-US" sz="1090" b="1" dirty="0">
                <a:solidFill>
                  <a:srgbClr val="334155"/>
                </a:solidFill>
              </a:rPr>
              <a:t>Phí mạng lưới: </a:t>
            </a:r>
            <a:r>
              <a:rPr lang="en-US" sz="1090" b="1" dirty="0">
                <a:solidFill>
                  <a:srgbClr val="16A34A"/>
                </a:solidFill>
              </a:rPr>
              <a:t>miễn </a:t>
            </a:r>
            <a:r>
              <a:rPr lang="en-US" sz="1090" b="1" dirty="0" err="1">
                <a:solidFill>
                  <a:srgbClr val="16A34A"/>
                </a:solidFill>
              </a:rPr>
              <a:t>phí</a:t>
            </a:r>
            <a:r>
              <a:rPr lang="en-US" sz="1090" b="1" dirty="0">
                <a:solidFill>
                  <a:srgbClr val="334155"/>
                </a:solidFill>
              </a:rPr>
              <a:t> </a:t>
            </a:r>
            <a:r>
              <a:rPr lang="en-US" sz="1090" b="1" dirty="0" err="1">
                <a:solidFill>
                  <a:srgbClr val="334155"/>
                </a:solidFill>
              </a:rPr>
              <a:t>giao</a:t>
            </a:r>
            <a:r>
              <a:rPr lang="en-US" sz="1090" b="1" dirty="0">
                <a:solidFill>
                  <a:srgbClr val="334155"/>
                </a:solidFill>
              </a:rPr>
              <a:t> </a:t>
            </a:r>
            <a:r>
              <a:rPr lang="en-US" sz="1090" b="1" dirty="0" err="1">
                <a:solidFill>
                  <a:srgbClr val="334155"/>
                </a:solidFill>
              </a:rPr>
              <a:t>dịch</a:t>
            </a:r>
            <a:r>
              <a:rPr lang="en-US" sz="1090" b="1" dirty="0">
                <a:solidFill>
                  <a:srgbClr val="334155"/>
                </a:solidFill>
              </a:rPr>
              <a:t> </a:t>
            </a:r>
            <a:r>
              <a:rPr lang="en-US" sz="1090" b="1" dirty="0" err="1">
                <a:solidFill>
                  <a:srgbClr val="334155"/>
                </a:solidFill>
              </a:rPr>
              <a:t>dưới</a:t>
            </a:r>
            <a:r>
              <a:rPr lang="en-US" sz="1090" b="1" dirty="0">
                <a:solidFill>
                  <a:srgbClr val="334155"/>
                </a:solidFill>
              </a:rPr>
              <a:t> 200.000đ. </a:t>
            </a:r>
          </a:p>
          <a:p>
            <a:pPr marL="0" indent="0" algn="l">
              <a:lnSpc>
                <a:spcPts val="1580"/>
              </a:lnSpc>
              <a:buNone/>
            </a:pPr>
            <a:r>
              <a:rPr lang="en-US" sz="1090" b="1" dirty="0">
                <a:solidFill>
                  <a:srgbClr val="334155"/>
                </a:solidFill>
              </a:rPr>
              <a:t>Thu 200đ + 0,002 USD </a:t>
            </a:r>
            <a:r>
              <a:rPr lang="en-US" sz="1090" b="1" dirty="0" err="1">
                <a:solidFill>
                  <a:srgbClr val="334155"/>
                </a:solidFill>
              </a:rPr>
              <a:t>giao</a:t>
            </a:r>
            <a:r>
              <a:rPr lang="en-US" sz="1090" b="1" dirty="0">
                <a:solidFill>
                  <a:srgbClr val="334155"/>
                </a:solidFill>
              </a:rPr>
              <a:t> </a:t>
            </a:r>
            <a:r>
              <a:rPr lang="en-US" sz="1090" b="1" dirty="0" err="1">
                <a:solidFill>
                  <a:srgbClr val="334155"/>
                </a:solidFill>
              </a:rPr>
              <a:t>dịch</a:t>
            </a:r>
            <a:r>
              <a:rPr lang="en-US" sz="1090" b="1" dirty="0">
                <a:solidFill>
                  <a:srgbClr val="334155"/>
                </a:solidFill>
              </a:rPr>
              <a:t> </a:t>
            </a:r>
            <a:r>
              <a:rPr lang="en-US" sz="1090" b="1" dirty="0" err="1">
                <a:solidFill>
                  <a:srgbClr val="334155"/>
                </a:solidFill>
              </a:rPr>
              <a:t>từ</a:t>
            </a:r>
            <a:r>
              <a:rPr lang="en-US" sz="1090" b="1" dirty="0">
                <a:solidFill>
                  <a:srgbClr val="334155"/>
                </a:solidFill>
              </a:rPr>
              <a:t> 200.000đ</a:t>
            </a:r>
            <a:endParaRPr lang="en-US" sz="1090" dirty="0"/>
          </a:p>
        </p:txBody>
      </p:sp>
      <p:sp>
        <p:nvSpPr>
          <p:cNvPr id="28" name="Shape 26"/>
          <p:cNvSpPr/>
          <p:nvPr/>
        </p:nvSpPr>
        <p:spPr>
          <a:xfrm>
            <a:off x="5772150" y="1169789"/>
            <a:ext cx="5810250" cy="2431703"/>
          </a:xfrm>
          <a:prstGeom prst="roundRect">
            <a:avLst>
              <a:gd name="adj" fmla="val 5484"/>
            </a:avLst>
          </a:prstGeom>
          <a:solidFill>
            <a:srgbClr val="FFFFFF"/>
          </a:solidFill>
          <a:ln w="9525">
            <a:solidFill>
              <a:srgbClr val="E2E8F0"/>
            </a:solidFill>
            <a:prstDash val="solid"/>
          </a:ln>
        </p:spPr>
      </p:sp>
      <p:sp>
        <p:nvSpPr>
          <p:cNvPr id="29" name="Shape 27"/>
          <p:cNvSpPr/>
          <p:nvPr/>
        </p:nvSpPr>
        <p:spPr>
          <a:xfrm>
            <a:off x="5972175" y="1331714"/>
            <a:ext cx="266700" cy="266700"/>
          </a:xfrm>
          <a:prstGeom prst="roundRect">
            <a:avLst>
              <a:gd name="adj" fmla="val 28571"/>
            </a:avLst>
          </a:prstGeom>
          <a:solidFill>
            <a:srgbClr val="E11D48"/>
          </a:solidFill>
          <a:ln/>
        </p:spPr>
      </p:sp>
      <p:sp>
        <p:nvSpPr>
          <p:cNvPr id="30" name="Text 28"/>
          <p:cNvSpPr txBox="1"/>
          <p:nvPr/>
        </p:nvSpPr>
        <p:spPr>
          <a:xfrm>
            <a:off x="6062365" y="1384102"/>
            <a:ext cx="129600"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solidFill>
              </a:rPr>
              <a:t>2</a:t>
            </a:r>
            <a:endParaRPr lang="en-US" sz="1050" dirty="0"/>
          </a:p>
        </p:txBody>
      </p:sp>
      <p:sp>
        <p:nvSpPr>
          <p:cNvPr id="31" name="Text 29"/>
          <p:cNvSpPr txBox="1"/>
          <p:nvPr/>
        </p:nvSpPr>
        <p:spPr>
          <a:xfrm>
            <a:off x="6334125" y="1364456"/>
            <a:ext cx="1455554" cy="190500"/>
          </a:xfrm>
          <a:prstGeom prst="rect">
            <a:avLst/>
          </a:prstGeom>
          <a:noFill/>
          <a:ln/>
        </p:spPr>
        <p:txBody>
          <a:bodyPr wrap="none" lIns="0" tIns="0" rIns="0" bIns="0" rtlCol="0" anchor="t"/>
          <a:lstStyle/>
          <a:p>
            <a:pPr marL="0" indent="0" algn="l">
              <a:lnSpc>
                <a:spcPts val="1580"/>
              </a:lnSpc>
              <a:buNone/>
            </a:pPr>
            <a:r>
              <a:rPr lang="en-US" sz="1240" b="1" dirty="0">
                <a:solidFill>
                  <a:srgbClr val="0F172A"/>
                </a:solidFill>
              </a:rPr>
              <a:t>Bán hàng thế nào</a:t>
            </a:r>
            <a:endParaRPr lang="en-US" sz="1240" dirty="0"/>
          </a:p>
        </p:txBody>
      </p:sp>
      <p:sp>
        <p:nvSpPr>
          <p:cNvPr id="32" name="Text 30"/>
          <p:cNvSpPr txBox="1"/>
          <p:nvPr/>
        </p:nvSpPr>
        <p:spPr>
          <a:xfrm>
            <a:off x="6124575" y="2035225"/>
            <a:ext cx="2430182"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Chạm thẻ: cách chính tại quầy</a:t>
            </a:r>
            <a:endParaRPr lang="en-US" sz="1200" dirty="0"/>
          </a:p>
        </p:txBody>
      </p:sp>
      <p:sp>
        <p:nvSpPr>
          <p:cNvPr id="33" name="Shape 31"/>
          <p:cNvSpPr/>
          <p:nvPr/>
        </p:nvSpPr>
        <p:spPr>
          <a:xfrm>
            <a:off x="5981700" y="2101900"/>
            <a:ext cx="57150" cy="57150"/>
          </a:xfrm>
          <a:prstGeom prst="ellipse">
            <a:avLst/>
          </a:prstGeom>
          <a:solidFill>
            <a:srgbClr val="334155"/>
          </a:solidFill>
          <a:ln/>
        </p:spPr>
      </p:sp>
      <p:sp>
        <p:nvSpPr>
          <p:cNvPr id="34" name="Text 32"/>
          <p:cNvSpPr txBox="1"/>
          <p:nvPr/>
        </p:nvSpPr>
        <p:spPr>
          <a:xfrm>
            <a:off x="6124575" y="2343745"/>
            <a:ext cx="3076575"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Link thanh toán: khi không chạm được, có 3-D Secure</a:t>
            </a:r>
            <a:endParaRPr lang="en-US" sz="1200" dirty="0"/>
          </a:p>
        </p:txBody>
      </p:sp>
      <p:sp>
        <p:nvSpPr>
          <p:cNvPr id="35" name="Shape 33"/>
          <p:cNvSpPr/>
          <p:nvPr/>
        </p:nvSpPr>
        <p:spPr>
          <a:xfrm>
            <a:off x="5981700" y="2410420"/>
            <a:ext cx="57150" cy="57150"/>
          </a:xfrm>
          <a:prstGeom prst="ellipse">
            <a:avLst/>
          </a:prstGeom>
          <a:solidFill>
            <a:srgbClr val="334155"/>
          </a:solidFill>
          <a:ln/>
        </p:spPr>
      </p:sp>
      <p:sp>
        <p:nvSpPr>
          <p:cNvPr id="36" name="Text 34"/>
          <p:cNvSpPr txBox="1"/>
          <p:nvPr/>
        </p:nvSpPr>
        <p:spPr>
          <a:xfrm>
            <a:off x="6124575" y="2865537"/>
            <a:ext cx="2121607"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Lịch sử, hoàn tiền, đối soát</a:t>
            </a:r>
            <a:endParaRPr lang="en-US" sz="1200" dirty="0"/>
          </a:p>
        </p:txBody>
      </p:sp>
      <p:sp>
        <p:nvSpPr>
          <p:cNvPr id="37" name="Shape 35"/>
          <p:cNvSpPr/>
          <p:nvPr/>
        </p:nvSpPr>
        <p:spPr>
          <a:xfrm>
            <a:off x="5981700" y="2932212"/>
            <a:ext cx="57150" cy="57150"/>
          </a:xfrm>
          <a:prstGeom prst="ellipse">
            <a:avLst/>
          </a:prstGeom>
          <a:solidFill>
            <a:srgbClr val="334155"/>
          </a:solidFill>
          <a:ln/>
        </p:spPr>
      </p:sp>
      <p:sp>
        <p:nvSpPr>
          <p:cNvPr id="38" name="Shape 36"/>
          <p:cNvSpPr/>
          <p:nvPr/>
        </p:nvSpPr>
        <p:spPr>
          <a:xfrm>
            <a:off x="9305925" y="1655564"/>
            <a:ext cx="990600" cy="1600200"/>
          </a:xfrm>
          <a:prstGeom prst="roundRect">
            <a:avLst>
              <a:gd name="adj" fmla="val 15385"/>
            </a:avLst>
          </a:prstGeom>
          <a:solidFill>
            <a:srgbClr val="FFFFFF"/>
          </a:solidFill>
          <a:ln w="38100">
            <a:solidFill>
              <a:srgbClr val="0F172A"/>
            </a:solidFill>
            <a:prstDash val="solid"/>
          </a:ln>
        </p:spPr>
      </p:sp>
      <p:sp>
        <p:nvSpPr>
          <p:cNvPr id="39" name="Shape 37"/>
          <p:cNvSpPr/>
          <p:nvPr/>
        </p:nvSpPr>
        <p:spPr>
          <a:xfrm>
            <a:off x="9648825" y="1731764"/>
            <a:ext cx="304800" cy="47625"/>
          </a:xfrm>
          <a:prstGeom prst="roundRect">
            <a:avLst>
              <a:gd name="adj" fmla="val 50000"/>
            </a:avLst>
          </a:prstGeom>
          <a:solidFill>
            <a:srgbClr val="0F172A"/>
          </a:solidFill>
          <a:ln/>
        </p:spPr>
      </p:sp>
      <p:sp>
        <p:nvSpPr>
          <p:cNvPr id="40" name="Shape 38"/>
          <p:cNvSpPr/>
          <p:nvPr/>
        </p:nvSpPr>
        <p:spPr>
          <a:xfrm>
            <a:off x="9344025" y="1693664"/>
            <a:ext cx="914400" cy="361950"/>
          </a:xfrm>
          <a:prstGeom prst="rect">
            <a:avLst/>
          </a:prstGeom>
          <a:solidFill>
            <a:srgbClr val="E11D48"/>
          </a:solidFill>
          <a:ln/>
        </p:spPr>
      </p:sp>
      <p:sp>
        <p:nvSpPr>
          <p:cNvPr id="41" name="Text 39"/>
          <p:cNvSpPr txBox="1"/>
          <p:nvPr/>
        </p:nvSpPr>
        <p:spPr>
          <a:xfrm>
            <a:off x="9391650" y="1817489"/>
            <a:ext cx="847725" cy="190500"/>
          </a:xfrm>
          <a:prstGeom prst="rect">
            <a:avLst/>
          </a:prstGeom>
          <a:noFill/>
          <a:ln/>
        </p:spPr>
        <p:txBody>
          <a:bodyPr wrap="square" lIns="0" tIns="0" rIns="0" bIns="0" rtlCol="0" anchor="t"/>
          <a:lstStyle/>
          <a:p>
            <a:pPr marL="0" indent="0" algn="ctr">
              <a:lnSpc>
                <a:spcPts val="770"/>
              </a:lnSpc>
              <a:buNone/>
            </a:pPr>
            <a:r>
              <a:rPr lang="en-US" sz="640" b="1" dirty="0">
                <a:solidFill>
                  <a:srgbClr val="FFFFFF"/>
                </a:solidFill>
              </a:rPr>
              <a:t>Tendoo · Visa Accept</a:t>
            </a:r>
            <a:endParaRPr lang="en-US" sz="640" dirty="0"/>
          </a:p>
        </p:txBody>
      </p:sp>
      <p:sp>
        <p:nvSpPr>
          <p:cNvPr id="42" name="Text 40"/>
          <p:cNvSpPr txBox="1"/>
          <p:nvPr/>
        </p:nvSpPr>
        <p:spPr>
          <a:xfrm>
            <a:off x="9531656" y="2122289"/>
            <a:ext cx="539139" cy="104775"/>
          </a:xfrm>
          <a:prstGeom prst="rect">
            <a:avLst/>
          </a:prstGeom>
          <a:noFill/>
          <a:ln/>
        </p:spPr>
        <p:txBody>
          <a:bodyPr wrap="none" lIns="0" tIns="0" rIns="0" bIns="0" rtlCol="0" anchor="t"/>
          <a:lstStyle/>
          <a:p>
            <a:pPr marL="0" indent="0" algn="ctr">
              <a:lnSpc>
                <a:spcPts val="960"/>
              </a:lnSpc>
              <a:buNone/>
            </a:pPr>
            <a:r>
              <a:rPr lang="en-US" sz="710" b="1" dirty="0">
                <a:solidFill>
                  <a:srgbClr val="64748B"/>
                </a:solidFill>
              </a:rPr>
              <a:t>Đơn #1024</a:t>
            </a:r>
            <a:endParaRPr lang="en-US" sz="710" dirty="0"/>
          </a:p>
        </p:txBody>
      </p:sp>
      <p:sp>
        <p:nvSpPr>
          <p:cNvPr id="43" name="Text 41"/>
          <p:cNvSpPr txBox="1"/>
          <p:nvPr/>
        </p:nvSpPr>
        <p:spPr>
          <a:xfrm>
            <a:off x="9420752" y="2291953"/>
            <a:ext cx="760946" cy="161925"/>
          </a:xfrm>
          <a:prstGeom prst="rect">
            <a:avLst/>
          </a:prstGeom>
          <a:noFill/>
          <a:ln/>
        </p:spPr>
        <p:txBody>
          <a:bodyPr wrap="none" lIns="0" tIns="0" rIns="0" bIns="0" rtlCol="0" anchor="t"/>
          <a:lstStyle/>
          <a:p>
            <a:pPr marL="0" indent="0" algn="ctr">
              <a:lnSpc>
                <a:spcPts val="1260"/>
              </a:lnSpc>
              <a:buNone/>
            </a:pPr>
            <a:r>
              <a:rPr lang="en-US" sz="1050" b="1" dirty="0">
                <a:solidFill>
                  <a:srgbClr val="0F172A"/>
                </a:solidFill>
              </a:rPr>
              <a:t>350.000đ</a:t>
            </a:r>
            <a:endParaRPr lang="en-US" sz="1050" dirty="0"/>
          </a:p>
        </p:txBody>
      </p:sp>
      <p:sp>
        <p:nvSpPr>
          <p:cNvPr id="44" name="Shape 42"/>
          <p:cNvSpPr/>
          <p:nvPr/>
        </p:nvSpPr>
        <p:spPr>
          <a:xfrm>
            <a:off x="9610725" y="2501503"/>
            <a:ext cx="381000" cy="381000"/>
          </a:xfrm>
          <a:prstGeom prst="ellipse">
            <a:avLst/>
          </a:prstGeom>
          <a:ln w="19050">
            <a:solidFill>
              <a:srgbClr val="E11D48"/>
            </a:solidFill>
            <a:prstDash val="solid"/>
          </a:ln>
        </p:spPr>
      </p:sp>
      <p:sp>
        <p:nvSpPr>
          <p:cNvPr id="45" name="Text 43"/>
          <p:cNvSpPr txBox="1"/>
          <p:nvPr/>
        </p:nvSpPr>
        <p:spPr>
          <a:xfrm>
            <a:off x="9720965" y="2615803"/>
            <a:ext cx="160520" cy="152400"/>
          </a:xfrm>
          <a:prstGeom prst="rect">
            <a:avLst/>
          </a:prstGeom>
          <a:noFill/>
          <a:ln/>
        </p:spPr>
        <p:txBody>
          <a:bodyPr wrap="none" lIns="0" tIns="0" rIns="0" bIns="0" rtlCol="0" anchor="t"/>
          <a:lstStyle/>
          <a:p>
            <a:pPr marL="0" indent="0" algn="ctr">
              <a:lnSpc>
                <a:spcPts val="1170"/>
              </a:lnSpc>
              <a:buNone/>
            </a:pPr>
            <a:r>
              <a:rPr lang="en-US" sz="980" b="1" kern="0" spc="-70" dirty="0">
                <a:solidFill>
                  <a:srgbClr val="E11D48"/>
                </a:solidFill>
              </a:rPr>
              <a:t>)))</a:t>
            </a:r>
            <a:endParaRPr lang="en-US" sz="980" dirty="0"/>
          </a:p>
        </p:txBody>
      </p:sp>
      <p:sp>
        <p:nvSpPr>
          <p:cNvPr id="46" name="Text 44"/>
          <p:cNvSpPr txBox="1"/>
          <p:nvPr/>
        </p:nvSpPr>
        <p:spPr>
          <a:xfrm>
            <a:off x="9401175" y="2930128"/>
            <a:ext cx="828675" cy="226814"/>
          </a:xfrm>
          <a:prstGeom prst="rect">
            <a:avLst/>
          </a:prstGeom>
          <a:noFill/>
          <a:ln/>
        </p:spPr>
        <p:txBody>
          <a:bodyPr wrap="square" lIns="0" tIns="0" rIns="0" bIns="0" rtlCol="0" anchor="t"/>
          <a:lstStyle/>
          <a:p>
            <a:pPr marL="0" indent="0" algn="ctr">
              <a:lnSpc>
                <a:spcPts val="960"/>
              </a:lnSpc>
              <a:buNone/>
            </a:pPr>
            <a:r>
              <a:rPr lang="en-US" sz="710" b="1" dirty="0">
                <a:solidFill>
                  <a:srgbClr val="64748B"/>
                </a:solidFill>
              </a:rPr>
              <a:t>Mời khách chạm thẻ</a:t>
            </a:r>
            <a:endParaRPr lang="en-US" sz="710" dirty="0"/>
          </a:p>
        </p:txBody>
      </p:sp>
      <p:sp>
        <p:nvSpPr>
          <p:cNvPr id="47" name="Text 45"/>
          <p:cNvSpPr txBox="1"/>
          <p:nvPr/>
        </p:nvSpPr>
        <p:spPr>
          <a:xfrm>
            <a:off x="9519193" y="3303389"/>
            <a:ext cx="564065" cy="133350"/>
          </a:xfrm>
          <a:prstGeom prst="rect">
            <a:avLst/>
          </a:prstGeom>
          <a:noFill/>
          <a:ln/>
        </p:spPr>
        <p:txBody>
          <a:bodyPr wrap="none" lIns="0" tIns="0" rIns="0" bIns="0" rtlCol="0" anchor="t"/>
          <a:lstStyle/>
          <a:p>
            <a:pPr marL="0" indent="0" algn="ctr">
              <a:lnSpc>
                <a:spcPts val="1070"/>
              </a:lnSpc>
              <a:buNone/>
            </a:pPr>
            <a:r>
              <a:rPr lang="en-US" sz="830" b="1" dirty="0">
                <a:solidFill>
                  <a:srgbClr val="0F172A"/>
                </a:solidFill>
              </a:rPr>
              <a:t>Chạm thẻ</a:t>
            </a:r>
            <a:endParaRPr lang="en-US" sz="830" dirty="0"/>
          </a:p>
        </p:txBody>
      </p:sp>
      <p:sp>
        <p:nvSpPr>
          <p:cNvPr id="48" name="Shape 46"/>
          <p:cNvSpPr/>
          <p:nvPr/>
        </p:nvSpPr>
        <p:spPr>
          <a:xfrm>
            <a:off x="10391775" y="1655564"/>
            <a:ext cx="990600" cy="1600200"/>
          </a:xfrm>
          <a:prstGeom prst="roundRect">
            <a:avLst>
              <a:gd name="adj" fmla="val 15385"/>
            </a:avLst>
          </a:prstGeom>
          <a:solidFill>
            <a:srgbClr val="FFFFFF"/>
          </a:solidFill>
          <a:ln w="38100">
            <a:solidFill>
              <a:srgbClr val="0F172A"/>
            </a:solidFill>
            <a:prstDash val="solid"/>
          </a:ln>
        </p:spPr>
      </p:sp>
      <p:sp>
        <p:nvSpPr>
          <p:cNvPr id="49" name="Shape 47"/>
          <p:cNvSpPr/>
          <p:nvPr/>
        </p:nvSpPr>
        <p:spPr>
          <a:xfrm>
            <a:off x="10734675" y="1731764"/>
            <a:ext cx="304800" cy="47625"/>
          </a:xfrm>
          <a:prstGeom prst="roundRect">
            <a:avLst>
              <a:gd name="adj" fmla="val 50000"/>
            </a:avLst>
          </a:prstGeom>
          <a:solidFill>
            <a:srgbClr val="0F172A"/>
          </a:solidFill>
          <a:ln/>
        </p:spPr>
      </p:sp>
      <p:sp>
        <p:nvSpPr>
          <p:cNvPr id="50" name="Shape 48"/>
          <p:cNvSpPr/>
          <p:nvPr/>
        </p:nvSpPr>
        <p:spPr>
          <a:xfrm>
            <a:off x="10429875" y="1693664"/>
            <a:ext cx="914400" cy="361950"/>
          </a:xfrm>
          <a:prstGeom prst="rect">
            <a:avLst/>
          </a:prstGeom>
          <a:solidFill>
            <a:srgbClr val="E11D48"/>
          </a:solidFill>
          <a:ln/>
        </p:spPr>
      </p:sp>
      <p:sp>
        <p:nvSpPr>
          <p:cNvPr id="51" name="Text 49"/>
          <p:cNvSpPr txBox="1"/>
          <p:nvPr/>
        </p:nvSpPr>
        <p:spPr>
          <a:xfrm>
            <a:off x="10477500" y="1817489"/>
            <a:ext cx="847725" cy="190500"/>
          </a:xfrm>
          <a:prstGeom prst="rect">
            <a:avLst/>
          </a:prstGeom>
          <a:noFill/>
          <a:ln/>
        </p:spPr>
        <p:txBody>
          <a:bodyPr wrap="square" lIns="0" tIns="0" rIns="0" bIns="0" rtlCol="0" anchor="t"/>
          <a:lstStyle/>
          <a:p>
            <a:pPr marL="0" indent="0" algn="ctr">
              <a:lnSpc>
                <a:spcPts val="770"/>
              </a:lnSpc>
              <a:buNone/>
            </a:pPr>
            <a:r>
              <a:rPr lang="en-US" sz="640" b="1" dirty="0">
                <a:solidFill>
                  <a:srgbClr val="FFFFFF"/>
                </a:solidFill>
              </a:rPr>
              <a:t>Tendoo · Visa Accept</a:t>
            </a:r>
            <a:endParaRPr lang="en-US" sz="640" dirty="0"/>
          </a:p>
        </p:txBody>
      </p:sp>
      <p:sp>
        <p:nvSpPr>
          <p:cNvPr id="52" name="Text 50"/>
          <p:cNvSpPr txBox="1"/>
          <p:nvPr/>
        </p:nvSpPr>
        <p:spPr>
          <a:xfrm>
            <a:off x="10619399" y="2194620"/>
            <a:ext cx="535353" cy="104775"/>
          </a:xfrm>
          <a:prstGeom prst="rect">
            <a:avLst/>
          </a:prstGeom>
          <a:noFill/>
          <a:ln/>
        </p:spPr>
        <p:txBody>
          <a:bodyPr wrap="none" lIns="0" tIns="0" rIns="0" bIns="0" rtlCol="0" anchor="t"/>
          <a:lstStyle/>
          <a:p>
            <a:pPr marL="0" indent="0" algn="ctr">
              <a:lnSpc>
                <a:spcPts val="960"/>
              </a:lnSpc>
              <a:buNone/>
            </a:pPr>
            <a:r>
              <a:rPr lang="en-US" sz="710" b="1" dirty="0">
                <a:solidFill>
                  <a:srgbClr val="64748B"/>
                </a:solidFill>
              </a:rPr>
              <a:t>Đơn #1025</a:t>
            </a:r>
            <a:endParaRPr lang="en-US" sz="710" dirty="0"/>
          </a:p>
        </p:txBody>
      </p:sp>
      <p:sp>
        <p:nvSpPr>
          <p:cNvPr id="53" name="Text 51"/>
          <p:cNvSpPr txBox="1"/>
          <p:nvPr/>
        </p:nvSpPr>
        <p:spPr>
          <a:xfrm>
            <a:off x="10508179" y="2364284"/>
            <a:ext cx="757791" cy="161925"/>
          </a:xfrm>
          <a:prstGeom prst="rect">
            <a:avLst/>
          </a:prstGeom>
          <a:noFill/>
          <a:ln/>
        </p:spPr>
        <p:txBody>
          <a:bodyPr wrap="none" lIns="0" tIns="0" rIns="0" bIns="0" rtlCol="0" anchor="t"/>
          <a:lstStyle/>
          <a:p>
            <a:pPr marL="0" indent="0" algn="ctr">
              <a:lnSpc>
                <a:spcPts val="1260"/>
              </a:lnSpc>
              <a:buNone/>
            </a:pPr>
            <a:r>
              <a:rPr lang="en-US" sz="1050" b="1" dirty="0">
                <a:solidFill>
                  <a:srgbClr val="0F172A"/>
                </a:solidFill>
              </a:rPr>
              <a:t>520.000đ</a:t>
            </a:r>
            <a:endParaRPr lang="en-US" sz="1050" dirty="0"/>
          </a:p>
        </p:txBody>
      </p:sp>
      <p:sp>
        <p:nvSpPr>
          <p:cNvPr id="54" name="Shape 52"/>
          <p:cNvSpPr/>
          <p:nvPr/>
        </p:nvSpPr>
        <p:spPr>
          <a:xfrm>
            <a:off x="10487025" y="2573834"/>
            <a:ext cx="800100" cy="190500"/>
          </a:xfrm>
          <a:prstGeom prst="roundRect">
            <a:avLst>
              <a:gd name="adj" fmla="val 25000"/>
            </a:avLst>
          </a:prstGeom>
          <a:solidFill>
            <a:srgbClr val="FFFFFF"/>
          </a:solidFill>
          <a:ln w="9525">
            <a:solidFill>
              <a:srgbClr val="E2E8F0"/>
            </a:solidFill>
            <a:prstDash val="solid"/>
          </a:ln>
        </p:spPr>
      </p:sp>
      <p:sp>
        <p:nvSpPr>
          <p:cNvPr id="55" name="Text 53"/>
          <p:cNvSpPr txBox="1"/>
          <p:nvPr/>
        </p:nvSpPr>
        <p:spPr>
          <a:xfrm>
            <a:off x="10553700" y="2621459"/>
            <a:ext cx="514213" cy="95250"/>
          </a:xfrm>
          <a:prstGeom prst="rect">
            <a:avLst/>
          </a:prstGeom>
          <a:noFill/>
          <a:ln/>
        </p:spPr>
        <p:txBody>
          <a:bodyPr wrap="none" lIns="0" tIns="0" rIns="0" bIns="0" rtlCol="0" anchor="t"/>
          <a:lstStyle/>
          <a:p>
            <a:pPr marL="0" indent="0" algn="l">
              <a:lnSpc>
                <a:spcPts val="770"/>
              </a:lnSpc>
              <a:buNone/>
            </a:pPr>
            <a:r>
              <a:rPr lang="en-US" sz="640" b="1" dirty="0">
                <a:solidFill>
                  <a:srgbClr val="0F172A"/>
                </a:solidFill>
              </a:rPr>
              <a:t>pay.link/…</a:t>
            </a:r>
            <a:endParaRPr lang="en-US" sz="640" dirty="0"/>
          </a:p>
        </p:txBody>
      </p:sp>
      <p:sp>
        <p:nvSpPr>
          <p:cNvPr id="56" name="Shape 54"/>
          <p:cNvSpPr/>
          <p:nvPr/>
        </p:nvSpPr>
        <p:spPr>
          <a:xfrm>
            <a:off x="10487025" y="2811959"/>
            <a:ext cx="800100" cy="266700"/>
          </a:xfrm>
          <a:prstGeom prst="roundRect">
            <a:avLst>
              <a:gd name="adj" fmla="val 28571"/>
            </a:avLst>
          </a:prstGeom>
          <a:solidFill>
            <a:srgbClr val="E11D48"/>
          </a:solidFill>
          <a:ln/>
        </p:spPr>
      </p:sp>
      <p:sp>
        <p:nvSpPr>
          <p:cNvPr id="57" name="Text 55"/>
          <p:cNvSpPr txBox="1"/>
          <p:nvPr/>
        </p:nvSpPr>
        <p:spPr>
          <a:xfrm>
            <a:off x="10534650" y="2850059"/>
            <a:ext cx="733425" cy="190500"/>
          </a:xfrm>
          <a:prstGeom prst="rect">
            <a:avLst/>
          </a:prstGeom>
          <a:noFill/>
          <a:ln/>
        </p:spPr>
        <p:txBody>
          <a:bodyPr wrap="square" lIns="0" tIns="0" rIns="0" bIns="0" rtlCol="0" anchor="t"/>
          <a:lstStyle/>
          <a:p>
            <a:pPr marL="0" indent="0" algn="ctr">
              <a:lnSpc>
                <a:spcPts val="770"/>
              </a:lnSpc>
              <a:buNone/>
            </a:pPr>
            <a:r>
              <a:rPr lang="en-US" sz="640" b="1" dirty="0">
                <a:solidFill>
                  <a:srgbClr val="FFFFFF"/>
                </a:solidFill>
              </a:rPr>
              <a:t>Gửi link cho khách</a:t>
            </a:r>
            <a:endParaRPr lang="en-US" sz="640" dirty="0"/>
          </a:p>
        </p:txBody>
      </p:sp>
      <p:sp>
        <p:nvSpPr>
          <p:cNvPr id="58" name="Text 56"/>
          <p:cNvSpPr txBox="1"/>
          <p:nvPr/>
        </p:nvSpPr>
        <p:spPr>
          <a:xfrm>
            <a:off x="10444919" y="3303389"/>
            <a:ext cx="884313" cy="133350"/>
          </a:xfrm>
          <a:prstGeom prst="rect">
            <a:avLst/>
          </a:prstGeom>
          <a:noFill/>
          <a:ln/>
        </p:spPr>
        <p:txBody>
          <a:bodyPr wrap="none" lIns="0" tIns="0" rIns="0" bIns="0" rtlCol="0" anchor="t"/>
          <a:lstStyle/>
          <a:p>
            <a:pPr marL="0" indent="0" algn="ctr">
              <a:lnSpc>
                <a:spcPts val="1070"/>
              </a:lnSpc>
              <a:buNone/>
            </a:pPr>
            <a:r>
              <a:rPr lang="en-US" sz="830" b="1" dirty="0">
                <a:solidFill>
                  <a:srgbClr val="0F172A"/>
                </a:solidFill>
              </a:rPr>
              <a:t>Link thanh toán</a:t>
            </a:r>
            <a:endParaRPr lang="en-US" sz="830" dirty="0"/>
          </a:p>
        </p:txBody>
      </p:sp>
      <p:sp>
        <p:nvSpPr>
          <p:cNvPr id="59" name="Shape 57"/>
          <p:cNvSpPr/>
          <p:nvPr/>
        </p:nvSpPr>
        <p:spPr>
          <a:xfrm>
            <a:off x="5772150" y="3734842"/>
            <a:ext cx="5810250" cy="1771650"/>
          </a:xfrm>
          <a:prstGeom prst="roundRect">
            <a:avLst>
              <a:gd name="adj" fmla="val 7527"/>
            </a:avLst>
          </a:prstGeom>
          <a:solidFill>
            <a:srgbClr val="FFFFFF"/>
          </a:solidFill>
          <a:ln w="9525">
            <a:solidFill>
              <a:srgbClr val="E2E8F0"/>
            </a:solidFill>
            <a:prstDash val="solid"/>
          </a:ln>
        </p:spPr>
      </p:sp>
      <p:sp>
        <p:nvSpPr>
          <p:cNvPr id="60" name="Shape 58"/>
          <p:cNvSpPr/>
          <p:nvPr/>
        </p:nvSpPr>
        <p:spPr>
          <a:xfrm>
            <a:off x="5972175" y="3896767"/>
            <a:ext cx="266700" cy="266700"/>
          </a:xfrm>
          <a:prstGeom prst="roundRect">
            <a:avLst>
              <a:gd name="adj" fmla="val 28571"/>
            </a:avLst>
          </a:prstGeom>
          <a:solidFill>
            <a:srgbClr val="E11D48"/>
          </a:solidFill>
          <a:ln/>
        </p:spPr>
      </p:sp>
      <p:sp>
        <p:nvSpPr>
          <p:cNvPr id="61" name="Text 59"/>
          <p:cNvSpPr txBox="1"/>
          <p:nvPr/>
        </p:nvSpPr>
        <p:spPr>
          <a:xfrm>
            <a:off x="6058644" y="3949154"/>
            <a:ext cx="137487"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solidFill>
              </a:rPr>
              <a:t>4</a:t>
            </a:r>
            <a:endParaRPr lang="en-US" sz="1050" dirty="0"/>
          </a:p>
        </p:txBody>
      </p:sp>
      <p:sp>
        <p:nvSpPr>
          <p:cNvPr id="62" name="Text 60"/>
          <p:cNvSpPr txBox="1"/>
          <p:nvPr/>
        </p:nvSpPr>
        <p:spPr>
          <a:xfrm>
            <a:off x="6334125" y="3929509"/>
            <a:ext cx="2155525" cy="190500"/>
          </a:xfrm>
          <a:prstGeom prst="rect">
            <a:avLst/>
          </a:prstGeom>
          <a:noFill/>
          <a:ln/>
        </p:spPr>
        <p:txBody>
          <a:bodyPr wrap="none" lIns="0" tIns="0" rIns="0" bIns="0" rtlCol="0" anchor="t"/>
          <a:lstStyle/>
          <a:p>
            <a:pPr marL="0" indent="0" algn="l">
              <a:lnSpc>
                <a:spcPts val="1580"/>
              </a:lnSpc>
              <a:buNone/>
            </a:pPr>
            <a:r>
              <a:rPr lang="en-US" sz="1240" b="1" dirty="0">
                <a:solidFill>
                  <a:srgbClr val="0F172A"/>
                </a:solidFill>
              </a:rPr>
              <a:t>Lộ trình nâng gói của Visa</a:t>
            </a:r>
            <a:endParaRPr lang="en-US" sz="1240" dirty="0"/>
          </a:p>
        </p:txBody>
      </p:sp>
      <p:sp>
        <p:nvSpPr>
          <p:cNvPr id="63" name="Shape 61"/>
          <p:cNvSpPr/>
          <p:nvPr/>
        </p:nvSpPr>
        <p:spPr>
          <a:xfrm>
            <a:off x="5972175" y="4590306"/>
            <a:ext cx="1746200" cy="754261"/>
          </a:xfrm>
          <a:prstGeom prst="roundRect">
            <a:avLst>
              <a:gd name="adj" fmla="val 15154"/>
            </a:avLst>
          </a:prstGeom>
          <a:solidFill>
            <a:srgbClr val="FFF1F2"/>
          </a:solidFill>
          <a:ln w="9525">
            <a:solidFill>
              <a:srgbClr val="E11D48"/>
            </a:solidFill>
            <a:prstDash val="solid"/>
          </a:ln>
        </p:spPr>
      </p:sp>
      <p:sp>
        <p:nvSpPr>
          <p:cNvPr id="64" name="Text 62"/>
          <p:cNvSpPr txBox="1"/>
          <p:nvPr/>
        </p:nvSpPr>
        <p:spPr>
          <a:xfrm>
            <a:off x="6115050" y="4695081"/>
            <a:ext cx="381065" cy="133350"/>
          </a:xfrm>
          <a:prstGeom prst="rect">
            <a:avLst/>
          </a:prstGeom>
          <a:noFill/>
          <a:ln/>
        </p:spPr>
        <p:txBody>
          <a:bodyPr wrap="none" lIns="0" tIns="0" rIns="0" bIns="0" rtlCol="0" anchor="t"/>
          <a:lstStyle/>
          <a:p>
            <a:pPr marL="0" indent="0" algn="l">
              <a:lnSpc>
                <a:spcPts val="990"/>
              </a:lnSpc>
              <a:buNone/>
            </a:pPr>
            <a:r>
              <a:rPr lang="en-US" sz="830" b="1" kern="0" spc="40" dirty="0">
                <a:solidFill>
                  <a:srgbClr val="E11D48">
                    <a:alpha val="75000"/>
                  </a:srgbClr>
                </a:solidFill>
              </a:rPr>
              <a:t>BẬC 1</a:t>
            </a:r>
            <a:endParaRPr lang="en-US" sz="830" dirty="0"/>
          </a:p>
        </p:txBody>
      </p:sp>
      <p:sp>
        <p:nvSpPr>
          <p:cNvPr id="65" name="Text 63"/>
          <p:cNvSpPr txBox="1"/>
          <p:nvPr/>
        </p:nvSpPr>
        <p:spPr>
          <a:xfrm>
            <a:off x="6115050" y="4857006"/>
            <a:ext cx="1004524" cy="190500"/>
          </a:xfrm>
          <a:prstGeom prst="rect">
            <a:avLst/>
          </a:prstGeom>
          <a:noFill/>
          <a:ln/>
        </p:spPr>
        <p:txBody>
          <a:bodyPr wrap="none" lIns="0" tIns="0" rIns="0" bIns="0" rtlCol="0" anchor="t"/>
          <a:lstStyle/>
          <a:p>
            <a:pPr marL="0" indent="0" algn="l">
              <a:lnSpc>
                <a:spcPts val="1500"/>
              </a:lnSpc>
              <a:buNone/>
            </a:pPr>
            <a:r>
              <a:rPr lang="en-US" sz="1200" b="1" dirty="0">
                <a:solidFill>
                  <a:srgbClr val="0F172A"/>
                </a:solidFill>
              </a:rPr>
              <a:t>Visa Accept</a:t>
            </a:r>
            <a:endParaRPr lang="en-US" sz="1200" dirty="0"/>
          </a:p>
        </p:txBody>
      </p:sp>
      <p:sp>
        <p:nvSpPr>
          <p:cNvPr id="66" name="Text 64"/>
          <p:cNvSpPr txBox="1"/>
          <p:nvPr/>
        </p:nvSpPr>
        <p:spPr>
          <a:xfrm>
            <a:off x="6115050" y="5085606"/>
            <a:ext cx="537088" cy="142875"/>
          </a:xfrm>
          <a:prstGeom prst="rect">
            <a:avLst/>
          </a:prstGeom>
          <a:noFill/>
          <a:ln/>
        </p:spPr>
        <p:txBody>
          <a:bodyPr wrap="none" lIns="0" tIns="0" rIns="0" bIns="0" rtlCol="0" anchor="t"/>
          <a:lstStyle/>
          <a:p>
            <a:pPr marL="0" indent="0" algn="l">
              <a:lnSpc>
                <a:spcPts val="1210"/>
              </a:lnSpc>
              <a:buNone/>
            </a:pPr>
            <a:r>
              <a:rPr lang="en-US" sz="900" b="1" dirty="0">
                <a:solidFill>
                  <a:srgbClr val="0F172A">
                    <a:alpha val="85000"/>
                  </a:srgbClr>
                </a:solidFill>
              </a:rPr>
              <a:t>MDR ≈ 0</a:t>
            </a:r>
            <a:endParaRPr lang="en-US" sz="900" dirty="0"/>
          </a:p>
        </p:txBody>
      </p:sp>
      <p:sp>
        <p:nvSpPr>
          <p:cNvPr id="67" name="Shape 65"/>
          <p:cNvSpPr/>
          <p:nvPr/>
        </p:nvSpPr>
        <p:spPr>
          <a:xfrm>
            <a:off x="7813625" y="4430167"/>
            <a:ext cx="1746349" cy="914400"/>
          </a:xfrm>
          <a:prstGeom prst="roundRect">
            <a:avLst>
              <a:gd name="adj" fmla="val 12500"/>
            </a:avLst>
          </a:prstGeom>
          <a:solidFill>
            <a:srgbClr val="FFFFFF"/>
          </a:solidFill>
          <a:ln w="9525">
            <a:solidFill>
              <a:srgbClr val="E2E8F0"/>
            </a:solidFill>
            <a:prstDash val="solid"/>
          </a:ln>
        </p:spPr>
      </p:sp>
      <p:sp>
        <p:nvSpPr>
          <p:cNvPr id="68" name="Text 66"/>
          <p:cNvSpPr txBox="1"/>
          <p:nvPr/>
        </p:nvSpPr>
        <p:spPr>
          <a:xfrm>
            <a:off x="7956500" y="4534942"/>
            <a:ext cx="402994" cy="133350"/>
          </a:xfrm>
          <a:prstGeom prst="rect">
            <a:avLst/>
          </a:prstGeom>
          <a:noFill/>
          <a:ln/>
        </p:spPr>
        <p:txBody>
          <a:bodyPr wrap="none" lIns="0" tIns="0" rIns="0" bIns="0" rtlCol="0" anchor="t"/>
          <a:lstStyle/>
          <a:p>
            <a:pPr marL="0" indent="0" algn="l">
              <a:lnSpc>
                <a:spcPts val="990"/>
              </a:lnSpc>
              <a:buNone/>
            </a:pPr>
            <a:r>
              <a:rPr lang="en-US" sz="830" b="1" kern="0" spc="40" dirty="0">
                <a:solidFill>
                  <a:srgbClr val="0F172A">
                    <a:alpha val="75000"/>
                  </a:srgbClr>
                </a:solidFill>
              </a:rPr>
              <a:t>BẬC 2</a:t>
            </a:r>
            <a:endParaRPr lang="en-US" sz="830" dirty="0"/>
          </a:p>
        </p:txBody>
      </p:sp>
      <p:sp>
        <p:nvSpPr>
          <p:cNvPr id="69" name="Text 67"/>
          <p:cNvSpPr txBox="1"/>
          <p:nvPr/>
        </p:nvSpPr>
        <p:spPr>
          <a:xfrm>
            <a:off x="7956500" y="4696867"/>
            <a:ext cx="707151" cy="190500"/>
          </a:xfrm>
          <a:prstGeom prst="rect">
            <a:avLst/>
          </a:prstGeom>
          <a:noFill/>
          <a:ln/>
        </p:spPr>
        <p:txBody>
          <a:bodyPr wrap="none" lIns="0" tIns="0" rIns="0" bIns="0" rtlCol="0" anchor="t"/>
          <a:lstStyle/>
          <a:p>
            <a:pPr marL="0" indent="0" algn="l">
              <a:lnSpc>
                <a:spcPts val="1500"/>
              </a:lnSpc>
              <a:buNone/>
            </a:pPr>
            <a:r>
              <a:rPr lang="en-US" sz="1200" b="1" dirty="0">
                <a:solidFill>
                  <a:srgbClr val="0F172A"/>
                </a:solidFill>
              </a:rPr>
              <a:t>Gói SMB</a:t>
            </a:r>
            <a:endParaRPr lang="en-US" sz="1200" dirty="0"/>
          </a:p>
        </p:txBody>
      </p:sp>
      <p:sp>
        <p:nvSpPr>
          <p:cNvPr id="70" name="Text 68"/>
          <p:cNvSpPr txBox="1"/>
          <p:nvPr/>
        </p:nvSpPr>
        <p:spPr>
          <a:xfrm>
            <a:off x="7956500" y="4925467"/>
            <a:ext cx="1485900" cy="297061"/>
          </a:xfrm>
          <a:prstGeom prst="rect">
            <a:avLst/>
          </a:prstGeom>
          <a:noFill/>
          <a:ln/>
        </p:spPr>
        <p:txBody>
          <a:bodyPr wrap="square" lIns="0" tIns="0" rIns="0" bIns="0" rtlCol="0" anchor="t"/>
          <a:lstStyle/>
          <a:p>
            <a:pPr marL="0" indent="0" algn="l">
              <a:lnSpc>
                <a:spcPts val="1210"/>
              </a:lnSpc>
              <a:buNone/>
            </a:pPr>
            <a:r>
              <a:rPr lang="en-US" sz="900" b="1" dirty="0">
                <a:solidFill>
                  <a:srgbClr val="0F172A">
                    <a:alpha val="85000"/>
                  </a:srgbClr>
                </a:solidFill>
              </a:rPr>
              <a:t>MDR dưới 1%, ~180 triệu/tháng</a:t>
            </a:r>
            <a:endParaRPr lang="en-US" sz="900" dirty="0"/>
          </a:p>
        </p:txBody>
      </p:sp>
      <p:sp>
        <p:nvSpPr>
          <p:cNvPr id="71" name="Shape 69"/>
          <p:cNvSpPr/>
          <p:nvPr/>
        </p:nvSpPr>
        <p:spPr>
          <a:xfrm>
            <a:off x="9655225" y="4239667"/>
            <a:ext cx="1727150" cy="1104900"/>
          </a:xfrm>
          <a:prstGeom prst="roundRect">
            <a:avLst>
              <a:gd name="adj" fmla="val 10345"/>
            </a:avLst>
          </a:prstGeom>
          <a:solidFill>
            <a:srgbClr val="0F172A"/>
          </a:solidFill>
          <a:ln/>
        </p:spPr>
      </p:sp>
      <p:sp>
        <p:nvSpPr>
          <p:cNvPr id="72" name="Text 70"/>
          <p:cNvSpPr txBox="1"/>
          <p:nvPr/>
        </p:nvSpPr>
        <p:spPr>
          <a:xfrm>
            <a:off x="9788575" y="4334917"/>
            <a:ext cx="405045" cy="133350"/>
          </a:xfrm>
          <a:prstGeom prst="rect">
            <a:avLst/>
          </a:prstGeom>
          <a:noFill/>
          <a:ln/>
        </p:spPr>
        <p:txBody>
          <a:bodyPr wrap="none" lIns="0" tIns="0" rIns="0" bIns="0" rtlCol="0" anchor="t"/>
          <a:lstStyle/>
          <a:p>
            <a:pPr marL="0" indent="0" algn="l">
              <a:lnSpc>
                <a:spcPts val="990"/>
              </a:lnSpc>
              <a:buNone/>
            </a:pPr>
            <a:r>
              <a:rPr lang="en-US" sz="830" b="1" kern="0" spc="40" dirty="0">
                <a:solidFill>
                  <a:srgbClr val="FFFFFF">
                    <a:alpha val="75000"/>
                  </a:srgbClr>
                </a:solidFill>
              </a:rPr>
              <a:t>BẬC 3</a:t>
            </a:r>
            <a:endParaRPr lang="en-US" sz="830" dirty="0"/>
          </a:p>
        </p:txBody>
      </p:sp>
      <p:sp>
        <p:nvSpPr>
          <p:cNvPr id="73" name="Text 71"/>
          <p:cNvSpPr txBox="1"/>
          <p:nvPr/>
        </p:nvSpPr>
        <p:spPr>
          <a:xfrm>
            <a:off x="9788575" y="4496842"/>
            <a:ext cx="1333765" cy="190500"/>
          </a:xfrm>
          <a:prstGeom prst="rect">
            <a:avLst/>
          </a:prstGeom>
          <a:noFill/>
          <a:ln/>
        </p:spPr>
        <p:txBody>
          <a:bodyPr wrap="none" lIns="0" tIns="0" rIns="0" bIns="0" rtlCol="0" anchor="t"/>
          <a:lstStyle/>
          <a:p>
            <a:pPr marL="0" indent="0" algn="l">
              <a:lnSpc>
                <a:spcPts val="1500"/>
              </a:lnSpc>
              <a:buNone/>
            </a:pPr>
            <a:r>
              <a:rPr lang="en-US" sz="1200" b="1" dirty="0">
                <a:solidFill>
                  <a:srgbClr val="FFFFFF"/>
                </a:solidFill>
              </a:rPr>
              <a:t>Nhận thẻ đầy đủ</a:t>
            </a:r>
            <a:endParaRPr lang="en-US" sz="1200" dirty="0"/>
          </a:p>
        </p:txBody>
      </p:sp>
      <p:sp>
        <p:nvSpPr>
          <p:cNvPr id="74" name="Text 72"/>
          <p:cNvSpPr txBox="1"/>
          <p:nvPr/>
        </p:nvSpPr>
        <p:spPr>
          <a:xfrm>
            <a:off x="9788575" y="4725442"/>
            <a:ext cx="1485900" cy="297061"/>
          </a:xfrm>
          <a:prstGeom prst="rect">
            <a:avLst/>
          </a:prstGeom>
          <a:noFill/>
          <a:ln/>
        </p:spPr>
        <p:txBody>
          <a:bodyPr wrap="square" lIns="0" tIns="0" rIns="0" bIns="0" rtlCol="0" anchor="t"/>
          <a:lstStyle/>
          <a:p>
            <a:pPr marL="0" indent="0" algn="l">
              <a:lnSpc>
                <a:spcPts val="1210"/>
              </a:lnSpc>
              <a:buNone/>
            </a:pPr>
            <a:r>
              <a:rPr lang="en-US" sz="900" b="1" dirty="0">
                <a:solidFill>
                  <a:srgbClr val="FFFFFF">
                    <a:alpha val="85000"/>
                  </a:srgbClr>
                </a:solidFill>
              </a:rPr>
              <a:t>Biểu phí chuẩn, không giới hạn</a:t>
            </a:r>
            <a:endParaRPr lang="en-US" sz="900" dirty="0"/>
          </a:p>
        </p:txBody>
      </p:sp>
      <p:sp>
        <p:nvSpPr>
          <p:cNvPr id="75" name="Shape 73"/>
          <p:cNvSpPr/>
          <p:nvPr/>
        </p:nvSpPr>
        <p:spPr>
          <a:xfrm>
            <a:off x="609600" y="5618559"/>
            <a:ext cx="10972800" cy="534591"/>
          </a:xfrm>
          <a:prstGeom prst="roundRect">
            <a:avLst>
              <a:gd name="adj" fmla="val 24944"/>
            </a:avLst>
          </a:prstGeom>
          <a:solidFill>
            <a:srgbClr val="EEFBF3"/>
          </a:solidFill>
          <a:ln w="9525">
            <a:solidFill>
              <a:srgbClr val="86EFAC"/>
            </a:solidFill>
            <a:prstDash val="solid"/>
          </a:ln>
        </p:spPr>
      </p:sp>
      <p:sp>
        <p:nvSpPr>
          <p:cNvPr id="76" name="Text 74"/>
          <p:cNvSpPr txBox="1"/>
          <p:nvPr/>
        </p:nvSpPr>
        <p:spPr>
          <a:xfrm>
            <a:off x="1152525" y="5790009"/>
            <a:ext cx="5410069" cy="190500"/>
          </a:xfrm>
          <a:prstGeom prst="rect">
            <a:avLst/>
          </a:prstGeom>
          <a:noFill/>
          <a:ln/>
        </p:spPr>
        <p:txBody>
          <a:bodyPr wrap="none" lIns="0" tIns="0" rIns="0" bIns="0" rtlCol="0" anchor="t"/>
          <a:lstStyle/>
          <a:p>
            <a:pPr marL="0" indent="0" algn="l">
              <a:lnSpc>
                <a:spcPts val="1810"/>
              </a:lnSpc>
              <a:buNone/>
            </a:pPr>
            <a:r>
              <a:rPr lang="en-US" sz="1280" b="1" dirty="0">
                <a:solidFill>
                  <a:srgbClr val="0F172A"/>
                </a:solidFill>
              </a:rPr>
              <a:t>Bắt đầu với chi phí gần như bằng 0, </a:t>
            </a:r>
            <a:r>
              <a:rPr lang="en-US" sz="1280" b="1" dirty="0">
                <a:solidFill>
                  <a:srgbClr val="15803D"/>
                </a:solidFill>
              </a:rPr>
              <a:t>lớn lên theo lộ trình của Visa.</a:t>
            </a:r>
            <a:endParaRPr lang="en-US" sz="1280" dirty="0"/>
          </a:p>
        </p:txBody>
      </p:sp>
      <p:sp>
        <p:nvSpPr>
          <p:cNvPr id="77" name="Shape 75"/>
          <p:cNvSpPr/>
          <p:nvPr/>
        </p:nvSpPr>
        <p:spPr>
          <a:xfrm rot="5400000">
            <a:off x="828675" y="5790605"/>
            <a:ext cx="152400" cy="190500"/>
          </a:xfrm>
          <a:prstGeom prst="triangle">
            <a:avLst/>
          </a:prstGeom>
          <a:solidFill>
            <a:srgbClr val="E11D48"/>
          </a:solidFill>
          <a:ln/>
        </p:spPr>
      </p:sp>
      <p:sp>
        <p:nvSpPr>
          <p:cNvPr id="78" name="Text 76"/>
          <p:cNvSpPr txBox="1"/>
          <p:nvPr/>
        </p:nvSpPr>
        <p:spPr>
          <a:xfrm>
            <a:off x="609600" y="6501854"/>
            <a:ext cx="1231538"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Nguồn: Visa, 10/2026.</a:t>
            </a:r>
            <a:endParaRPr lang="en-US" sz="830" dirty="0"/>
          </a:p>
        </p:txBody>
      </p:sp>
      <p:sp>
        <p:nvSpPr>
          <p:cNvPr id="79" name="Shape 77"/>
          <p:cNvSpPr/>
          <p:nvPr/>
        </p:nvSpPr>
        <p:spPr>
          <a:xfrm>
            <a:off x="10796588" y="6343650"/>
            <a:ext cx="323850" cy="323850"/>
          </a:xfrm>
          <a:prstGeom prst="ellipse">
            <a:avLst/>
          </a:prstGeom>
          <a:solidFill>
            <a:srgbClr val="F0001E"/>
          </a:solidFill>
          <a:ln/>
        </p:spPr>
      </p:sp>
      <p:sp>
        <p:nvSpPr>
          <p:cNvPr id="80" name="Shape 78"/>
          <p:cNvSpPr/>
          <p:nvPr/>
        </p:nvSpPr>
        <p:spPr>
          <a:xfrm>
            <a:off x="10901363" y="6415088"/>
            <a:ext cx="114300" cy="180975"/>
          </a:xfrm>
          <a:prstGeom prst="roundRect">
            <a:avLst>
              <a:gd name="adj" fmla="val 29167"/>
            </a:avLst>
          </a:prstGeom>
          <a:ln w="19050">
            <a:solidFill>
              <a:srgbClr val="FFFFFF"/>
            </a:solidFill>
            <a:prstDash val="solid"/>
          </a:ln>
        </p:spPr>
      </p:sp>
      <p:sp>
        <p:nvSpPr>
          <p:cNvPr id="81" name="Text 79"/>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2" name="Text 80"/>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83" name="Text 81"/>
          <p:cNvSpPr txBox="1"/>
          <p:nvPr/>
        </p:nvSpPr>
        <p:spPr>
          <a:xfrm>
            <a:off x="10523339" y="6429375"/>
            <a:ext cx="171248"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Demo tương tác (ảnh chụp màn hình đầu)"/>
          <p:cNvPicPr>
            <a:picLocks noChangeAspect="1"/>
          </p:cNvPicPr>
          <p:nvPr/>
        </p:nvPicPr>
        <p:blipFill>
          <a:blip r:embed="rId3"/>
          <a:stretch>
            <a:fillRect/>
          </a:stretch>
        </p:blipFill>
        <p:spPr>
          <a:xfrm>
            <a:off x="0" y="293914"/>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5263197"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GIẢI PHÁP CHI TIẾT 2 · ONLINE: AI TƯ VẤN DU LỊCH VÀ BOOKING ONLINE</a:t>
            </a:r>
            <a:endParaRPr lang="en-US" sz="1050" dirty="0"/>
          </a:p>
        </p:txBody>
      </p:sp>
      <p:sp>
        <p:nvSpPr>
          <p:cNvPr id="3" name="Text 1"/>
          <p:cNvSpPr txBox="1"/>
          <p:nvPr/>
        </p:nvSpPr>
        <p:spPr>
          <a:xfrm>
            <a:off x="609600" y="619125"/>
            <a:ext cx="9121637"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AI tư vấn du lịch </a:t>
            </a:r>
            <a:r>
              <a:rPr lang="en-US" sz="2330" b="1" kern="0" spc="-30" dirty="0">
                <a:solidFill>
                  <a:srgbClr val="E11D48"/>
                </a:solidFill>
              </a:rPr>
              <a:t>giới thiệu merchant nhỏ</a:t>
            </a:r>
            <a:r>
              <a:rPr lang="en-US" sz="2330" b="1" kern="0" spc="-30" dirty="0">
                <a:solidFill>
                  <a:srgbClr val="0F172A"/>
                </a:solidFill>
              </a:rPr>
              <a:t>, khách đặt chỗ ngay</a:t>
            </a:r>
            <a:endParaRPr lang="en-US" sz="2330" dirty="0"/>
          </a:p>
        </p:txBody>
      </p:sp>
      <p:sp>
        <p:nvSpPr>
          <p:cNvPr id="4" name="Shape 2"/>
          <p:cNvSpPr/>
          <p:nvPr/>
        </p:nvSpPr>
        <p:spPr>
          <a:xfrm>
            <a:off x="609600" y="1169789"/>
            <a:ext cx="10972800" cy="809625"/>
          </a:xfrm>
          <a:prstGeom prst="roundRect">
            <a:avLst>
              <a:gd name="adj" fmla="val 16471"/>
            </a:avLst>
          </a:prstGeom>
          <a:solidFill>
            <a:srgbClr val="FFFFFF"/>
          </a:solidFill>
          <a:ln w="9525">
            <a:solidFill>
              <a:srgbClr val="E2E8F0"/>
            </a:solidFill>
            <a:prstDash val="solid"/>
          </a:ln>
        </p:spPr>
      </p:sp>
      <p:sp>
        <p:nvSpPr>
          <p:cNvPr id="5" name="Text 3"/>
          <p:cNvSpPr txBox="1"/>
          <p:nvPr/>
        </p:nvSpPr>
        <p:spPr>
          <a:xfrm>
            <a:off x="809625" y="1312664"/>
            <a:ext cx="5267298" cy="142875"/>
          </a:xfrm>
          <a:prstGeom prst="rect">
            <a:avLst/>
          </a:prstGeom>
          <a:noFill/>
          <a:ln/>
        </p:spPr>
        <p:txBody>
          <a:bodyPr wrap="none" lIns="0" tIns="0" rIns="0" bIns="0" rtlCol="0" anchor="t"/>
          <a:lstStyle/>
          <a:p>
            <a:pPr marL="0" indent="0" algn="l">
              <a:lnSpc>
                <a:spcPts val="1080"/>
              </a:lnSpc>
              <a:buNone/>
            </a:pPr>
            <a:r>
              <a:rPr lang="en-US" sz="900" b="1" kern="0" spc="40" dirty="0">
                <a:solidFill>
                  <a:srgbClr val="1E3A8A"/>
                </a:solidFill>
              </a:rPr>
              <a:t>KHÁCH QUỐC TẾ VÀ KHÁCH VIỆT DÙNG THẺ QUỐC TẾ GẶP AI QUA KÊNH VIETTEL</a:t>
            </a:r>
            <a:endParaRPr lang="en-US" sz="900" dirty="0"/>
          </a:p>
        </p:txBody>
      </p:sp>
      <p:sp>
        <p:nvSpPr>
          <p:cNvPr id="6" name="Shape 4"/>
          <p:cNvSpPr/>
          <p:nvPr/>
        </p:nvSpPr>
        <p:spPr>
          <a:xfrm>
            <a:off x="809625" y="1531739"/>
            <a:ext cx="2007543" cy="304800"/>
          </a:xfrm>
          <a:prstGeom prst="roundRect">
            <a:avLst>
              <a:gd name="adj" fmla="val 31250"/>
            </a:avLst>
          </a:prstGeom>
          <a:solidFill>
            <a:srgbClr val="EEF2FF"/>
          </a:solidFill>
          <a:ln w="9525">
            <a:solidFill>
              <a:srgbClr val="C7D2FE"/>
            </a:solidFill>
            <a:prstDash val="solid"/>
          </a:ln>
        </p:spPr>
      </p:sp>
      <p:sp>
        <p:nvSpPr>
          <p:cNvPr id="7" name="Text 5"/>
          <p:cNvSpPr txBox="1"/>
          <p:nvPr/>
        </p:nvSpPr>
        <p:spPr>
          <a:xfrm>
            <a:off x="933450" y="1607939"/>
            <a:ext cx="1903586" cy="152400"/>
          </a:xfrm>
          <a:prstGeom prst="rect">
            <a:avLst/>
          </a:prstGeom>
          <a:noFill/>
          <a:ln/>
        </p:spPr>
        <p:txBody>
          <a:bodyPr wrap="none" lIns="0" tIns="0" rIns="0" bIns="0" rtlCol="0" anchor="t"/>
          <a:lstStyle/>
          <a:p>
            <a:pPr marL="0" indent="0" algn="l">
              <a:lnSpc>
                <a:spcPts val="1170"/>
              </a:lnSpc>
              <a:buNone/>
            </a:pPr>
            <a:r>
              <a:rPr lang="en-US" sz="980" b="1" dirty="0">
                <a:solidFill>
                  <a:srgbClr val="1E3A8A"/>
                </a:solidFill>
              </a:rPr>
              <a:t>Tin nhắn chào mừng roaming</a:t>
            </a:r>
            <a:endParaRPr lang="en-US" sz="980" dirty="0"/>
          </a:p>
        </p:txBody>
      </p:sp>
      <p:sp>
        <p:nvSpPr>
          <p:cNvPr id="8" name="Shape 6"/>
          <p:cNvSpPr/>
          <p:nvPr/>
        </p:nvSpPr>
        <p:spPr>
          <a:xfrm>
            <a:off x="2893368" y="1531739"/>
            <a:ext cx="1262955" cy="304800"/>
          </a:xfrm>
          <a:prstGeom prst="roundRect">
            <a:avLst>
              <a:gd name="adj" fmla="val 31250"/>
            </a:avLst>
          </a:prstGeom>
          <a:solidFill>
            <a:srgbClr val="EEF2FF"/>
          </a:solidFill>
          <a:ln w="9525">
            <a:solidFill>
              <a:srgbClr val="C7D2FE"/>
            </a:solidFill>
            <a:prstDash val="solid"/>
          </a:ln>
        </p:spPr>
      </p:sp>
      <p:sp>
        <p:nvSpPr>
          <p:cNvPr id="9" name="Text 7"/>
          <p:cNvSpPr txBox="1"/>
          <p:nvPr/>
        </p:nvSpPr>
        <p:spPr>
          <a:xfrm>
            <a:off x="3017193" y="1607939"/>
            <a:ext cx="1114324" cy="152400"/>
          </a:xfrm>
          <a:prstGeom prst="rect">
            <a:avLst/>
          </a:prstGeom>
          <a:noFill/>
          <a:ln/>
        </p:spPr>
        <p:txBody>
          <a:bodyPr wrap="none" lIns="0" tIns="0" rIns="0" bIns="0" rtlCol="0" anchor="t"/>
          <a:lstStyle/>
          <a:p>
            <a:pPr marL="0" indent="0" algn="l">
              <a:lnSpc>
                <a:spcPts val="1170"/>
              </a:lnSpc>
              <a:buNone/>
            </a:pPr>
            <a:r>
              <a:rPr lang="en-US" sz="980" b="1" dirty="0">
                <a:solidFill>
                  <a:srgbClr val="1E3A8A"/>
                </a:solidFill>
              </a:rPr>
              <a:t>SIM/eSIM du lịch</a:t>
            </a:r>
            <a:endParaRPr lang="en-US" sz="980" dirty="0"/>
          </a:p>
        </p:txBody>
      </p:sp>
      <p:sp>
        <p:nvSpPr>
          <p:cNvPr id="10" name="Shape 8"/>
          <p:cNvSpPr/>
          <p:nvPr/>
        </p:nvSpPr>
        <p:spPr>
          <a:xfrm>
            <a:off x="4232523" y="1531739"/>
            <a:ext cx="1328440" cy="304800"/>
          </a:xfrm>
          <a:prstGeom prst="roundRect">
            <a:avLst>
              <a:gd name="adj" fmla="val 31250"/>
            </a:avLst>
          </a:prstGeom>
          <a:solidFill>
            <a:srgbClr val="EEF2FF"/>
          </a:solidFill>
          <a:ln w="9525">
            <a:solidFill>
              <a:srgbClr val="C7D2FE"/>
            </a:solidFill>
            <a:prstDash val="solid"/>
          </a:ln>
        </p:spPr>
      </p:sp>
      <p:sp>
        <p:nvSpPr>
          <p:cNvPr id="11" name="Text 9"/>
          <p:cNvSpPr txBox="1"/>
          <p:nvPr/>
        </p:nvSpPr>
        <p:spPr>
          <a:xfrm>
            <a:off x="4356348" y="1607939"/>
            <a:ext cx="1183737" cy="152400"/>
          </a:xfrm>
          <a:prstGeom prst="rect">
            <a:avLst/>
          </a:prstGeom>
          <a:noFill/>
          <a:ln/>
        </p:spPr>
        <p:txBody>
          <a:bodyPr wrap="none" lIns="0" tIns="0" rIns="0" bIns="0" rtlCol="0" anchor="t"/>
          <a:lstStyle/>
          <a:p>
            <a:pPr marL="0" indent="0" algn="l">
              <a:lnSpc>
                <a:spcPts val="1170"/>
              </a:lnSpc>
              <a:buNone/>
            </a:pPr>
            <a:r>
              <a:rPr lang="en-US" sz="980" b="1" dirty="0">
                <a:solidFill>
                  <a:srgbClr val="1E3A8A"/>
                </a:solidFill>
              </a:rPr>
              <a:t>Quầy SIM sân bay</a:t>
            </a:r>
            <a:endParaRPr lang="en-US" sz="980" dirty="0"/>
          </a:p>
        </p:txBody>
      </p:sp>
      <p:sp>
        <p:nvSpPr>
          <p:cNvPr id="12" name="Shape 10"/>
          <p:cNvSpPr/>
          <p:nvPr/>
        </p:nvSpPr>
        <p:spPr>
          <a:xfrm>
            <a:off x="5637163" y="1531739"/>
            <a:ext cx="1686223" cy="304800"/>
          </a:xfrm>
          <a:prstGeom prst="roundRect">
            <a:avLst>
              <a:gd name="adj" fmla="val 31250"/>
            </a:avLst>
          </a:prstGeom>
          <a:solidFill>
            <a:srgbClr val="EEFBF3"/>
          </a:solidFill>
          <a:ln w="9525">
            <a:solidFill>
              <a:srgbClr val="86EFAC"/>
            </a:solidFill>
            <a:prstDash val="solid"/>
          </a:ln>
        </p:spPr>
      </p:sp>
      <p:sp>
        <p:nvSpPr>
          <p:cNvPr id="13" name="Text 11"/>
          <p:cNvSpPr txBox="1"/>
          <p:nvPr/>
        </p:nvSpPr>
        <p:spPr>
          <a:xfrm>
            <a:off x="5760988" y="1607939"/>
            <a:ext cx="1562987" cy="152400"/>
          </a:xfrm>
          <a:prstGeom prst="rect">
            <a:avLst/>
          </a:prstGeom>
          <a:noFill/>
          <a:ln/>
        </p:spPr>
        <p:txBody>
          <a:bodyPr wrap="none" lIns="0" tIns="0" rIns="0" bIns="0" rtlCol="0" anchor="t"/>
          <a:lstStyle/>
          <a:p>
            <a:pPr marL="0" indent="0" algn="l">
              <a:lnSpc>
                <a:spcPts val="1170"/>
              </a:lnSpc>
              <a:buNone/>
            </a:pPr>
            <a:r>
              <a:rPr lang="en-US" sz="980" b="1" dirty="0">
                <a:solidFill>
                  <a:srgbClr val="15803D"/>
                </a:solidFill>
              </a:rPr>
              <a:t>Web app, không cần cài</a:t>
            </a:r>
            <a:endParaRPr lang="en-US" sz="980" dirty="0"/>
          </a:p>
        </p:txBody>
      </p:sp>
      <p:sp>
        <p:nvSpPr>
          <p:cNvPr id="14" name="Shape 12"/>
          <p:cNvSpPr/>
          <p:nvPr/>
        </p:nvSpPr>
        <p:spPr>
          <a:xfrm>
            <a:off x="7399586" y="1531739"/>
            <a:ext cx="2313682" cy="304800"/>
          </a:xfrm>
          <a:prstGeom prst="roundRect">
            <a:avLst>
              <a:gd name="adj" fmla="val 31250"/>
            </a:avLst>
          </a:prstGeom>
          <a:solidFill>
            <a:srgbClr val="FFFFFF"/>
          </a:solidFill>
          <a:ln w="9525">
            <a:solidFill>
              <a:srgbClr val="C7D2FE"/>
            </a:solidFill>
            <a:prstDash val="dash"/>
          </a:ln>
        </p:spPr>
      </p:sp>
      <p:sp>
        <p:nvSpPr>
          <p:cNvPr id="15" name="Text 13"/>
          <p:cNvSpPr txBox="1"/>
          <p:nvPr/>
        </p:nvSpPr>
        <p:spPr>
          <a:xfrm>
            <a:off x="7523411" y="1607939"/>
            <a:ext cx="2228094" cy="152400"/>
          </a:xfrm>
          <a:prstGeom prst="rect">
            <a:avLst/>
          </a:prstGeom>
          <a:noFill/>
          <a:ln/>
        </p:spPr>
        <p:txBody>
          <a:bodyPr wrap="none" lIns="0" tIns="0" rIns="0" bIns="0" rtlCol="0" anchor="t"/>
          <a:lstStyle/>
          <a:p>
            <a:pPr marL="0" indent="0" algn="l">
              <a:lnSpc>
                <a:spcPts val="1170"/>
              </a:lnSpc>
              <a:buNone/>
            </a:pPr>
            <a:r>
              <a:rPr lang="en-US" sz="980" b="1" dirty="0">
                <a:solidFill>
                  <a:srgbClr val="64748B"/>
                </a:solidFill>
              </a:rPr>
              <a:t>Sau pilot: cổng du lịch tỉnh, Tammi</a:t>
            </a:r>
            <a:endParaRPr lang="en-US" sz="980" dirty="0"/>
          </a:p>
        </p:txBody>
      </p:sp>
      <p:sp>
        <p:nvSpPr>
          <p:cNvPr id="16" name="Shape 14"/>
          <p:cNvSpPr/>
          <p:nvPr/>
        </p:nvSpPr>
        <p:spPr>
          <a:xfrm>
            <a:off x="609600" y="2112764"/>
            <a:ext cx="5419725" cy="3471267"/>
          </a:xfrm>
          <a:prstGeom prst="roundRect">
            <a:avLst>
              <a:gd name="adj" fmla="val 3842"/>
            </a:avLst>
          </a:prstGeom>
          <a:solidFill>
            <a:srgbClr val="FFFFFF"/>
          </a:solidFill>
          <a:ln w="9525">
            <a:solidFill>
              <a:srgbClr val="E2E8F0"/>
            </a:solidFill>
            <a:prstDash val="solid"/>
          </a:ln>
        </p:spPr>
      </p:sp>
      <p:sp>
        <p:nvSpPr>
          <p:cNvPr id="17" name="Shape 15"/>
          <p:cNvSpPr/>
          <p:nvPr/>
        </p:nvSpPr>
        <p:spPr>
          <a:xfrm>
            <a:off x="619125" y="2122289"/>
            <a:ext cx="5400675" cy="495300"/>
          </a:xfrm>
          <a:prstGeom prst="rect">
            <a:avLst/>
          </a:prstGeom>
          <a:solidFill>
            <a:srgbClr val="1E3A8A"/>
          </a:solidFill>
          <a:ln/>
        </p:spPr>
      </p:sp>
      <p:sp>
        <p:nvSpPr>
          <p:cNvPr id="18" name="Text 16"/>
          <p:cNvSpPr txBox="1"/>
          <p:nvPr/>
        </p:nvSpPr>
        <p:spPr>
          <a:xfrm>
            <a:off x="828675" y="2246114"/>
            <a:ext cx="806065" cy="247650"/>
          </a:xfrm>
          <a:prstGeom prst="rect">
            <a:avLst/>
          </a:prstGeom>
          <a:noFill/>
          <a:ln/>
        </p:spPr>
        <p:txBody>
          <a:bodyPr wrap="none" lIns="0" tIns="0" rIns="0" bIns="0" rtlCol="0" anchor="t"/>
          <a:lstStyle/>
          <a:p>
            <a:pPr marL="0" indent="0" algn="l">
              <a:lnSpc>
                <a:spcPts val="1980"/>
              </a:lnSpc>
              <a:buNone/>
            </a:pPr>
            <a:r>
              <a:rPr lang="en-US" sz="1650" b="1" dirty="0">
                <a:solidFill>
                  <a:srgbClr val="FFFFFF"/>
                </a:solidFill>
              </a:rPr>
              <a:t>Tư vấn</a:t>
            </a:r>
            <a:endParaRPr lang="en-US" sz="1650" dirty="0"/>
          </a:p>
        </p:txBody>
      </p:sp>
      <p:sp>
        <p:nvSpPr>
          <p:cNvPr id="19" name="Text 17"/>
          <p:cNvSpPr txBox="1"/>
          <p:nvPr/>
        </p:nvSpPr>
        <p:spPr>
          <a:xfrm>
            <a:off x="1667470" y="2312789"/>
            <a:ext cx="2145744"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alpha val="85000"/>
                  </a:srgbClr>
                </a:solidFill>
              </a:rPr>
              <a:t>điểm du lịch, ăn chơi, </a:t>
            </a:r>
            <a:r>
              <a:rPr lang="en-US" sz="1050" b="1" dirty="0" err="1">
                <a:solidFill>
                  <a:srgbClr val="FFFFFF">
                    <a:alpha val="85000"/>
                  </a:srgbClr>
                </a:solidFill>
              </a:rPr>
              <a:t>mua</a:t>
            </a:r>
            <a:r>
              <a:rPr lang="en-US" sz="1050" b="1" dirty="0">
                <a:solidFill>
                  <a:srgbClr val="FFFFFF">
                    <a:alpha val="85000"/>
                  </a:srgbClr>
                </a:solidFill>
              </a:rPr>
              <a:t> </a:t>
            </a:r>
            <a:r>
              <a:rPr lang="en-US" sz="1050" b="1" dirty="0" err="1">
                <a:solidFill>
                  <a:srgbClr val="FFFFFF">
                    <a:alpha val="85000"/>
                  </a:srgbClr>
                </a:solidFill>
              </a:rPr>
              <a:t>sắm</a:t>
            </a:r>
            <a:endParaRPr lang="en-US" sz="1050" dirty="0"/>
          </a:p>
        </p:txBody>
      </p:sp>
      <p:sp>
        <p:nvSpPr>
          <p:cNvPr id="20" name="Text 18"/>
          <p:cNvSpPr txBox="1"/>
          <p:nvPr/>
        </p:nvSpPr>
        <p:spPr>
          <a:xfrm>
            <a:off x="828675" y="3040112"/>
            <a:ext cx="762682"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a:t>
            </a:r>
            <a:endParaRPr lang="en-US" sz="860" dirty="0"/>
          </a:p>
        </p:txBody>
      </p:sp>
      <p:sp>
        <p:nvSpPr>
          <p:cNvPr id="21" name="Text 19"/>
          <p:cNvSpPr txBox="1"/>
          <p:nvPr/>
        </p:nvSpPr>
        <p:spPr>
          <a:xfrm>
            <a:off x="2162175" y="3016746"/>
            <a:ext cx="861754"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Vừa và nhỏ</a:t>
            </a:r>
            <a:endParaRPr lang="en-US" sz="1130" dirty="0"/>
          </a:p>
        </p:txBody>
      </p:sp>
      <p:sp>
        <p:nvSpPr>
          <p:cNvPr id="22" name="Shape 20"/>
          <p:cNvSpPr/>
          <p:nvPr/>
        </p:nvSpPr>
        <p:spPr>
          <a:xfrm>
            <a:off x="619125" y="3596878"/>
            <a:ext cx="5400675" cy="9525"/>
          </a:xfrm>
          <a:prstGeom prst="rect">
            <a:avLst/>
          </a:prstGeom>
          <a:solidFill>
            <a:srgbClr val="E2E8F0"/>
          </a:solidFill>
          <a:ln/>
        </p:spPr>
      </p:sp>
      <p:sp>
        <p:nvSpPr>
          <p:cNvPr id="23" name="Text 21"/>
          <p:cNvSpPr txBox="1"/>
          <p:nvPr/>
        </p:nvSpPr>
        <p:spPr>
          <a:xfrm>
            <a:off x="828675" y="4028926"/>
            <a:ext cx="11627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 ĐƯỢC</a:t>
            </a:r>
            <a:endParaRPr lang="en-US" sz="860" dirty="0"/>
          </a:p>
        </p:txBody>
      </p:sp>
      <p:sp>
        <p:nvSpPr>
          <p:cNvPr id="24" name="Text 22"/>
          <p:cNvSpPr txBox="1"/>
          <p:nvPr/>
        </p:nvSpPr>
        <p:spPr>
          <a:xfrm>
            <a:off x="2162175" y="4005560"/>
            <a:ext cx="2202379" cy="180975"/>
          </a:xfrm>
          <a:prstGeom prst="rect">
            <a:avLst/>
          </a:prstGeom>
          <a:noFill/>
          <a:ln/>
        </p:spPr>
        <p:txBody>
          <a:bodyPr wrap="none" lIns="0" tIns="0" rIns="0" bIns="0" rtlCol="0" anchor="t"/>
          <a:lstStyle/>
          <a:p>
            <a:pPr marL="0" indent="0" algn="l">
              <a:lnSpc>
                <a:spcPts val="1580"/>
              </a:lnSpc>
              <a:buNone/>
            </a:pPr>
            <a:r>
              <a:rPr lang="en-US" sz="1130" b="1" dirty="0">
                <a:solidFill>
                  <a:srgbClr val="15803D"/>
                </a:solidFill>
              </a:rPr>
              <a:t>Thêm khách nhờ AI giới thiệu</a:t>
            </a:r>
            <a:endParaRPr lang="en-US" sz="1130" dirty="0"/>
          </a:p>
        </p:txBody>
      </p:sp>
      <p:sp>
        <p:nvSpPr>
          <p:cNvPr id="25" name="Shape 23"/>
          <p:cNvSpPr/>
          <p:nvPr/>
        </p:nvSpPr>
        <p:spPr>
          <a:xfrm>
            <a:off x="619125" y="4585692"/>
            <a:ext cx="5400675" cy="988814"/>
          </a:xfrm>
          <a:prstGeom prst="rect">
            <a:avLst/>
          </a:prstGeom>
          <a:solidFill>
            <a:srgbClr val="FFF7F8"/>
          </a:solidFill>
          <a:ln/>
        </p:spPr>
      </p:sp>
      <p:sp>
        <p:nvSpPr>
          <p:cNvPr id="26" name="Shape 24"/>
          <p:cNvSpPr/>
          <p:nvPr/>
        </p:nvSpPr>
        <p:spPr>
          <a:xfrm>
            <a:off x="619125" y="4585692"/>
            <a:ext cx="5400675" cy="9525"/>
          </a:xfrm>
          <a:prstGeom prst="rect">
            <a:avLst/>
          </a:prstGeom>
          <a:solidFill>
            <a:srgbClr val="E2E8F0"/>
          </a:solidFill>
          <a:ln/>
        </p:spPr>
      </p:sp>
      <p:sp>
        <p:nvSpPr>
          <p:cNvPr id="27" name="Text 25"/>
          <p:cNvSpPr txBox="1"/>
          <p:nvPr/>
        </p:nvSpPr>
        <p:spPr>
          <a:xfrm>
            <a:off x="828675" y="5017740"/>
            <a:ext cx="5872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VDF THU</a:t>
            </a:r>
            <a:endParaRPr lang="en-US" sz="860" dirty="0"/>
          </a:p>
        </p:txBody>
      </p:sp>
      <p:sp>
        <p:nvSpPr>
          <p:cNvPr id="28" name="Text 26"/>
          <p:cNvSpPr txBox="1"/>
          <p:nvPr/>
        </p:nvSpPr>
        <p:spPr>
          <a:xfrm>
            <a:off x="2162175" y="4994374"/>
            <a:ext cx="1857836" cy="180975"/>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Affiliate do merchant trả</a:t>
            </a:r>
            <a:endParaRPr lang="en-US" sz="1130" dirty="0"/>
          </a:p>
        </p:txBody>
      </p:sp>
      <p:sp>
        <p:nvSpPr>
          <p:cNvPr id="29" name="Shape 27"/>
          <p:cNvSpPr/>
          <p:nvPr/>
        </p:nvSpPr>
        <p:spPr>
          <a:xfrm>
            <a:off x="6162675" y="2112764"/>
            <a:ext cx="5419725" cy="3471267"/>
          </a:xfrm>
          <a:prstGeom prst="roundRect">
            <a:avLst>
              <a:gd name="adj" fmla="val 3842"/>
            </a:avLst>
          </a:prstGeom>
          <a:solidFill>
            <a:srgbClr val="FFFFFF"/>
          </a:solidFill>
          <a:ln w="9525">
            <a:solidFill>
              <a:srgbClr val="E2E8F0"/>
            </a:solidFill>
            <a:prstDash val="solid"/>
          </a:ln>
        </p:spPr>
      </p:sp>
      <p:sp>
        <p:nvSpPr>
          <p:cNvPr id="30" name="Shape 28"/>
          <p:cNvSpPr/>
          <p:nvPr/>
        </p:nvSpPr>
        <p:spPr>
          <a:xfrm>
            <a:off x="6172200" y="2122289"/>
            <a:ext cx="5400675" cy="495300"/>
          </a:xfrm>
          <a:prstGeom prst="rect">
            <a:avLst/>
          </a:prstGeom>
          <a:solidFill>
            <a:srgbClr val="1E3A8A"/>
          </a:solidFill>
          <a:ln/>
        </p:spPr>
      </p:sp>
      <p:sp>
        <p:nvSpPr>
          <p:cNvPr id="31" name="Text 29"/>
          <p:cNvSpPr txBox="1"/>
          <p:nvPr/>
        </p:nvSpPr>
        <p:spPr>
          <a:xfrm>
            <a:off x="6381750" y="2246114"/>
            <a:ext cx="1690455" cy="247650"/>
          </a:xfrm>
          <a:prstGeom prst="rect">
            <a:avLst/>
          </a:prstGeom>
          <a:noFill/>
          <a:ln/>
        </p:spPr>
        <p:txBody>
          <a:bodyPr wrap="none" lIns="0" tIns="0" rIns="0" bIns="0" rtlCol="0" anchor="t"/>
          <a:lstStyle/>
          <a:p>
            <a:pPr marL="0" indent="0" algn="l">
              <a:lnSpc>
                <a:spcPts val="1980"/>
              </a:lnSpc>
              <a:buNone/>
            </a:pPr>
            <a:r>
              <a:rPr lang="en-US" sz="1650" b="1" dirty="0">
                <a:solidFill>
                  <a:srgbClr val="FFFFFF"/>
                </a:solidFill>
              </a:rPr>
              <a:t>Booking online</a:t>
            </a:r>
            <a:endParaRPr lang="en-US" sz="1650" dirty="0"/>
          </a:p>
        </p:txBody>
      </p:sp>
      <p:sp>
        <p:nvSpPr>
          <p:cNvPr id="32" name="Text 30"/>
          <p:cNvSpPr txBox="1"/>
          <p:nvPr/>
        </p:nvSpPr>
        <p:spPr>
          <a:xfrm>
            <a:off x="8054876" y="2312789"/>
            <a:ext cx="1328874" cy="161925"/>
          </a:xfrm>
          <a:prstGeom prst="rect">
            <a:avLst/>
          </a:prstGeom>
          <a:noFill/>
          <a:ln/>
        </p:spPr>
        <p:txBody>
          <a:bodyPr wrap="none" lIns="0" tIns="0" rIns="0" bIns="0" rtlCol="0" anchor="t"/>
          <a:lstStyle/>
          <a:p>
            <a:pPr marL="0" indent="0" algn="l">
              <a:lnSpc>
                <a:spcPts val="1260"/>
              </a:lnSpc>
              <a:buNone/>
            </a:pPr>
            <a:r>
              <a:rPr lang="en-US" sz="1050" b="1" dirty="0">
                <a:solidFill>
                  <a:srgbClr val="FFFFFF">
                    <a:alpha val="85000"/>
                  </a:srgbClr>
                </a:solidFill>
              </a:rPr>
              <a:t>đặt phòng, đặt bàn</a:t>
            </a:r>
            <a:endParaRPr lang="en-US" sz="1050" dirty="0"/>
          </a:p>
        </p:txBody>
      </p:sp>
      <p:sp>
        <p:nvSpPr>
          <p:cNvPr id="33" name="Text 31"/>
          <p:cNvSpPr txBox="1"/>
          <p:nvPr/>
        </p:nvSpPr>
        <p:spPr>
          <a:xfrm>
            <a:off x="6381750" y="3040112"/>
            <a:ext cx="762682"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a:t>
            </a:r>
            <a:endParaRPr lang="en-US" sz="860" dirty="0"/>
          </a:p>
        </p:txBody>
      </p:sp>
      <p:sp>
        <p:nvSpPr>
          <p:cNvPr id="34" name="Text 32"/>
          <p:cNvSpPr txBox="1"/>
          <p:nvPr/>
        </p:nvSpPr>
        <p:spPr>
          <a:xfrm>
            <a:off x="7715250" y="3016746"/>
            <a:ext cx="3574872" cy="180975"/>
          </a:xfrm>
          <a:prstGeom prst="rect">
            <a:avLst/>
          </a:prstGeom>
          <a:noFill/>
          <a:ln/>
        </p:spPr>
        <p:txBody>
          <a:bodyPr wrap="none" lIns="0" tIns="0" rIns="0" bIns="0" rtlCol="0" anchor="t"/>
          <a:lstStyle/>
          <a:p>
            <a:pPr marL="0" indent="0" algn="l">
              <a:lnSpc>
                <a:spcPts val="1580"/>
              </a:lnSpc>
              <a:buNone/>
            </a:pPr>
            <a:r>
              <a:rPr lang="en-US" sz="1130" b="1" dirty="0">
                <a:solidFill>
                  <a:srgbClr val="334155"/>
                </a:solidFill>
              </a:rPr>
              <a:t>Vừa và nhỏ; thêm chuỗi nhà hàng, khách sạn lớn</a:t>
            </a:r>
            <a:endParaRPr lang="en-US" sz="1130" dirty="0"/>
          </a:p>
        </p:txBody>
      </p:sp>
      <p:sp>
        <p:nvSpPr>
          <p:cNvPr id="35" name="Shape 33"/>
          <p:cNvSpPr/>
          <p:nvPr/>
        </p:nvSpPr>
        <p:spPr>
          <a:xfrm>
            <a:off x="6172200" y="3596878"/>
            <a:ext cx="5400675" cy="9525"/>
          </a:xfrm>
          <a:prstGeom prst="rect">
            <a:avLst/>
          </a:prstGeom>
          <a:solidFill>
            <a:srgbClr val="E2E8F0"/>
          </a:solidFill>
          <a:ln/>
        </p:spPr>
      </p:sp>
      <p:sp>
        <p:nvSpPr>
          <p:cNvPr id="36" name="Text 34"/>
          <p:cNvSpPr txBox="1"/>
          <p:nvPr/>
        </p:nvSpPr>
        <p:spPr>
          <a:xfrm>
            <a:off x="6381750" y="4028926"/>
            <a:ext cx="11627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MERCHANT ĐƯỢC</a:t>
            </a:r>
            <a:endParaRPr lang="en-US" sz="860" dirty="0"/>
          </a:p>
        </p:txBody>
      </p:sp>
      <p:sp>
        <p:nvSpPr>
          <p:cNvPr id="37" name="Text 35"/>
          <p:cNvSpPr txBox="1"/>
          <p:nvPr/>
        </p:nvSpPr>
        <p:spPr>
          <a:xfrm>
            <a:off x="7715250" y="4005560"/>
            <a:ext cx="1582865" cy="180975"/>
          </a:xfrm>
          <a:prstGeom prst="rect">
            <a:avLst/>
          </a:prstGeom>
          <a:noFill/>
          <a:ln/>
        </p:spPr>
        <p:txBody>
          <a:bodyPr wrap="none" lIns="0" tIns="0" rIns="0" bIns="0" rtlCol="0" anchor="t"/>
          <a:lstStyle/>
          <a:p>
            <a:pPr marL="0" indent="0" algn="l">
              <a:lnSpc>
                <a:spcPts val="1580"/>
              </a:lnSpc>
              <a:buNone/>
            </a:pPr>
            <a:r>
              <a:rPr lang="en-US" sz="1130" b="1" dirty="0">
                <a:solidFill>
                  <a:srgbClr val="15803D"/>
                </a:solidFill>
              </a:rPr>
              <a:t>Thêm lượt đặt qua AI</a:t>
            </a:r>
            <a:endParaRPr lang="en-US" sz="1130" dirty="0"/>
          </a:p>
        </p:txBody>
      </p:sp>
      <p:sp>
        <p:nvSpPr>
          <p:cNvPr id="38" name="Shape 36"/>
          <p:cNvSpPr/>
          <p:nvPr/>
        </p:nvSpPr>
        <p:spPr>
          <a:xfrm>
            <a:off x="6172200" y="4585692"/>
            <a:ext cx="5400675" cy="988814"/>
          </a:xfrm>
          <a:prstGeom prst="rect">
            <a:avLst/>
          </a:prstGeom>
          <a:solidFill>
            <a:srgbClr val="FFF7F8"/>
          </a:solidFill>
          <a:ln/>
        </p:spPr>
      </p:sp>
      <p:sp>
        <p:nvSpPr>
          <p:cNvPr id="39" name="Shape 37"/>
          <p:cNvSpPr/>
          <p:nvPr/>
        </p:nvSpPr>
        <p:spPr>
          <a:xfrm>
            <a:off x="6172200" y="4585692"/>
            <a:ext cx="5400675" cy="9525"/>
          </a:xfrm>
          <a:prstGeom prst="rect">
            <a:avLst/>
          </a:prstGeom>
          <a:solidFill>
            <a:srgbClr val="E2E8F0"/>
          </a:solidFill>
          <a:ln/>
        </p:spPr>
      </p:sp>
      <p:sp>
        <p:nvSpPr>
          <p:cNvPr id="40" name="Text 38"/>
          <p:cNvSpPr txBox="1"/>
          <p:nvPr/>
        </p:nvSpPr>
        <p:spPr>
          <a:xfrm>
            <a:off x="6381750" y="5017740"/>
            <a:ext cx="587255" cy="133350"/>
          </a:xfrm>
          <a:prstGeom prst="rect">
            <a:avLst/>
          </a:prstGeom>
          <a:noFill/>
          <a:ln/>
        </p:spPr>
        <p:txBody>
          <a:bodyPr wrap="none" lIns="0" tIns="0" rIns="0" bIns="0" rtlCol="0" anchor="t"/>
          <a:lstStyle/>
          <a:p>
            <a:pPr marL="0" indent="0" algn="l">
              <a:lnSpc>
                <a:spcPts val="1210"/>
              </a:lnSpc>
              <a:buNone/>
            </a:pPr>
            <a:r>
              <a:rPr lang="en-US" sz="860" b="1" kern="0" spc="30" dirty="0">
                <a:solidFill>
                  <a:srgbClr val="64748B"/>
                </a:solidFill>
              </a:rPr>
              <a:t>VDF THU</a:t>
            </a:r>
            <a:endParaRPr lang="en-US" sz="860" dirty="0"/>
          </a:p>
        </p:txBody>
      </p:sp>
      <p:sp>
        <p:nvSpPr>
          <p:cNvPr id="41" name="Text 39"/>
          <p:cNvSpPr txBox="1"/>
          <p:nvPr/>
        </p:nvSpPr>
        <p:spPr>
          <a:xfrm>
            <a:off x="7715250" y="4994374"/>
            <a:ext cx="1655591" cy="180975"/>
          </a:xfrm>
          <a:prstGeom prst="rect">
            <a:avLst/>
          </a:prstGeom>
          <a:noFill/>
          <a:ln/>
        </p:spPr>
        <p:txBody>
          <a:bodyPr wrap="none" lIns="0" tIns="0" rIns="0" bIns="0" rtlCol="0" anchor="t"/>
          <a:lstStyle/>
          <a:p>
            <a:pPr marL="0" indent="0" algn="l">
              <a:lnSpc>
                <a:spcPts val="1580"/>
              </a:lnSpc>
              <a:buNone/>
            </a:pPr>
            <a:r>
              <a:rPr lang="en-US" sz="1130" b="1" dirty="0">
                <a:solidFill>
                  <a:srgbClr val="0F172A"/>
                </a:solidFill>
              </a:rPr>
              <a:t>Một phần phí booking</a:t>
            </a:r>
            <a:endParaRPr lang="en-US" sz="1130" dirty="0"/>
          </a:p>
        </p:txBody>
      </p:sp>
      <p:sp>
        <p:nvSpPr>
          <p:cNvPr id="42" name="Shape 40"/>
          <p:cNvSpPr/>
          <p:nvPr/>
        </p:nvSpPr>
        <p:spPr>
          <a:xfrm>
            <a:off x="609600" y="5717381"/>
            <a:ext cx="10972800" cy="435769"/>
          </a:xfrm>
          <a:prstGeom prst="roundRect">
            <a:avLst>
              <a:gd name="adj" fmla="val 26229"/>
            </a:avLst>
          </a:prstGeom>
          <a:solidFill>
            <a:srgbClr val="0F172A"/>
          </a:solidFill>
          <a:ln/>
        </p:spPr>
      </p:sp>
      <p:sp>
        <p:nvSpPr>
          <p:cNvPr id="43" name="Text 41"/>
          <p:cNvSpPr txBox="1"/>
          <p:nvPr/>
        </p:nvSpPr>
        <p:spPr>
          <a:xfrm>
            <a:off x="819150" y="5861893"/>
            <a:ext cx="1420532" cy="142875"/>
          </a:xfrm>
          <a:prstGeom prst="rect">
            <a:avLst/>
          </a:prstGeom>
          <a:noFill/>
          <a:ln/>
        </p:spPr>
        <p:txBody>
          <a:bodyPr wrap="none" lIns="0" tIns="0" rIns="0" bIns="0" rtlCol="0" anchor="t"/>
          <a:lstStyle/>
          <a:p>
            <a:pPr marL="0" indent="0" algn="l">
              <a:lnSpc>
                <a:spcPts val="1310"/>
              </a:lnSpc>
              <a:buNone/>
            </a:pPr>
            <a:r>
              <a:rPr lang="en-US" sz="900" b="1" kern="0" spc="40" dirty="0">
                <a:solidFill>
                  <a:srgbClr val="FDA4AF"/>
                </a:solidFill>
              </a:rPr>
              <a:t>ĐƯA ĐẾN MERCHANT</a:t>
            </a:r>
            <a:endParaRPr lang="en-US" sz="900" dirty="0"/>
          </a:p>
        </p:txBody>
      </p:sp>
      <p:sp>
        <p:nvSpPr>
          <p:cNvPr id="44" name="Text 42"/>
          <p:cNvSpPr txBox="1"/>
          <p:nvPr/>
        </p:nvSpPr>
        <p:spPr>
          <a:xfrm>
            <a:off x="2294781" y="5841206"/>
            <a:ext cx="1899642" cy="180975"/>
          </a:xfrm>
          <a:prstGeom prst="rect">
            <a:avLst/>
          </a:prstGeom>
          <a:noFill/>
          <a:ln/>
        </p:spPr>
        <p:txBody>
          <a:bodyPr wrap="none" lIns="0" tIns="0" rIns="0" bIns="0" rtlCol="0" anchor="t"/>
          <a:lstStyle/>
          <a:p>
            <a:pPr marL="0" indent="0" algn="l">
              <a:lnSpc>
                <a:spcPts val="1630"/>
              </a:lnSpc>
              <a:buNone/>
            </a:pPr>
            <a:r>
              <a:rPr lang="en-US" sz="1130" b="1" dirty="0">
                <a:solidFill>
                  <a:srgbClr val="FFFFFF"/>
                </a:solidFill>
              </a:rPr>
              <a:t>VTT phát triển merchant</a:t>
            </a:r>
            <a:endParaRPr lang="en-US" sz="1130" dirty="0"/>
          </a:p>
        </p:txBody>
      </p:sp>
      <p:sp>
        <p:nvSpPr>
          <p:cNvPr id="45" name="Shape 43"/>
          <p:cNvSpPr/>
          <p:nvPr/>
        </p:nvSpPr>
        <p:spPr>
          <a:xfrm>
            <a:off x="10796588" y="6343650"/>
            <a:ext cx="323850" cy="323850"/>
          </a:xfrm>
          <a:prstGeom prst="ellipse">
            <a:avLst/>
          </a:prstGeom>
          <a:solidFill>
            <a:srgbClr val="F0001E"/>
          </a:solidFill>
          <a:ln/>
        </p:spPr>
      </p:sp>
      <p:sp>
        <p:nvSpPr>
          <p:cNvPr id="46" name="Shape 44"/>
          <p:cNvSpPr/>
          <p:nvPr/>
        </p:nvSpPr>
        <p:spPr>
          <a:xfrm>
            <a:off x="10901363" y="6415088"/>
            <a:ext cx="114300" cy="180975"/>
          </a:xfrm>
          <a:prstGeom prst="roundRect">
            <a:avLst>
              <a:gd name="adj" fmla="val 29167"/>
            </a:avLst>
          </a:prstGeom>
          <a:ln w="19050">
            <a:solidFill>
              <a:srgbClr val="FFFFFF"/>
            </a:solidFill>
            <a:prstDash val="solid"/>
          </a:ln>
        </p:spPr>
      </p:sp>
      <p:sp>
        <p:nvSpPr>
          <p:cNvPr id="47" name="Text 45"/>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48" name="Text 46"/>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49" name="Text 47"/>
          <p:cNvSpPr txBox="1"/>
          <p:nvPr/>
        </p:nvSpPr>
        <p:spPr>
          <a:xfrm>
            <a:off x="10526018" y="6429375"/>
            <a:ext cx="168408"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Demo tương tác (ảnh chụp màn hình đầu)"/>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742950" y="3543300"/>
            <a:ext cx="2555915" cy="1724025"/>
          </a:xfrm>
          <a:prstGeom prst="rect">
            <a:avLst/>
          </a:prstGeom>
          <a:noFill/>
          <a:ln/>
        </p:spPr>
        <p:txBody>
          <a:bodyPr wrap="none" lIns="0" tIns="0" rIns="0" bIns="0" rtlCol="0" anchor="t"/>
          <a:lstStyle/>
          <a:p>
            <a:pPr marL="0" indent="0" algn="l">
              <a:lnSpc>
                <a:spcPts val="11250"/>
              </a:lnSpc>
              <a:buNone/>
            </a:pPr>
            <a:r>
              <a:rPr lang="en-US" sz="11250" b="1" kern="0" spc="-340" dirty="0">
                <a:solidFill>
                  <a:srgbClr val="F0001E"/>
                </a:solidFill>
              </a:rPr>
              <a:t>04.</a:t>
            </a:r>
            <a:endParaRPr lang="en-US" sz="11250" dirty="0"/>
          </a:p>
        </p:txBody>
      </p:sp>
      <p:sp>
        <p:nvSpPr>
          <p:cNvPr id="4" name="Text 1"/>
          <p:cNvSpPr txBox="1"/>
          <p:nvPr/>
        </p:nvSpPr>
        <p:spPr>
          <a:xfrm>
            <a:off x="781050" y="5334000"/>
            <a:ext cx="9004896" cy="600075"/>
          </a:xfrm>
          <a:prstGeom prst="rect">
            <a:avLst/>
          </a:prstGeom>
          <a:noFill/>
          <a:ln/>
        </p:spPr>
        <p:txBody>
          <a:bodyPr wrap="none" lIns="0" tIns="0" rIns="0" bIns="0" rtlCol="0" anchor="t"/>
          <a:lstStyle/>
          <a:p>
            <a:pPr marL="0" indent="0" algn="l">
              <a:lnSpc>
                <a:spcPts val="4680"/>
              </a:lnSpc>
              <a:buNone/>
            </a:pPr>
            <a:r>
              <a:rPr lang="en-US" sz="3900" b="1" kern="0" spc="-80" dirty="0">
                <a:solidFill>
                  <a:srgbClr val="0F172A"/>
                </a:solidFill>
              </a:rPr>
              <a:t>Mô hình hợp tác và lộ trình triển khai</a:t>
            </a:r>
            <a:endParaRPr lang="en-US" sz="3900" dirty="0"/>
          </a:p>
        </p:txBody>
      </p:sp>
      <p:sp>
        <p:nvSpPr>
          <p:cNvPr id="5" name="Shape 2"/>
          <p:cNvSpPr/>
          <p:nvPr/>
        </p:nvSpPr>
        <p:spPr>
          <a:xfrm>
            <a:off x="10796588" y="6343650"/>
            <a:ext cx="323850" cy="323850"/>
          </a:xfrm>
          <a:prstGeom prst="ellipse">
            <a:avLst/>
          </a:prstGeom>
          <a:solidFill>
            <a:srgbClr val="F0001E"/>
          </a:solidFill>
          <a:ln/>
        </p:spPr>
      </p:sp>
      <p:sp>
        <p:nvSpPr>
          <p:cNvPr id="6" name="Shape 3"/>
          <p:cNvSpPr/>
          <p:nvPr/>
        </p:nvSpPr>
        <p:spPr>
          <a:xfrm>
            <a:off x="10901363" y="6415088"/>
            <a:ext cx="114300" cy="180975"/>
          </a:xfrm>
          <a:prstGeom prst="roundRect">
            <a:avLst>
              <a:gd name="adj" fmla="val 29167"/>
            </a:avLst>
          </a:prstGeom>
          <a:ln w="19050">
            <a:solidFill>
              <a:srgbClr val="FFFFFF"/>
            </a:solidFill>
            <a:prstDash val="solid"/>
          </a:ln>
        </p:spPr>
      </p:sp>
      <p:sp>
        <p:nvSpPr>
          <p:cNvPr id="7" name="Text 4"/>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 name="Text 5"/>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3134255"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MÔ HÌNH HỢP TÁC · PHÂN VAI VTT VÀ VDF</a:t>
            </a:r>
            <a:endParaRPr lang="en-US" sz="1050" dirty="0"/>
          </a:p>
        </p:txBody>
      </p:sp>
      <p:sp>
        <p:nvSpPr>
          <p:cNvPr id="3" name="Text 1"/>
          <p:cNvSpPr txBox="1"/>
          <p:nvPr/>
        </p:nvSpPr>
        <p:spPr>
          <a:xfrm>
            <a:off x="609600" y="619125"/>
            <a:ext cx="10480405"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VDF cung cấp giải pháp, </a:t>
            </a:r>
            <a:r>
              <a:rPr lang="en-US" sz="2330" b="1" kern="0" spc="-30" dirty="0">
                <a:solidFill>
                  <a:srgbClr val="E11D48"/>
                </a:solidFill>
              </a:rPr>
              <a:t>VTT phát triển merchant và đưa khách đến AI</a:t>
            </a:r>
            <a:endParaRPr lang="en-US" sz="2330" dirty="0"/>
          </a:p>
        </p:txBody>
      </p:sp>
      <p:sp>
        <p:nvSpPr>
          <p:cNvPr id="4" name="Shape 2"/>
          <p:cNvSpPr/>
          <p:nvPr/>
        </p:nvSpPr>
        <p:spPr>
          <a:xfrm>
            <a:off x="2114550" y="1169789"/>
            <a:ext cx="4695825" cy="428625"/>
          </a:xfrm>
          <a:prstGeom prst="roundRect">
            <a:avLst>
              <a:gd name="adj" fmla="val 26667"/>
            </a:avLst>
          </a:prstGeom>
          <a:solidFill>
            <a:srgbClr val="E11D48"/>
          </a:solidFill>
          <a:ln/>
        </p:spPr>
      </p:sp>
      <p:sp>
        <p:nvSpPr>
          <p:cNvPr id="5" name="Text 3"/>
          <p:cNvSpPr txBox="1"/>
          <p:nvPr/>
        </p:nvSpPr>
        <p:spPr>
          <a:xfrm>
            <a:off x="2286000" y="1274564"/>
            <a:ext cx="929589" cy="219075"/>
          </a:xfrm>
          <a:prstGeom prst="rect">
            <a:avLst/>
          </a:prstGeom>
          <a:noFill/>
          <a:ln/>
        </p:spPr>
        <p:txBody>
          <a:bodyPr wrap="none" lIns="0" tIns="0" rIns="0" bIns="0" rtlCol="0" anchor="t"/>
          <a:lstStyle/>
          <a:p>
            <a:pPr marL="0" indent="0" algn="l">
              <a:lnSpc>
                <a:spcPts val="1710"/>
              </a:lnSpc>
              <a:buNone/>
            </a:pPr>
            <a:r>
              <a:rPr lang="en-US" sz="1430" b="1" dirty="0">
                <a:solidFill>
                  <a:srgbClr val="FFFFFF"/>
                </a:solidFill>
              </a:rPr>
              <a:t>1 · Offline</a:t>
            </a:r>
            <a:endParaRPr lang="en-US" sz="1430" dirty="0"/>
          </a:p>
        </p:txBody>
      </p:sp>
      <p:sp>
        <p:nvSpPr>
          <p:cNvPr id="6" name="Text 4"/>
          <p:cNvSpPr txBox="1"/>
          <p:nvPr/>
        </p:nvSpPr>
        <p:spPr>
          <a:xfrm>
            <a:off x="3222278" y="1331714"/>
            <a:ext cx="781297" cy="142875"/>
          </a:xfrm>
          <a:prstGeom prst="rect">
            <a:avLst/>
          </a:prstGeom>
          <a:noFill/>
          <a:ln/>
        </p:spPr>
        <p:txBody>
          <a:bodyPr wrap="none" lIns="0" tIns="0" rIns="0" bIns="0" rtlCol="0" anchor="t"/>
          <a:lstStyle/>
          <a:p>
            <a:pPr marL="0" indent="0" algn="l">
              <a:lnSpc>
                <a:spcPts val="1130"/>
              </a:lnSpc>
              <a:buNone/>
            </a:pPr>
            <a:r>
              <a:rPr lang="en-US" sz="940" b="1" dirty="0">
                <a:solidFill>
                  <a:srgbClr val="FFFFFF">
                    <a:alpha val="80000"/>
                  </a:srgbClr>
                </a:solidFill>
              </a:rPr>
              <a:t>Visa Accept</a:t>
            </a:r>
            <a:endParaRPr lang="en-US" sz="940" dirty="0"/>
          </a:p>
        </p:txBody>
      </p:sp>
      <p:sp>
        <p:nvSpPr>
          <p:cNvPr id="7" name="Shape 5"/>
          <p:cNvSpPr/>
          <p:nvPr/>
        </p:nvSpPr>
        <p:spPr>
          <a:xfrm>
            <a:off x="6886575" y="1169789"/>
            <a:ext cx="4695825" cy="428625"/>
          </a:xfrm>
          <a:prstGeom prst="roundRect">
            <a:avLst>
              <a:gd name="adj" fmla="val 26667"/>
            </a:avLst>
          </a:prstGeom>
          <a:solidFill>
            <a:srgbClr val="1E3A8A"/>
          </a:solidFill>
          <a:ln/>
        </p:spPr>
      </p:sp>
      <p:sp>
        <p:nvSpPr>
          <p:cNvPr id="8" name="Text 6"/>
          <p:cNvSpPr txBox="1"/>
          <p:nvPr/>
        </p:nvSpPr>
        <p:spPr>
          <a:xfrm>
            <a:off x="7058025" y="1274564"/>
            <a:ext cx="937951" cy="219075"/>
          </a:xfrm>
          <a:prstGeom prst="rect">
            <a:avLst/>
          </a:prstGeom>
          <a:noFill/>
          <a:ln/>
        </p:spPr>
        <p:txBody>
          <a:bodyPr wrap="none" lIns="0" tIns="0" rIns="0" bIns="0" rtlCol="0" anchor="t"/>
          <a:lstStyle/>
          <a:p>
            <a:pPr marL="0" indent="0" algn="l">
              <a:lnSpc>
                <a:spcPts val="1710"/>
              </a:lnSpc>
              <a:buNone/>
            </a:pPr>
            <a:r>
              <a:rPr lang="en-US" sz="1430" b="1" dirty="0">
                <a:solidFill>
                  <a:srgbClr val="FFFFFF"/>
                </a:solidFill>
              </a:rPr>
              <a:t>2 · Online</a:t>
            </a:r>
            <a:endParaRPr lang="en-US" sz="1430" dirty="0"/>
          </a:p>
        </p:txBody>
      </p:sp>
      <p:sp>
        <p:nvSpPr>
          <p:cNvPr id="9" name="Text 7"/>
          <p:cNvSpPr txBox="1"/>
          <p:nvPr/>
        </p:nvSpPr>
        <p:spPr>
          <a:xfrm>
            <a:off x="8002191" y="1331714"/>
            <a:ext cx="1152817" cy="142875"/>
          </a:xfrm>
          <a:prstGeom prst="rect">
            <a:avLst/>
          </a:prstGeom>
          <a:noFill/>
          <a:ln/>
        </p:spPr>
        <p:txBody>
          <a:bodyPr wrap="none" lIns="0" tIns="0" rIns="0" bIns="0" rtlCol="0" anchor="t"/>
          <a:lstStyle/>
          <a:p>
            <a:pPr marL="0" indent="0" algn="l">
              <a:lnSpc>
                <a:spcPts val="1130"/>
              </a:lnSpc>
              <a:buNone/>
            </a:pPr>
            <a:r>
              <a:rPr lang="en-US" sz="940" b="1" dirty="0">
                <a:solidFill>
                  <a:srgbClr val="FFFFFF">
                    <a:alpha val="80000"/>
                  </a:srgbClr>
                </a:solidFill>
              </a:rPr>
              <a:t>AI tư vấn, booking</a:t>
            </a:r>
            <a:endParaRPr lang="en-US" sz="940" dirty="0"/>
          </a:p>
        </p:txBody>
      </p:sp>
      <p:sp>
        <p:nvSpPr>
          <p:cNvPr id="10" name="Shape 8"/>
          <p:cNvSpPr/>
          <p:nvPr/>
        </p:nvSpPr>
        <p:spPr>
          <a:xfrm>
            <a:off x="609600" y="1674614"/>
            <a:ext cx="1428750" cy="1907084"/>
          </a:xfrm>
          <a:prstGeom prst="roundRect">
            <a:avLst>
              <a:gd name="adj" fmla="val 8000"/>
            </a:avLst>
          </a:prstGeom>
          <a:solidFill>
            <a:srgbClr val="0F172A"/>
          </a:solidFill>
          <a:ln/>
        </p:spPr>
      </p:sp>
      <p:sp>
        <p:nvSpPr>
          <p:cNvPr id="11" name="Text 9"/>
          <p:cNvSpPr txBox="1"/>
          <p:nvPr/>
        </p:nvSpPr>
        <p:spPr>
          <a:xfrm>
            <a:off x="762000" y="2489150"/>
            <a:ext cx="547342" cy="276225"/>
          </a:xfrm>
          <a:prstGeom prst="rect">
            <a:avLst/>
          </a:prstGeom>
          <a:noFill/>
          <a:ln/>
        </p:spPr>
        <p:txBody>
          <a:bodyPr wrap="none" lIns="0" tIns="0" rIns="0" bIns="0" rtlCol="0" anchor="t"/>
          <a:lstStyle/>
          <a:p>
            <a:pPr marL="0" indent="0" algn="l">
              <a:lnSpc>
                <a:spcPts val="2340"/>
              </a:lnSpc>
              <a:buNone/>
            </a:pPr>
            <a:r>
              <a:rPr lang="en-US" sz="1800" b="1" dirty="0">
                <a:solidFill>
                  <a:srgbClr val="FFFFFF"/>
                </a:solidFill>
              </a:rPr>
              <a:t>VDF</a:t>
            </a:r>
            <a:endParaRPr lang="en-US" sz="1800" dirty="0"/>
          </a:p>
        </p:txBody>
      </p:sp>
      <p:sp>
        <p:nvSpPr>
          <p:cNvPr id="12" name="Shape 10"/>
          <p:cNvSpPr/>
          <p:nvPr/>
        </p:nvSpPr>
        <p:spPr>
          <a:xfrm>
            <a:off x="2114550" y="1674614"/>
            <a:ext cx="4695825" cy="1907084"/>
          </a:xfrm>
          <a:prstGeom prst="roundRect">
            <a:avLst>
              <a:gd name="adj" fmla="val 5993"/>
            </a:avLst>
          </a:prstGeom>
          <a:solidFill>
            <a:srgbClr val="FFFFFF"/>
          </a:solidFill>
          <a:ln w="9525">
            <a:solidFill>
              <a:srgbClr val="E2E8F0"/>
            </a:solidFill>
            <a:prstDash val="solid"/>
          </a:ln>
        </p:spPr>
      </p:sp>
      <p:sp>
        <p:nvSpPr>
          <p:cNvPr id="13" name="Text 11"/>
          <p:cNvSpPr txBox="1"/>
          <p:nvPr/>
        </p:nvSpPr>
        <p:spPr>
          <a:xfrm>
            <a:off x="2447925" y="2329607"/>
            <a:ext cx="2408096"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Cung cấp Visa Accept trong Tendoo</a:t>
            </a:r>
            <a:endParaRPr lang="en-US" sz="1010" dirty="0"/>
          </a:p>
        </p:txBody>
      </p:sp>
      <p:sp>
        <p:nvSpPr>
          <p:cNvPr id="14" name="Shape 12"/>
          <p:cNvSpPr/>
          <p:nvPr/>
        </p:nvSpPr>
        <p:spPr>
          <a:xfrm>
            <a:off x="2305050" y="2396282"/>
            <a:ext cx="57150" cy="57150"/>
          </a:xfrm>
          <a:prstGeom prst="ellipse">
            <a:avLst/>
          </a:prstGeom>
          <a:solidFill>
            <a:srgbClr val="334155"/>
          </a:solidFill>
          <a:ln/>
        </p:spPr>
      </p:sp>
      <p:sp>
        <p:nvSpPr>
          <p:cNvPr id="15" name="Text 13"/>
          <p:cNvSpPr txBox="1"/>
          <p:nvPr/>
        </p:nvSpPr>
        <p:spPr>
          <a:xfrm>
            <a:off x="2447925" y="2547640"/>
            <a:ext cx="2150004"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Làm việc với Visa, gồm nâng gói</a:t>
            </a:r>
            <a:endParaRPr lang="en-US" sz="1010" dirty="0"/>
          </a:p>
        </p:txBody>
      </p:sp>
      <p:sp>
        <p:nvSpPr>
          <p:cNvPr id="16" name="Shape 14"/>
          <p:cNvSpPr/>
          <p:nvPr/>
        </p:nvSpPr>
        <p:spPr>
          <a:xfrm>
            <a:off x="2305050" y="2614315"/>
            <a:ext cx="57150" cy="57150"/>
          </a:xfrm>
          <a:prstGeom prst="ellipse">
            <a:avLst/>
          </a:prstGeom>
          <a:solidFill>
            <a:srgbClr val="334155"/>
          </a:solidFill>
          <a:ln/>
        </p:spPr>
      </p:sp>
      <p:sp>
        <p:nvSpPr>
          <p:cNvPr id="17" name="Text 15"/>
          <p:cNvSpPr txBox="1"/>
          <p:nvPr/>
        </p:nvSpPr>
        <p:spPr>
          <a:xfrm>
            <a:off x="2447925" y="2765673"/>
            <a:ext cx="1028819"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Xử lý dòng tiền</a:t>
            </a:r>
            <a:endParaRPr lang="en-US" sz="1010" dirty="0"/>
          </a:p>
        </p:txBody>
      </p:sp>
      <p:sp>
        <p:nvSpPr>
          <p:cNvPr id="18" name="Shape 16"/>
          <p:cNvSpPr/>
          <p:nvPr/>
        </p:nvSpPr>
        <p:spPr>
          <a:xfrm>
            <a:off x="2305050" y="2832348"/>
            <a:ext cx="57150" cy="57150"/>
          </a:xfrm>
          <a:prstGeom prst="ellipse">
            <a:avLst/>
          </a:prstGeom>
          <a:solidFill>
            <a:srgbClr val="334155"/>
          </a:solidFill>
          <a:ln/>
        </p:spPr>
      </p:sp>
      <p:sp>
        <p:nvSpPr>
          <p:cNvPr id="19" name="Shape 17"/>
          <p:cNvSpPr/>
          <p:nvPr/>
        </p:nvSpPr>
        <p:spPr>
          <a:xfrm>
            <a:off x="6886575" y="1674614"/>
            <a:ext cx="4695825" cy="1907084"/>
          </a:xfrm>
          <a:prstGeom prst="roundRect">
            <a:avLst>
              <a:gd name="adj" fmla="val 5993"/>
            </a:avLst>
          </a:prstGeom>
          <a:solidFill>
            <a:srgbClr val="FFFFFF"/>
          </a:solidFill>
          <a:ln w="9525">
            <a:solidFill>
              <a:srgbClr val="E2E8F0"/>
            </a:solidFill>
            <a:prstDash val="solid"/>
          </a:ln>
        </p:spPr>
      </p:sp>
      <p:sp>
        <p:nvSpPr>
          <p:cNvPr id="20" name="Text 18"/>
          <p:cNvSpPr txBox="1"/>
          <p:nvPr/>
        </p:nvSpPr>
        <p:spPr>
          <a:xfrm>
            <a:off x="7219950" y="2438698"/>
            <a:ext cx="1981518"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Xây và vận hành AI (web app)</a:t>
            </a:r>
            <a:endParaRPr lang="en-US" sz="1010" dirty="0"/>
          </a:p>
        </p:txBody>
      </p:sp>
      <p:sp>
        <p:nvSpPr>
          <p:cNvPr id="21" name="Shape 19"/>
          <p:cNvSpPr/>
          <p:nvPr/>
        </p:nvSpPr>
        <p:spPr>
          <a:xfrm>
            <a:off x="7077075" y="2505373"/>
            <a:ext cx="57150" cy="57150"/>
          </a:xfrm>
          <a:prstGeom prst="ellipse">
            <a:avLst/>
          </a:prstGeom>
          <a:solidFill>
            <a:srgbClr val="334155"/>
          </a:solidFill>
          <a:ln/>
        </p:spPr>
      </p:sp>
      <p:sp>
        <p:nvSpPr>
          <p:cNvPr id="22" name="Text 20"/>
          <p:cNvSpPr txBox="1"/>
          <p:nvPr/>
        </p:nvSpPr>
        <p:spPr>
          <a:xfrm>
            <a:off x="7219950" y="2656731"/>
            <a:ext cx="1596116"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Xử lý dòng tiền booking</a:t>
            </a:r>
            <a:endParaRPr lang="en-US" sz="1010" dirty="0"/>
          </a:p>
        </p:txBody>
      </p:sp>
      <p:sp>
        <p:nvSpPr>
          <p:cNvPr id="23" name="Shape 21"/>
          <p:cNvSpPr/>
          <p:nvPr/>
        </p:nvSpPr>
        <p:spPr>
          <a:xfrm>
            <a:off x="7077075" y="2723406"/>
            <a:ext cx="57150" cy="57150"/>
          </a:xfrm>
          <a:prstGeom prst="ellipse">
            <a:avLst/>
          </a:prstGeom>
          <a:solidFill>
            <a:srgbClr val="334155"/>
          </a:solidFill>
          <a:ln/>
        </p:spPr>
      </p:sp>
      <p:sp>
        <p:nvSpPr>
          <p:cNvPr id="24" name="Shape 22"/>
          <p:cNvSpPr/>
          <p:nvPr/>
        </p:nvSpPr>
        <p:spPr>
          <a:xfrm>
            <a:off x="609600" y="3657898"/>
            <a:ext cx="1428750" cy="1907084"/>
          </a:xfrm>
          <a:prstGeom prst="roundRect">
            <a:avLst>
              <a:gd name="adj" fmla="val 8000"/>
            </a:avLst>
          </a:prstGeom>
          <a:solidFill>
            <a:srgbClr val="FFF1F2"/>
          </a:solidFill>
          <a:ln w="9525">
            <a:solidFill>
              <a:srgbClr val="E11D48"/>
            </a:solidFill>
            <a:prstDash val="solid"/>
          </a:ln>
        </p:spPr>
      </p:sp>
      <p:sp>
        <p:nvSpPr>
          <p:cNvPr id="25" name="Text 23"/>
          <p:cNvSpPr txBox="1"/>
          <p:nvPr/>
        </p:nvSpPr>
        <p:spPr>
          <a:xfrm>
            <a:off x="771525" y="4472434"/>
            <a:ext cx="563434" cy="276225"/>
          </a:xfrm>
          <a:prstGeom prst="rect">
            <a:avLst/>
          </a:prstGeom>
          <a:noFill/>
          <a:ln/>
        </p:spPr>
        <p:txBody>
          <a:bodyPr wrap="none" lIns="0" tIns="0" rIns="0" bIns="0" rtlCol="0" anchor="t"/>
          <a:lstStyle/>
          <a:p>
            <a:pPr marL="0" indent="0" algn="l">
              <a:lnSpc>
                <a:spcPts val="2340"/>
              </a:lnSpc>
              <a:buNone/>
            </a:pPr>
            <a:r>
              <a:rPr lang="en-US" sz="1800" b="1" dirty="0">
                <a:solidFill>
                  <a:srgbClr val="E11D48"/>
                </a:solidFill>
              </a:rPr>
              <a:t>VTT</a:t>
            </a:r>
            <a:endParaRPr lang="en-US" sz="1800" dirty="0"/>
          </a:p>
        </p:txBody>
      </p:sp>
      <p:sp>
        <p:nvSpPr>
          <p:cNvPr id="26" name="Shape 24"/>
          <p:cNvSpPr/>
          <p:nvPr/>
        </p:nvSpPr>
        <p:spPr>
          <a:xfrm>
            <a:off x="2114550" y="3657898"/>
            <a:ext cx="4695825" cy="1907084"/>
          </a:xfrm>
          <a:prstGeom prst="roundRect">
            <a:avLst>
              <a:gd name="adj" fmla="val 5993"/>
            </a:avLst>
          </a:prstGeom>
          <a:solidFill>
            <a:srgbClr val="FFFFFF"/>
          </a:solidFill>
          <a:ln w="9525">
            <a:solidFill>
              <a:srgbClr val="E2E8F0"/>
            </a:solidFill>
            <a:prstDash val="solid"/>
          </a:ln>
        </p:spPr>
      </p:sp>
      <p:sp>
        <p:nvSpPr>
          <p:cNvPr id="27" name="Text 25"/>
          <p:cNvSpPr txBox="1"/>
          <p:nvPr/>
        </p:nvSpPr>
        <p:spPr>
          <a:xfrm>
            <a:off x="2447925" y="4421981"/>
            <a:ext cx="1334396"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Phát triển merchant</a:t>
            </a:r>
            <a:endParaRPr lang="en-US" sz="1010" dirty="0"/>
          </a:p>
        </p:txBody>
      </p:sp>
      <p:sp>
        <p:nvSpPr>
          <p:cNvPr id="28" name="Shape 26"/>
          <p:cNvSpPr/>
          <p:nvPr/>
        </p:nvSpPr>
        <p:spPr>
          <a:xfrm>
            <a:off x="2305050" y="4488656"/>
            <a:ext cx="57150" cy="57150"/>
          </a:xfrm>
          <a:prstGeom prst="ellipse">
            <a:avLst/>
          </a:prstGeom>
          <a:solidFill>
            <a:srgbClr val="334155"/>
          </a:solidFill>
          <a:ln/>
        </p:spPr>
      </p:sp>
      <p:sp>
        <p:nvSpPr>
          <p:cNvPr id="29" name="Text 27"/>
          <p:cNvSpPr txBox="1"/>
          <p:nvPr/>
        </p:nvSpPr>
        <p:spPr>
          <a:xfrm>
            <a:off x="2447925" y="4640014"/>
            <a:ext cx="2241819"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Tích hợp Visa Accept vào Tendoo</a:t>
            </a:r>
            <a:endParaRPr lang="en-US" sz="1010" dirty="0"/>
          </a:p>
        </p:txBody>
      </p:sp>
      <p:sp>
        <p:nvSpPr>
          <p:cNvPr id="30" name="Shape 28"/>
          <p:cNvSpPr/>
          <p:nvPr/>
        </p:nvSpPr>
        <p:spPr>
          <a:xfrm>
            <a:off x="2305050" y="4706689"/>
            <a:ext cx="57150" cy="57150"/>
          </a:xfrm>
          <a:prstGeom prst="ellipse">
            <a:avLst/>
          </a:prstGeom>
          <a:solidFill>
            <a:srgbClr val="334155"/>
          </a:solidFill>
          <a:ln/>
        </p:spPr>
      </p:sp>
      <p:sp>
        <p:nvSpPr>
          <p:cNvPr id="31" name="Shape 29"/>
          <p:cNvSpPr/>
          <p:nvPr/>
        </p:nvSpPr>
        <p:spPr>
          <a:xfrm>
            <a:off x="6886575" y="3657898"/>
            <a:ext cx="4695825" cy="1907084"/>
          </a:xfrm>
          <a:prstGeom prst="roundRect">
            <a:avLst>
              <a:gd name="adj" fmla="val 5993"/>
            </a:avLst>
          </a:prstGeom>
          <a:solidFill>
            <a:srgbClr val="FFFFFF"/>
          </a:solidFill>
          <a:ln w="9525">
            <a:solidFill>
              <a:srgbClr val="E2E8F0"/>
            </a:solidFill>
            <a:prstDash val="solid"/>
          </a:ln>
        </p:spPr>
      </p:sp>
      <p:sp>
        <p:nvSpPr>
          <p:cNvPr id="32" name="Text 30"/>
          <p:cNvSpPr txBox="1"/>
          <p:nvPr/>
        </p:nvSpPr>
        <p:spPr>
          <a:xfrm>
            <a:off x="7219950" y="4421981"/>
            <a:ext cx="2335685"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Phát triển merchant, gồm chuỗi lớn</a:t>
            </a:r>
            <a:endParaRPr lang="en-US" sz="1010" dirty="0"/>
          </a:p>
        </p:txBody>
      </p:sp>
      <p:sp>
        <p:nvSpPr>
          <p:cNvPr id="33" name="Shape 31"/>
          <p:cNvSpPr/>
          <p:nvPr/>
        </p:nvSpPr>
        <p:spPr>
          <a:xfrm>
            <a:off x="7077075" y="4488656"/>
            <a:ext cx="57150" cy="57150"/>
          </a:xfrm>
          <a:prstGeom prst="ellipse">
            <a:avLst/>
          </a:prstGeom>
          <a:solidFill>
            <a:srgbClr val="334155"/>
          </a:solidFill>
          <a:ln/>
        </p:spPr>
      </p:sp>
      <p:sp>
        <p:nvSpPr>
          <p:cNvPr id="34" name="Text 32"/>
          <p:cNvSpPr txBox="1"/>
          <p:nvPr/>
        </p:nvSpPr>
        <p:spPr>
          <a:xfrm>
            <a:off x="7219950" y="4640014"/>
            <a:ext cx="2295614" cy="152400"/>
          </a:xfrm>
          <a:prstGeom prst="rect">
            <a:avLst/>
          </a:prstGeom>
          <a:noFill/>
          <a:ln/>
        </p:spPr>
        <p:txBody>
          <a:bodyPr wrap="none" lIns="0" tIns="0" rIns="0" bIns="0" rtlCol="0" anchor="t"/>
          <a:lstStyle/>
          <a:p>
            <a:pPr marL="0" indent="0" algn="l">
              <a:lnSpc>
                <a:spcPts val="1420"/>
              </a:lnSpc>
              <a:buNone/>
            </a:pPr>
            <a:r>
              <a:rPr lang="en-US" sz="1010" b="1" dirty="0">
                <a:solidFill>
                  <a:srgbClr val="334155"/>
                </a:solidFill>
              </a:rPr>
              <a:t>Đưa khách đến AI qua </a:t>
            </a:r>
            <a:r>
              <a:rPr lang="en-US" sz="1010" b="1" dirty="0" err="1">
                <a:solidFill>
                  <a:srgbClr val="334155"/>
                </a:solidFill>
              </a:rPr>
              <a:t>kênh</a:t>
            </a:r>
            <a:r>
              <a:rPr lang="en-US" sz="1010" b="1" dirty="0">
                <a:solidFill>
                  <a:srgbClr val="334155"/>
                </a:solidFill>
              </a:rPr>
              <a:t> </a:t>
            </a:r>
            <a:r>
              <a:rPr lang="en-US" sz="1010" b="1" dirty="0" err="1">
                <a:solidFill>
                  <a:srgbClr val="334155"/>
                </a:solidFill>
              </a:rPr>
              <a:t>eSIM</a:t>
            </a:r>
            <a:r>
              <a:rPr lang="en-US" sz="1010" b="1" dirty="0">
                <a:solidFill>
                  <a:srgbClr val="334155"/>
                </a:solidFill>
              </a:rPr>
              <a:t>, roaming</a:t>
            </a:r>
            <a:endParaRPr lang="en-US" sz="1010" dirty="0"/>
          </a:p>
        </p:txBody>
      </p:sp>
      <p:sp>
        <p:nvSpPr>
          <p:cNvPr id="35" name="Shape 33"/>
          <p:cNvSpPr/>
          <p:nvPr/>
        </p:nvSpPr>
        <p:spPr>
          <a:xfrm>
            <a:off x="7077075" y="4706689"/>
            <a:ext cx="57150" cy="57150"/>
          </a:xfrm>
          <a:prstGeom prst="ellipse">
            <a:avLst/>
          </a:prstGeom>
          <a:solidFill>
            <a:srgbClr val="334155"/>
          </a:solidFill>
          <a:ln/>
        </p:spPr>
      </p:sp>
      <p:sp>
        <p:nvSpPr>
          <p:cNvPr id="36" name="Shape 34"/>
          <p:cNvSpPr/>
          <p:nvPr/>
        </p:nvSpPr>
        <p:spPr>
          <a:xfrm>
            <a:off x="609600" y="5698331"/>
            <a:ext cx="10972800" cy="454819"/>
          </a:xfrm>
          <a:prstGeom prst="roundRect">
            <a:avLst>
              <a:gd name="adj" fmla="val 25131"/>
            </a:avLst>
          </a:prstGeom>
          <a:solidFill>
            <a:srgbClr val="FFFFFF"/>
          </a:solidFill>
          <a:ln w="9525">
            <a:solidFill>
              <a:srgbClr val="E2E8F0"/>
            </a:solidFill>
            <a:prstDash val="solid"/>
          </a:ln>
        </p:spPr>
      </p:sp>
      <p:sp>
        <p:nvSpPr>
          <p:cNvPr id="37" name="Text 35"/>
          <p:cNvSpPr txBox="1"/>
          <p:nvPr/>
        </p:nvSpPr>
        <p:spPr>
          <a:xfrm>
            <a:off x="828675" y="5852368"/>
            <a:ext cx="997268" cy="142875"/>
          </a:xfrm>
          <a:prstGeom prst="rect">
            <a:avLst/>
          </a:prstGeom>
          <a:noFill/>
          <a:ln/>
        </p:spPr>
        <p:txBody>
          <a:bodyPr wrap="none" lIns="0" tIns="0" rIns="0" bIns="0" rtlCol="0" anchor="t"/>
          <a:lstStyle/>
          <a:p>
            <a:pPr marL="0" indent="0" algn="l">
              <a:lnSpc>
                <a:spcPts val="1310"/>
              </a:lnSpc>
              <a:buNone/>
            </a:pPr>
            <a:r>
              <a:rPr lang="en-US" sz="900" b="1" kern="0" spc="40" dirty="0">
                <a:solidFill>
                  <a:srgbClr val="E11D48"/>
                </a:solidFill>
              </a:rPr>
              <a:t>ĐỐI TÁC · VISA</a:t>
            </a:r>
            <a:endParaRPr lang="en-US" sz="900" dirty="0"/>
          </a:p>
        </p:txBody>
      </p:sp>
      <p:sp>
        <p:nvSpPr>
          <p:cNvPr id="38" name="Text 36"/>
          <p:cNvSpPr txBox="1"/>
          <p:nvPr/>
        </p:nvSpPr>
        <p:spPr>
          <a:xfrm>
            <a:off x="1905000" y="5831681"/>
            <a:ext cx="3146875" cy="180975"/>
          </a:xfrm>
          <a:prstGeom prst="rect">
            <a:avLst/>
          </a:prstGeom>
          <a:noFill/>
          <a:ln/>
        </p:spPr>
        <p:txBody>
          <a:bodyPr wrap="none" lIns="0" tIns="0" rIns="0" bIns="0" rtlCol="0" anchor="t"/>
          <a:lstStyle/>
          <a:p>
            <a:pPr marL="0" indent="0" algn="l">
              <a:lnSpc>
                <a:spcPts val="1630"/>
              </a:lnSpc>
              <a:buNone/>
            </a:pPr>
            <a:r>
              <a:rPr lang="en-US" sz="1130" b="1" dirty="0">
                <a:solidFill>
                  <a:srgbClr val="334155"/>
                </a:solidFill>
              </a:rPr>
              <a:t>Visa Accept, mạng lưới thẻ, chống gian lận</a:t>
            </a:r>
            <a:endParaRPr lang="en-US" sz="1130" dirty="0"/>
          </a:p>
        </p:txBody>
      </p:sp>
      <p:sp>
        <p:nvSpPr>
          <p:cNvPr id="39" name="Shape 37"/>
          <p:cNvSpPr/>
          <p:nvPr/>
        </p:nvSpPr>
        <p:spPr>
          <a:xfrm>
            <a:off x="10796588" y="6343650"/>
            <a:ext cx="323850" cy="323850"/>
          </a:xfrm>
          <a:prstGeom prst="ellipse">
            <a:avLst/>
          </a:prstGeom>
          <a:solidFill>
            <a:srgbClr val="F0001E"/>
          </a:solidFill>
          <a:ln/>
        </p:spPr>
      </p:sp>
      <p:sp>
        <p:nvSpPr>
          <p:cNvPr id="40" name="Shape 38"/>
          <p:cNvSpPr/>
          <p:nvPr/>
        </p:nvSpPr>
        <p:spPr>
          <a:xfrm>
            <a:off x="10901363" y="6415088"/>
            <a:ext cx="114300" cy="180975"/>
          </a:xfrm>
          <a:prstGeom prst="roundRect">
            <a:avLst>
              <a:gd name="adj" fmla="val 29167"/>
            </a:avLst>
          </a:prstGeom>
          <a:ln w="19050">
            <a:solidFill>
              <a:srgbClr val="FFFFFF"/>
            </a:solidFill>
            <a:prstDash val="solid"/>
          </a:ln>
        </p:spPr>
      </p:sp>
      <p:sp>
        <p:nvSpPr>
          <p:cNvPr id="41" name="Text 39"/>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42" name="Text 40"/>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43" name="Text 41"/>
          <p:cNvSpPr txBox="1"/>
          <p:nvPr/>
        </p:nvSpPr>
        <p:spPr>
          <a:xfrm>
            <a:off x="10522446" y="6429375"/>
            <a:ext cx="172194"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4146271"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MÔ HÌNH HỢP TÁC · NGUYÊN TẮC HỢP TÁC KINH DOANH</a:t>
            </a:r>
            <a:endParaRPr lang="en-US" sz="1050" dirty="0"/>
          </a:p>
        </p:txBody>
      </p:sp>
      <p:sp>
        <p:nvSpPr>
          <p:cNvPr id="3" name="Text 1"/>
          <p:cNvSpPr txBox="1"/>
          <p:nvPr/>
        </p:nvSpPr>
        <p:spPr>
          <a:xfrm>
            <a:off x="609600" y="619125"/>
            <a:ext cx="6311813"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0F172A"/>
                </a:solidFill>
              </a:rPr>
              <a:t>Nguyên tắc hợp tác kinh doanh </a:t>
            </a:r>
            <a:r>
              <a:rPr lang="en-US" sz="2330" b="1" kern="0" spc="-30" dirty="0">
                <a:solidFill>
                  <a:srgbClr val="E11D48"/>
                </a:solidFill>
              </a:rPr>
              <a:t>VTT – VDF</a:t>
            </a:r>
            <a:endParaRPr lang="en-US" sz="2330" dirty="0"/>
          </a:p>
        </p:txBody>
      </p:sp>
      <p:sp>
        <p:nvSpPr>
          <p:cNvPr id="6" name="Shape 4"/>
          <p:cNvSpPr/>
          <p:nvPr/>
        </p:nvSpPr>
        <p:spPr>
          <a:xfrm>
            <a:off x="10796588" y="6343650"/>
            <a:ext cx="323850" cy="323850"/>
          </a:xfrm>
          <a:prstGeom prst="ellipse">
            <a:avLst/>
          </a:prstGeom>
          <a:solidFill>
            <a:srgbClr val="F0001E"/>
          </a:solidFill>
          <a:ln/>
        </p:spPr>
      </p:sp>
      <p:sp>
        <p:nvSpPr>
          <p:cNvPr id="7" name="Shape 5"/>
          <p:cNvSpPr/>
          <p:nvPr/>
        </p:nvSpPr>
        <p:spPr>
          <a:xfrm>
            <a:off x="10901363" y="6415088"/>
            <a:ext cx="114300" cy="180975"/>
          </a:xfrm>
          <a:prstGeom prst="roundRect">
            <a:avLst>
              <a:gd name="adj" fmla="val 29167"/>
            </a:avLst>
          </a:prstGeom>
          <a:ln w="19050">
            <a:solidFill>
              <a:srgbClr val="FFFFFF"/>
            </a:solidFill>
            <a:prstDash val="solid"/>
          </a:ln>
        </p:spPr>
      </p:sp>
      <p:sp>
        <p:nvSpPr>
          <p:cNvPr id="8" name="Text 6"/>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9" name="Text 7"/>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10" name="Text 8"/>
          <p:cNvSpPr txBox="1"/>
          <p:nvPr/>
        </p:nvSpPr>
        <p:spPr>
          <a:xfrm>
            <a:off x="10522744" y="6429375"/>
            <a:ext cx="171879"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Text 0"/>
          <p:cNvSpPr txBox="1"/>
          <p:nvPr/>
        </p:nvSpPr>
        <p:spPr>
          <a:xfrm>
            <a:off x="609600" y="400050"/>
            <a:ext cx="1600849"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LỘ TRÌNH TRIỂN KHAI</a:t>
            </a:r>
            <a:endParaRPr lang="en-US" sz="1050" dirty="0"/>
          </a:p>
        </p:txBody>
      </p:sp>
      <p:sp>
        <p:nvSpPr>
          <p:cNvPr id="3" name="Text 1"/>
          <p:cNvSpPr txBox="1"/>
          <p:nvPr/>
        </p:nvSpPr>
        <p:spPr>
          <a:xfrm>
            <a:off x="609600" y="619125"/>
            <a:ext cx="5524759" cy="352425"/>
          </a:xfrm>
          <a:prstGeom prst="rect">
            <a:avLst/>
          </a:prstGeom>
          <a:noFill/>
          <a:ln/>
        </p:spPr>
        <p:txBody>
          <a:bodyPr wrap="none" lIns="0" tIns="0" rIns="0" bIns="0" rtlCol="0" anchor="t"/>
          <a:lstStyle/>
          <a:p>
            <a:pPr marL="0" indent="0" algn="l">
              <a:lnSpc>
                <a:spcPts val="2840"/>
              </a:lnSpc>
              <a:buNone/>
            </a:pPr>
            <a:r>
              <a:rPr lang="en-US" sz="2330" b="1" kern="0" spc="-30" dirty="0">
                <a:solidFill>
                  <a:srgbClr val="E11D48"/>
                </a:solidFill>
              </a:rPr>
              <a:t>Pilot offline Q1/2027</a:t>
            </a:r>
            <a:r>
              <a:rPr lang="en-US" sz="2330" b="1" kern="0" spc="-30" dirty="0">
                <a:solidFill>
                  <a:srgbClr val="0F172A"/>
                </a:solidFill>
              </a:rPr>
              <a:t>, online Q2/2027</a:t>
            </a:r>
            <a:endParaRPr lang="en-US" sz="2330" dirty="0"/>
          </a:p>
        </p:txBody>
      </p:sp>
      <p:sp>
        <p:nvSpPr>
          <p:cNvPr id="4" name="Shape 2"/>
          <p:cNvSpPr/>
          <p:nvPr/>
        </p:nvSpPr>
        <p:spPr>
          <a:xfrm>
            <a:off x="600075" y="1512689"/>
            <a:ext cx="10972800" cy="2975967"/>
          </a:xfrm>
          <a:prstGeom prst="roundRect">
            <a:avLst>
              <a:gd name="adj" fmla="val 3321"/>
            </a:avLst>
          </a:prstGeom>
          <a:solidFill>
            <a:srgbClr val="FFFFFF"/>
          </a:solidFill>
          <a:ln w="9525">
            <a:solidFill>
              <a:srgbClr val="E2E8F0"/>
            </a:solidFill>
            <a:prstDash val="solid"/>
          </a:ln>
        </p:spPr>
      </p:sp>
      <p:sp>
        <p:nvSpPr>
          <p:cNvPr id="5" name="Shape 3"/>
          <p:cNvSpPr/>
          <p:nvPr/>
        </p:nvSpPr>
        <p:spPr>
          <a:xfrm>
            <a:off x="609600" y="1522214"/>
            <a:ext cx="1809750" cy="509439"/>
          </a:xfrm>
          <a:prstGeom prst="rect">
            <a:avLst/>
          </a:prstGeom>
          <a:solidFill>
            <a:srgbClr val="F1F5F9"/>
          </a:solidFill>
          <a:ln/>
        </p:spPr>
      </p:sp>
      <p:sp>
        <p:nvSpPr>
          <p:cNvPr id="6" name="Shape 4"/>
          <p:cNvSpPr/>
          <p:nvPr/>
        </p:nvSpPr>
        <p:spPr>
          <a:xfrm>
            <a:off x="609600" y="2022128"/>
            <a:ext cx="1809750" cy="9525"/>
          </a:xfrm>
          <a:prstGeom prst="rect">
            <a:avLst/>
          </a:prstGeom>
          <a:solidFill>
            <a:srgbClr val="E2E8F0"/>
          </a:solidFill>
          <a:ln/>
        </p:spPr>
      </p:sp>
      <p:sp>
        <p:nvSpPr>
          <p:cNvPr id="7" name="Text 5"/>
          <p:cNvSpPr txBox="1"/>
          <p:nvPr/>
        </p:nvSpPr>
        <p:spPr>
          <a:xfrm>
            <a:off x="742950" y="1753642"/>
            <a:ext cx="761893" cy="161925"/>
          </a:xfrm>
          <a:prstGeom prst="rect">
            <a:avLst/>
          </a:prstGeom>
          <a:noFill/>
          <a:ln/>
        </p:spPr>
        <p:txBody>
          <a:bodyPr wrap="none" lIns="0" tIns="0" rIns="0" bIns="0" rtlCol="0" anchor="t"/>
          <a:lstStyle/>
          <a:p>
            <a:pPr marL="0" indent="0" algn="l">
              <a:lnSpc>
                <a:spcPts val="1370"/>
              </a:lnSpc>
              <a:buNone/>
            </a:pPr>
            <a:r>
              <a:rPr lang="en-US" sz="1050" b="1" dirty="0">
                <a:solidFill>
                  <a:srgbClr val="334155"/>
                </a:solidFill>
              </a:rPr>
              <a:t>Mảng việc</a:t>
            </a:r>
            <a:endParaRPr lang="en-US" sz="1050" dirty="0"/>
          </a:p>
        </p:txBody>
      </p:sp>
      <p:sp>
        <p:nvSpPr>
          <p:cNvPr id="8" name="Shape 6"/>
          <p:cNvSpPr/>
          <p:nvPr/>
        </p:nvSpPr>
        <p:spPr>
          <a:xfrm>
            <a:off x="2419350" y="1522214"/>
            <a:ext cx="3000375" cy="509439"/>
          </a:xfrm>
          <a:prstGeom prst="rect">
            <a:avLst/>
          </a:prstGeom>
          <a:solidFill>
            <a:srgbClr val="0F172A"/>
          </a:solidFill>
          <a:ln/>
        </p:spPr>
      </p:sp>
      <p:sp>
        <p:nvSpPr>
          <p:cNvPr id="9" name="Shape 7"/>
          <p:cNvSpPr/>
          <p:nvPr/>
        </p:nvSpPr>
        <p:spPr>
          <a:xfrm>
            <a:off x="2419350" y="2022128"/>
            <a:ext cx="3000375" cy="9525"/>
          </a:xfrm>
          <a:prstGeom prst="rect">
            <a:avLst/>
          </a:prstGeom>
          <a:solidFill>
            <a:srgbClr val="E2E8F0"/>
          </a:solidFill>
          <a:ln/>
        </p:spPr>
      </p:sp>
      <p:sp>
        <p:nvSpPr>
          <p:cNvPr id="10" name="Text 8"/>
          <p:cNvSpPr txBox="1"/>
          <p:nvPr/>
        </p:nvSpPr>
        <p:spPr>
          <a:xfrm>
            <a:off x="2552700" y="1617464"/>
            <a:ext cx="1328559" cy="161925"/>
          </a:xfrm>
          <a:prstGeom prst="rect">
            <a:avLst/>
          </a:prstGeom>
          <a:noFill/>
          <a:ln/>
        </p:spPr>
        <p:txBody>
          <a:bodyPr wrap="none" lIns="0" tIns="0" rIns="0" bIns="0" rtlCol="0" anchor="t"/>
          <a:lstStyle/>
          <a:p>
            <a:pPr marL="0" indent="0" algn="l">
              <a:lnSpc>
                <a:spcPts val="1370"/>
              </a:lnSpc>
              <a:buNone/>
            </a:pPr>
            <a:r>
              <a:rPr lang="en-US" sz="1050" b="1" dirty="0">
                <a:solidFill>
                  <a:srgbClr val="FFFFFF"/>
                </a:solidFill>
              </a:rPr>
              <a:t>Phase 0 · Chuẩn bị</a:t>
            </a:r>
            <a:endParaRPr lang="en-US" sz="1050" dirty="0"/>
          </a:p>
        </p:txBody>
      </p:sp>
      <p:sp>
        <p:nvSpPr>
          <p:cNvPr id="11" name="Text 9"/>
          <p:cNvSpPr txBox="1"/>
          <p:nvPr/>
        </p:nvSpPr>
        <p:spPr>
          <a:xfrm>
            <a:off x="2552700" y="1790700"/>
            <a:ext cx="522732" cy="133350"/>
          </a:xfrm>
          <a:prstGeom prst="rect">
            <a:avLst/>
          </a:prstGeom>
          <a:noFill/>
          <a:ln/>
        </p:spPr>
        <p:txBody>
          <a:bodyPr wrap="none" lIns="0" tIns="0" rIns="0" bIns="0" rtlCol="0" anchor="t"/>
          <a:lstStyle/>
          <a:p>
            <a:pPr marL="0" indent="0" algn="l">
              <a:lnSpc>
                <a:spcPts val="1070"/>
              </a:lnSpc>
              <a:buNone/>
            </a:pPr>
            <a:r>
              <a:rPr lang="en-US" sz="830" b="1" dirty="0">
                <a:solidFill>
                  <a:srgbClr val="FFFFFF">
                    <a:alpha val="75000"/>
                  </a:srgbClr>
                </a:solidFill>
              </a:rPr>
              <a:t>Q4/2026</a:t>
            </a:r>
            <a:endParaRPr lang="en-US" sz="830" dirty="0"/>
          </a:p>
        </p:txBody>
      </p:sp>
      <p:sp>
        <p:nvSpPr>
          <p:cNvPr id="12" name="Shape 10"/>
          <p:cNvSpPr/>
          <p:nvPr/>
        </p:nvSpPr>
        <p:spPr>
          <a:xfrm>
            <a:off x="5419725" y="1522214"/>
            <a:ext cx="3143250" cy="509439"/>
          </a:xfrm>
          <a:prstGeom prst="rect">
            <a:avLst/>
          </a:prstGeom>
          <a:solidFill>
            <a:srgbClr val="E11D48"/>
          </a:solidFill>
          <a:ln/>
        </p:spPr>
      </p:sp>
      <p:sp>
        <p:nvSpPr>
          <p:cNvPr id="13" name="Shape 11"/>
          <p:cNvSpPr/>
          <p:nvPr/>
        </p:nvSpPr>
        <p:spPr>
          <a:xfrm>
            <a:off x="5419725" y="2022128"/>
            <a:ext cx="3143250" cy="9525"/>
          </a:xfrm>
          <a:prstGeom prst="rect">
            <a:avLst/>
          </a:prstGeom>
          <a:solidFill>
            <a:srgbClr val="E2E8F0"/>
          </a:solidFill>
          <a:ln/>
        </p:spPr>
      </p:sp>
      <p:sp>
        <p:nvSpPr>
          <p:cNvPr id="14" name="Text 12"/>
          <p:cNvSpPr txBox="1"/>
          <p:nvPr/>
        </p:nvSpPr>
        <p:spPr>
          <a:xfrm>
            <a:off x="5553075" y="1617464"/>
            <a:ext cx="987960" cy="161925"/>
          </a:xfrm>
          <a:prstGeom prst="rect">
            <a:avLst/>
          </a:prstGeom>
          <a:noFill/>
          <a:ln/>
        </p:spPr>
        <p:txBody>
          <a:bodyPr wrap="none" lIns="0" tIns="0" rIns="0" bIns="0" rtlCol="0" anchor="t"/>
          <a:lstStyle/>
          <a:p>
            <a:pPr marL="0" indent="0" algn="l">
              <a:lnSpc>
                <a:spcPts val="1370"/>
              </a:lnSpc>
              <a:buNone/>
            </a:pPr>
            <a:r>
              <a:rPr lang="en-US" sz="1050" b="1" dirty="0">
                <a:solidFill>
                  <a:srgbClr val="FFFFFF"/>
                </a:solidFill>
              </a:rPr>
              <a:t>Phase 1 · Pilot</a:t>
            </a:r>
            <a:endParaRPr lang="en-US" sz="1050" dirty="0"/>
          </a:p>
        </p:txBody>
      </p:sp>
      <p:sp>
        <p:nvSpPr>
          <p:cNvPr id="15" name="Text 13"/>
          <p:cNvSpPr txBox="1"/>
          <p:nvPr/>
        </p:nvSpPr>
        <p:spPr>
          <a:xfrm>
            <a:off x="5553075" y="1790700"/>
            <a:ext cx="699263" cy="133350"/>
          </a:xfrm>
          <a:prstGeom prst="rect">
            <a:avLst/>
          </a:prstGeom>
          <a:noFill/>
          <a:ln/>
        </p:spPr>
        <p:txBody>
          <a:bodyPr wrap="none" lIns="0" tIns="0" rIns="0" bIns="0" rtlCol="0" anchor="t"/>
          <a:lstStyle/>
          <a:p>
            <a:pPr marL="0" indent="0" algn="l">
              <a:lnSpc>
                <a:spcPts val="1070"/>
              </a:lnSpc>
              <a:buNone/>
            </a:pPr>
            <a:r>
              <a:rPr lang="en-US" sz="830" b="1" dirty="0">
                <a:solidFill>
                  <a:srgbClr val="FFFFFF">
                    <a:alpha val="75000"/>
                  </a:srgbClr>
                </a:solidFill>
              </a:rPr>
              <a:t>Q1–Q2/2027</a:t>
            </a:r>
            <a:endParaRPr lang="en-US" sz="830" dirty="0"/>
          </a:p>
        </p:txBody>
      </p:sp>
      <p:sp>
        <p:nvSpPr>
          <p:cNvPr id="16" name="Shape 14"/>
          <p:cNvSpPr/>
          <p:nvPr/>
        </p:nvSpPr>
        <p:spPr>
          <a:xfrm>
            <a:off x="8562975" y="1522214"/>
            <a:ext cx="3000375" cy="509439"/>
          </a:xfrm>
          <a:prstGeom prst="rect">
            <a:avLst/>
          </a:prstGeom>
          <a:solidFill>
            <a:srgbClr val="1E3A8A"/>
          </a:solidFill>
          <a:ln/>
        </p:spPr>
      </p:sp>
      <p:sp>
        <p:nvSpPr>
          <p:cNvPr id="17" name="Shape 15"/>
          <p:cNvSpPr/>
          <p:nvPr/>
        </p:nvSpPr>
        <p:spPr>
          <a:xfrm>
            <a:off x="8562975" y="2022128"/>
            <a:ext cx="3000375" cy="9525"/>
          </a:xfrm>
          <a:prstGeom prst="rect">
            <a:avLst/>
          </a:prstGeom>
          <a:solidFill>
            <a:srgbClr val="E2E8F0"/>
          </a:solidFill>
          <a:ln/>
        </p:spPr>
      </p:sp>
      <p:sp>
        <p:nvSpPr>
          <p:cNvPr id="18" name="Text 16"/>
          <p:cNvSpPr txBox="1"/>
          <p:nvPr/>
        </p:nvSpPr>
        <p:spPr>
          <a:xfrm>
            <a:off x="8696325" y="1617464"/>
            <a:ext cx="1280758" cy="161925"/>
          </a:xfrm>
          <a:prstGeom prst="rect">
            <a:avLst/>
          </a:prstGeom>
          <a:noFill/>
          <a:ln/>
        </p:spPr>
        <p:txBody>
          <a:bodyPr wrap="none" lIns="0" tIns="0" rIns="0" bIns="0" rtlCol="0" anchor="t"/>
          <a:lstStyle/>
          <a:p>
            <a:pPr marL="0" indent="0" algn="l">
              <a:lnSpc>
                <a:spcPts val="1370"/>
              </a:lnSpc>
              <a:buNone/>
            </a:pPr>
            <a:r>
              <a:rPr lang="en-US" sz="1050" b="1" dirty="0">
                <a:solidFill>
                  <a:srgbClr val="FFFFFF"/>
                </a:solidFill>
              </a:rPr>
              <a:t>Phase 2 · Mở rộng</a:t>
            </a:r>
            <a:endParaRPr lang="en-US" sz="1050" dirty="0"/>
          </a:p>
        </p:txBody>
      </p:sp>
      <p:sp>
        <p:nvSpPr>
          <p:cNvPr id="19" name="Text 17"/>
          <p:cNvSpPr txBox="1"/>
          <p:nvPr/>
        </p:nvSpPr>
        <p:spPr>
          <a:xfrm>
            <a:off x="8696325" y="1790700"/>
            <a:ext cx="727817" cy="133350"/>
          </a:xfrm>
          <a:prstGeom prst="rect">
            <a:avLst/>
          </a:prstGeom>
          <a:noFill/>
          <a:ln/>
        </p:spPr>
        <p:txBody>
          <a:bodyPr wrap="none" lIns="0" tIns="0" rIns="0" bIns="0" rtlCol="0" anchor="t"/>
          <a:lstStyle/>
          <a:p>
            <a:pPr marL="0" indent="0" algn="l">
              <a:lnSpc>
                <a:spcPts val="1070"/>
              </a:lnSpc>
              <a:buNone/>
            </a:pPr>
            <a:r>
              <a:rPr lang="en-US" sz="830" b="1" dirty="0">
                <a:solidFill>
                  <a:srgbClr val="FFFFFF">
                    <a:alpha val="75000"/>
                  </a:srgbClr>
                </a:solidFill>
              </a:rPr>
              <a:t>Q3–Q4/2027</a:t>
            </a:r>
            <a:endParaRPr lang="en-US" sz="830" dirty="0"/>
          </a:p>
        </p:txBody>
      </p:sp>
      <p:sp>
        <p:nvSpPr>
          <p:cNvPr id="20" name="Shape 18"/>
          <p:cNvSpPr/>
          <p:nvPr/>
        </p:nvSpPr>
        <p:spPr>
          <a:xfrm>
            <a:off x="609600" y="2915394"/>
            <a:ext cx="1809750" cy="9525"/>
          </a:xfrm>
          <a:prstGeom prst="rect">
            <a:avLst/>
          </a:prstGeom>
          <a:solidFill>
            <a:srgbClr val="E2E8F0"/>
          </a:solidFill>
          <a:ln/>
        </p:spPr>
      </p:sp>
      <p:sp>
        <p:nvSpPr>
          <p:cNvPr id="21" name="Text 19"/>
          <p:cNvSpPr txBox="1"/>
          <p:nvPr/>
        </p:nvSpPr>
        <p:spPr>
          <a:xfrm>
            <a:off x="762000" y="2269778"/>
            <a:ext cx="778457" cy="190500"/>
          </a:xfrm>
          <a:prstGeom prst="rect">
            <a:avLst/>
          </a:prstGeom>
          <a:noFill/>
          <a:ln/>
        </p:spPr>
        <p:txBody>
          <a:bodyPr wrap="none" lIns="0" tIns="0" rIns="0" bIns="0" rtlCol="0" anchor="t"/>
          <a:lstStyle/>
          <a:p>
            <a:pPr marL="0" indent="0" algn="l">
              <a:lnSpc>
                <a:spcPts val="1680"/>
              </a:lnSpc>
              <a:buNone/>
            </a:pPr>
            <a:r>
              <a:rPr lang="en-US" sz="1200" b="1" dirty="0">
                <a:solidFill>
                  <a:srgbClr val="E11D48"/>
                </a:solidFill>
              </a:rPr>
              <a:t>1 · Offline</a:t>
            </a:r>
            <a:endParaRPr lang="en-US" sz="1200" dirty="0"/>
          </a:p>
        </p:txBody>
      </p:sp>
      <p:sp>
        <p:nvSpPr>
          <p:cNvPr id="22" name="Shape 20"/>
          <p:cNvSpPr/>
          <p:nvPr/>
        </p:nvSpPr>
        <p:spPr>
          <a:xfrm>
            <a:off x="2419350" y="2915394"/>
            <a:ext cx="3000375" cy="9525"/>
          </a:xfrm>
          <a:prstGeom prst="rect">
            <a:avLst/>
          </a:prstGeom>
          <a:solidFill>
            <a:srgbClr val="E2E8F0"/>
          </a:solidFill>
          <a:ln/>
        </p:spPr>
      </p:sp>
      <p:sp>
        <p:nvSpPr>
          <p:cNvPr id="23" name="Text 21"/>
          <p:cNvSpPr txBox="1"/>
          <p:nvPr/>
        </p:nvSpPr>
        <p:spPr>
          <a:xfrm>
            <a:off x="2571750" y="2269778"/>
            <a:ext cx="2724150"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Chốt với Visa; thiết kế tích hợp Tendoo</a:t>
            </a:r>
            <a:endParaRPr lang="en-US" sz="1200" dirty="0"/>
          </a:p>
        </p:txBody>
      </p:sp>
      <p:sp>
        <p:nvSpPr>
          <p:cNvPr id="24" name="Shape 22"/>
          <p:cNvSpPr/>
          <p:nvPr/>
        </p:nvSpPr>
        <p:spPr>
          <a:xfrm>
            <a:off x="5419725" y="2031653"/>
            <a:ext cx="3143250" cy="893266"/>
          </a:xfrm>
          <a:prstGeom prst="rect">
            <a:avLst/>
          </a:prstGeom>
          <a:solidFill>
            <a:srgbClr val="FFF5F6"/>
          </a:solidFill>
          <a:ln/>
        </p:spPr>
      </p:sp>
      <p:sp>
        <p:nvSpPr>
          <p:cNvPr id="25" name="Shape 23"/>
          <p:cNvSpPr/>
          <p:nvPr/>
        </p:nvSpPr>
        <p:spPr>
          <a:xfrm>
            <a:off x="5419725" y="2915394"/>
            <a:ext cx="3143250" cy="9525"/>
          </a:xfrm>
          <a:prstGeom prst="rect">
            <a:avLst/>
          </a:prstGeom>
          <a:solidFill>
            <a:srgbClr val="E2E8F0"/>
          </a:solidFill>
          <a:ln/>
        </p:spPr>
      </p:sp>
      <p:sp>
        <p:nvSpPr>
          <p:cNvPr id="26" name="Text 24"/>
          <p:cNvSpPr txBox="1"/>
          <p:nvPr/>
        </p:nvSpPr>
        <p:spPr>
          <a:xfrm>
            <a:off x="5572125" y="2269778"/>
            <a:ext cx="2781598" cy="403771"/>
          </a:xfrm>
          <a:prstGeom prst="rect">
            <a:avLst/>
          </a:prstGeom>
          <a:noFill/>
          <a:ln/>
        </p:spPr>
        <p:txBody>
          <a:bodyPr wrap="square" lIns="0" tIns="0" rIns="0" bIns="0" rtlCol="0" anchor="t"/>
          <a:lstStyle/>
          <a:p>
            <a:pPr marL="0" indent="0" algn="l">
              <a:lnSpc>
                <a:spcPts val="1680"/>
              </a:lnSpc>
              <a:buNone/>
            </a:pPr>
            <a:r>
              <a:rPr lang="en-US" sz="830" b="1" dirty="0">
                <a:solidFill>
                  <a:srgbClr val="FFFFFF"/>
                </a:solidFill>
                <a:highlight>
                  <a:srgbClr val="E11D48"/>
                </a:highlight>
              </a:rPr>
              <a:t>Q1/2027</a:t>
            </a:r>
            <a:r>
              <a:rPr lang="en-US" sz="1200" b="1" dirty="0">
                <a:solidFill>
                  <a:srgbClr val="334155"/>
                </a:solidFill>
              </a:rPr>
              <a:t> Mở Visa Accept cho cửa hàng pilot</a:t>
            </a:r>
            <a:endParaRPr lang="en-US" sz="830" dirty="0"/>
          </a:p>
        </p:txBody>
      </p:sp>
      <p:sp>
        <p:nvSpPr>
          <p:cNvPr id="27" name="Shape 25"/>
          <p:cNvSpPr/>
          <p:nvPr/>
        </p:nvSpPr>
        <p:spPr>
          <a:xfrm>
            <a:off x="8562975" y="2915394"/>
            <a:ext cx="3000375" cy="9525"/>
          </a:xfrm>
          <a:prstGeom prst="rect">
            <a:avLst/>
          </a:prstGeom>
          <a:solidFill>
            <a:srgbClr val="E2E8F0"/>
          </a:solidFill>
          <a:ln/>
        </p:spPr>
      </p:sp>
      <p:sp>
        <p:nvSpPr>
          <p:cNvPr id="28" name="Text 26"/>
          <p:cNvSpPr txBox="1"/>
          <p:nvPr/>
        </p:nvSpPr>
        <p:spPr>
          <a:xfrm>
            <a:off x="8715375" y="2269778"/>
            <a:ext cx="2724150"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Nhân rộng; nâng gói SMB, nhận thẻ đầy đủ</a:t>
            </a:r>
            <a:endParaRPr lang="en-US" sz="1200" dirty="0"/>
          </a:p>
        </p:txBody>
      </p:sp>
      <p:sp>
        <p:nvSpPr>
          <p:cNvPr id="29" name="Shape 27"/>
          <p:cNvSpPr/>
          <p:nvPr/>
        </p:nvSpPr>
        <p:spPr>
          <a:xfrm>
            <a:off x="609600" y="3808661"/>
            <a:ext cx="1809750" cy="9525"/>
          </a:xfrm>
          <a:prstGeom prst="rect">
            <a:avLst/>
          </a:prstGeom>
          <a:solidFill>
            <a:srgbClr val="E2E8F0"/>
          </a:solidFill>
          <a:ln/>
        </p:spPr>
      </p:sp>
      <p:sp>
        <p:nvSpPr>
          <p:cNvPr id="30" name="Text 28"/>
          <p:cNvSpPr txBox="1"/>
          <p:nvPr/>
        </p:nvSpPr>
        <p:spPr>
          <a:xfrm>
            <a:off x="762000" y="3163044"/>
            <a:ext cx="787450" cy="190500"/>
          </a:xfrm>
          <a:prstGeom prst="rect">
            <a:avLst/>
          </a:prstGeom>
          <a:noFill/>
          <a:ln/>
        </p:spPr>
        <p:txBody>
          <a:bodyPr wrap="none" lIns="0" tIns="0" rIns="0" bIns="0" rtlCol="0" anchor="t"/>
          <a:lstStyle/>
          <a:p>
            <a:pPr marL="0" indent="0" algn="l">
              <a:lnSpc>
                <a:spcPts val="1680"/>
              </a:lnSpc>
              <a:buNone/>
            </a:pPr>
            <a:r>
              <a:rPr lang="en-US" sz="1200" b="1" dirty="0">
                <a:solidFill>
                  <a:srgbClr val="1E3A8A"/>
                </a:solidFill>
              </a:rPr>
              <a:t>2 · Online</a:t>
            </a:r>
            <a:endParaRPr lang="en-US" sz="1200" dirty="0"/>
          </a:p>
        </p:txBody>
      </p:sp>
      <p:sp>
        <p:nvSpPr>
          <p:cNvPr id="31" name="Shape 29"/>
          <p:cNvSpPr/>
          <p:nvPr/>
        </p:nvSpPr>
        <p:spPr>
          <a:xfrm>
            <a:off x="2419350" y="3808661"/>
            <a:ext cx="3000375" cy="9525"/>
          </a:xfrm>
          <a:prstGeom prst="rect">
            <a:avLst/>
          </a:prstGeom>
          <a:solidFill>
            <a:srgbClr val="E2E8F0"/>
          </a:solidFill>
          <a:ln/>
        </p:spPr>
      </p:sp>
      <p:sp>
        <p:nvSpPr>
          <p:cNvPr id="32" name="Text 30"/>
          <p:cNvSpPr txBox="1"/>
          <p:nvPr/>
        </p:nvSpPr>
        <p:spPr>
          <a:xfrm>
            <a:off x="2571750" y="3163044"/>
            <a:ext cx="2724150"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Thiết kế AI, booking; thống nhất kênh Viettel</a:t>
            </a:r>
            <a:endParaRPr lang="en-US" sz="1200" dirty="0"/>
          </a:p>
        </p:txBody>
      </p:sp>
      <p:sp>
        <p:nvSpPr>
          <p:cNvPr id="33" name="Shape 31"/>
          <p:cNvSpPr/>
          <p:nvPr/>
        </p:nvSpPr>
        <p:spPr>
          <a:xfrm>
            <a:off x="5419725" y="2924919"/>
            <a:ext cx="3143250" cy="893266"/>
          </a:xfrm>
          <a:prstGeom prst="rect">
            <a:avLst/>
          </a:prstGeom>
          <a:solidFill>
            <a:srgbClr val="FFF5F6"/>
          </a:solidFill>
          <a:ln/>
        </p:spPr>
      </p:sp>
      <p:sp>
        <p:nvSpPr>
          <p:cNvPr id="34" name="Shape 32"/>
          <p:cNvSpPr/>
          <p:nvPr/>
        </p:nvSpPr>
        <p:spPr>
          <a:xfrm>
            <a:off x="5419725" y="3808661"/>
            <a:ext cx="3143250" cy="9525"/>
          </a:xfrm>
          <a:prstGeom prst="rect">
            <a:avLst/>
          </a:prstGeom>
          <a:solidFill>
            <a:srgbClr val="E2E8F0"/>
          </a:solidFill>
          <a:ln/>
        </p:spPr>
      </p:sp>
      <p:sp>
        <p:nvSpPr>
          <p:cNvPr id="35" name="Text 33"/>
          <p:cNvSpPr txBox="1"/>
          <p:nvPr/>
        </p:nvSpPr>
        <p:spPr>
          <a:xfrm>
            <a:off x="5619750" y="3163044"/>
            <a:ext cx="2114996" cy="190500"/>
          </a:xfrm>
          <a:prstGeom prst="rect">
            <a:avLst/>
          </a:prstGeom>
          <a:noFill/>
          <a:ln/>
        </p:spPr>
        <p:txBody>
          <a:bodyPr wrap="square" lIns="0" tIns="0" rIns="0" bIns="0" rtlCol="0" anchor="t"/>
          <a:lstStyle/>
          <a:p>
            <a:pPr marL="0" indent="0" algn="l">
              <a:lnSpc>
                <a:spcPts val="1680"/>
              </a:lnSpc>
              <a:buNone/>
            </a:pPr>
            <a:r>
              <a:rPr lang="en-US" sz="830" b="1" dirty="0">
                <a:solidFill>
                  <a:srgbClr val="FFFFFF"/>
                </a:solidFill>
                <a:highlight>
                  <a:srgbClr val="1E3A8A"/>
                </a:highlight>
              </a:rPr>
              <a:t>Q2/2027</a:t>
            </a:r>
            <a:r>
              <a:rPr lang="en-US" sz="1200" b="1" dirty="0">
                <a:solidFill>
                  <a:srgbClr val="334155"/>
                </a:solidFill>
              </a:rPr>
              <a:t> Pilot qua kênh Viettel</a:t>
            </a:r>
            <a:endParaRPr lang="en-US" sz="830" dirty="0"/>
          </a:p>
        </p:txBody>
      </p:sp>
      <p:sp>
        <p:nvSpPr>
          <p:cNvPr id="36" name="Shape 34"/>
          <p:cNvSpPr/>
          <p:nvPr/>
        </p:nvSpPr>
        <p:spPr>
          <a:xfrm>
            <a:off x="8562975" y="3808661"/>
            <a:ext cx="3000375" cy="9525"/>
          </a:xfrm>
          <a:prstGeom prst="rect">
            <a:avLst/>
          </a:prstGeom>
          <a:solidFill>
            <a:srgbClr val="E2E8F0"/>
          </a:solidFill>
          <a:ln/>
        </p:spPr>
      </p:sp>
      <p:sp>
        <p:nvSpPr>
          <p:cNvPr id="37" name="Text 35"/>
          <p:cNvSpPr txBox="1"/>
          <p:nvPr/>
        </p:nvSpPr>
        <p:spPr>
          <a:xfrm>
            <a:off x="8715375" y="3163044"/>
            <a:ext cx="2724150" cy="403771"/>
          </a:xfrm>
          <a:prstGeom prst="rect">
            <a:avLst/>
          </a:prstGeom>
          <a:noFill/>
          <a:ln/>
        </p:spPr>
        <p:txBody>
          <a:bodyPr wrap="square" lIns="0" tIns="0" rIns="0" bIns="0" rtlCol="0" anchor="t"/>
          <a:lstStyle/>
          <a:p>
            <a:pPr marL="0" indent="0" algn="l">
              <a:lnSpc>
                <a:spcPts val="1680"/>
              </a:lnSpc>
              <a:buNone/>
            </a:pPr>
            <a:r>
              <a:rPr lang="en-US" sz="1200" b="1" dirty="0">
                <a:solidFill>
                  <a:srgbClr val="334155"/>
                </a:solidFill>
              </a:rPr>
              <a:t>Nhân rộng; thêm cổng du lịch tỉnh, Tammi</a:t>
            </a:r>
            <a:endParaRPr lang="en-US" sz="1200" dirty="0"/>
          </a:p>
        </p:txBody>
      </p:sp>
      <p:sp>
        <p:nvSpPr>
          <p:cNvPr id="38" name="Shape 36"/>
          <p:cNvSpPr/>
          <p:nvPr/>
        </p:nvSpPr>
        <p:spPr>
          <a:xfrm>
            <a:off x="609600" y="4488656"/>
            <a:ext cx="1809750" cy="9525"/>
          </a:xfrm>
          <a:prstGeom prst="rect">
            <a:avLst/>
          </a:prstGeom>
          <a:solidFill>
            <a:srgbClr val="E2E8F0"/>
          </a:solidFill>
          <a:ln/>
        </p:spPr>
      </p:sp>
      <p:sp>
        <p:nvSpPr>
          <p:cNvPr id="39" name="Text 37"/>
          <p:cNvSpPr txBox="1"/>
          <p:nvPr/>
        </p:nvSpPr>
        <p:spPr>
          <a:xfrm>
            <a:off x="762000" y="4056311"/>
            <a:ext cx="1626721" cy="190500"/>
          </a:xfrm>
          <a:prstGeom prst="rect">
            <a:avLst/>
          </a:prstGeom>
          <a:noFill/>
          <a:ln/>
        </p:spPr>
        <p:txBody>
          <a:bodyPr wrap="none" lIns="0" tIns="0" rIns="0" bIns="0" rtlCol="0" anchor="t"/>
          <a:lstStyle/>
          <a:p>
            <a:pPr marL="0" indent="0" algn="l">
              <a:lnSpc>
                <a:spcPts val="1680"/>
              </a:lnSpc>
              <a:buNone/>
            </a:pPr>
            <a:r>
              <a:rPr lang="en-US" sz="1200" b="1" dirty="0">
                <a:solidFill>
                  <a:srgbClr val="0F172A"/>
                </a:solidFill>
              </a:rPr>
              <a:t>Merchant, kênh bán</a:t>
            </a:r>
            <a:endParaRPr lang="en-US" sz="1200" dirty="0"/>
          </a:p>
        </p:txBody>
      </p:sp>
      <p:sp>
        <p:nvSpPr>
          <p:cNvPr id="40" name="Shape 38"/>
          <p:cNvSpPr/>
          <p:nvPr/>
        </p:nvSpPr>
        <p:spPr>
          <a:xfrm>
            <a:off x="2419350" y="4488656"/>
            <a:ext cx="3000375" cy="9525"/>
          </a:xfrm>
          <a:prstGeom prst="rect">
            <a:avLst/>
          </a:prstGeom>
          <a:solidFill>
            <a:srgbClr val="E2E8F0"/>
          </a:solidFill>
          <a:ln/>
        </p:spPr>
      </p:sp>
      <p:sp>
        <p:nvSpPr>
          <p:cNvPr id="41" name="Text 39"/>
          <p:cNvSpPr txBox="1"/>
          <p:nvPr/>
        </p:nvSpPr>
        <p:spPr>
          <a:xfrm>
            <a:off x="2571750" y="4056311"/>
            <a:ext cx="2423240"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Chốt phạm vi, đầu mối với VTT</a:t>
            </a:r>
            <a:endParaRPr lang="en-US" sz="1200" dirty="0"/>
          </a:p>
        </p:txBody>
      </p:sp>
      <p:sp>
        <p:nvSpPr>
          <p:cNvPr id="42" name="Shape 40"/>
          <p:cNvSpPr/>
          <p:nvPr/>
        </p:nvSpPr>
        <p:spPr>
          <a:xfrm>
            <a:off x="5419725" y="3818186"/>
            <a:ext cx="3143250" cy="679996"/>
          </a:xfrm>
          <a:prstGeom prst="rect">
            <a:avLst/>
          </a:prstGeom>
          <a:solidFill>
            <a:srgbClr val="FFF5F6"/>
          </a:solidFill>
          <a:ln/>
        </p:spPr>
      </p:sp>
      <p:sp>
        <p:nvSpPr>
          <p:cNvPr id="43" name="Shape 41"/>
          <p:cNvSpPr/>
          <p:nvPr/>
        </p:nvSpPr>
        <p:spPr>
          <a:xfrm>
            <a:off x="5419725" y="4488656"/>
            <a:ext cx="3143250" cy="9525"/>
          </a:xfrm>
          <a:prstGeom prst="rect">
            <a:avLst/>
          </a:prstGeom>
          <a:solidFill>
            <a:srgbClr val="E2E8F0"/>
          </a:solidFill>
          <a:ln/>
        </p:spPr>
      </p:sp>
      <p:sp>
        <p:nvSpPr>
          <p:cNvPr id="44" name="Text 42"/>
          <p:cNvSpPr txBox="1"/>
          <p:nvPr/>
        </p:nvSpPr>
        <p:spPr>
          <a:xfrm>
            <a:off x="5572125" y="4056311"/>
            <a:ext cx="2780404"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Pilot tại Hội An, Đà Nẵng, Phú Quốc</a:t>
            </a:r>
            <a:endParaRPr lang="en-US" sz="1200" dirty="0"/>
          </a:p>
        </p:txBody>
      </p:sp>
      <p:sp>
        <p:nvSpPr>
          <p:cNvPr id="45" name="Shape 43"/>
          <p:cNvSpPr/>
          <p:nvPr/>
        </p:nvSpPr>
        <p:spPr>
          <a:xfrm>
            <a:off x="8562975" y="4488656"/>
            <a:ext cx="3000375" cy="9525"/>
          </a:xfrm>
          <a:prstGeom prst="rect">
            <a:avLst/>
          </a:prstGeom>
          <a:solidFill>
            <a:srgbClr val="E2E8F0"/>
          </a:solidFill>
          <a:ln/>
        </p:spPr>
      </p:sp>
      <p:sp>
        <p:nvSpPr>
          <p:cNvPr id="46" name="Text 44"/>
          <p:cNvSpPr txBox="1"/>
          <p:nvPr/>
        </p:nvSpPr>
        <p:spPr>
          <a:xfrm>
            <a:off x="8715375" y="4056311"/>
            <a:ext cx="2598194" cy="190500"/>
          </a:xfrm>
          <a:prstGeom prst="rect">
            <a:avLst/>
          </a:prstGeom>
          <a:noFill/>
          <a:ln/>
        </p:spPr>
        <p:txBody>
          <a:bodyPr wrap="none" lIns="0" tIns="0" rIns="0" bIns="0" rtlCol="0" anchor="t"/>
          <a:lstStyle/>
          <a:p>
            <a:pPr marL="0" indent="0" algn="l">
              <a:lnSpc>
                <a:spcPts val="1680"/>
              </a:lnSpc>
              <a:buNone/>
            </a:pPr>
            <a:r>
              <a:rPr lang="en-US" sz="1200" b="1" dirty="0">
                <a:solidFill>
                  <a:srgbClr val="334155"/>
                </a:solidFill>
              </a:rPr>
              <a:t>Nhân rộng qua đội kênh bán VTT</a:t>
            </a:r>
            <a:endParaRPr lang="en-US" sz="1200" dirty="0"/>
          </a:p>
        </p:txBody>
      </p:sp>
      <p:sp>
        <p:nvSpPr>
          <p:cNvPr id="55" name="Shape 53"/>
          <p:cNvSpPr/>
          <p:nvPr/>
        </p:nvSpPr>
        <p:spPr>
          <a:xfrm>
            <a:off x="609600" y="5500836"/>
            <a:ext cx="1131689" cy="652314"/>
          </a:xfrm>
          <a:prstGeom prst="roundRect">
            <a:avLst>
              <a:gd name="adj" fmla="val 17522"/>
            </a:avLst>
          </a:prstGeom>
          <a:solidFill>
            <a:srgbClr val="EEFBF3"/>
          </a:solidFill>
          <a:ln w="9525">
            <a:solidFill>
              <a:srgbClr val="86EFAC"/>
            </a:solidFill>
            <a:prstDash val="solid"/>
          </a:ln>
        </p:spPr>
      </p:sp>
      <p:sp>
        <p:nvSpPr>
          <p:cNvPr id="56" name="Text 54"/>
          <p:cNvSpPr txBox="1"/>
          <p:nvPr/>
        </p:nvSpPr>
        <p:spPr>
          <a:xfrm>
            <a:off x="790575" y="5731669"/>
            <a:ext cx="854023" cy="190500"/>
          </a:xfrm>
          <a:prstGeom prst="rect">
            <a:avLst/>
          </a:prstGeom>
          <a:noFill/>
          <a:ln/>
        </p:spPr>
        <p:txBody>
          <a:bodyPr wrap="none" lIns="0" tIns="0" rIns="0" bIns="0" rtlCol="0" anchor="t"/>
          <a:lstStyle/>
          <a:p>
            <a:pPr marL="0" indent="0" algn="l">
              <a:lnSpc>
                <a:spcPts val="1530"/>
              </a:lnSpc>
              <a:buNone/>
            </a:pPr>
            <a:r>
              <a:rPr lang="en-US" sz="1280" b="1" dirty="0">
                <a:solidFill>
                  <a:srgbClr val="15803D"/>
                </a:solidFill>
              </a:rPr>
              <a:t>KPI chính</a:t>
            </a:r>
            <a:endParaRPr lang="en-US" sz="1280" dirty="0"/>
          </a:p>
        </p:txBody>
      </p:sp>
      <p:sp>
        <p:nvSpPr>
          <p:cNvPr id="57" name="Shape 55"/>
          <p:cNvSpPr/>
          <p:nvPr/>
        </p:nvSpPr>
        <p:spPr>
          <a:xfrm>
            <a:off x="1855589" y="5500836"/>
            <a:ext cx="4806255" cy="652314"/>
          </a:xfrm>
          <a:prstGeom prst="roundRect">
            <a:avLst>
              <a:gd name="adj" fmla="val 17522"/>
            </a:avLst>
          </a:prstGeom>
          <a:solidFill>
            <a:srgbClr val="FFFFFF"/>
          </a:solidFill>
          <a:ln/>
        </p:spPr>
      </p:sp>
      <p:sp>
        <p:nvSpPr>
          <p:cNvPr id="58" name="Shape 56"/>
          <p:cNvSpPr/>
          <p:nvPr/>
        </p:nvSpPr>
        <p:spPr>
          <a:xfrm>
            <a:off x="1855589" y="5500836"/>
            <a:ext cx="4806255" cy="9525"/>
          </a:xfrm>
          <a:prstGeom prst="rect">
            <a:avLst/>
          </a:prstGeom>
          <a:solidFill>
            <a:srgbClr val="E2E8F0"/>
          </a:solidFill>
          <a:ln/>
        </p:spPr>
      </p:sp>
      <p:sp>
        <p:nvSpPr>
          <p:cNvPr id="59" name="Shape 57"/>
          <p:cNvSpPr/>
          <p:nvPr/>
        </p:nvSpPr>
        <p:spPr>
          <a:xfrm>
            <a:off x="6652320" y="5500836"/>
            <a:ext cx="9525" cy="652314"/>
          </a:xfrm>
          <a:prstGeom prst="rect">
            <a:avLst/>
          </a:prstGeom>
          <a:solidFill>
            <a:srgbClr val="E2E8F0"/>
          </a:solidFill>
          <a:ln/>
        </p:spPr>
      </p:sp>
      <p:sp>
        <p:nvSpPr>
          <p:cNvPr id="60" name="Shape 58"/>
          <p:cNvSpPr/>
          <p:nvPr/>
        </p:nvSpPr>
        <p:spPr>
          <a:xfrm>
            <a:off x="1855589" y="6143625"/>
            <a:ext cx="4806255" cy="9525"/>
          </a:xfrm>
          <a:prstGeom prst="rect">
            <a:avLst/>
          </a:prstGeom>
          <a:solidFill>
            <a:srgbClr val="E2E8F0"/>
          </a:solidFill>
          <a:ln/>
        </p:spPr>
      </p:sp>
      <p:sp>
        <p:nvSpPr>
          <p:cNvPr id="61" name="Shape 59"/>
          <p:cNvSpPr/>
          <p:nvPr/>
        </p:nvSpPr>
        <p:spPr>
          <a:xfrm>
            <a:off x="1855589" y="5500836"/>
            <a:ext cx="57150" cy="652314"/>
          </a:xfrm>
          <a:prstGeom prst="rect">
            <a:avLst/>
          </a:prstGeom>
          <a:solidFill>
            <a:srgbClr val="E11D48"/>
          </a:solidFill>
          <a:ln/>
        </p:spPr>
      </p:sp>
      <p:sp>
        <p:nvSpPr>
          <p:cNvPr id="62" name="Text 60"/>
          <p:cNvSpPr txBox="1"/>
          <p:nvPr/>
        </p:nvSpPr>
        <p:spPr>
          <a:xfrm>
            <a:off x="2084189" y="5643711"/>
            <a:ext cx="577474" cy="142875"/>
          </a:xfrm>
          <a:prstGeom prst="rect">
            <a:avLst/>
          </a:prstGeom>
          <a:noFill/>
          <a:ln/>
        </p:spPr>
        <p:txBody>
          <a:bodyPr wrap="none" lIns="0" tIns="0" rIns="0" bIns="0" rtlCol="0" anchor="t"/>
          <a:lstStyle/>
          <a:p>
            <a:pPr marL="0" indent="0" algn="l">
              <a:lnSpc>
                <a:spcPts val="1260"/>
              </a:lnSpc>
              <a:buNone/>
            </a:pPr>
            <a:r>
              <a:rPr lang="en-US" sz="900" b="1" kern="0" spc="40" dirty="0">
                <a:solidFill>
                  <a:srgbClr val="E11D48"/>
                </a:solidFill>
              </a:rPr>
              <a:t>OFFLINE</a:t>
            </a:r>
            <a:endParaRPr lang="en-US" sz="900" dirty="0"/>
          </a:p>
        </p:txBody>
      </p:sp>
      <p:sp>
        <p:nvSpPr>
          <p:cNvPr id="63" name="Text 61"/>
          <p:cNvSpPr txBox="1"/>
          <p:nvPr/>
        </p:nvSpPr>
        <p:spPr>
          <a:xfrm>
            <a:off x="2084189" y="5813227"/>
            <a:ext cx="3678204" cy="180975"/>
          </a:xfrm>
          <a:prstGeom prst="rect">
            <a:avLst/>
          </a:prstGeom>
          <a:noFill/>
          <a:ln/>
        </p:spPr>
        <p:txBody>
          <a:bodyPr wrap="none" lIns="0" tIns="0" rIns="0" bIns="0" rtlCol="0" anchor="t"/>
          <a:lstStyle/>
          <a:p>
            <a:pPr marL="0" indent="0" algn="l">
              <a:lnSpc>
                <a:spcPts val="1630"/>
              </a:lnSpc>
              <a:buNone/>
            </a:pPr>
            <a:r>
              <a:rPr lang="en-US" sz="1160" b="1" dirty="0">
                <a:solidFill>
                  <a:srgbClr val="0F172A"/>
                </a:solidFill>
              </a:rPr>
              <a:t>GMV qua Visa Accept; số cửa hàng có giao dịch</a:t>
            </a:r>
            <a:endParaRPr lang="en-US" sz="1160" dirty="0"/>
          </a:p>
        </p:txBody>
      </p:sp>
      <p:sp>
        <p:nvSpPr>
          <p:cNvPr id="64" name="Shape 62"/>
          <p:cNvSpPr/>
          <p:nvPr/>
        </p:nvSpPr>
        <p:spPr>
          <a:xfrm>
            <a:off x="6776145" y="5500836"/>
            <a:ext cx="4806255" cy="652314"/>
          </a:xfrm>
          <a:prstGeom prst="roundRect">
            <a:avLst>
              <a:gd name="adj" fmla="val 17522"/>
            </a:avLst>
          </a:prstGeom>
          <a:solidFill>
            <a:srgbClr val="FFFFFF"/>
          </a:solidFill>
          <a:ln/>
        </p:spPr>
      </p:sp>
      <p:sp>
        <p:nvSpPr>
          <p:cNvPr id="65" name="Shape 63"/>
          <p:cNvSpPr/>
          <p:nvPr/>
        </p:nvSpPr>
        <p:spPr>
          <a:xfrm>
            <a:off x="6776145" y="5500836"/>
            <a:ext cx="4806255" cy="9525"/>
          </a:xfrm>
          <a:prstGeom prst="rect">
            <a:avLst/>
          </a:prstGeom>
          <a:solidFill>
            <a:srgbClr val="E2E8F0"/>
          </a:solidFill>
          <a:ln/>
        </p:spPr>
      </p:sp>
      <p:sp>
        <p:nvSpPr>
          <p:cNvPr id="66" name="Shape 64"/>
          <p:cNvSpPr/>
          <p:nvPr/>
        </p:nvSpPr>
        <p:spPr>
          <a:xfrm>
            <a:off x="11572875" y="5500836"/>
            <a:ext cx="9525" cy="652314"/>
          </a:xfrm>
          <a:prstGeom prst="rect">
            <a:avLst/>
          </a:prstGeom>
          <a:solidFill>
            <a:srgbClr val="E2E8F0"/>
          </a:solidFill>
          <a:ln/>
        </p:spPr>
      </p:sp>
      <p:sp>
        <p:nvSpPr>
          <p:cNvPr id="67" name="Shape 65"/>
          <p:cNvSpPr/>
          <p:nvPr/>
        </p:nvSpPr>
        <p:spPr>
          <a:xfrm>
            <a:off x="6776145" y="6143625"/>
            <a:ext cx="4806255" cy="9525"/>
          </a:xfrm>
          <a:prstGeom prst="rect">
            <a:avLst/>
          </a:prstGeom>
          <a:solidFill>
            <a:srgbClr val="E2E8F0"/>
          </a:solidFill>
          <a:ln/>
        </p:spPr>
      </p:sp>
      <p:sp>
        <p:nvSpPr>
          <p:cNvPr id="68" name="Shape 66"/>
          <p:cNvSpPr/>
          <p:nvPr/>
        </p:nvSpPr>
        <p:spPr>
          <a:xfrm>
            <a:off x="6776145" y="5500836"/>
            <a:ext cx="57150" cy="652314"/>
          </a:xfrm>
          <a:prstGeom prst="rect">
            <a:avLst/>
          </a:prstGeom>
          <a:solidFill>
            <a:srgbClr val="1E3A8A"/>
          </a:solidFill>
          <a:ln/>
        </p:spPr>
      </p:sp>
      <p:sp>
        <p:nvSpPr>
          <p:cNvPr id="69" name="Text 67"/>
          <p:cNvSpPr txBox="1"/>
          <p:nvPr/>
        </p:nvSpPr>
        <p:spPr>
          <a:xfrm>
            <a:off x="7004745" y="5643711"/>
            <a:ext cx="523363" cy="142875"/>
          </a:xfrm>
          <a:prstGeom prst="rect">
            <a:avLst/>
          </a:prstGeom>
          <a:noFill/>
          <a:ln/>
        </p:spPr>
        <p:txBody>
          <a:bodyPr wrap="none" lIns="0" tIns="0" rIns="0" bIns="0" rtlCol="0" anchor="t"/>
          <a:lstStyle/>
          <a:p>
            <a:pPr marL="0" indent="0" algn="l">
              <a:lnSpc>
                <a:spcPts val="1260"/>
              </a:lnSpc>
              <a:buNone/>
            </a:pPr>
            <a:r>
              <a:rPr lang="en-US" sz="900" b="1" kern="0" spc="40" dirty="0">
                <a:solidFill>
                  <a:srgbClr val="1E3A8A"/>
                </a:solidFill>
              </a:rPr>
              <a:t>ONLINE</a:t>
            </a:r>
            <a:endParaRPr lang="en-US" sz="900" dirty="0"/>
          </a:p>
        </p:txBody>
      </p:sp>
      <p:sp>
        <p:nvSpPr>
          <p:cNvPr id="70" name="Text 68"/>
          <p:cNvSpPr txBox="1"/>
          <p:nvPr/>
        </p:nvSpPr>
        <p:spPr>
          <a:xfrm>
            <a:off x="7004745" y="5813227"/>
            <a:ext cx="3498991" cy="180975"/>
          </a:xfrm>
          <a:prstGeom prst="rect">
            <a:avLst/>
          </a:prstGeom>
          <a:noFill/>
          <a:ln/>
        </p:spPr>
        <p:txBody>
          <a:bodyPr wrap="none" lIns="0" tIns="0" rIns="0" bIns="0" rtlCol="0" anchor="t"/>
          <a:lstStyle/>
          <a:p>
            <a:pPr marL="0" indent="0" algn="l">
              <a:lnSpc>
                <a:spcPts val="1630"/>
              </a:lnSpc>
              <a:buNone/>
            </a:pPr>
            <a:r>
              <a:rPr lang="en-US" sz="1160" b="1" dirty="0">
                <a:solidFill>
                  <a:srgbClr val="0F172A"/>
                </a:solidFill>
              </a:rPr>
              <a:t>Lượt đặt phòng, đặt bàn qua AI; GMV booking</a:t>
            </a:r>
            <a:endParaRPr lang="en-US" sz="1160" dirty="0"/>
          </a:p>
        </p:txBody>
      </p:sp>
      <p:sp>
        <p:nvSpPr>
          <p:cNvPr id="71" name="Shape 69"/>
          <p:cNvSpPr/>
          <p:nvPr/>
        </p:nvSpPr>
        <p:spPr>
          <a:xfrm>
            <a:off x="10796588" y="6343650"/>
            <a:ext cx="323850" cy="323850"/>
          </a:xfrm>
          <a:prstGeom prst="ellipse">
            <a:avLst/>
          </a:prstGeom>
          <a:solidFill>
            <a:srgbClr val="F0001E"/>
          </a:solidFill>
          <a:ln/>
        </p:spPr>
      </p:sp>
      <p:sp>
        <p:nvSpPr>
          <p:cNvPr id="72" name="Shape 70"/>
          <p:cNvSpPr/>
          <p:nvPr/>
        </p:nvSpPr>
        <p:spPr>
          <a:xfrm>
            <a:off x="10901363" y="6415088"/>
            <a:ext cx="114300" cy="180975"/>
          </a:xfrm>
          <a:prstGeom prst="roundRect">
            <a:avLst>
              <a:gd name="adj" fmla="val 29167"/>
            </a:avLst>
          </a:prstGeom>
          <a:ln w="19050">
            <a:solidFill>
              <a:srgbClr val="FFFFFF"/>
            </a:solidFill>
            <a:prstDash val="solid"/>
          </a:ln>
        </p:spPr>
      </p:sp>
      <p:sp>
        <p:nvSpPr>
          <p:cNvPr id="73" name="Text 71"/>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74" name="Text 72"/>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75" name="Text 73"/>
          <p:cNvSpPr txBox="1"/>
          <p:nvPr/>
        </p:nvSpPr>
        <p:spPr>
          <a:xfrm>
            <a:off x="10496996" y="6429375"/>
            <a:ext cx="199171"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685800" y="2828925"/>
            <a:ext cx="6196965" cy="1576388"/>
          </a:xfrm>
          <a:prstGeom prst="rect">
            <a:avLst/>
          </a:prstGeom>
          <a:noFill/>
          <a:ln/>
        </p:spPr>
        <p:txBody>
          <a:bodyPr wrap="none" lIns="0" tIns="0" rIns="0" bIns="0" rtlCol="0" anchor="t"/>
          <a:lstStyle/>
          <a:p>
            <a:pPr marL="0" indent="0" algn="l">
              <a:lnSpc>
                <a:spcPts val="6040"/>
              </a:lnSpc>
              <a:buNone/>
            </a:pPr>
            <a:r>
              <a:rPr lang="en-US" sz="5250" b="1" kern="0" spc="-100" dirty="0">
                <a:solidFill>
                  <a:srgbClr val="0F172A"/>
                </a:solidFill>
              </a:rPr>
              <a:t>Trân trọng </a:t>
            </a:r>
            <a:r>
              <a:rPr lang="en-US" sz="5250" b="1" kern="0" spc="-100" dirty="0" err="1">
                <a:solidFill>
                  <a:srgbClr val="0F172A"/>
                </a:solidFill>
              </a:rPr>
              <a:t>cảm</a:t>
            </a:r>
            <a:r>
              <a:rPr lang="en-US" sz="5250" b="1" kern="0" spc="-100" dirty="0">
                <a:solidFill>
                  <a:srgbClr val="0F172A"/>
                </a:solidFill>
              </a:rPr>
              <a:t> </a:t>
            </a:r>
            <a:r>
              <a:rPr lang="en-US" sz="5250" b="1" kern="0" spc="-100" dirty="0" err="1">
                <a:solidFill>
                  <a:srgbClr val="0F172A"/>
                </a:solidFill>
              </a:rPr>
              <a:t>ơn</a:t>
            </a:r>
            <a:r>
              <a:rPr lang="en-US" sz="5250" b="1" kern="0" spc="-100">
                <a:solidFill>
                  <a:srgbClr val="0F172A"/>
                </a:solidFill>
              </a:rPr>
              <a:t>!</a:t>
            </a:r>
            <a:endParaRPr lang="en-US" sz="5250" dirty="0"/>
          </a:p>
        </p:txBody>
      </p:sp>
      <p:sp>
        <p:nvSpPr>
          <p:cNvPr id="4" name="Text 1"/>
          <p:cNvSpPr txBox="1"/>
          <p:nvPr/>
        </p:nvSpPr>
        <p:spPr>
          <a:xfrm>
            <a:off x="685800" y="6115050"/>
            <a:ext cx="1159285" cy="190500"/>
          </a:xfrm>
          <a:prstGeom prst="rect">
            <a:avLst/>
          </a:prstGeom>
          <a:noFill/>
          <a:ln/>
        </p:spPr>
        <p:txBody>
          <a:bodyPr wrap="none" lIns="0" tIns="0" rIns="0" bIns="0" rtlCol="0" anchor="t"/>
          <a:lstStyle/>
          <a:p>
            <a:pPr marL="0" indent="0" algn="l">
              <a:lnSpc>
                <a:spcPts val="1440"/>
              </a:lnSpc>
              <a:buNone/>
            </a:pPr>
            <a:r>
              <a:rPr lang="en-US" sz="1200" b="1" dirty="0">
                <a:solidFill>
                  <a:srgbClr val="64748B"/>
                </a:solidFill>
              </a:rPr>
              <a:t>VDF · 10/2026</a:t>
            </a:r>
            <a:endParaRPr lang="en-US" sz="1200" dirty="0"/>
          </a:p>
        </p:txBody>
      </p:sp>
      <p:sp>
        <p:nvSpPr>
          <p:cNvPr id="5" name="Shape 2"/>
          <p:cNvSpPr/>
          <p:nvPr/>
        </p:nvSpPr>
        <p:spPr>
          <a:xfrm>
            <a:off x="10796588" y="6343650"/>
            <a:ext cx="323850" cy="323850"/>
          </a:xfrm>
          <a:prstGeom prst="ellipse">
            <a:avLst/>
          </a:prstGeom>
          <a:solidFill>
            <a:srgbClr val="F0001E"/>
          </a:solidFill>
          <a:ln/>
        </p:spPr>
      </p:sp>
      <p:sp>
        <p:nvSpPr>
          <p:cNvPr id="6" name="Shape 3"/>
          <p:cNvSpPr/>
          <p:nvPr/>
        </p:nvSpPr>
        <p:spPr>
          <a:xfrm>
            <a:off x="10901363" y="6415088"/>
            <a:ext cx="114300" cy="180975"/>
          </a:xfrm>
          <a:prstGeom prst="roundRect">
            <a:avLst>
              <a:gd name="adj" fmla="val 29167"/>
            </a:avLst>
          </a:prstGeom>
          <a:ln w="19050">
            <a:solidFill>
              <a:srgbClr val="FFFFFF"/>
            </a:solidFill>
            <a:prstDash val="solid"/>
          </a:ln>
        </p:spPr>
      </p:sp>
      <p:sp>
        <p:nvSpPr>
          <p:cNvPr id="7" name="Text 4"/>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8" name="Text 5"/>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BFC"/>
        </a:solidFill>
        <a:effectLst/>
      </p:bgPr>
    </p:bg>
    <p:spTree>
      <p:nvGrpSpPr>
        <p:cNvPr id="1" name=""/>
        <p:cNvGrpSpPr/>
        <p:nvPr/>
      </p:nvGrpSpPr>
      <p:grpSpPr>
        <a:xfrm>
          <a:off x="0" y="0"/>
          <a:ext cx="0" cy="0"/>
          <a:chOff x="0" y="0"/>
          <a:chExt cx="0" cy="0"/>
        </a:xfrm>
      </p:grpSpPr>
      <p:pic>
        <p:nvPicPr>
          <p:cNvPr id="2" name="Image 0" descr="Hình minh hoạ"/>
          <p:cNvPicPr>
            <a:picLocks noChangeAspect="1"/>
          </p:cNvPicPr>
          <p:nvPr/>
        </p:nvPicPr>
        <p:blipFill>
          <a:blip r:embed="rId3"/>
          <a:stretch>
            <a:fillRect/>
          </a:stretch>
        </p:blipFill>
        <p:spPr>
          <a:xfrm>
            <a:off x="0" y="0"/>
            <a:ext cx="12192000" cy="6858000"/>
          </a:xfrm>
          <a:prstGeom prst="rect">
            <a:avLst/>
          </a:prstGeom>
        </p:spPr>
      </p:pic>
      <p:sp>
        <p:nvSpPr>
          <p:cNvPr id="3" name="Text 0"/>
          <p:cNvSpPr txBox="1"/>
          <p:nvPr/>
        </p:nvSpPr>
        <p:spPr>
          <a:xfrm>
            <a:off x="781050" y="5143500"/>
            <a:ext cx="2593934" cy="828675"/>
          </a:xfrm>
          <a:prstGeom prst="rect">
            <a:avLst/>
          </a:prstGeom>
          <a:noFill/>
          <a:ln/>
        </p:spPr>
        <p:txBody>
          <a:bodyPr wrap="none" lIns="0" tIns="0" rIns="0" bIns="0" rtlCol="0" anchor="t"/>
          <a:lstStyle/>
          <a:p>
            <a:pPr marL="0" indent="0" algn="l">
              <a:lnSpc>
                <a:spcPts val="6480"/>
              </a:lnSpc>
              <a:buNone/>
            </a:pPr>
            <a:r>
              <a:rPr lang="en-US" sz="5400" b="1" kern="0" spc="-110" dirty="0">
                <a:solidFill>
                  <a:srgbClr val="0F172A"/>
                </a:solidFill>
              </a:rPr>
              <a:t>Phụ lục</a:t>
            </a:r>
            <a:endParaRPr lang="en-US" sz="5400" dirty="0"/>
          </a:p>
        </p:txBody>
      </p:sp>
      <p:sp>
        <p:nvSpPr>
          <p:cNvPr id="4" name="Shape 1"/>
          <p:cNvSpPr/>
          <p:nvPr/>
        </p:nvSpPr>
        <p:spPr>
          <a:xfrm>
            <a:off x="10796588" y="6343650"/>
            <a:ext cx="323850" cy="323850"/>
          </a:xfrm>
          <a:prstGeom prst="ellipse">
            <a:avLst/>
          </a:prstGeom>
          <a:solidFill>
            <a:srgbClr val="F0001E"/>
          </a:solidFill>
          <a:ln/>
        </p:spPr>
      </p:sp>
      <p:sp>
        <p:nvSpPr>
          <p:cNvPr id="5" name="Shape 2"/>
          <p:cNvSpPr/>
          <p:nvPr/>
        </p:nvSpPr>
        <p:spPr>
          <a:xfrm>
            <a:off x="10901363" y="6415088"/>
            <a:ext cx="114300" cy="180975"/>
          </a:xfrm>
          <a:prstGeom prst="roundRect">
            <a:avLst>
              <a:gd name="adj" fmla="val 29167"/>
            </a:avLst>
          </a:prstGeom>
          <a:ln w="19050">
            <a:solidFill>
              <a:srgbClr val="FFFFFF"/>
            </a:solidFill>
            <a:prstDash val="solid"/>
          </a:ln>
        </p:spPr>
      </p:sp>
      <p:sp>
        <p:nvSpPr>
          <p:cNvPr id="6" name="Text 3"/>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7" name="Text 4"/>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64279" y="323850"/>
            <a:ext cx="918121" cy="247650"/>
          </a:xfrm>
          <a:prstGeom prst="roundRect">
            <a:avLst>
              <a:gd name="adj" fmla="val 50000"/>
            </a:avLst>
          </a:prstGeom>
          <a:solidFill>
            <a:srgbClr val="E5E7EB"/>
          </a:solidFill>
          <a:ln/>
        </p:spPr>
      </p:sp>
      <p:sp>
        <p:nvSpPr>
          <p:cNvPr id="3" name="Text 1"/>
          <p:cNvSpPr txBox="1"/>
          <p:nvPr/>
        </p:nvSpPr>
        <p:spPr>
          <a:xfrm>
            <a:off x="10835729" y="371475"/>
            <a:ext cx="647834"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A</a:t>
            </a:r>
            <a:endParaRPr lang="en-US" sz="980" dirty="0"/>
          </a:p>
        </p:txBody>
      </p:sp>
      <p:sp>
        <p:nvSpPr>
          <p:cNvPr id="4" name="Text 2"/>
          <p:cNvSpPr txBox="1"/>
          <p:nvPr/>
        </p:nvSpPr>
        <p:spPr>
          <a:xfrm>
            <a:off x="609600" y="400050"/>
            <a:ext cx="1285018"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RỦI RO</a:t>
            </a:r>
            <a:endParaRPr lang="en-US" sz="1050" dirty="0"/>
          </a:p>
        </p:txBody>
      </p:sp>
      <p:sp>
        <p:nvSpPr>
          <p:cNvPr id="5" name="Text 3"/>
          <p:cNvSpPr txBox="1"/>
          <p:nvPr/>
        </p:nvSpPr>
        <p:spPr>
          <a:xfrm>
            <a:off x="609600" y="609600"/>
            <a:ext cx="3694926"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Rủi ro chi tiết và hướng xử lý</a:t>
            </a:r>
            <a:endParaRPr lang="en-US" sz="2030" dirty="0"/>
          </a:p>
        </p:txBody>
      </p:sp>
      <p:sp>
        <p:nvSpPr>
          <p:cNvPr id="6" name="Shape 4"/>
          <p:cNvSpPr/>
          <p:nvPr/>
        </p:nvSpPr>
        <p:spPr>
          <a:xfrm>
            <a:off x="609600" y="1066205"/>
            <a:ext cx="10972800" cy="4384179"/>
          </a:xfrm>
          <a:prstGeom prst="roundRect">
            <a:avLst>
              <a:gd name="adj" fmla="val 2607"/>
            </a:avLst>
          </a:prstGeom>
          <a:solidFill>
            <a:srgbClr val="FFFFFF"/>
          </a:solidFill>
          <a:ln w="9525">
            <a:solidFill>
              <a:srgbClr val="E2E8F0"/>
            </a:solidFill>
            <a:prstDash val="solid"/>
          </a:ln>
        </p:spPr>
      </p:sp>
      <p:sp>
        <p:nvSpPr>
          <p:cNvPr id="7" name="Shape 5"/>
          <p:cNvSpPr/>
          <p:nvPr/>
        </p:nvSpPr>
        <p:spPr>
          <a:xfrm>
            <a:off x="619125" y="1075730"/>
            <a:ext cx="3429000" cy="329505"/>
          </a:xfrm>
          <a:prstGeom prst="rect">
            <a:avLst/>
          </a:prstGeom>
          <a:solidFill>
            <a:srgbClr val="F1F5F9"/>
          </a:solidFill>
          <a:ln/>
        </p:spPr>
      </p:sp>
      <p:sp>
        <p:nvSpPr>
          <p:cNvPr id="8" name="Shape 6"/>
          <p:cNvSpPr/>
          <p:nvPr/>
        </p:nvSpPr>
        <p:spPr>
          <a:xfrm>
            <a:off x="619125" y="1395710"/>
            <a:ext cx="3429000" cy="9525"/>
          </a:xfrm>
          <a:prstGeom prst="rect">
            <a:avLst/>
          </a:prstGeom>
          <a:solidFill>
            <a:srgbClr val="E2E8F0"/>
          </a:solidFill>
          <a:ln/>
        </p:spPr>
      </p:sp>
      <p:sp>
        <p:nvSpPr>
          <p:cNvPr id="9" name="Text 7"/>
          <p:cNvSpPr txBox="1"/>
          <p:nvPr/>
        </p:nvSpPr>
        <p:spPr>
          <a:xfrm>
            <a:off x="733425" y="1161455"/>
            <a:ext cx="378699" cy="142875"/>
          </a:xfrm>
          <a:prstGeom prst="rect">
            <a:avLst/>
          </a:prstGeom>
          <a:noFill/>
          <a:ln/>
        </p:spPr>
        <p:txBody>
          <a:bodyPr wrap="none" lIns="0" tIns="0" rIns="0" bIns="0" rtlCol="0" anchor="t"/>
          <a:lstStyle/>
          <a:p>
            <a:pPr marL="0" indent="0" algn="l">
              <a:lnSpc>
                <a:spcPts val="1170"/>
              </a:lnSpc>
              <a:buNone/>
            </a:pPr>
            <a:r>
              <a:rPr lang="en-US" sz="900" b="1" dirty="0">
                <a:solidFill>
                  <a:srgbClr val="334155"/>
                </a:solidFill>
              </a:rPr>
              <a:t>Rủi ro</a:t>
            </a:r>
            <a:endParaRPr lang="en-US" sz="900" dirty="0"/>
          </a:p>
        </p:txBody>
      </p:sp>
      <p:sp>
        <p:nvSpPr>
          <p:cNvPr id="10" name="Shape 8"/>
          <p:cNvSpPr/>
          <p:nvPr/>
        </p:nvSpPr>
        <p:spPr>
          <a:xfrm>
            <a:off x="4048125" y="1075730"/>
            <a:ext cx="7524750" cy="329505"/>
          </a:xfrm>
          <a:prstGeom prst="rect">
            <a:avLst/>
          </a:prstGeom>
          <a:solidFill>
            <a:srgbClr val="F1F5F9"/>
          </a:solidFill>
          <a:ln/>
        </p:spPr>
      </p:sp>
      <p:sp>
        <p:nvSpPr>
          <p:cNvPr id="11" name="Shape 9"/>
          <p:cNvSpPr/>
          <p:nvPr/>
        </p:nvSpPr>
        <p:spPr>
          <a:xfrm>
            <a:off x="4048125" y="1395710"/>
            <a:ext cx="7524750" cy="9525"/>
          </a:xfrm>
          <a:prstGeom prst="rect">
            <a:avLst/>
          </a:prstGeom>
          <a:solidFill>
            <a:srgbClr val="E2E8F0"/>
          </a:solidFill>
          <a:ln/>
        </p:spPr>
      </p:sp>
      <p:sp>
        <p:nvSpPr>
          <p:cNvPr id="12" name="Text 10"/>
          <p:cNvSpPr txBox="1"/>
          <p:nvPr/>
        </p:nvSpPr>
        <p:spPr>
          <a:xfrm>
            <a:off x="4162425" y="1161455"/>
            <a:ext cx="757633" cy="142875"/>
          </a:xfrm>
          <a:prstGeom prst="rect">
            <a:avLst/>
          </a:prstGeom>
          <a:noFill/>
          <a:ln/>
        </p:spPr>
        <p:txBody>
          <a:bodyPr wrap="none" lIns="0" tIns="0" rIns="0" bIns="0" rtlCol="0" anchor="t"/>
          <a:lstStyle/>
          <a:p>
            <a:pPr marL="0" indent="0" algn="l">
              <a:lnSpc>
                <a:spcPts val="1170"/>
              </a:lnSpc>
              <a:buNone/>
            </a:pPr>
            <a:r>
              <a:rPr lang="en-US" sz="900" b="1" dirty="0">
                <a:solidFill>
                  <a:srgbClr val="334155"/>
                </a:solidFill>
              </a:rPr>
              <a:t>Hướng xử lý</a:t>
            </a:r>
            <a:endParaRPr lang="en-US" sz="900" dirty="0"/>
          </a:p>
        </p:txBody>
      </p:sp>
      <p:sp>
        <p:nvSpPr>
          <p:cNvPr id="13" name="Shape 11"/>
          <p:cNvSpPr/>
          <p:nvPr/>
        </p:nvSpPr>
        <p:spPr>
          <a:xfrm>
            <a:off x="619125" y="1693962"/>
            <a:ext cx="3429000" cy="9525"/>
          </a:xfrm>
          <a:prstGeom prst="rect">
            <a:avLst/>
          </a:prstGeom>
          <a:solidFill>
            <a:srgbClr val="E2E8F0"/>
          </a:solidFill>
          <a:ln/>
        </p:spPr>
      </p:sp>
      <p:sp>
        <p:nvSpPr>
          <p:cNvPr id="14" name="Text 12"/>
          <p:cNvSpPr txBox="1"/>
          <p:nvPr/>
        </p:nvSpPr>
        <p:spPr>
          <a:xfrm>
            <a:off x="733425" y="1471910"/>
            <a:ext cx="1873454"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Merchant vẫn không dùng thật</a:t>
            </a:r>
            <a:endParaRPr lang="en-US" sz="900" dirty="0"/>
          </a:p>
        </p:txBody>
      </p:sp>
      <p:sp>
        <p:nvSpPr>
          <p:cNvPr id="15" name="Shape 13"/>
          <p:cNvSpPr/>
          <p:nvPr/>
        </p:nvSpPr>
        <p:spPr>
          <a:xfrm>
            <a:off x="4048125" y="1693962"/>
            <a:ext cx="7524750" cy="9525"/>
          </a:xfrm>
          <a:prstGeom prst="rect">
            <a:avLst/>
          </a:prstGeom>
          <a:solidFill>
            <a:srgbClr val="E2E8F0"/>
          </a:solidFill>
          <a:ln/>
        </p:spPr>
      </p:sp>
      <p:sp>
        <p:nvSpPr>
          <p:cNvPr id="16" name="Text 14"/>
          <p:cNvSpPr txBox="1"/>
          <p:nvPr/>
        </p:nvSpPr>
        <p:spPr>
          <a:xfrm>
            <a:off x="4162425" y="1471910"/>
            <a:ext cx="5453295"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Chỉ tiêu kênh bán theo cửa hàng có giao dịch; pilot đo GMV và tỉ lệ còn giao dịch sau 30 ngày</a:t>
            </a:r>
            <a:endParaRPr lang="en-US" sz="900" dirty="0"/>
          </a:p>
        </p:txBody>
      </p:sp>
      <p:sp>
        <p:nvSpPr>
          <p:cNvPr id="17" name="Shape 15"/>
          <p:cNvSpPr/>
          <p:nvPr/>
        </p:nvSpPr>
        <p:spPr>
          <a:xfrm>
            <a:off x="619125" y="1992213"/>
            <a:ext cx="3429000" cy="9525"/>
          </a:xfrm>
          <a:prstGeom prst="rect">
            <a:avLst/>
          </a:prstGeom>
          <a:solidFill>
            <a:srgbClr val="E2E8F0"/>
          </a:solidFill>
          <a:ln/>
        </p:spPr>
      </p:sp>
      <p:sp>
        <p:nvSpPr>
          <p:cNvPr id="18" name="Text 16"/>
          <p:cNvSpPr txBox="1"/>
          <p:nvPr/>
        </p:nvSpPr>
        <p:spPr>
          <a:xfrm>
            <a:off x="733425" y="1770162"/>
            <a:ext cx="2656722"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VPBank, Sacombank, VIB đã có Visa Accept</a:t>
            </a:r>
            <a:endParaRPr lang="en-US" sz="900" dirty="0"/>
          </a:p>
        </p:txBody>
      </p:sp>
      <p:sp>
        <p:nvSpPr>
          <p:cNvPr id="19" name="Shape 17"/>
          <p:cNvSpPr/>
          <p:nvPr/>
        </p:nvSpPr>
        <p:spPr>
          <a:xfrm>
            <a:off x="4048125" y="1992213"/>
            <a:ext cx="7524750" cy="9525"/>
          </a:xfrm>
          <a:prstGeom prst="rect">
            <a:avLst/>
          </a:prstGeom>
          <a:solidFill>
            <a:srgbClr val="E2E8F0"/>
          </a:solidFill>
          <a:ln/>
        </p:spPr>
      </p:sp>
      <p:sp>
        <p:nvSpPr>
          <p:cNvPr id="20" name="Text 18"/>
          <p:cNvSpPr txBox="1"/>
          <p:nvPr/>
        </p:nvSpPr>
        <p:spPr>
          <a:xfrm>
            <a:off x="4162425" y="1770162"/>
            <a:ext cx="6425398"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Tập trung hộ kinh doanh của Tendoo; khác biệt bằng kênh bán thực địa và thanh toán nằm ngay trong Tendoo</a:t>
            </a:r>
            <a:endParaRPr lang="en-US" sz="900" dirty="0"/>
          </a:p>
        </p:txBody>
      </p:sp>
      <p:sp>
        <p:nvSpPr>
          <p:cNvPr id="21" name="Shape 19"/>
          <p:cNvSpPr/>
          <p:nvPr/>
        </p:nvSpPr>
        <p:spPr>
          <a:xfrm>
            <a:off x="619125" y="2290465"/>
            <a:ext cx="3429000" cy="9525"/>
          </a:xfrm>
          <a:prstGeom prst="rect">
            <a:avLst/>
          </a:prstGeom>
          <a:solidFill>
            <a:srgbClr val="E2E8F0"/>
          </a:solidFill>
          <a:ln/>
        </p:spPr>
      </p:sp>
      <p:sp>
        <p:nvSpPr>
          <p:cNvPr id="22" name="Text 20"/>
          <p:cNvSpPr txBox="1"/>
          <p:nvPr/>
        </p:nvSpPr>
        <p:spPr>
          <a:xfrm>
            <a:off x="733425" y="2068413"/>
            <a:ext cx="2398946"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Merchant chưa có thẻ Visa để nhận tiền</a:t>
            </a:r>
            <a:endParaRPr lang="en-US" sz="900" dirty="0"/>
          </a:p>
        </p:txBody>
      </p:sp>
      <p:sp>
        <p:nvSpPr>
          <p:cNvPr id="23" name="Shape 21"/>
          <p:cNvSpPr/>
          <p:nvPr/>
        </p:nvSpPr>
        <p:spPr>
          <a:xfrm>
            <a:off x="4048125" y="2290465"/>
            <a:ext cx="7524750" cy="9525"/>
          </a:xfrm>
          <a:prstGeom prst="rect">
            <a:avLst/>
          </a:prstGeom>
          <a:solidFill>
            <a:srgbClr val="E2E8F0"/>
          </a:solidFill>
          <a:ln/>
        </p:spPr>
      </p:sp>
      <p:sp>
        <p:nvSpPr>
          <p:cNvPr id="24" name="Text 22"/>
          <p:cNvSpPr txBox="1"/>
          <p:nvPr/>
        </p:nvSpPr>
        <p:spPr>
          <a:xfrm>
            <a:off x="4162425" y="2068413"/>
            <a:ext cx="5981152"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Đội kênh bán hướng dẫn mở thẻ tại ngân hàng; xem xét hợp tác ngân hàng phát hành để mở thẻ nhanh</a:t>
            </a:r>
            <a:endParaRPr lang="en-US" sz="900" dirty="0"/>
          </a:p>
        </p:txBody>
      </p:sp>
      <p:sp>
        <p:nvSpPr>
          <p:cNvPr id="25" name="Shape 23"/>
          <p:cNvSpPr/>
          <p:nvPr/>
        </p:nvSpPr>
        <p:spPr>
          <a:xfrm>
            <a:off x="619125" y="2588716"/>
            <a:ext cx="3429000" cy="9525"/>
          </a:xfrm>
          <a:prstGeom prst="rect">
            <a:avLst/>
          </a:prstGeom>
          <a:solidFill>
            <a:srgbClr val="E2E8F0"/>
          </a:solidFill>
          <a:ln/>
        </p:spPr>
      </p:sp>
      <p:sp>
        <p:nvSpPr>
          <p:cNvPr id="26" name="Text 24"/>
          <p:cNvSpPr txBox="1"/>
          <p:nvPr/>
        </p:nvSpPr>
        <p:spPr>
          <a:xfrm>
            <a:off x="733425" y="2366665"/>
            <a:ext cx="1921728"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Chạm thẻ chỉ chạy trên Android</a:t>
            </a:r>
            <a:endParaRPr lang="en-US" sz="900" dirty="0"/>
          </a:p>
        </p:txBody>
      </p:sp>
      <p:sp>
        <p:nvSpPr>
          <p:cNvPr id="27" name="Shape 25"/>
          <p:cNvSpPr/>
          <p:nvPr/>
        </p:nvSpPr>
        <p:spPr>
          <a:xfrm>
            <a:off x="4048125" y="2588716"/>
            <a:ext cx="7524750" cy="9525"/>
          </a:xfrm>
          <a:prstGeom prst="rect">
            <a:avLst/>
          </a:prstGeom>
          <a:solidFill>
            <a:srgbClr val="E2E8F0"/>
          </a:solidFill>
          <a:ln/>
        </p:spPr>
      </p:sp>
      <p:sp>
        <p:nvSpPr>
          <p:cNvPr id="28" name="Text 26"/>
          <p:cNvSpPr txBox="1"/>
          <p:nvPr/>
        </p:nvSpPr>
        <p:spPr>
          <a:xfrm>
            <a:off x="4162425" y="2366665"/>
            <a:ext cx="2423871"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Cửa hàng dùng iPhone nhận tiền qua link</a:t>
            </a:r>
            <a:endParaRPr lang="en-US" sz="900" dirty="0"/>
          </a:p>
        </p:txBody>
      </p:sp>
      <p:sp>
        <p:nvSpPr>
          <p:cNvPr id="29" name="Shape 27"/>
          <p:cNvSpPr/>
          <p:nvPr/>
        </p:nvSpPr>
        <p:spPr>
          <a:xfrm>
            <a:off x="619125" y="2886968"/>
            <a:ext cx="3429000" cy="9525"/>
          </a:xfrm>
          <a:prstGeom prst="rect">
            <a:avLst/>
          </a:prstGeom>
          <a:solidFill>
            <a:srgbClr val="E2E8F0"/>
          </a:solidFill>
          <a:ln/>
        </p:spPr>
      </p:sp>
      <p:sp>
        <p:nvSpPr>
          <p:cNvPr id="30" name="Text 28"/>
          <p:cNvSpPr txBox="1"/>
          <p:nvPr/>
        </p:nvSpPr>
        <p:spPr>
          <a:xfrm>
            <a:off x="733425" y="2664916"/>
            <a:ext cx="2807381"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Chưa nhận ví nước ngoài (Alipay, WeChat Pay)</a:t>
            </a:r>
            <a:endParaRPr lang="en-US" sz="900" dirty="0"/>
          </a:p>
        </p:txBody>
      </p:sp>
      <p:sp>
        <p:nvSpPr>
          <p:cNvPr id="31" name="Shape 29"/>
          <p:cNvSpPr/>
          <p:nvPr/>
        </p:nvSpPr>
        <p:spPr>
          <a:xfrm>
            <a:off x="4048125" y="2886968"/>
            <a:ext cx="7524750" cy="9525"/>
          </a:xfrm>
          <a:prstGeom prst="rect">
            <a:avLst/>
          </a:prstGeom>
          <a:solidFill>
            <a:srgbClr val="E2E8F0"/>
          </a:solidFill>
          <a:ln/>
        </p:spPr>
      </p:sp>
      <p:sp>
        <p:nvSpPr>
          <p:cNvPr id="32" name="Text 30"/>
          <p:cNvSpPr txBox="1"/>
          <p:nvPr/>
        </p:nvSpPr>
        <p:spPr>
          <a:xfrm>
            <a:off x="4162425" y="2664916"/>
            <a:ext cx="5495100"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Pilot ưu tiên điểm nhiều khách dùng thẻ; QR cho ví nước ngoài chưa nằm trong lộ trình hiện tại</a:t>
            </a:r>
            <a:endParaRPr lang="en-US" sz="900" dirty="0"/>
          </a:p>
        </p:txBody>
      </p:sp>
      <p:sp>
        <p:nvSpPr>
          <p:cNvPr id="33" name="Shape 31"/>
          <p:cNvSpPr/>
          <p:nvPr/>
        </p:nvSpPr>
        <p:spPr>
          <a:xfrm>
            <a:off x="619125" y="3185220"/>
            <a:ext cx="3429000" cy="9525"/>
          </a:xfrm>
          <a:prstGeom prst="rect">
            <a:avLst/>
          </a:prstGeom>
          <a:solidFill>
            <a:srgbClr val="E2E8F0"/>
          </a:solidFill>
          <a:ln/>
        </p:spPr>
      </p:sp>
      <p:sp>
        <p:nvSpPr>
          <p:cNvPr id="34" name="Text 32"/>
          <p:cNvSpPr txBox="1"/>
          <p:nvPr/>
        </p:nvSpPr>
        <p:spPr>
          <a:xfrm>
            <a:off x="733425" y="2963168"/>
            <a:ext cx="2623908"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Hạn mức Visa Accept thấp với cửa hàng lớn</a:t>
            </a:r>
            <a:endParaRPr lang="en-US" sz="900" dirty="0"/>
          </a:p>
        </p:txBody>
      </p:sp>
      <p:sp>
        <p:nvSpPr>
          <p:cNvPr id="35" name="Shape 33"/>
          <p:cNvSpPr/>
          <p:nvPr/>
        </p:nvSpPr>
        <p:spPr>
          <a:xfrm>
            <a:off x="4048125" y="3185220"/>
            <a:ext cx="7524750" cy="9525"/>
          </a:xfrm>
          <a:prstGeom prst="rect">
            <a:avLst/>
          </a:prstGeom>
          <a:solidFill>
            <a:srgbClr val="E2E8F0"/>
          </a:solidFill>
          <a:ln/>
        </p:spPr>
      </p:sp>
      <p:sp>
        <p:nvSpPr>
          <p:cNvPr id="36" name="Text 34"/>
          <p:cNvSpPr txBox="1"/>
          <p:nvPr/>
        </p:nvSpPr>
        <p:spPr>
          <a:xfrm>
            <a:off x="4162425" y="2963168"/>
            <a:ext cx="4019276"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VDF nâng merchant lên gói SMB, nhận thẻ đầy đủ khi chạm hạn mức</a:t>
            </a:r>
            <a:endParaRPr lang="en-US" sz="900" dirty="0"/>
          </a:p>
        </p:txBody>
      </p:sp>
      <p:sp>
        <p:nvSpPr>
          <p:cNvPr id="37" name="Shape 35"/>
          <p:cNvSpPr/>
          <p:nvPr/>
        </p:nvSpPr>
        <p:spPr>
          <a:xfrm>
            <a:off x="619125" y="3483471"/>
            <a:ext cx="3429000" cy="9525"/>
          </a:xfrm>
          <a:prstGeom prst="rect">
            <a:avLst/>
          </a:prstGeom>
          <a:solidFill>
            <a:srgbClr val="E2E8F0"/>
          </a:solidFill>
          <a:ln/>
        </p:spPr>
      </p:sp>
      <p:sp>
        <p:nvSpPr>
          <p:cNvPr id="38" name="Text 36"/>
          <p:cNvSpPr txBox="1"/>
          <p:nvPr/>
        </p:nvSpPr>
        <p:spPr>
          <a:xfrm>
            <a:off x="733425" y="3261420"/>
            <a:ext cx="3080775"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Doanh thu giai đoạn đầu thấp vì phí gần như bằng 0</a:t>
            </a:r>
            <a:endParaRPr lang="en-US" sz="900" dirty="0"/>
          </a:p>
        </p:txBody>
      </p:sp>
      <p:sp>
        <p:nvSpPr>
          <p:cNvPr id="39" name="Shape 37"/>
          <p:cNvSpPr/>
          <p:nvPr/>
        </p:nvSpPr>
        <p:spPr>
          <a:xfrm>
            <a:off x="4048125" y="3483471"/>
            <a:ext cx="7524750" cy="9525"/>
          </a:xfrm>
          <a:prstGeom prst="rect">
            <a:avLst/>
          </a:prstGeom>
          <a:solidFill>
            <a:srgbClr val="E2E8F0"/>
          </a:solidFill>
          <a:ln/>
        </p:spPr>
      </p:sp>
      <p:sp>
        <p:nvSpPr>
          <p:cNvPr id="40" name="Text 38"/>
          <p:cNvSpPr txBox="1"/>
          <p:nvPr/>
        </p:nvSpPr>
        <p:spPr>
          <a:xfrm>
            <a:off x="4162425" y="3261420"/>
            <a:ext cx="4083484"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Đặt mục tiêu Phase 1 là có merchant hoạt động; theo dõi tỉ lệ nâng gói</a:t>
            </a:r>
            <a:endParaRPr lang="en-US" sz="900" dirty="0"/>
          </a:p>
        </p:txBody>
      </p:sp>
      <p:sp>
        <p:nvSpPr>
          <p:cNvPr id="41" name="Shape 39"/>
          <p:cNvSpPr/>
          <p:nvPr/>
        </p:nvSpPr>
        <p:spPr>
          <a:xfrm>
            <a:off x="619125" y="3937099"/>
            <a:ext cx="3429000" cy="9525"/>
          </a:xfrm>
          <a:prstGeom prst="rect">
            <a:avLst/>
          </a:prstGeom>
          <a:solidFill>
            <a:srgbClr val="E2E8F0"/>
          </a:solidFill>
          <a:ln/>
        </p:spPr>
      </p:sp>
      <p:sp>
        <p:nvSpPr>
          <p:cNvPr id="42" name="Text 40"/>
          <p:cNvSpPr txBox="1"/>
          <p:nvPr/>
        </p:nvSpPr>
        <p:spPr>
          <a:xfrm>
            <a:off x="733425" y="3559671"/>
            <a:ext cx="743908"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Gian lận thẻ</a:t>
            </a:r>
            <a:endParaRPr lang="en-US" sz="900" dirty="0"/>
          </a:p>
        </p:txBody>
      </p:sp>
      <p:sp>
        <p:nvSpPr>
          <p:cNvPr id="43" name="Shape 41"/>
          <p:cNvSpPr/>
          <p:nvPr/>
        </p:nvSpPr>
        <p:spPr>
          <a:xfrm>
            <a:off x="4048125" y="3937099"/>
            <a:ext cx="7524750" cy="9525"/>
          </a:xfrm>
          <a:prstGeom prst="rect">
            <a:avLst/>
          </a:prstGeom>
          <a:solidFill>
            <a:srgbClr val="E2E8F0"/>
          </a:solidFill>
          <a:ln/>
        </p:spPr>
      </p:sp>
      <p:sp>
        <p:nvSpPr>
          <p:cNvPr id="44" name="Text 42"/>
          <p:cNvSpPr txBox="1"/>
          <p:nvPr/>
        </p:nvSpPr>
        <p:spPr>
          <a:xfrm>
            <a:off x="4162425" y="3559671"/>
            <a:ext cx="732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Kiểm soát tần suất và hạn mức của Visa Accept; xác thực 3-D Secure cho giao dịch qua link; cân nhắc công cụ chống gian lận của Visa khi lên gói đầy đủ</a:t>
            </a:r>
            <a:endParaRPr lang="en-US" sz="900" dirty="0"/>
          </a:p>
        </p:txBody>
      </p:sp>
      <p:sp>
        <p:nvSpPr>
          <p:cNvPr id="45" name="Shape 43"/>
          <p:cNvSpPr/>
          <p:nvPr/>
        </p:nvSpPr>
        <p:spPr>
          <a:xfrm>
            <a:off x="619125" y="4235351"/>
            <a:ext cx="3429000" cy="9525"/>
          </a:xfrm>
          <a:prstGeom prst="rect">
            <a:avLst/>
          </a:prstGeom>
          <a:solidFill>
            <a:srgbClr val="E2E8F0"/>
          </a:solidFill>
          <a:ln/>
        </p:spPr>
      </p:sp>
      <p:sp>
        <p:nvSpPr>
          <p:cNvPr id="46" name="Text 44"/>
          <p:cNvSpPr txBox="1"/>
          <p:nvPr/>
        </p:nvSpPr>
        <p:spPr>
          <a:xfrm>
            <a:off x="733425" y="4013299"/>
            <a:ext cx="1314676"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Phối hợp nhiều đơn vị</a:t>
            </a:r>
            <a:endParaRPr lang="en-US" sz="900" dirty="0"/>
          </a:p>
        </p:txBody>
      </p:sp>
      <p:sp>
        <p:nvSpPr>
          <p:cNvPr id="47" name="Shape 45"/>
          <p:cNvSpPr/>
          <p:nvPr/>
        </p:nvSpPr>
        <p:spPr>
          <a:xfrm>
            <a:off x="4048125" y="4235351"/>
            <a:ext cx="7524750" cy="9525"/>
          </a:xfrm>
          <a:prstGeom prst="rect">
            <a:avLst/>
          </a:prstGeom>
          <a:solidFill>
            <a:srgbClr val="E2E8F0"/>
          </a:solidFill>
          <a:ln/>
        </p:spPr>
      </p:sp>
      <p:sp>
        <p:nvSpPr>
          <p:cNvPr id="48" name="Text 46"/>
          <p:cNvSpPr txBox="1"/>
          <p:nvPr/>
        </p:nvSpPr>
        <p:spPr>
          <a:xfrm>
            <a:off x="4162425" y="4013299"/>
            <a:ext cx="2479402"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VDF làm đầu mối làm việc với VTT và Visa</a:t>
            </a:r>
            <a:endParaRPr lang="en-US" sz="900" dirty="0"/>
          </a:p>
        </p:txBody>
      </p:sp>
      <p:sp>
        <p:nvSpPr>
          <p:cNvPr id="49" name="Shape 47"/>
          <p:cNvSpPr/>
          <p:nvPr/>
        </p:nvSpPr>
        <p:spPr>
          <a:xfrm>
            <a:off x="619125" y="4533602"/>
            <a:ext cx="3429000" cy="9525"/>
          </a:xfrm>
          <a:prstGeom prst="rect">
            <a:avLst/>
          </a:prstGeom>
          <a:solidFill>
            <a:srgbClr val="E2E8F0"/>
          </a:solidFill>
          <a:ln/>
        </p:spPr>
      </p:sp>
      <p:sp>
        <p:nvSpPr>
          <p:cNvPr id="50" name="Text 48"/>
          <p:cNvSpPr txBox="1"/>
          <p:nvPr/>
        </p:nvSpPr>
        <p:spPr>
          <a:xfrm>
            <a:off x="733425" y="4311551"/>
            <a:ext cx="2530516"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Pháp lý AI: Luật Trí tuệ nhân tạo 134/2025</a:t>
            </a:r>
            <a:endParaRPr lang="en-US" sz="900" dirty="0"/>
          </a:p>
        </p:txBody>
      </p:sp>
      <p:sp>
        <p:nvSpPr>
          <p:cNvPr id="51" name="Shape 49"/>
          <p:cNvSpPr/>
          <p:nvPr/>
        </p:nvSpPr>
        <p:spPr>
          <a:xfrm>
            <a:off x="4048125" y="4533602"/>
            <a:ext cx="7524750" cy="9525"/>
          </a:xfrm>
          <a:prstGeom prst="rect">
            <a:avLst/>
          </a:prstGeom>
          <a:solidFill>
            <a:srgbClr val="E2E8F0"/>
          </a:solidFill>
          <a:ln/>
        </p:spPr>
      </p:sp>
      <p:sp>
        <p:nvSpPr>
          <p:cNvPr id="52" name="Text 50"/>
          <p:cNvSpPr txBox="1"/>
          <p:nvPr/>
        </p:nvSpPr>
        <p:spPr>
          <a:xfrm>
            <a:off x="4162425" y="4311551"/>
            <a:ext cx="3461129"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AI tư vấn luôn gắn nhãn "Trợ lý AI" và nút "Gặp người thật"</a:t>
            </a:r>
            <a:endParaRPr lang="en-US" sz="900" dirty="0"/>
          </a:p>
        </p:txBody>
      </p:sp>
      <p:sp>
        <p:nvSpPr>
          <p:cNvPr id="53" name="Shape 51"/>
          <p:cNvSpPr/>
          <p:nvPr/>
        </p:nvSpPr>
        <p:spPr>
          <a:xfrm>
            <a:off x="619125" y="4987230"/>
            <a:ext cx="3429000" cy="9525"/>
          </a:xfrm>
          <a:prstGeom prst="rect">
            <a:avLst/>
          </a:prstGeom>
          <a:solidFill>
            <a:srgbClr val="E2E8F0"/>
          </a:solidFill>
          <a:ln/>
        </p:spPr>
      </p:sp>
      <p:sp>
        <p:nvSpPr>
          <p:cNvPr id="54" name="Text 52"/>
          <p:cNvSpPr txBox="1"/>
          <p:nvPr/>
        </p:nvSpPr>
        <p:spPr>
          <a:xfrm>
            <a:off x="733425" y="4609802"/>
            <a:ext cx="2120976"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Dữ liệu cá nhân: Nghị định 13/2023</a:t>
            </a:r>
            <a:endParaRPr lang="en-US" sz="900" dirty="0"/>
          </a:p>
        </p:txBody>
      </p:sp>
      <p:sp>
        <p:nvSpPr>
          <p:cNvPr id="55" name="Shape 53"/>
          <p:cNvSpPr/>
          <p:nvPr/>
        </p:nvSpPr>
        <p:spPr>
          <a:xfrm>
            <a:off x="4048125" y="4987230"/>
            <a:ext cx="7524750" cy="9525"/>
          </a:xfrm>
          <a:prstGeom prst="rect">
            <a:avLst/>
          </a:prstGeom>
          <a:solidFill>
            <a:srgbClr val="E2E8F0"/>
          </a:solidFill>
          <a:ln/>
        </p:spPr>
      </p:sp>
      <p:sp>
        <p:nvSpPr>
          <p:cNvPr id="56" name="Text 54"/>
          <p:cNvSpPr txBox="1"/>
          <p:nvPr/>
        </p:nvSpPr>
        <p:spPr>
          <a:xfrm>
            <a:off x="4162425" y="4609802"/>
            <a:ext cx="732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Chỉ dùng dữ liệu khi người dùng đồng ý; hỏi tư vấn không cần đăng nhập, khách chỉ điền thông tin khi chốt đặt chỗ, thanh toán; dữ liệu lưu tại Việt Nam</a:t>
            </a:r>
            <a:endParaRPr lang="en-US" sz="900" dirty="0"/>
          </a:p>
        </p:txBody>
      </p:sp>
      <p:sp>
        <p:nvSpPr>
          <p:cNvPr id="57" name="Text 55"/>
          <p:cNvSpPr txBox="1"/>
          <p:nvPr/>
        </p:nvSpPr>
        <p:spPr>
          <a:xfrm>
            <a:off x="733425" y="5063430"/>
            <a:ext cx="771516"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AI tư vấn sai</a:t>
            </a:r>
            <a:endParaRPr lang="en-US" sz="900" dirty="0"/>
          </a:p>
        </p:txBody>
      </p:sp>
      <p:sp>
        <p:nvSpPr>
          <p:cNvPr id="58" name="Text 56"/>
          <p:cNvSpPr txBox="1"/>
          <p:nvPr/>
        </p:nvSpPr>
        <p:spPr>
          <a:xfrm>
            <a:off x="4162425" y="5063430"/>
            <a:ext cx="732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AI chỉ gợi ý theo dữ liệu của merchant tham gia; lượt đặt do merchant xác nhận qua Tendoo; khiếu nại, hoàn tiền luôn chuyển người thật</a:t>
            </a:r>
            <a:endParaRPr lang="en-US" sz="900" dirty="0"/>
          </a:p>
        </p:txBody>
      </p:sp>
      <p:sp>
        <p:nvSpPr>
          <p:cNvPr id="59" name="Shape 57"/>
          <p:cNvSpPr/>
          <p:nvPr/>
        </p:nvSpPr>
        <p:spPr>
          <a:xfrm>
            <a:off x="10796588" y="6343650"/>
            <a:ext cx="323850" cy="323850"/>
          </a:xfrm>
          <a:prstGeom prst="ellipse">
            <a:avLst/>
          </a:prstGeom>
          <a:solidFill>
            <a:srgbClr val="F0001E"/>
          </a:solidFill>
          <a:ln/>
        </p:spPr>
      </p:sp>
      <p:sp>
        <p:nvSpPr>
          <p:cNvPr id="60" name="Shape 58"/>
          <p:cNvSpPr/>
          <p:nvPr/>
        </p:nvSpPr>
        <p:spPr>
          <a:xfrm>
            <a:off x="10901363" y="6415088"/>
            <a:ext cx="114300" cy="180975"/>
          </a:xfrm>
          <a:prstGeom prst="roundRect">
            <a:avLst>
              <a:gd name="adj" fmla="val 29167"/>
            </a:avLst>
          </a:prstGeom>
          <a:ln w="19050">
            <a:solidFill>
              <a:srgbClr val="FFFFFF"/>
            </a:solidFill>
            <a:prstDash val="solid"/>
          </a:ln>
        </p:spPr>
      </p:sp>
      <p:sp>
        <p:nvSpPr>
          <p:cNvPr id="61" name="Text 59"/>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62" name="Text 60"/>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63" name="Text 61"/>
          <p:cNvSpPr txBox="1"/>
          <p:nvPr/>
        </p:nvSpPr>
        <p:spPr>
          <a:xfrm>
            <a:off x="10500866" y="6429375"/>
            <a:ext cx="195069"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77376" y="323850"/>
            <a:ext cx="905024" cy="247650"/>
          </a:xfrm>
          <a:prstGeom prst="roundRect">
            <a:avLst>
              <a:gd name="adj" fmla="val 50000"/>
            </a:avLst>
          </a:prstGeom>
          <a:solidFill>
            <a:srgbClr val="E5E7EB"/>
          </a:solidFill>
          <a:ln/>
        </p:spPr>
      </p:sp>
      <p:sp>
        <p:nvSpPr>
          <p:cNvPr id="3" name="Text 1"/>
          <p:cNvSpPr txBox="1"/>
          <p:nvPr/>
        </p:nvSpPr>
        <p:spPr>
          <a:xfrm>
            <a:off x="10848826" y="371475"/>
            <a:ext cx="633951"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B</a:t>
            </a:r>
            <a:endParaRPr lang="en-US" sz="980" dirty="0"/>
          </a:p>
        </p:txBody>
      </p:sp>
      <p:sp>
        <p:nvSpPr>
          <p:cNvPr id="4" name="Text 2"/>
          <p:cNvSpPr txBox="1"/>
          <p:nvPr/>
        </p:nvSpPr>
        <p:spPr>
          <a:xfrm>
            <a:off x="609600" y="400050"/>
            <a:ext cx="2373231"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MÔ HÌNH DOANH THU</a:t>
            </a:r>
            <a:endParaRPr lang="en-US" sz="1050" dirty="0"/>
          </a:p>
        </p:txBody>
      </p:sp>
      <p:sp>
        <p:nvSpPr>
          <p:cNvPr id="5" name="Text 3"/>
          <p:cNvSpPr txBox="1"/>
          <p:nvPr/>
        </p:nvSpPr>
        <p:spPr>
          <a:xfrm>
            <a:off x="609600" y="609600"/>
            <a:ext cx="4408938"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Dòng thu của VDF theo từng kênh</a:t>
            </a:r>
            <a:endParaRPr lang="en-US" sz="2030" dirty="0"/>
          </a:p>
        </p:txBody>
      </p:sp>
      <p:sp>
        <p:nvSpPr>
          <p:cNvPr id="6" name="Shape 4"/>
          <p:cNvSpPr/>
          <p:nvPr/>
        </p:nvSpPr>
        <p:spPr>
          <a:xfrm>
            <a:off x="609600" y="1123355"/>
            <a:ext cx="5419725" cy="1584722"/>
          </a:xfrm>
          <a:prstGeom prst="roundRect">
            <a:avLst>
              <a:gd name="adj" fmla="val 8415"/>
            </a:avLst>
          </a:prstGeom>
          <a:solidFill>
            <a:srgbClr val="FFFFFF"/>
          </a:solidFill>
          <a:ln/>
        </p:spPr>
      </p:sp>
      <p:sp>
        <p:nvSpPr>
          <p:cNvPr id="7" name="Shape 5"/>
          <p:cNvSpPr/>
          <p:nvPr/>
        </p:nvSpPr>
        <p:spPr>
          <a:xfrm>
            <a:off x="609600" y="1123355"/>
            <a:ext cx="5419725" cy="57150"/>
          </a:xfrm>
          <a:prstGeom prst="rect">
            <a:avLst/>
          </a:prstGeom>
          <a:solidFill>
            <a:srgbClr val="E11D48"/>
          </a:solidFill>
          <a:ln/>
        </p:spPr>
      </p:sp>
      <p:sp>
        <p:nvSpPr>
          <p:cNvPr id="8" name="Shape 6"/>
          <p:cNvSpPr/>
          <p:nvPr/>
        </p:nvSpPr>
        <p:spPr>
          <a:xfrm>
            <a:off x="6019800" y="1123355"/>
            <a:ext cx="9525" cy="1584722"/>
          </a:xfrm>
          <a:prstGeom prst="rect">
            <a:avLst/>
          </a:prstGeom>
          <a:solidFill>
            <a:srgbClr val="E2E8F0"/>
          </a:solidFill>
          <a:ln/>
        </p:spPr>
      </p:sp>
      <p:sp>
        <p:nvSpPr>
          <p:cNvPr id="9" name="Shape 7"/>
          <p:cNvSpPr/>
          <p:nvPr/>
        </p:nvSpPr>
        <p:spPr>
          <a:xfrm>
            <a:off x="609600" y="2698552"/>
            <a:ext cx="5419725" cy="9525"/>
          </a:xfrm>
          <a:prstGeom prst="rect">
            <a:avLst/>
          </a:prstGeom>
          <a:solidFill>
            <a:srgbClr val="E2E8F0"/>
          </a:solidFill>
          <a:ln/>
        </p:spPr>
      </p:sp>
      <p:sp>
        <p:nvSpPr>
          <p:cNvPr id="10" name="Shape 8"/>
          <p:cNvSpPr/>
          <p:nvPr/>
        </p:nvSpPr>
        <p:spPr>
          <a:xfrm>
            <a:off x="609600" y="1123355"/>
            <a:ext cx="9525" cy="1584722"/>
          </a:xfrm>
          <a:prstGeom prst="rect">
            <a:avLst/>
          </a:prstGeom>
          <a:solidFill>
            <a:srgbClr val="E2E8F0"/>
          </a:solidFill>
          <a:ln/>
        </p:spPr>
      </p:sp>
      <p:sp>
        <p:nvSpPr>
          <p:cNvPr id="11" name="Text 9"/>
          <p:cNvSpPr txBox="1"/>
          <p:nvPr/>
        </p:nvSpPr>
        <p:spPr>
          <a:xfrm>
            <a:off x="828675" y="1313855"/>
            <a:ext cx="1257883" cy="295275"/>
          </a:xfrm>
          <a:prstGeom prst="rect">
            <a:avLst/>
          </a:prstGeom>
          <a:noFill/>
          <a:ln/>
        </p:spPr>
        <p:txBody>
          <a:bodyPr wrap="none" lIns="0" tIns="0" rIns="0" bIns="0" rtlCol="0" anchor="t"/>
          <a:lstStyle/>
          <a:p>
            <a:pPr marL="0" indent="0" algn="l">
              <a:lnSpc>
                <a:spcPts val="2340"/>
              </a:lnSpc>
              <a:buNone/>
            </a:pPr>
            <a:r>
              <a:rPr lang="en-US" sz="1950" b="1" dirty="0">
                <a:solidFill>
                  <a:srgbClr val="E11D48"/>
                </a:solidFill>
              </a:rPr>
              <a:t>1 · Offline</a:t>
            </a:r>
            <a:endParaRPr lang="en-US" sz="1950" dirty="0"/>
          </a:p>
        </p:txBody>
      </p:sp>
      <p:sp>
        <p:nvSpPr>
          <p:cNvPr id="12" name="Text 10"/>
          <p:cNvSpPr txBox="1"/>
          <p:nvPr/>
        </p:nvSpPr>
        <p:spPr>
          <a:xfrm>
            <a:off x="2093714" y="1418630"/>
            <a:ext cx="870430" cy="161925"/>
          </a:xfrm>
          <a:prstGeom prst="rect">
            <a:avLst/>
          </a:prstGeom>
          <a:noFill/>
          <a:ln/>
        </p:spPr>
        <p:txBody>
          <a:bodyPr wrap="none" lIns="0" tIns="0" rIns="0" bIns="0" rtlCol="0" anchor="t"/>
          <a:lstStyle/>
          <a:p>
            <a:pPr marL="0" indent="0" algn="l">
              <a:lnSpc>
                <a:spcPts val="1260"/>
              </a:lnSpc>
              <a:buNone/>
            </a:pPr>
            <a:r>
              <a:rPr lang="en-US" sz="1050" b="1" dirty="0">
                <a:solidFill>
                  <a:srgbClr val="64748B"/>
                </a:solidFill>
              </a:rPr>
              <a:t>Visa Accept</a:t>
            </a:r>
            <a:endParaRPr lang="en-US" sz="1050" dirty="0"/>
          </a:p>
        </p:txBody>
      </p:sp>
      <p:sp>
        <p:nvSpPr>
          <p:cNvPr id="13" name="Shape 11"/>
          <p:cNvSpPr/>
          <p:nvPr/>
        </p:nvSpPr>
        <p:spPr>
          <a:xfrm>
            <a:off x="828675" y="1961555"/>
            <a:ext cx="76200" cy="76200"/>
          </a:xfrm>
          <a:prstGeom prst="ellipse">
            <a:avLst/>
          </a:prstGeom>
          <a:solidFill>
            <a:srgbClr val="E11D48"/>
          </a:solidFill>
          <a:ln/>
        </p:spPr>
      </p:sp>
      <p:sp>
        <p:nvSpPr>
          <p:cNvPr id="14" name="Text 12"/>
          <p:cNvSpPr txBox="1"/>
          <p:nvPr/>
        </p:nvSpPr>
        <p:spPr>
          <a:xfrm>
            <a:off x="1019175" y="1894880"/>
            <a:ext cx="1961168" cy="180975"/>
          </a:xfrm>
          <a:prstGeom prst="rect">
            <a:avLst/>
          </a:prstGeom>
          <a:noFill/>
          <a:ln/>
        </p:spPr>
        <p:txBody>
          <a:bodyPr wrap="none" lIns="0" tIns="0" rIns="0" bIns="0" rtlCol="0" anchor="t"/>
          <a:lstStyle/>
          <a:p>
            <a:pPr marL="0" indent="0" algn="l">
              <a:lnSpc>
                <a:spcPts val="1550"/>
              </a:lnSpc>
              <a:buNone/>
            </a:pPr>
            <a:r>
              <a:rPr lang="en-US" sz="1130" b="1" dirty="0">
                <a:solidFill>
                  <a:srgbClr val="0F172A"/>
                </a:solidFill>
              </a:rPr>
              <a:t>Chia phí giao dịch với VTT</a:t>
            </a:r>
            <a:endParaRPr lang="en-US" sz="1130" dirty="0"/>
          </a:p>
        </p:txBody>
      </p:sp>
      <p:sp>
        <p:nvSpPr>
          <p:cNvPr id="15" name="Shape 13"/>
          <p:cNvSpPr/>
          <p:nvPr/>
        </p:nvSpPr>
        <p:spPr>
          <a:xfrm>
            <a:off x="6162675" y="1123355"/>
            <a:ext cx="5419725" cy="1584722"/>
          </a:xfrm>
          <a:prstGeom prst="roundRect">
            <a:avLst>
              <a:gd name="adj" fmla="val 8415"/>
            </a:avLst>
          </a:prstGeom>
          <a:solidFill>
            <a:srgbClr val="FFFFFF"/>
          </a:solidFill>
          <a:ln/>
        </p:spPr>
      </p:sp>
      <p:sp>
        <p:nvSpPr>
          <p:cNvPr id="16" name="Shape 14"/>
          <p:cNvSpPr/>
          <p:nvPr/>
        </p:nvSpPr>
        <p:spPr>
          <a:xfrm>
            <a:off x="6162675" y="1123355"/>
            <a:ext cx="5419725" cy="57150"/>
          </a:xfrm>
          <a:prstGeom prst="rect">
            <a:avLst/>
          </a:prstGeom>
          <a:solidFill>
            <a:srgbClr val="1E3A8A"/>
          </a:solidFill>
          <a:ln/>
        </p:spPr>
      </p:sp>
      <p:sp>
        <p:nvSpPr>
          <p:cNvPr id="17" name="Shape 15"/>
          <p:cNvSpPr/>
          <p:nvPr/>
        </p:nvSpPr>
        <p:spPr>
          <a:xfrm>
            <a:off x="11572875" y="1123355"/>
            <a:ext cx="9525" cy="1584722"/>
          </a:xfrm>
          <a:prstGeom prst="rect">
            <a:avLst/>
          </a:prstGeom>
          <a:solidFill>
            <a:srgbClr val="E2E8F0"/>
          </a:solidFill>
          <a:ln/>
        </p:spPr>
      </p:sp>
      <p:sp>
        <p:nvSpPr>
          <p:cNvPr id="18" name="Shape 16"/>
          <p:cNvSpPr/>
          <p:nvPr/>
        </p:nvSpPr>
        <p:spPr>
          <a:xfrm>
            <a:off x="6162675" y="2698552"/>
            <a:ext cx="5419725" cy="9525"/>
          </a:xfrm>
          <a:prstGeom prst="rect">
            <a:avLst/>
          </a:prstGeom>
          <a:solidFill>
            <a:srgbClr val="E2E8F0"/>
          </a:solidFill>
          <a:ln/>
        </p:spPr>
      </p:sp>
      <p:sp>
        <p:nvSpPr>
          <p:cNvPr id="19" name="Shape 17"/>
          <p:cNvSpPr/>
          <p:nvPr/>
        </p:nvSpPr>
        <p:spPr>
          <a:xfrm>
            <a:off x="6162675" y="1123355"/>
            <a:ext cx="9525" cy="1584722"/>
          </a:xfrm>
          <a:prstGeom prst="rect">
            <a:avLst/>
          </a:prstGeom>
          <a:solidFill>
            <a:srgbClr val="E2E8F0"/>
          </a:solidFill>
          <a:ln/>
        </p:spPr>
      </p:sp>
      <p:sp>
        <p:nvSpPr>
          <p:cNvPr id="20" name="Text 18"/>
          <p:cNvSpPr txBox="1"/>
          <p:nvPr/>
        </p:nvSpPr>
        <p:spPr>
          <a:xfrm>
            <a:off x="6381750" y="1313855"/>
            <a:ext cx="1269400" cy="295275"/>
          </a:xfrm>
          <a:prstGeom prst="rect">
            <a:avLst/>
          </a:prstGeom>
          <a:noFill/>
          <a:ln/>
        </p:spPr>
        <p:txBody>
          <a:bodyPr wrap="none" lIns="0" tIns="0" rIns="0" bIns="0" rtlCol="0" anchor="t"/>
          <a:lstStyle/>
          <a:p>
            <a:pPr marL="0" indent="0" algn="l">
              <a:lnSpc>
                <a:spcPts val="2340"/>
              </a:lnSpc>
              <a:buNone/>
            </a:pPr>
            <a:r>
              <a:rPr lang="en-US" sz="1950" b="1" dirty="0">
                <a:solidFill>
                  <a:srgbClr val="1E3A8A"/>
                </a:solidFill>
              </a:rPr>
              <a:t>2 · Online</a:t>
            </a:r>
            <a:endParaRPr lang="en-US" sz="1950" dirty="0"/>
          </a:p>
        </p:txBody>
      </p:sp>
      <p:sp>
        <p:nvSpPr>
          <p:cNvPr id="21" name="Text 19"/>
          <p:cNvSpPr txBox="1"/>
          <p:nvPr/>
        </p:nvSpPr>
        <p:spPr>
          <a:xfrm>
            <a:off x="7657654" y="1418630"/>
            <a:ext cx="2391531" cy="161925"/>
          </a:xfrm>
          <a:prstGeom prst="rect">
            <a:avLst/>
          </a:prstGeom>
          <a:noFill/>
          <a:ln/>
        </p:spPr>
        <p:txBody>
          <a:bodyPr wrap="none" lIns="0" tIns="0" rIns="0" bIns="0" rtlCol="0" anchor="t"/>
          <a:lstStyle/>
          <a:p>
            <a:pPr marL="0" indent="0" algn="l">
              <a:lnSpc>
                <a:spcPts val="1260"/>
              </a:lnSpc>
              <a:buNone/>
            </a:pPr>
            <a:r>
              <a:rPr lang="en-US" sz="1050" b="1" dirty="0">
                <a:solidFill>
                  <a:srgbClr val="64748B"/>
                </a:solidFill>
              </a:rPr>
              <a:t>AI tư vấn du lịch và booking online</a:t>
            </a:r>
            <a:endParaRPr lang="en-US" sz="1050" dirty="0"/>
          </a:p>
        </p:txBody>
      </p:sp>
      <p:sp>
        <p:nvSpPr>
          <p:cNvPr id="22" name="Shape 20"/>
          <p:cNvSpPr/>
          <p:nvPr/>
        </p:nvSpPr>
        <p:spPr>
          <a:xfrm>
            <a:off x="6381750" y="1961555"/>
            <a:ext cx="76200" cy="76200"/>
          </a:xfrm>
          <a:prstGeom prst="ellipse">
            <a:avLst/>
          </a:prstGeom>
          <a:solidFill>
            <a:srgbClr val="1E3A8A"/>
          </a:solidFill>
          <a:ln/>
        </p:spPr>
      </p:sp>
      <p:sp>
        <p:nvSpPr>
          <p:cNvPr id="23" name="Text 21"/>
          <p:cNvSpPr txBox="1"/>
          <p:nvPr/>
        </p:nvSpPr>
        <p:spPr>
          <a:xfrm>
            <a:off x="6572250" y="1894880"/>
            <a:ext cx="2167988" cy="180975"/>
          </a:xfrm>
          <a:prstGeom prst="rect">
            <a:avLst/>
          </a:prstGeom>
          <a:noFill/>
          <a:ln/>
        </p:spPr>
        <p:txBody>
          <a:bodyPr wrap="none" lIns="0" tIns="0" rIns="0" bIns="0" rtlCol="0" anchor="t"/>
          <a:lstStyle/>
          <a:p>
            <a:pPr marL="0" indent="0" algn="l">
              <a:lnSpc>
                <a:spcPts val="1550"/>
              </a:lnSpc>
              <a:buNone/>
            </a:pPr>
            <a:r>
              <a:rPr lang="en-US" sz="1130" b="1" dirty="0">
                <a:solidFill>
                  <a:srgbClr val="0F172A"/>
                </a:solidFill>
              </a:rPr>
              <a:t>Tiền affiliate do merchant trả</a:t>
            </a:r>
            <a:endParaRPr lang="en-US" sz="1130" dirty="0"/>
          </a:p>
        </p:txBody>
      </p:sp>
      <p:sp>
        <p:nvSpPr>
          <p:cNvPr id="24" name="Shape 22"/>
          <p:cNvSpPr/>
          <p:nvPr/>
        </p:nvSpPr>
        <p:spPr>
          <a:xfrm>
            <a:off x="6381750" y="2187178"/>
            <a:ext cx="4981575" cy="9525"/>
          </a:xfrm>
          <a:prstGeom prst="rect">
            <a:avLst/>
          </a:prstGeom>
          <a:solidFill>
            <a:srgbClr val="E2E8F0"/>
          </a:solidFill>
          <a:ln/>
        </p:spPr>
      </p:sp>
      <p:sp>
        <p:nvSpPr>
          <p:cNvPr id="25" name="Shape 23"/>
          <p:cNvSpPr/>
          <p:nvPr/>
        </p:nvSpPr>
        <p:spPr>
          <a:xfrm>
            <a:off x="6381750" y="2358628"/>
            <a:ext cx="76200" cy="76200"/>
          </a:xfrm>
          <a:prstGeom prst="ellipse">
            <a:avLst/>
          </a:prstGeom>
          <a:solidFill>
            <a:srgbClr val="1E3A8A"/>
          </a:solidFill>
          <a:ln/>
        </p:spPr>
      </p:sp>
      <p:sp>
        <p:nvSpPr>
          <p:cNvPr id="26" name="Text 24"/>
          <p:cNvSpPr txBox="1"/>
          <p:nvPr/>
        </p:nvSpPr>
        <p:spPr>
          <a:xfrm>
            <a:off x="6572250" y="2291953"/>
            <a:ext cx="2837039" cy="180975"/>
          </a:xfrm>
          <a:prstGeom prst="rect">
            <a:avLst/>
          </a:prstGeom>
          <a:noFill/>
          <a:ln/>
        </p:spPr>
        <p:txBody>
          <a:bodyPr wrap="none" lIns="0" tIns="0" rIns="0" bIns="0" rtlCol="0" anchor="t"/>
          <a:lstStyle/>
          <a:p>
            <a:pPr marL="0" indent="0" algn="l">
              <a:lnSpc>
                <a:spcPts val="1550"/>
              </a:lnSpc>
              <a:buNone/>
            </a:pPr>
            <a:r>
              <a:rPr lang="en-US" sz="1130" b="1" dirty="0">
                <a:solidFill>
                  <a:srgbClr val="0F172A"/>
                </a:solidFill>
              </a:rPr>
              <a:t>Một phần phí giao dịch booking online</a:t>
            </a:r>
            <a:endParaRPr lang="en-US" sz="1130" dirty="0"/>
          </a:p>
        </p:txBody>
      </p:sp>
      <p:sp>
        <p:nvSpPr>
          <p:cNvPr id="27" name="Shape 25"/>
          <p:cNvSpPr/>
          <p:nvPr/>
        </p:nvSpPr>
        <p:spPr>
          <a:xfrm>
            <a:off x="609600" y="2841427"/>
            <a:ext cx="10972800" cy="323850"/>
          </a:xfrm>
          <a:prstGeom prst="roundRect">
            <a:avLst>
              <a:gd name="adj" fmla="val 29412"/>
            </a:avLst>
          </a:prstGeom>
          <a:solidFill>
            <a:srgbClr val="F1F5F9"/>
          </a:solidFill>
          <a:ln/>
        </p:spPr>
      </p:sp>
      <p:sp>
        <p:nvSpPr>
          <p:cNvPr id="28" name="Text 26"/>
          <p:cNvSpPr txBox="1"/>
          <p:nvPr/>
        </p:nvSpPr>
        <p:spPr>
          <a:xfrm>
            <a:off x="762000" y="2927152"/>
            <a:ext cx="7158183" cy="152400"/>
          </a:xfrm>
          <a:prstGeom prst="rect">
            <a:avLst/>
          </a:prstGeom>
          <a:noFill/>
          <a:ln/>
        </p:spPr>
        <p:txBody>
          <a:bodyPr wrap="none" lIns="0" tIns="0" rIns="0" bIns="0" rtlCol="0" anchor="t"/>
          <a:lstStyle/>
          <a:p>
            <a:pPr marL="0" indent="0" algn="l">
              <a:lnSpc>
                <a:spcPts val="1170"/>
              </a:lnSpc>
              <a:buNone/>
            </a:pPr>
            <a:r>
              <a:rPr lang="en-US" sz="980" b="1" dirty="0">
                <a:solidFill>
                  <a:srgbClr val="334155"/>
                </a:solidFill>
              </a:rPr>
              <a:t>Mức phí cho merchant, tỉ lệ chia phí với VTT, chính sách affiliate và booking online thống nhất sau khi triển khai.</a:t>
            </a:r>
            <a:endParaRPr lang="en-US" sz="980" dirty="0"/>
          </a:p>
        </p:txBody>
      </p:sp>
      <p:sp>
        <p:nvSpPr>
          <p:cNvPr id="29" name="Shape 27"/>
          <p:cNvSpPr/>
          <p:nvPr/>
        </p:nvSpPr>
        <p:spPr>
          <a:xfrm>
            <a:off x="10796588" y="6343650"/>
            <a:ext cx="323850" cy="323850"/>
          </a:xfrm>
          <a:prstGeom prst="ellipse">
            <a:avLst/>
          </a:prstGeom>
          <a:solidFill>
            <a:srgbClr val="F0001E"/>
          </a:solidFill>
          <a:ln/>
        </p:spPr>
      </p:sp>
      <p:sp>
        <p:nvSpPr>
          <p:cNvPr id="30" name="Shape 28"/>
          <p:cNvSpPr/>
          <p:nvPr/>
        </p:nvSpPr>
        <p:spPr>
          <a:xfrm>
            <a:off x="10901363" y="6415088"/>
            <a:ext cx="114300" cy="180975"/>
          </a:xfrm>
          <a:prstGeom prst="roundRect">
            <a:avLst>
              <a:gd name="adj" fmla="val 29167"/>
            </a:avLst>
          </a:prstGeom>
          <a:ln w="19050">
            <a:solidFill>
              <a:srgbClr val="FFFFFF"/>
            </a:solidFill>
            <a:prstDash val="solid"/>
          </a:ln>
        </p:spPr>
      </p:sp>
      <p:sp>
        <p:nvSpPr>
          <p:cNvPr id="31" name="Text 29"/>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32" name="Text 30"/>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33" name="Text 31"/>
          <p:cNvSpPr txBox="1"/>
          <p:nvPr/>
        </p:nvSpPr>
        <p:spPr>
          <a:xfrm>
            <a:off x="10499080" y="6429375"/>
            <a:ext cx="196962"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67554" y="323850"/>
            <a:ext cx="914846" cy="247650"/>
          </a:xfrm>
          <a:prstGeom prst="roundRect">
            <a:avLst>
              <a:gd name="adj" fmla="val 50000"/>
            </a:avLst>
          </a:prstGeom>
          <a:solidFill>
            <a:srgbClr val="E5E7EB"/>
          </a:solidFill>
          <a:ln/>
        </p:spPr>
      </p:sp>
      <p:sp>
        <p:nvSpPr>
          <p:cNvPr id="3" name="Text 1"/>
          <p:cNvSpPr txBox="1"/>
          <p:nvPr/>
        </p:nvSpPr>
        <p:spPr>
          <a:xfrm>
            <a:off x="10839004" y="371475"/>
            <a:ext cx="644363"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C</a:t>
            </a:r>
            <a:endParaRPr lang="en-US" sz="980" dirty="0"/>
          </a:p>
        </p:txBody>
      </p:sp>
      <p:sp>
        <p:nvSpPr>
          <p:cNvPr id="4" name="Text 2"/>
          <p:cNvSpPr txBox="1"/>
          <p:nvPr/>
        </p:nvSpPr>
        <p:spPr>
          <a:xfrm>
            <a:off x="609600" y="400050"/>
            <a:ext cx="4088374"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VÌ SAO CHỌN GIẢI PHÁP NÀY · KÊNH OFFLINE</a:t>
            </a:r>
            <a:endParaRPr lang="en-US" sz="1050" dirty="0"/>
          </a:p>
        </p:txBody>
      </p:sp>
      <p:sp>
        <p:nvSpPr>
          <p:cNvPr id="5" name="Text 3"/>
          <p:cNvSpPr txBox="1"/>
          <p:nvPr/>
        </p:nvSpPr>
        <p:spPr>
          <a:xfrm>
            <a:off x="609600" y="609600"/>
            <a:ext cx="10909191"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Ngân hàng đã có Visa Accept, nhưng </a:t>
            </a:r>
            <a:r>
              <a:rPr lang="en-US" sz="2030" b="1" kern="0" spc="-30" dirty="0">
                <a:solidFill>
                  <a:srgbClr val="E11D48"/>
                </a:solidFill>
              </a:rPr>
              <a:t>VDF đưa Visa Accept vào phần mềm bán hàng</a:t>
            </a:r>
            <a:endParaRPr lang="en-US" sz="2030" dirty="0"/>
          </a:p>
        </p:txBody>
      </p:sp>
      <p:sp>
        <p:nvSpPr>
          <p:cNvPr id="6" name="Shape 4"/>
          <p:cNvSpPr/>
          <p:nvPr/>
        </p:nvSpPr>
        <p:spPr>
          <a:xfrm>
            <a:off x="609600" y="1123355"/>
            <a:ext cx="10972800" cy="1997720"/>
          </a:xfrm>
          <a:prstGeom prst="roundRect">
            <a:avLst>
              <a:gd name="adj" fmla="val 5722"/>
            </a:avLst>
          </a:prstGeom>
          <a:solidFill>
            <a:srgbClr val="FFFFFF"/>
          </a:solidFill>
          <a:ln w="9525">
            <a:solidFill>
              <a:srgbClr val="E2E8F0"/>
            </a:solidFill>
            <a:prstDash val="solid"/>
          </a:ln>
        </p:spPr>
      </p:sp>
      <p:sp>
        <p:nvSpPr>
          <p:cNvPr id="7" name="Shape 5"/>
          <p:cNvSpPr/>
          <p:nvPr/>
        </p:nvSpPr>
        <p:spPr>
          <a:xfrm>
            <a:off x="619125" y="1132880"/>
            <a:ext cx="2857500" cy="304205"/>
          </a:xfrm>
          <a:prstGeom prst="rect">
            <a:avLst/>
          </a:prstGeom>
          <a:solidFill>
            <a:srgbClr val="F1F5F9"/>
          </a:solidFill>
          <a:ln/>
        </p:spPr>
      </p:sp>
      <p:sp>
        <p:nvSpPr>
          <p:cNvPr id="8" name="Shape 6"/>
          <p:cNvSpPr/>
          <p:nvPr/>
        </p:nvSpPr>
        <p:spPr>
          <a:xfrm>
            <a:off x="619125" y="1427559"/>
            <a:ext cx="2857500" cy="9525"/>
          </a:xfrm>
          <a:prstGeom prst="rect">
            <a:avLst/>
          </a:prstGeom>
          <a:solidFill>
            <a:srgbClr val="E2E8F0"/>
          </a:solidFill>
          <a:ln/>
        </p:spPr>
      </p:sp>
      <p:sp>
        <p:nvSpPr>
          <p:cNvPr id="9" name="Text 7"/>
          <p:cNvSpPr txBox="1"/>
          <p:nvPr/>
        </p:nvSpPr>
        <p:spPr>
          <a:xfrm>
            <a:off x="752475" y="1209080"/>
            <a:ext cx="494336"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Tiêu chí</a:t>
            </a:r>
            <a:endParaRPr lang="en-US" sz="860" dirty="0"/>
          </a:p>
        </p:txBody>
      </p:sp>
      <p:sp>
        <p:nvSpPr>
          <p:cNvPr id="10" name="Shape 8"/>
          <p:cNvSpPr/>
          <p:nvPr/>
        </p:nvSpPr>
        <p:spPr>
          <a:xfrm>
            <a:off x="3476625" y="1132880"/>
            <a:ext cx="2000250" cy="304205"/>
          </a:xfrm>
          <a:prstGeom prst="rect">
            <a:avLst/>
          </a:prstGeom>
          <a:solidFill>
            <a:srgbClr val="F1F5F9"/>
          </a:solidFill>
          <a:ln/>
        </p:spPr>
      </p:sp>
      <p:sp>
        <p:nvSpPr>
          <p:cNvPr id="11" name="Shape 9"/>
          <p:cNvSpPr/>
          <p:nvPr/>
        </p:nvSpPr>
        <p:spPr>
          <a:xfrm>
            <a:off x="3476625" y="1427559"/>
            <a:ext cx="2000250" cy="9525"/>
          </a:xfrm>
          <a:prstGeom prst="rect">
            <a:avLst/>
          </a:prstGeom>
          <a:solidFill>
            <a:srgbClr val="E2E8F0"/>
          </a:solidFill>
          <a:ln/>
        </p:spPr>
      </p:sp>
      <p:sp>
        <p:nvSpPr>
          <p:cNvPr id="12" name="Text 10"/>
          <p:cNvSpPr txBox="1"/>
          <p:nvPr/>
        </p:nvSpPr>
        <p:spPr>
          <a:xfrm>
            <a:off x="3609975" y="1209080"/>
            <a:ext cx="659508"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QR quốc tế</a:t>
            </a:r>
            <a:endParaRPr lang="en-US" sz="860" dirty="0"/>
          </a:p>
        </p:txBody>
      </p:sp>
      <p:sp>
        <p:nvSpPr>
          <p:cNvPr id="13" name="Shape 11"/>
          <p:cNvSpPr/>
          <p:nvPr/>
        </p:nvSpPr>
        <p:spPr>
          <a:xfrm>
            <a:off x="5476875" y="1132880"/>
            <a:ext cx="2000250" cy="304205"/>
          </a:xfrm>
          <a:prstGeom prst="rect">
            <a:avLst/>
          </a:prstGeom>
          <a:solidFill>
            <a:srgbClr val="F1F5F9"/>
          </a:solidFill>
          <a:ln/>
        </p:spPr>
      </p:sp>
      <p:sp>
        <p:nvSpPr>
          <p:cNvPr id="14" name="Shape 12"/>
          <p:cNvSpPr/>
          <p:nvPr/>
        </p:nvSpPr>
        <p:spPr>
          <a:xfrm>
            <a:off x="5476875" y="1427559"/>
            <a:ext cx="2000250" cy="9525"/>
          </a:xfrm>
          <a:prstGeom prst="rect">
            <a:avLst/>
          </a:prstGeom>
          <a:solidFill>
            <a:srgbClr val="E2E8F0"/>
          </a:solidFill>
          <a:ln/>
        </p:spPr>
      </p:sp>
      <p:sp>
        <p:nvSpPr>
          <p:cNvPr id="15" name="Text 13"/>
          <p:cNvSpPr txBox="1"/>
          <p:nvPr/>
        </p:nvSpPr>
        <p:spPr>
          <a:xfrm>
            <a:off x="5610225" y="1209080"/>
            <a:ext cx="1589490"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App Việt Nam + liên kết thẻ</a:t>
            </a:r>
            <a:endParaRPr lang="en-US" sz="860" dirty="0"/>
          </a:p>
        </p:txBody>
      </p:sp>
      <p:sp>
        <p:nvSpPr>
          <p:cNvPr id="16" name="Shape 14"/>
          <p:cNvSpPr/>
          <p:nvPr/>
        </p:nvSpPr>
        <p:spPr>
          <a:xfrm>
            <a:off x="7477125" y="1132880"/>
            <a:ext cx="2000250" cy="304205"/>
          </a:xfrm>
          <a:prstGeom prst="rect">
            <a:avLst/>
          </a:prstGeom>
          <a:solidFill>
            <a:srgbClr val="F1F5F9"/>
          </a:solidFill>
          <a:ln/>
        </p:spPr>
      </p:sp>
      <p:sp>
        <p:nvSpPr>
          <p:cNvPr id="17" name="Shape 15"/>
          <p:cNvSpPr/>
          <p:nvPr/>
        </p:nvSpPr>
        <p:spPr>
          <a:xfrm>
            <a:off x="7477125" y="1427559"/>
            <a:ext cx="2000250" cy="9525"/>
          </a:xfrm>
          <a:prstGeom prst="rect">
            <a:avLst/>
          </a:prstGeom>
          <a:solidFill>
            <a:srgbClr val="E2E8F0"/>
          </a:solidFill>
          <a:ln/>
        </p:spPr>
      </p:sp>
      <p:sp>
        <p:nvSpPr>
          <p:cNvPr id="18" name="Text 16"/>
          <p:cNvSpPr txBox="1"/>
          <p:nvPr/>
        </p:nvSpPr>
        <p:spPr>
          <a:xfrm>
            <a:off x="7610475" y="1209080"/>
            <a:ext cx="1648965"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Tap to Phone của ngân hàng</a:t>
            </a:r>
            <a:endParaRPr lang="en-US" sz="860" dirty="0"/>
          </a:p>
        </p:txBody>
      </p:sp>
      <p:sp>
        <p:nvSpPr>
          <p:cNvPr id="19" name="Shape 17"/>
          <p:cNvSpPr/>
          <p:nvPr/>
        </p:nvSpPr>
        <p:spPr>
          <a:xfrm>
            <a:off x="9477375" y="1132880"/>
            <a:ext cx="2095500" cy="304205"/>
          </a:xfrm>
          <a:prstGeom prst="rect">
            <a:avLst/>
          </a:prstGeom>
          <a:solidFill>
            <a:srgbClr val="E11D48"/>
          </a:solidFill>
          <a:ln/>
        </p:spPr>
      </p:sp>
      <p:sp>
        <p:nvSpPr>
          <p:cNvPr id="20" name="Shape 18"/>
          <p:cNvSpPr/>
          <p:nvPr/>
        </p:nvSpPr>
        <p:spPr>
          <a:xfrm>
            <a:off x="9477375" y="1427559"/>
            <a:ext cx="2095500" cy="9525"/>
          </a:xfrm>
          <a:prstGeom prst="rect">
            <a:avLst/>
          </a:prstGeom>
          <a:solidFill>
            <a:srgbClr val="E2E8F0"/>
          </a:solidFill>
          <a:ln/>
        </p:spPr>
      </p:sp>
      <p:sp>
        <p:nvSpPr>
          <p:cNvPr id="21" name="Text 19"/>
          <p:cNvSpPr txBox="1"/>
          <p:nvPr/>
        </p:nvSpPr>
        <p:spPr>
          <a:xfrm>
            <a:off x="9610725" y="1209080"/>
            <a:ext cx="1831649" cy="133350"/>
          </a:xfrm>
          <a:prstGeom prst="rect">
            <a:avLst/>
          </a:prstGeom>
          <a:noFill/>
          <a:ln/>
        </p:spPr>
        <p:txBody>
          <a:bodyPr wrap="none" lIns="0" tIns="0" rIns="0" bIns="0" rtlCol="0" anchor="t"/>
          <a:lstStyle/>
          <a:p>
            <a:pPr marL="0" indent="0" algn="l">
              <a:lnSpc>
                <a:spcPts val="1120"/>
              </a:lnSpc>
              <a:buNone/>
            </a:pPr>
            <a:r>
              <a:rPr lang="en-US" sz="860" b="1" dirty="0">
                <a:solidFill>
                  <a:srgbClr val="FFFFFF"/>
                </a:solidFill>
              </a:rPr>
              <a:t>VDF: Visa Accept trong Tendoo</a:t>
            </a:r>
            <a:endParaRPr lang="en-US" sz="860" dirty="0"/>
          </a:p>
        </p:txBody>
      </p:sp>
      <p:sp>
        <p:nvSpPr>
          <p:cNvPr id="22" name="Shape 20"/>
          <p:cNvSpPr/>
          <p:nvPr/>
        </p:nvSpPr>
        <p:spPr>
          <a:xfrm>
            <a:off x="619125" y="1764357"/>
            <a:ext cx="2857500" cy="9525"/>
          </a:xfrm>
          <a:prstGeom prst="rect">
            <a:avLst/>
          </a:prstGeom>
          <a:solidFill>
            <a:srgbClr val="E2E8F0"/>
          </a:solidFill>
          <a:ln/>
        </p:spPr>
      </p:sp>
      <p:sp>
        <p:nvSpPr>
          <p:cNvPr id="23" name="Text 21"/>
          <p:cNvSpPr txBox="1"/>
          <p:nvPr/>
        </p:nvSpPr>
        <p:spPr>
          <a:xfrm>
            <a:off x="752475" y="1522809"/>
            <a:ext cx="2093211"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Khách nước nào cũng trả được</a:t>
            </a:r>
            <a:endParaRPr lang="en-US" sz="1010" dirty="0"/>
          </a:p>
        </p:txBody>
      </p:sp>
      <p:sp>
        <p:nvSpPr>
          <p:cNvPr id="24" name="Shape 22"/>
          <p:cNvSpPr/>
          <p:nvPr/>
        </p:nvSpPr>
        <p:spPr>
          <a:xfrm>
            <a:off x="3476625" y="1764357"/>
            <a:ext cx="2000250" cy="9525"/>
          </a:xfrm>
          <a:prstGeom prst="rect">
            <a:avLst/>
          </a:prstGeom>
          <a:solidFill>
            <a:srgbClr val="E2E8F0"/>
          </a:solidFill>
          <a:ln/>
        </p:spPr>
      </p:sp>
      <p:pic>
        <p:nvPicPr>
          <p:cNvPr id="25" name="Image 0" descr="✕"/>
          <p:cNvPicPr>
            <a:picLocks noChangeAspect="1"/>
          </p:cNvPicPr>
          <p:nvPr/>
        </p:nvPicPr>
        <p:blipFill>
          <a:blip r:embed="rId3"/>
          <a:stretch>
            <a:fillRect/>
          </a:stretch>
        </p:blipFill>
        <p:spPr>
          <a:xfrm>
            <a:off x="3600450" y="1513284"/>
            <a:ext cx="117128" cy="171450"/>
          </a:xfrm>
          <a:prstGeom prst="rect">
            <a:avLst/>
          </a:prstGeom>
        </p:spPr>
      </p:pic>
      <p:sp>
        <p:nvSpPr>
          <p:cNvPr id="26" name="Text 23"/>
          <p:cNvSpPr txBox="1"/>
          <p:nvPr/>
        </p:nvSpPr>
        <p:spPr>
          <a:xfrm>
            <a:off x="3708053" y="1522809"/>
            <a:ext cx="1092869"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 (6 nước)</a:t>
            </a:r>
            <a:endParaRPr lang="en-US" sz="1010" dirty="0"/>
          </a:p>
        </p:txBody>
      </p:sp>
      <p:sp>
        <p:nvSpPr>
          <p:cNvPr id="27" name="Shape 24"/>
          <p:cNvSpPr/>
          <p:nvPr/>
        </p:nvSpPr>
        <p:spPr>
          <a:xfrm>
            <a:off x="5476875" y="1764357"/>
            <a:ext cx="2000250" cy="9525"/>
          </a:xfrm>
          <a:prstGeom prst="rect">
            <a:avLst/>
          </a:prstGeom>
          <a:solidFill>
            <a:srgbClr val="E2E8F0"/>
          </a:solidFill>
          <a:ln/>
        </p:spPr>
      </p:sp>
      <p:pic>
        <p:nvPicPr>
          <p:cNvPr id="28" name="Image 1" descr="✓"/>
          <p:cNvPicPr>
            <a:picLocks noChangeAspect="1"/>
          </p:cNvPicPr>
          <p:nvPr/>
        </p:nvPicPr>
        <p:blipFill>
          <a:blip r:embed="rId4"/>
          <a:stretch>
            <a:fillRect/>
          </a:stretch>
        </p:blipFill>
        <p:spPr>
          <a:xfrm>
            <a:off x="5600700" y="1513284"/>
            <a:ext cx="139005" cy="171450"/>
          </a:xfrm>
          <a:prstGeom prst="rect">
            <a:avLst/>
          </a:prstGeom>
        </p:spPr>
      </p:pic>
      <p:sp>
        <p:nvSpPr>
          <p:cNvPr id="29" name="Text 25"/>
          <p:cNvSpPr txBox="1"/>
          <p:nvPr/>
        </p:nvSpPr>
        <p:spPr>
          <a:xfrm>
            <a:off x="5730180" y="1522809"/>
            <a:ext cx="25580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Có</a:t>
            </a:r>
            <a:endParaRPr lang="en-US" sz="1010" dirty="0"/>
          </a:p>
        </p:txBody>
      </p:sp>
      <p:sp>
        <p:nvSpPr>
          <p:cNvPr id="30" name="Shape 26"/>
          <p:cNvSpPr/>
          <p:nvPr/>
        </p:nvSpPr>
        <p:spPr>
          <a:xfrm>
            <a:off x="7477125" y="1764357"/>
            <a:ext cx="2000250" cy="9525"/>
          </a:xfrm>
          <a:prstGeom prst="rect">
            <a:avLst/>
          </a:prstGeom>
          <a:solidFill>
            <a:srgbClr val="E2E8F0"/>
          </a:solidFill>
          <a:ln/>
        </p:spPr>
      </p:sp>
      <p:pic>
        <p:nvPicPr>
          <p:cNvPr id="31" name="Image 2" descr="✓"/>
          <p:cNvPicPr>
            <a:picLocks noChangeAspect="1"/>
          </p:cNvPicPr>
          <p:nvPr/>
        </p:nvPicPr>
        <p:blipFill>
          <a:blip r:embed="rId4"/>
          <a:stretch>
            <a:fillRect/>
          </a:stretch>
        </p:blipFill>
        <p:spPr>
          <a:xfrm>
            <a:off x="7600950" y="1513284"/>
            <a:ext cx="139005" cy="171450"/>
          </a:xfrm>
          <a:prstGeom prst="rect">
            <a:avLst/>
          </a:prstGeom>
        </p:spPr>
      </p:pic>
      <p:sp>
        <p:nvSpPr>
          <p:cNvPr id="32" name="Text 27"/>
          <p:cNvSpPr txBox="1"/>
          <p:nvPr/>
        </p:nvSpPr>
        <p:spPr>
          <a:xfrm>
            <a:off x="7730430" y="1522809"/>
            <a:ext cx="25580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Có</a:t>
            </a:r>
            <a:endParaRPr lang="en-US" sz="1010" dirty="0"/>
          </a:p>
        </p:txBody>
      </p:sp>
      <p:sp>
        <p:nvSpPr>
          <p:cNvPr id="33" name="Shape 28"/>
          <p:cNvSpPr/>
          <p:nvPr/>
        </p:nvSpPr>
        <p:spPr>
          <a:xfrm>
            <a:off x="9477375" y="1437084"/>
            <a:ext cx="2095500" cy="336798"/>
          </a:xfrm>
          <a:prstGeom prst="rect">
            <a:avLst/>
          </a:prstGeom>
          <a:solidFill>
            <a:srgbClr val="FFF5F6"/>
          </a:solidFill>
          <a:ln/>
        </p:spPr>
      </p:sp>
      <p:sp>
        <p:nvSpPr>
          <p:cNvPr id="34" name="Shape 29"/>
          <p:cNvSpPr/>
          <p:nvPr/>
        </p:nvSpPr>
        <p:spPr>
          <a:xfrm>
            <a:off x="9477375" y="1764357"/>
            <a:ext cx="2095500" cy="9525"/>
          </a:xfrm>
          <a:prstGeom prst="rect">
            <a:avLst/>
          </a:prstGeom>
          <a:solidFill>
            <a:srgbClr val="E2E8F0"/>
          </a:solidFill>
          <a:ln/>
        </p:spPr>
      </p:sp>
      <p:pic>
        <p:nvPicPr>
          <p:cNvPr id="35" name="Image 3" descr="✓"/>
          <p:cNvPicPr>
            <a:picLocks noChangeAspect="1"/>
          </p:cNvPicPr>
          <p:nvPr/>
        </p:nvPicPr>
        <p:blipFill>
          <a:blip r:embed="rId4"/>
          <a:stretch>
            <a:fillRect/>
          </a:stretch>
        </p:blipFill>
        <p:spPr>
          <a:xfrm>
            <a:off x="9601200" y="1513284"/>
            <a:ext cx="139005" cy="171450"/>
          </a:xfrm>
          <a:prstGeom prst="rect">
            <a:avLst/>
          </a:prstGeom>
        </p:spPr>
      </p:pic>
      <p:sp>
        <p:nvSpPr>
          <p:cNvPr id="36" name="Text 30"/>
          <p:cNvSpPr txBox="1"/>
          <p:nvPr/>
        </p:nvSpPr>
        <p:spPr>
          <a:xfrm>
            <a:off x="9730680" y="1522809"/>
            <a:ext cx="254859"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Có</a:t>
            </a:r>
            <a:endParaRPr lang="en-US" sz="1010" dirty="0"/>
          </a:p>
        </p:txBody>
      </p:sp>
      <p:sp>
        <p:nvSpPr>
          <p:cNvPr id="37" name="Shape 31"/>
          <p:cNvSpPr/>
          <p:nvPr/>
        </p:nvSpPr>
        <p:spPr>
          <a:xfrm>
            <a:off x="619125" y="2101155"/>
            <a:ext cx="2857500" cy="9525"/>
          </a:xfrm>
          <a:prstGeom prst="rect">
            <a:avLst/>
          </a:prstGeom>
          <a:solidFill>
            <a:srgbClr val="E2E8F0"/>
          </a:solidFill>
          <a:ln/>
        </p:spPr>
      </p:sp>
      <p:sp>
        <p:nvSpPr>
          <p:cNvPr id="38" name="Text 32"/>
          <p:cNvSpPr txBox="1"/>
          <p:nvPr/>
        </p:nvSpPr>
        <p:spPr>
          <a:xfrm>
            <a:off x="752475" y="1859607"/>
            <a:ext cx="2143062"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Khách không phải cài thêm app</a:t>
            </a:r>
            <a:endParaRPr lang="en-US" sz="1010" dirty="0"/>
          </a:p>
        </p:txBody>
      </p:sp>
      <p:sp>
        <p:nvSpPr>
          <p:cNvPr id="39" name="Shape 33"/>
          <p:cNvSpPr/>
          <p:nvPr/>
        </p:nvSpPr>
        <p:spPr>
          <a:xfrm>
            <a:off x="3476625" y="2101155"/>
            <a:ext cx="2000250" cy="9525"/>
          </a:xfrm>
          <a:prstGeom prst="rect">
            <a:avLst/>
          </a:prstGeom>
          <a:solidFill>
            <a:srgbClr val="E2E8F0"/>
          </a:solidFill>
          <a:ln/>
        </p:spPr>
      </p:sp>
      <p:pic>
        <p:nvPicPr>
          <p:cNvPr id="40" name="Image 4" descr="✓"/>
          <p:cNvPicPr>
            <a:picLocks noChangeAspect="1"/>
          </p:cNvPicPr>
          <p:nvPr/>
        </p:nvPicPr>
        <p:blipFill>
          <a:blip r:embed="rId4"/>
          <a:stretch>
            <a:fillRect/>
          </a:stretch>
        </p:blipFill>
        <p:spPr>
          <a:xfrm>
            <a:off x="3600450" y="1850082"/>
            <a:ext cx="139005" cy="171450"/>
          </a:xfrm>
          <a:prstGeom prst="rect">
            <a:avLst/>
          </a:prstGeom>
        </p:spPr>
      </p:pic>
      <p:sp>
        <p:nvSpPr>
          <p:cNvPr id="41" name="Text 34"/>
          <p:cNvSpPr txBox="1"/>
          <p:nvPr/>
        </p:nvSpPr>
        <p:spPr>
          <a:xfrm>
            <a:off x="3729930" y="1859607"/>
            <a:ext cx="25580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Có</a:t>
            </a:r>
            <a:endParaRPr lang="en-US" sz="1010" dirty="0"/>
          </a:p>
        </p:txBody>
      </p:sp>
      <p:sp>
        <p:nvSpPr>
          <p:cNvPr id="42" name="Shape 35"/>
          <p:cNvSpPr/>
          <p:nvPr/>
        </p:nvSpPr>
        <p:spPr>
          <a:xfrm>
            <a:off x="5476875" y="2101155"/>
            <a:ext cx="2000250" cy="9525"/>
          </a:xfrm>
          <a:prstGeom prst="rect">
            <a:avLst/>
          </a:prstGeom>
          <a:solidFill>
            <a:srgbClr val="E2E8F0"/>
          </a:solidFill>
          <a:ln/>
        </p:spPr>
      </p:sp>
      <p:pic>
        <p:nvPicPr>
          <p:cNvPr id="43" name="Image 5" descr="✕"/>
          <p:cNvPicPr>
            <a:picLocks noChangeAspect="1"/>
          </p:cNvPicPr>
          <p:nvPr/>
        </p:nvPicPr>
        <p:blipFill>
          <a:blip r:embed="rId3"/>
          <a:stretch>
            <a:fillRect/>
          </a:stretch>
        </p:blipFill>
        <p:spPr>
          <a:xfrm>
            <a:off x="5600700" y="1850082"/>
            <a:ext cx="117128" cy="171450"/>
          </a:xfrm>
          <a:prstGeom prst="rect">
            <a:avLst/>
          </a:prstGeom>
        </p:spPr>
      </p:pic>
      <p:sp>
        <p:nvSpPr>
          <p:cNvPr id="44" name="Text 36"/>
          <p:cNvSpPr txBox="1"/>
          <p:nvPr/>
        </p:nvSpPr>
        <p:spPr>
          <a:xfrm>
            <a:off x="5708303" y="1859607"/>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sp>
        <p:nvSpPr>
          <p:cNvPr id="45" name="Shape 37"/>
          <p:cNvSpPr/>
          <p:nvPr/>
        </p:nvSpPr>
        <p:spPr>
          <a:xfrm>
            <a:off x="7477125" y="2101155"/>
            <a:ext cx="2000250" cy="9525"/>
          </a:xfrm>
          <a:prstGeom prst="rect">
            <a:avLst/>
          </a:prstGeom>
          <a:solidFill>
            <a:srgbClr val="E2E8F0"/>
          </a:solidFill>
          <a:ln/>
        </p:spPr>
      </p:sp>
      <p:pic>
        <p:nvPicPr>
          <p:cNvPr id="46" name="Image 6" descr="✓"/>
          <p:cNvPicPr>
            <a:picLocks noChangeAspect="1"/>
          </p:cNvPicPr>
          <p:nvPr/>
        </p:nvPicPr>
        <p:blipFill>
          <a:blip r:embed="rId4"/>
          <a:stretch>
            <a:fillRect/>
          </a:stretch>
        </p:blipFill>
        <p:spPr>
          <a:xfrm>
            <a:off x="7600950" y="1850082"/>
            <a:ext cx="139005" cy="171450"/>
          </a:xfrm>
          <a:prstGeom prst="rect">
            <a:avLst/>
          </a:prstGeom>
        </p:spPr>
      </p:pic>
      <p:sp>
        <p:nvSpPr>
          <p:cNvPr id="47" name="Text 38"/>
          <p:cNvSpPr txBox="1"/>
          <p:nvPr/>
        </p:nvSpPr>
        <p:spPr>
          <a:xfrm>
            <a:off x="7730430" y="1859607"/>
            <a:ext cx="25580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Có</a:t>
            </a:r>
            <a:endParaRPr lang="en-US" sz="1010" dirty="0"/>
          </a:p>
        </p:txBody>
      </p:sp>
      <p:sp>
        <p:nvSpPr>
          <p:cNvPr id="48" name="Shape 39"/>
          <p:cNvSpPr/>
          <p:nvPr/>
        </p:nvSpPr>
        <p:spPr>
          <a:xfrm>
            <a:off x="9477375" y="1773882"/>
            <a:ext cx="2095500" cy="336798"/>
          </a:xfrm>
          <a:prstGeom prst="rect">
            <a:avLst/>
          </a:prstGeom>
          <a:solidFill>
            <a:srgbClr val="FFF5F6"/>
          </a:solidFill>
          <a:ln/>
        </p:spPr>
      </p:sp>
      <p:sp>
        <p:nvSpPr>
          <p:cNvPr id="49" name="Shape 40"/>
          <p:cNvSpPr/>
          <p:nvPr/>
        </p:nvSpPr>
        <p:spPr>
          <a:xfrm>
            <a:off x="9477375" y="2101155"/>
            <a:ext cx="2095500" cy="9525"/>
          </a:xfrm>
          <a:prstGeom prst="rect">
            <a:avLst/>
          </a:prstGeom>
          <a:solidFill>
            <a:srgbClr val="E2E8F0"/>
          </a:solidFill>
          <a:ln/>
        </p:spPr>
      </p:sp>
      <p:pic>
        <p:nvPicPr>
          <p:cNvPr id="50" name="Image 7" descr="✓"/>
          <p:cNvPicPr>
            <a:picLocks noChangeAspect="1"/>
          </p:cNvPicPr>
          <p:nvPr/>
        </p:nvPicPr>
        <p:blipFill>
          <a:blip r:embed="rId4"/>
          <a:stretch>
            <a:fillRect/>
          </a:stretch>
        </p:blipFill>
        <p:spPr>
          <a:xfrm>
            <a:off x="9601200" y="1850082"/>
            <a:ext cx="139005" cy="171450"/>
          </a:xfrm>
          <a:prstGeom prst="rect">
            <a:avLst/>
          </a:prstGeom>
        </p:spPr>
      </p:pic>
      <p:sp>
        <p:nvSpPr>
          <p:cNvPr id="51" name="Text 41"/>
          <p:cNvSpPr txBox="1"/>
          <p:nvPr/>
        </p:nvSpPr>
        <p:spPr>
          <a:xfrm>
            <a:off x="9730680" y="1859607"/>
            <a:ext cx="254859"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Có</a:t>
            </a:r>
            <a:endParaRPr lang="en-US" sz="1010" dirty="0"/>
          </a:p>
        </p:txBody>
      </p:sp>
      <p:sp>
        <p:nvSpPr>
          <p:cNvPr id="52" name="Shape 42"/>
          <p:cNvSpPr/>
          <p:nvPr/>
        </p:nvSpPr>
        <p:spPr>
          <a:xfrm>
            <a:off x="619125" y="2437954"/>
            <a:ext cx="2857500" cy="9525"/>
          </a:xfrm>
          <a:prstGeom prst="rect">
            <a:avLst/>
          </a:prstGeom>
          <a:solidFill>
            <a:srgbClr val="E2E8F0"/>
          </a:solidFill>
          <a:ln/>
        </p:spPr>
      </p:sp>
      <p:sp>
        <p:nvSpPr>
          <p:cNvPr id="53" name="Text 43"/>
          <p:cNvSpPr txBox="1"/>
          <p:nvPr/>
        </p:nvSpPr>
        <p:spPr>
          <a:xfrm>
            <a:off x="752475" y="2196405"/>
            <a:ext cx="2240557"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Phí với merchant gần như bằng 0</a:t>
            </a:r>
            <a:endParaRPr lang="en-US" sz="1010" dirty="0"/>
          </a:p>
        </p:txBody>
      </p:sp>
      <p:sp>
        <p:nvSpPr>
          <p:cNvPr id="54" name="Shape 44"/>
          <p:cNvSpPr/>
          <p:nvPr/>
        </p:nvSpPr>
        <p:spPr>
          <a:xfrm>
            <a:off x="3476625" y="2437954"/>
            <a:ext cx="2000250" cy="9525"/>
          </a:xfrm>
          <a:prstGeom prst="rect">
            <a:avLst/>
          </a:prstGeom>
          <a:solidFill>
            <a:srgbClr val="E2E8F0"/>
          </a:solidFill>
          <a:ln/>
        </p:spPr>
      </p:sp>
      <p:sp>
        <p:nvSpPr>
          <p:cNvPr id="55" name="Text 45"/>
          <p:cNvSpPr txBox="1"/>
          <p:nvPr/>
        </p:nvSpPr>
        <p:spPr>
          <a:xfrm>
            <a:off x="3609975" y="2196405"/>
            <a:ext cx="1360268"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Tùy đơn vị cung cấp</a:t>
            </a:r>
            <a:endParaRPr lang="en-US" sz="1010" dirty="0"/>
          </a:p>
        </p:txBody>
      </p:sp>
      <p:sp>
        <p:nvSpPr>
          <p:cNvPr id="56" name="Shape 46"/>
          <p:cNvSpPr/>
          <p:nvPr/>
        </p:nvSpPr>
        <p:spPr>
          <a:xfrm>
            <a:off x="5476875" y="2437954"/>
            <a:ext cx="2000250" cy="9525"/>
          </a:xfrm>
          <a:prstGeom prst="rect">
            <a:avLst/>
          </a:prstGeom>
          <a:solidFill>
            <a:srgbClr val="E2E8F0"/>
          </a:solidFill>
          <a:ln/>
        </p:spPr>
      </p:sp>
      <p:sp>
        <p:nvSpPr>
          <p:cNvPr id="57" name="Text 47"/>
          <p:cNvSpPr txBox="1"/>
          <p:nvPr/>
        </p:nvSpPr>
        <p:spPr>
          <a:xfrm>
            <a:off x="5610225" y="2196405"/>
            <a:ext cx="1360268"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Tùy đơn vị cung cấp</a:t>
            </a:r>
            <a:endParaRPr lang="en-US" sz="1010" dirty="0"/>
          </a:p>
        </p:txBody>
      </p:sp>
      <p:sp>
        <p:nvSpPr>
          <p:cNvPr id="58" name="Shape 48"/>
          <p:cNvSpPr/>
          <p:nvPr/>
        </p:nvSpPr>
        <p:spPr>
          <a:xfrm>
            <a:off x="7477125" y="2437954"/>
            <a:ext cx="2000250" cy="9525"/>
          </a:xfrm>
          <a:prstGeom prst="rect">
            <a:avLst/>
          </a:prstGeom>
          <a:solidFill>
            <a:srgbClr val="E2E8F0"/>
          </a:solidFill>
          <a:ln/>
        </p:spPr>
      </p:sp>
      <p:pic>
        <p:nvPicPr>
          <p:cNvPr id="59" name="Image 8" descr="◐"/>
          <p:cNvPicPr>
            <a:picLocks noChangeAspect="1"/>
          </p:cNvPicPr>
          <p:nvPr/>
        </p:nvPicPr>
        <p:blipFill>
          <a:blip r:embed="rId5"/>
          <a:stretch>
            <a:fillRect/>
          </a:stretch>
        </p:blipFill>
        <p:spPr>
          <a:xfrm>
            <a:off x="7600950" y="2186880"/>
            <a:ext cx="130373" cy="171450"/>
          </a:xfrm>
          <a:prstGeom prst="rect">
            <a:avLst/>
          </a:prstGeom>
        </p:spPr>
      </p:pic>
      <p:sp>
        <p:nvSpPr>
          <p:cNvPr id="60" name="Text 49"/>
          <p:cNvSpPr txBox="1"/>
          <p:nvPr/>
        </p:nvSpPr>
        <p:spPr>
          <a:xfrm>
            <a:off x="7721798" y="2196405"/>
            <a:ext cx="111842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Chỉ Visa Accept</a:t>
            </a:r>
            <a:endParaRPr lang="en-US" sz="1010" dirty="0"/>
          </a:p>
        </p:txBody>
      </p:sp>
      <p:sp>
        <p:nvSpPr>
          <p:cNvPr id="61" name="Shape 50"/>
          <p:cNvSpPr/>
          <p:nvPr/>
        </p:nvSpPr>
        <p:spPr>
          <a:xfrm>
            <a:off x="9477375" y="2110680"/>
            <a:ext cx="2095500" cy="336798"/>
          </a:xfrm>
          <a:prstGeom prst="rect">
            <a:avLst/>
          </a:prstGeom>
          <a:solidFill>
            <a:srgbClr val="FFF5F6"/>
          </a:solidFill>
          <a:ln/>
        </p:spPr>
      </p:sp>
      <p:sp>
        <p:nvSpPr>
          <p:cNvPr id="62" name="Shape 51"/>
          <p:cNvSpPr/>
          <p:nvPr/>
        </p:nvSpPr>
        <p:spPr>
          <a:xfrm>
            <a:off x="9477375" y="2437954"/>
            <a:ext cx="2095500" cy="9525"/>
          </a:xfrm>
          <a:prstGeom prst="rect">
            <a:avLst/>
          </a:prstGeom>
          <a:solidFill>
            <a:srgbClr val="E2E8F0"/>
          </a:solidFill>
          <a:ln/>
        </p:spPr>
      </p:sp>
      <p:pic>
        <p:nvPicPr>
          <p:cNvPr id="63" name="Image 9" descr="✓"/>
          <p:cNvPicPr>
            <a:picLocks noChangeAspect="1"/>
          </p:cNvPicPr>
          <p:nvPr/>
        </p:nvPicPr>
        <p:blipFill>
          <a:blip r:embed="rId4"/>
          <a:stretch>
            <a:fillRect/>
          </a:stretch>
        </p:blipFill>
        <p:spPr>
          <a:xfrm>
            <a:off x="9601200" y="2186880"/>
            <a:ext cx="139005" cy="171450"/>
          </a:xfrm>
          <a:prstGeom prst="rect">
            <a:avLst/>
          </a:prstGeom>
        </p:spPr>
      </p:pic>
      <p:sp>
        <p:nvSpPr>
          <p:cNvPr id="64" name="Text 52"/>
          <p:cNvSpPr txBox="1"/>
          <p:nvPr/>
        </p:nvSpPr>
        <p:spPr>
          <a:xfrm>
            <a:off x="9730680" y="2196405"/>
            <a:ext cx="254859"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Có</a:t>
            </a:r>
            <a:endParaRPr lang="en-US" sz="1010" dirty="0"/>
          </a:p>
        </p:txBody>
      </p:sp>
      <p:sp>
        <p:nvSpPr>
          <p:cNvPr id="65" name="Shape 53"/>
          <p:cNvSpPr/>
          <p:nvPr/>
        </p:nvSpPr>
        <p:spPr>
          <a:xfrm>
            <a:off x="619125" y="2774752"/>
            <a:ext cx="2857500" cy="9525"/>
          </a:xfrm>
          <a:prstGeom prst="rect">
            <a:avLst/>
          </a:prstGeom>
          <a:solidFill>
            <a:srgbClr val="E2E8F0"/>
          </a:solidFill>
          <a:ln/>
        </p:spPr>
      </p:sp>
      <p:sp>
        <p:nvSpPr>
          <p:cNvPr id="66" name="Text 54"/>
          <p:cNvSpPr txBox="1"/>
          <p:nvPr/>
        </p:nvSpPr>
        <p:spPr>
          <a:xfrm>
            <a:off x="752475" y="2533204"/>
            <a:ext cx="1849948"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Gắn với bán hàng, tự ghi sổ</a:t>
            </a:r>
            <a:endParaRPr lang="en-US" sz="1010" dirty="0"/>
          </a:p>
        </p:txBody>
      </p:sp>
      <p:sp>
        <p:nvSpPr>
          <p:cNvPr id="67" name="Shape 55"/>
          <p:cNvSpPr/>
          <p:nvPr/>
        </p:nvSpPr>
        <p:spPr>
          <a:xfrm>
            <a:off x="3476625" y="2774752"/>
            <a:ext cx="2000250" cy="9525"/>
          </a:xfrm>
          <a:prstGeom prst="rect">
            <a:avLst/>
          </a:prstGeom>
          <a:solidFill>
            <a:srgbClr val="E2E8F0"/>
          </a:solidFill>
          <a:ln/>
        </p:spPr>
      </p:sp>
      <p:pic>
        <p:nvPicPr>
          <p:cNvPr id="68" name="Image 10" descr="✕"/>
          <p:cNvPicPr>
            <a:picLocks noChangeAspect="1"/>
          </p:cNvPicPr>
          <p:nvPr/>
        </p:nvPicPr>
        <p:blipFill>
          <a:blip r:embed="rId3"/>
          <a:stretch>
            <a:fillRect/>
          </a:stretch>
        </p:blipFill>
        <p:spPr>
          <a:xfrm>
            <a:off x="3600450" y="2523679"/>
            <a:ext cx="117128" cy="171450"/>
          </a:xfrm>
          <a:prstGeom prst="rect">
            <a:avLst/>
          </a:prstGeom>
        </p:spPr>
      </p:pic>
      <p:sp>
        <p:nvSpPr>
          <p:cNvPr id="69" name="Text 56"/>
          <p:cNvSpPr txBox="1"/>
          <p:nvPr/>
        </p:nvSpPr>
        <p:spPr>
          <a:xfrm>
            <a:off x="3708053" y="2533204"/>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sp>
        <p:nvSpPr>
          <p:cNvPr id="70" name="Shape 57"/>
          <p:cNvSpPr/>
          <p:nvPr/>
        </p:nvSpPr>
        <p:spPr>
          <a:xfrm>
            <a:off x="5476875" y="2774752"/>
            <a:ext cx="2000250" cy="9525"/>
          </a:xfrm>
          <a:prstGeom prst="rect">
            <a:avLst/>
          </a:prstGeom>
          <a:solidFill>
            <a:srgbClr val="E2E8F0"/>
          </a:solidFill>
          <a:ln/>
        </p:spPr>
      </p:sp>
      <p:pic>
        <p:nvPicPr>
          <p:cNvPr id="71" name="Image 11" descr="✕"/>
          <p:cNvPicPr>
            <a:picLocks noChangeAspect="1"/>
          </p:cNvPicPr>
          <p:nvPr/>
        </p:nvPicPr>
        <p:blipFill>
          <a:blip r:embed="rId3"/>
          <a:stretch>
            <a:fillRect/>
          </a:stretch>
        </p:blipFill>
        <p:spPr>
          <a:xfrm>
            <a:off x="5600700" y="2523679"/>
            <a:ext cx="117128" cy="171450"/>
          </a:xfrm>
          <a:prstGeom prst="rect">
            <a:avLst/>
          </a:prstGeom>
        </p:spPr>
      </p:pic>
      <p:sp>
        <p:nvSpPr>
          <p:cNvPr id="72" name="Text 58"/>
          <p:cNvSpPr txBox="1"/>
          <p:nvPr/>
        </p:nvSpPr>
        <p:spPr>
          <a:xfrm>
            <a:off x="5708303" y="2533204"/>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sp>
        <p:nvSpPr>
          <p:cNvPr id="73" name="Shape 59"/>
          <p:cNvSpPr/>
          <p:nvPr/>
        </p:nvSpPr>
        <p:spPr>
          <a:xfrm>
            <a:off x="7477125" y="2774752"/>
            <a:ext cx="2000250" cy="9525"/>
          </a:xfrm>
          <a:prstGeom prst="rect">
            <a:avLst/>
          </a:prstGeom>
          <a:solidFill>
            <a:srgbClr val="E2E8F0"/>
          </a:solidFill>
          <a:ln/>
        </p:spPr>
      </p:sp>
      <p:pic>
        <p:nvPicPr>
          <p:cNvPr id="74" name="Image 12" descr="✕"/>
          <p:cNvPicPr>
            <a:picLocks noChangeAspect="1"/>
          </p:cNvPicPr>
          <p:nvPr/>
        </p:nvPicPr>
        <p:blipFill>
          <a:blip r:embed="rId3"/>
          <a:stretch>
            <a:fillRect/>
          </a:stretch>
        </p:blipFill>
        <p:spPr>
          <a:xfrm>
            <a:off x="7600950" y="2523679"/>
            <a:ext cx="117128" cy="171450"/>
          </a:xfrm>
          <a:prstGeom prst="rect">
            <a:avLst/>
          </a:prstGeom>
        </p:spPr>
      </p:pic>
      <p:sp>
        <p:nvSpPr>
          <p:cNvPr id="75" name="Text 60"/>
          <p:cNvSpPr txBox="1"/>
          <p:nvPr/>
        </p:nvSpPr>
        <p:spPr>
          <a:xfrm>
            <a:off x="7708553" y="2533204"/>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sp>
        <p:nvSpPr>
          <p:cNvPr id="76" name="Shape 61"/>
          <p:cNvSpPr/>
          <p:nvPr/>
        </p:nvSpPr>
        <p:spPr>
          <a:xfrm>
            <a:off x="9477375" y="2447479"/>
            <a:ext cx="2095500" cy="336798"/>
          </a:xfrm>
          <a:prstGeom prst="rect">
            <a:avLst/>
          </a:prstGeom>
          <a:solidFill>
            <a:srgbClr val="FFF5F6"/>
          </a:solidFill>
          <a:ln/>
        </p:spPr>
      </p:sp>
      <p:sp>
        <p:nvSpPr>
          <p:cNvPr id="77" name="Shape 62"/>
          <p:cNvSpPr/>
          <p:nvPr/>
        </p:nvSpPr>
        <p:spPr>
          <a:xfrm>
            <a:off x="9477375" y="2774752"/>
            <a:ext cx="2095500" cy="9525"/>
          </a:xfrm>
          <a:prstGeom prst="rect">
            <a:avLst/>
          </a:prstGeom>
          <a:solidFill>
            <a:srgbClr val="E2E8F0"/>
          </a:solidFill>
          <a:ln/>
        </p:spPr>
      </p:sp>
      <p:pic>
        <p:nvPicPr>
          <p:cNvPr id="78" name="Image 13" descr="✓"/>
          <p:cNvPicPr>
            <a:picLocks noChangeAspect="1"/>
          </p:cNvPicPr>
          <p:nvPr/>
        </p:nvPicPr>
        <p:blipFill>
          <a:blip r:embed="rId4"/>
          <a:stretch>
            <a:fillRect/>
          </a:stretch>
        </p:blipFill>
        <p:spPr>
          <a:xfrm>
            <a:off x="9601200" y="2523679"/>
            <a:ext cx="139005" cy="171450"/>
          </a:xfrm>
          <a:prstGeom prst="rect">
            <a:avLst/>
          </a:prstGeom>
        </p:spPr>
      </p:pic>
      <p:sp>
        <p:nvSpPr>
          <p:cNvPr id="79" name="Text 63"/>
          <p:cNvSpPr txBox="1"/>
          <p:nvPr/>
        </p:nvSpPr>
        <p:spPr>
          <a:xfrm>
            <a:off x="9730680" y="2533204"/>
            <a:ext cx="254859"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Có</a:t>
            </a:r>
            <a:endParaRPr lang="en-US" sz="1010" dirty="0"/>
          </a:p>
        </p:txBody>
      </p:sp>
      <p:sp>
        <p:nvSpPr>
          <p:cNvPr id="80" name="Text 64"/>
          <p:cNvSpPr txBox="1"/>
          <p:nvPr/>
        </p:nvSpPr>
        <p:spPr>
          <a:xfrm>
            <a:off x="752475" y="2870002"/>
            <a:ext cx="2710044"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Đến tận hộ kinh doanh qua đội kênh bán</a:t>
            </a:r>
            <a:endParaRPr lang="en-US" sz="1010" dirty="0"/>
          </a:p>
        </p:txBody>
      </p:sp>
      <p:pic>
        <p:nvPicPr>
          <p:cNvPr id="81" name="Image 14" descr="✕"/>
          <p:cNvPicPr>
            <a:picLocks noChangeAspect="1"/>
          </p:cNvPicPr>
          <p:nvPr/>
        </p:nvPicPr>
        <p:blipFill>
          <a:blip r:embed="rId3"/>
          <a:stretch>
            <a:fillRect/>
          </a:stretch>
        </p:blipFill>
        <p:spPr>
          <a:xfrm>
            <a:off x="3600450" y="2860477"/>
            <a:ext cx="117128" cy="171450"/>
          </a:xfrm>
          <a:prstGeom prst="rect">
            <a:avLst/>
          </a:prstGeom>
        </p:spPr>
      </p:pic>
      <p:sp>
        <p:nvSpPr>
          <p:cNvPr id="82" name="Text 65"/>
          <p:cNvSpPr txBox="1"/>
          <p:nvPr/>
        </p:nvSpPr>
        <p:spPr>
          <a:xfrm>
            <a:off x="3708053" y="2870002"/>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pic>
        <p:nvPicPr>
          <p:cNvPr id="83" name="Image 15" descr="✕"/>
          <p:cNvPicPr>
            <a:picLocks noChangeAspect="1"/>
          </p:cNvPicPr>
          <p:nvPr/>
        </p:nvPicPr>
        <p:blipFill>
          <a:blip r:embed="rId3"/>
          <a:stretch>
            <a:fillRect/>
          </a:stretch>
        </p:blipFill>
        <p:spPr>
          <a:xfrm>
            <a:off x="5600700" y="2860477"/>
            <a:ext cx="117128" cy="171450"/>
          </a:xfrm>
          <a:prstGeom prst="rect">
            <a:avLst/>
          </a:prstGeom>
        </p:spPr>
      </p:pic>
      <p:sp>
        <p:nvSpPr>
          <p:cNvPr id="84" name="Text 66"/>
          <p:cNvSpPr txBox="1"/>
          <p:nvPr/>
        </p:nvSpPr>
        <p:spPr>
          <a:xfrm>
            <a:off x="5708303" y="2870002"/>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pic>
        <p:nvPicPr>
          <p:cNvPr id="85" name="Image 16" descr="✕"/>
          <p:cNvPicPr>
            <a:picLocks noChangeAspect="1"/>
          </p:cNvPicPr>
          <p:nvPr/>
        </p:nvPicPr>
        <p:blipFill>
          <a:blip r:embed="rId3"/>
          <a:stretch>
            <a:fillRect/>
          </a:stretch>
        </p:blipFill>
        <p:spPr>
          <a:xfrm>
            <a:off x="7600950" y="2860477"/>
            <a:ext cx="117128" cy="171450"/>
          </a:xfrm>
          <a:prstGeom prst="rect">
            <a:avLst/>
          </a:prstGeom>
        </p:spPr>
      </p:pic>
      <p:sp>
        <p:nvSpPr>
          <p:cNvPr id="86" name="Text 67"/>
          <p:cNvSpPr txBox="1"/>
          <p:nvPr/>
        </p:nvSpPr>
        <p:spPr>
          <a:xfrm>
            <a:off x="7708553" y="2870002"/>
            <a:ext cx="503486" cy="152400"/>
          </a:xfrm>
          <a:prstGeom prst="rect">
            <a:avLst/>
          </a:prstGeom>
          <a:noFill/>
          <a:ln/>
        </p:spPr>
        <p:txBody>
          <a:bodyPr wrap="none" lIns="0" tIns="0" rIns="0" bIns="0" rtlCol="0" anchor="t"/>
          <a:lstStyle/>
          <a:p>
            <a:pPr marL="0" indent="0" algn="l">
              <a:lnSpc>
                <a:spcPts val="1380"/>
              </a:lnSpc>
              <a:buNone/>
            </a:pPr>
            <a:r>
              <a:rPr lang="en-US" sz="1010" b="1" dirty="0">
                <a:solidFill>
                  <a:srgbClr val="334155"/>
                </a:solidFill>
              </a:rPr>
              <a:t>Không</a:t>
            </a:r>
            <a:endParaRPr lang="en-US" sz="1010" dirty="0"/>
          </a:p>
        </p:txBody>
      </p:sp>
      <p:sp>
        <p:nvSpPr>
          <p:cNvPr id="87" name="Shape 68"/>
          <p:cNvSpPr/>
          <p:nvPr/>
        </p:nvSpPr>
        <p:spPr>
          <a:xfrm>
            <a:off x="9477375" y="2784277"/>
            <a:ext cx="2095500" cy="327273"/>
          </a:xfrm>
          <a:prstGeom prst="rect">
            <a:avLst/>
          </a:prstGeom>
          <a:solidFill>
            <a:srgbClr val="FFF5F6"/>
          </a:solidFill>
          <a:ln/>
        </p:spPr>
      </p:sp>
      <p:pic>
        <p:nvPicPr>
          <p:cNvPr id="88" name="Image 17" descr="✓"/>
          <p:cNvPicPr>
            <a:picLocks noChangeAspect="1"/>
          </p:cNvPicPr>
          <p:nvPr/>
        </p:nvPicPr>
        <p:blipFill>
          <a:blip r:embed="rId4"/>
          <a:stretch>
            <a:fillRect/>
          </a:stretch>
        </p:blipFill>
        <p:spPr>
          <a:xfrm>
            <a:off x="9601200" y="2860477"/>
            <a:ext cx="139005" cy="171450"/>
          </a:xfrm>
          <a:prstGeom prst="rect">
            <a:avLst/>
          </a:prstGeom>
        </p:spPr>
      </p:pic>
      <p:sp>
        <p:nvSpPr>
          <p:cNvPr id="89" name="Text 69"/>
          <p:cNvSpPr txBox="1"/>
          <p:nvPr/>
        </p:nvSpPr>
        <p:spPr>
          <a:xfrm>
            <a:off x="9730680" y="2870002"/>
            <a:ext cx="254859" cy="152400"/>
          </a:xfrm>
          <a:prstGeom prst="rect">
            <a:avLst/>
          </a:prstGeom>
          <a:noFill/>
          <a:ln/>
        </p:spPr>
        <p:txBody>
          <a:bodyPr wrap="none" lIns="0" tIns="0" rIns="0" bIns="0" rtlCol="0" anchor="t"/>
          <a:lstStyle/>
          <a:p>
            <a:pPr marL="0" indent="0" algn="l">
              <a:lnSpc>
                <a:spcPts val="1380"/>
              </a:lnSpc>
              <a:buNone/>
            </a:pPr>
            <a:r>
              <a:rPr lang="en-US" sz="1010" b="1" dirty="0">
                <a:solidFill>
                  <a:srgbClr val="0F172A"/>
                </a:solidFill>
              </a:rPr>
              <a:t>Có</a:t>
            </a:r>
            <a:endParaRPr lang="en-US" sz="1010" dirty="0"/>
          </a:p>
        </p:txBody>
      </p:sp>
      <p:sp>
        <p:nvSpPr>
          <p:cNvPr id="90" name="Shape 70"/>
          <p:cNvSpPr/>
          <p:nvPr/>
        </p:nvSpPr>
        <p:spPr>
          <a:xfrm>
            <a:off x="609600" y="3330625"/>
            <a:ext cx="10972800" cy="689372"/>
          </a:xfrm>
          <a:prstGeom prst="roundRect">
            <a:avLst>
              <a:gd name="adj" fmla="val 16580"/>
            </a:avLst>
          </a:prstGeom>
          <a:solidFill>
            <a:srgbClr val="FFFFFF"/>
          </a:solidFill>
          <a:ln/>
        </p:spPr>
      </p:sp>
      <p:sp>
        <p:nvSpPr>
          <p:cNvPr id="91" name="Shape 71"/>
          <p:cNvSpPr/>
          <p:nvPr/>
        </p:nvSpPr>
        <p:spPr>
          <a:xfrm>
            <a:off x="609600" y="3330625"/>
            <a:ext cx="10972800" cy="9525"/>
          </a:xfrm>
          <a:prstGeom prst="rect">
            <a:avLst/>
          </a:prstGeom>
          <a:solidFill>
            <a:srgbClr val="E2E8F0"/>
          </a:solidFill>
          <a:ln/>
        </p:spPr>
      </p:sp>
      <p:sp>
        <p:nvSpPr>
          <p:cNvPr id="92" name="Shape 72"/>
          <p:cNvSpPr/>
          <p:nvPr/>
        </p:nvSpPr>
        <p:spPr>
          <a:xfrm>
            <a:off x="11572875" y="3330625"/>
            <a:ext cx="9525" cy="689372"/>
          </a:xfrm>
          <a:prstGeom prst="rect">
            <a:avLst/>
          </a:prstGeom>
          <a:solidFill>
            <a:srgbClr val="E2E8F0"/>
          </a:solidFill>
          <a:ln/>
        </p:spPr>
      </p:sp>
      <p:sp>
        <p:nvSpPr>
          <p:cNvPr id="93" name="Shape 73"/>
          <p:cNvSpPr/>
          <p:nvPr/>
        </p:nvSpPr>
        <p:spPr>
          <a:xfrm>
            <a:off x="609600" y="4010471"/>
            <a:ext cx="10972800" cy="9525"/>
          </a:xfrm>
          <a:prstGeom prst="rect">
            <a:avLst/>
          </a:prstGeom>
          <a:solidFill>
            <a:srgbClr val="E2E8F0"/>
          </a:solidFill>
          <a:ln/>
        </p:spPr>
      </p:sp>
      <p:sp>
        <p:nvSpPr>
          <p:cNvPr id="94" name="Shape 74"/>
          <p:cNvSpPr/>
          <p:nvPr/>
        </p:nvSpPr>
        <p:spPr>
          <a:xfrm>
            <a:off x="609600" y="3330625"/>
            <a:ext cx="57150" cy="689372"/>
          </a:xfrm>
          <a:prstGeom prst="rect">
            <a:avLst/>
          </a:prstGeom>
          <a:solidFill>
            <a:srgbClr val="E11D48"/>
          </a:solidFill>
          <a:ln/>
        </p:spPr>
      </p:sp>
      <p:sp>
        <p:nvSpPr>
          <p:cNvPr id="95" name="Text 75"/>
          <p:cNvSpPr txBox="1"/>
          <p:nvPr/>
        </p:nvSpPr>
        <p:spPr>
          <a:xfrm>
            <a:off x="857250" y="3463975"/>
            <a:ext cx="10553700" cy="411361"/>
          </a:xfrm>
          <a:prstGeom prst="rect">
            <a:avLst/>
          </a:prstGeom>
          <a:noFill/>
          <a:ln/>
        </p:spPr>
        <p:txBody>
          <a:bodyPr wrap="square" lIns="0" tIns="0" rIns="0" bIns="0" rtlCol="0" anchor="t"/>
          <a:lstStyle/>
          <a:p>
            <a:pPr marL="0" indent="0" algn="l">
              <a:lnSpc>
                <a:spcPts val="1740"/>
              </a:lnSpc>
              <a:buNone/>
            </a:pPr>
            <a:r>
              <a:rPr lang="en-US" sz="1200" b="1" dirty="0">
                <a:solidFill>
                  <a:srgbClr val="0F172A"/>
                </a:solidFill>
              </a:rPr>
              <a:t>Ngân hàng đã có Visa Accept, nhưng chỉ là </a:t>
            </a:r>
            <a:r>
              <a:rPr lang="en-US" sz="1200" b="1" dirty="0">
                <a:solidFill>
                  <a:srgbClr val="E11D48"/>
                </a:solidFill>
              </a:rPr>
              <a:t>nút nhận tiền trong app ngân hàng</a:t>
            </a:r>
            <a:r>
              <a:rPr lang="en-US" sz="1200" b="1" dirty="0">
                <a:solidFill>
                  <a:srgbClr val="0F172A"/>
                </a:solidFill>
              </a:rPr>
              <a:t>, chờ khách hàng tự bật. VDF đưa Visa Accept vào </a:t>
            </a:r>
            <a:r>
              <a:rPr lang="en-US" sz="1200" b="1" dirty="0">
                <a:solidFill>
                  <a:srgbClr val="E11D48"/>
                </a:solidFill>
              </a:rPr>
              <a:t>phần mềm bán hàng của hộ kinh doanh</a:t>
            </a:r>
            <a:r>
              <a:rPr lang="en-US" sz="1200" b="1" dirty="0">
                <a:solidFill>
                  <a:srgbClr val="0F172A"/>
                </a:solidFill>
              </a:rPr>
              <a:t>, đến tận cửa hàng qua đội kênh bán VTT.</a:t>
            </a:r>
            <a:endParaRPr lang="en-US" sz="1200" dirty="0"/>
          </a:p>
        </p:txBody>
      </p:sp>
      <p:sp>
        <p:nvSpPr>
          <p:cNvPr id="96" name="Shape 76"/>
          <p:cNvSpPr/>
          <p:nvPr/>
        </p:nvSpPr>
        <p:spPr>
          <a:xfrm>
            <a:off x="10796588" y="6343650"/>
            <a:ext cx="323850" cy="323850"/>
          </a:xfrm>
          <a:prstGeom prst="ellipse">
            <a:avLst/>
          </a:prstGeom>
          <a:solidFill>
            <a:srgbClr val="F0001E"/>
          </a:solidFill>
          <a:ln/>
        </p:spPr>
      </p:sp>
      <p:sp>
        <p:nvSpPr>
          <p:cNvPr id="97" name="Shape 77"/>
          <p:cNvSpPr/>
          <p:nvPr/>
        </p:nvSpPr>
        <p:spPr>
          <a:xfrm>
            <a:off x="10901363" y="6415088"/>
            <a:ext cx="114300" cy="180975"/>
          </a:xfrm>
          <a:prstGeom prst="roundRect">
            <a:avLst>
              <a:gd name="adj" fmla="val 29167"/>
            </a:avLst>
          </a:prstGeom>
          <a:ln w="19050">
            <a:solidFill>
              <a:srgbClr val="FFFFFF"/>
            </a:solidFill>
            <a:prstDash val="solid"/>
          </a:ln>
        </p:spPr>
      </p:sp>
      <p:sp>
        <p:nvSpPr>
          <p:cNvPr id="98" name="Text 78"/>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99" name="Text 79"/>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100" name="Text 80"/>
          <p:cNvSpPr txBox="1"/>
          <p:nvPr/>
        </p:nvSpPr>
        <p:spPr>
          <a:xfrm>
            <a:off x="10503545" y="6429375"/>
            <a:ext cx="192229"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70232" y="323850"/>
            <a:ext cx="912168" cy="247650"/>
          </a:xfrm>
          <a:prstGeom prst="roundRect">
            <a:avLst>
              <a:gd name="adj" fmla="val 50000"/>
            </a:avLst>
          </a:prstGeom>
          <a:solidFill>
            <a:srgbClr val="E5E7EB"/>
          </a:solidFill>
          <a:ln/>
        </p:spPr>
      </p:sp>
      <p:sp>
        <p:nvSpPr>
          <p:cNvPr id="3" name="Text 1"/>
          <p:cNvSpPr txBox="1"/>
          <p:nvPr/>
        </p:nvSpPr>
        <p:spPr>
          <a:xfrm>
            <a:off x="10841682" y="371475"/>
            <a:ext cx="641524"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D</a:t>
            </a:r>
            <a:endParaRPr lang="en-US" sz="980" dirty="0"/>
          </a:p>
        </p:txBody>
      </p:sp>
      <p:sp>
        <p:nvSpPr>
          <p:cNvPr id="4" name="Text 2"/>
          <p:cNvSpPr txBox="1"/>
          <p:nvPr/>
        </p:nvSpPr>
        <p:spPr>
          <a:xfrm>
            <a:off x="609600" y="400050"/>
            <a:ext cx="1411066"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ĐỐI THỦ</a:t>
            </a:r>
            <a:endParaRPr lang="en-US" sz="1050" dirty="0"/>
          </a:p>
        </p:txBody>
      </p:sp>
      <p:sp>
        <p:nvSpPr>
          <p:cNvPr id="5" name="Text 3"/>
          <p:cNvSpPr txBox="1"/>
          <p:nvPr/>
        </p:nvSpPr>
        <p:spPr>
          <a:xfrm>
            <a:off x="609600" y="609600"/>
            <a:ext cx="2613339"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Bảng đối thủ chi tiết</a:t>
            </a:r>
            <a:endParaRPr lang="en-US" sz="2030" dirty="0"/>
          </a:p>
        </p:txBody>
      </p:sp>
      <p:sp>
        <p:nvSpPr>
          <p:cNvPr id="6" name="Shape 4"/>
          <p:cNvSpPr/>
          <p:nvPr/>
        </p:nvSpPr>
        <p:spPr>
          <a:xfrm>
            <a:off x="609600" y="1066205"/>
            <a:ext cx="10972800" cy="3799284"/>
          </a:xfrm>
          <a:prstGeom prst="roundRect">
            <a:avLst>
              <a:gd name="adj" fmla="val 3008"/>
            </a:avLst>
          </a:prstGeom>
          <a:solidFill>
            <a:srgbClr val="FFFFFF"/>
          </a:solidFill>
          <a:ln w="9525">
            <a:solidFill>
              <a:srgbClr val="E2E8F0"/>
            </a:solidFill>
            <a:prstDash val="solid"/>
          </a:ln>
        </p:spPr>
      </p:sp>
      <p:sp>
        <p:nvSpPr>
          <p:cNvPr id="7" name="Shape 5"/>
          <p:cNvSpPr/>
          <p:nvPr/>
        </p:nvSpPr>
        <p:spPr>
          <a:xfrm>
            <a:off x="619125" y="1075730"/>
            <a:ext cx="2095500" cy="329505"/>
          </a:xfrm>
          <a:prstGeom prst="rect">
            <a:avLst/>
          </a:prstGeom>
          <a:solidFill>
            <a:srgbClr val="F1F5F9"/>
          </a:solidFill>
          <a:ln/>
        </p:spPr>
      </p:sp>
      <p:sp>
        <p:nvSpPr>
          <p:cNvPr id="8" name="Shape 6"/>
          <p:cNvSpPr/>
          <p:nvPr/>
        </p:nvSpPr>
        <p:spPr>
          <a:xfrm>
            <a:off x="619125" y="1395710"/>
            <a:ext cx="2095500" cy="9525"/>
          </a:xfrm>
          <a:prstGeom prst="rect">
            <a:avLst/>
          </a:prstGeom>
          <a:solidFill>
            <a:srgbClr val="E2E8F0"/>
          </a:solidFill>
          <a:ln/>
        </p:spPr>
      </p:sp>
      <p:sp>
        <p:nvSpPr>
          <p:cNvPr id="9" name="Text 7"/>
          <p:cNvSpPr txBox="1"/>
          <p:nvPr/>
        </p:nvSpPr>
        <p:spPr>
          <a:xfrm>
            <a:off x="733425" y="1161455"/>
            <a:ext cx="467990" cy="142875"/>
          </a:xfrm>
          <a:prstGeom prst="rect">
            <a:avLst/>
          </a:prstGeom>
          <a:noFill/>
          <a:ln/>
        </p:spPr>
        <p:txBody>
          <a:bodyPr wrap="none" lIns="0" tIns="0" rIns="0" bIns="0" rtlCol="0" anchor="t"/>
          <a:lstStyle/>
          <a:p>
            <a:pPr marL="0" indent="0" algn="l">
              <a:lnSpc>
                <a:spcPts val="1170"/>
              </a:lnSpc>
              <a:buNone/>
            </a:pPr>
            <a:r>
              <a:rPr lang="en-US" sz="900" b="1" dirty="0">
                <a:solidFill>
                  <a:srgbClr val="334155"/>
                </a:solidFill>
              </a:rPr>
              <a:t>Đối thủ</a:t>
            </a:r>
            <a:endParaRPr lang="en-US" sz="900" dirty="0"/>
          </a:p>
        </p:txBody>
      </p:sp>
      <p:sp>
        <p:nvSpPr>
          <p:cNvPr id="10" name="Shape 8"/>
          <p:cNvSpPr/>
          <p:nvPr/>
        </p:nvSpPr>
        <p:spPr>
          <a:xfrm>
            <a:off x="2714625" y="1075730"/>
            <a:ext cx="5143500" cy="329505"/>
          </a:xfrm>
          <a:prstGeom prst="rect">
            <a:avLst/>
          </a:prstGeom>
          <a:solidFill>
            <a:srgbClr val="F1F5F9"/>
          </a:solidFill>
          <a:ln/>
        </p:spPr>
      </p:sp>
      <p:sp>
        <p:nvSpPr>
          <p:cNvPr id="11" name="Shape 9"/>
          <p:cNvSpPr/>
          <p:nvPr/>
        </p:nvSpPr>
        <p:spPr>
          <a:xfrm>
            <a:off x="2714625" y="1395710"/>
            <a:ext cx="5143500" cy="9525"/>
          </a:xfrm>
          <a:prstGeom prst="rect">
            <a:avLst/>
          </a:prstGeom>
          <a:solidFill>
            <a:srgbClr val="E2E8F0"/>
          </a:solidFill>
          <a:ln/>
        </p:spPr>
      </p:sp>
      <p:sp>
        <p:nvSpPr>
          <p:cNvPr id="12" name="Text 10"/>
          <p:cNvSpPr txBox="1"/>
          <p:nvPr/>
        </p:nvSpPr>
        <p:spPr>
          <a:xfrm>
            <a:off x="2828925" y="1161455"/>
            <a:ext cx="1718221" cy="142875"/>
          </a:xfrm>
          <a:prstGeom prst="rect">
            <a:avLst/>
          </a:prstGeom>
          <a:noFill/>
          <a:ln/>
        </p:spPr>
        <p:txBody>
          <a:bodyPr wrap="none" lIns="0" tIns="0" rIns="0" bIns="0" rtlCol="0" anchor="t"/>
          <a:lstStyle/>
          <a:p>
            <a:pPr marL="0" indent="0" algn="l">
              <a:lnSpc>
                <a:spcPts val="1170"/>
              </a:lnSpc>
              <a:buNone/>
            </a:pPr>
            <a:r>
              <a:rPr lang="en-US" sz="900" b="1" dirty="0">
                <a:solidFill>
                  <a:srgbClr val="334155"/>
                </a:solidFill>
              </a:rPr>
              <a:t>Giải pháp cho khách quốc tế</a:t>
            </a:r>
            <a:endParaRPr lang="en-US" sz="900" dirty="0"/>
          </a:p>
        </p:txBody>
      </p:sp>
      <p:sp>
        <p:nvSpPr>
          <p:cNvPr id="13" name="Shape 11"/>
          <p:cNvSpPr/>
          <p:nvPr/>
        </p:nvSpPr>
        <p:spPr>
          <a:xfrm>
            <a:off x="7858125" y="1075730"/>
            <a:ext cx="3714750" cy="329505"/>
          </a:xfrm>
          <a:prstGeom prst="rect">
            <a:avLst/>
          </a:prstGeom>
          <a:solidFill>
            <a:srgbClr val="F1F5F9"/>
          </a:solidFill>
          <a:ln/>
        </p:spPr>
      </p:sp>
      <p:sp>
        <p:nvSpPr>
          <p:cNvPr id="14" name="Shape 12"/>
          <p:cNvSpPr/>
          <p:nvPr/>
        </p:nvSpPr>
        <p:spPr>
          <a:xfrm>
            <a:off x="7858125" y="1395710"/>
            <a:ext cx="3714750" cy="9525"/>
          </a:xfrm>
          <a:prstGeom prst="rect">
            <a:avLst/>
          </a:prstGeom>
          <a:solidFill>
            <a:srgbClr val="E2E8F0"/>
          </a:solidFill>
          <a:ln/>
        </p:spPr>
      </p:sp>
      <p:sp>
        <p:nvSpPr>
          <p:cNvPr id="15" name="Text 13"/>
          <p:cNvSpPr txBox="1"/>
          <p:nvPr/>
        </p:nvSpPr>
        <p:spPr>
          <a:xfrm>
            <a:off x="7972425" y="1161455"/>
            <a:ext cx="525572" cy="142875"/>
          </a:xfrm>
          <a:prstGeom prst="rect">
            <a:avLst/>
          </a:prstGeom>
          <a:noFill/>
          <a:ln/>
        </p:spPr>
        <p:txBody>
          <a:bodyPr wrap="none" lIns="0" tIns="0" rIns="0" bIns="0" rtlCol="0" anchor="t"/>
          <a:lstStyle/>
          <a:p>
            <a:pPr marL="0" indent="0" algn="l">
              <a:lnSpc>
                <a:spcPts val="1170"/>
              </a:lnSpc>
              <a:buNone/>
            </a:pPr>
            <a:r>
              <a:rPr lang="en-US" sz="900" b="1" dirty="0">
                <a:solidFill>
                  <a:srgbClr val="334155"/>
                </a:solidFill>
              </a:rPr>
              <a:t>Hạn chế</a:t>
            </a:r>
            <a:endParaRPr lang="en-US" sz="900" dirty="0"/>
          </a:p>
        </p:txBody>
      </p:sp>
      <p:sp>
        <p:nvSpPr>
          <p:cNvPr id="16" name="Shape 14"/>
          <p:cNvSpPr/>
          <p:nvPr/>
        </p:nvSpPr>
        <p:spPr>
          <a:xfrm>
            <a:off x="619125" y="2004715"/>
            <a:ext cx="2095500" cy="9525"/>
          </a:xfrm>
          <a:prstGeom prst="rect">
            <a:avLst/>
          </a:prstGeom>
          <a:solidFill>
            <a:srgbClr val="E2E8F0"/>
          </a:solidFill>
          <a:ln/>
        </p:spPr>
      </p:sp>
      <p:sp>
        <p:nvSpPr>
          <p:cNvPr id="17" name="Text 15"/>
          <p:cNvSpPr txBox="1"/>
          <p:nvPr/>
        </p:nvSpPr>
        <p:spPr>
          <a:xfrm>
            <a:off x="733425" y="1471910"/>
            <a:ext cx="1556677"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VPBank, Sacombank, VIB</a:t>
            </a:r>
            <a:endParaRPr lang="en-US" sz="900" dirty="0"/>
          </a:p>
        </p:txBody>
      </p:sp>
      <p:sp>
        <p:nvSpPr>
          <p:cNvPr id="18" name="Text 16"/>
          <p:cNvSpPr txBox="1"/>
          <p:nvPr/>
        </p:nvSpPr>
        <p:spPr>
          <a:xfrm>
            <a:off x="733425" y="1627287"/>
            <a:ext cx="624959"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Visa Accept</a:t>
            </a:r>
            <a:endParaRPr lang="en-US" sz="750" dirty="0"/>
          </a:p>
        </p:txBody>
      </p:sp>
      <p:sp>
        <p:nvSpPr>
          <p:cNvPr id="19" name="Shape 17"/>
          <p:cNvSpPr/>
          <p:nvPr/>
        </p:nvSpPr>
        <p:spPr>
          <a:xfrm>
            <a:off x="2714625" y="2004715"/>
            <a:ext cx="5143500" cy="9525"/>
          </a:xfrm>
          <a:prstGeom prst="rect">
            <a:avLst/>
          </a:prstGeom>
          <a:solidFill>
            <a:srgbClr val="E2E8F0"/>
          </a:solidFill>
          <a:ln/>
        </p:spPr>
      </p:sp>
      <p:sp>
        <p:nvSpPr>
          <p:cNvPr id="20" name="Text 18"/>
          <p:cNvSpPr txBox="1"/>
          <p:nvPr/>
        </p:nvSpPr>
        <p:spPr>
          <a:xfrm>
            <a:off x="2828925" y="1471910"/>
            <a:ext cx="494347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Đã ra mắt Visa Accept trong app ngân hàng (VPBank TapLink, VIB BizPay…): chủ thẻ Visa thành người bán, nhận thẻ bằng điện thoại, không cần thiết bị</a:t>
            </a:r>
            <a:endParaRPr lang="en-US" sz="900" dirty="0"/>
          </a:p>
        </p:txBody>
      </p:sp>
      <p:sp>
        <p:nvSpPr>
          <p:cNvPr id="21" name="Shape 19"/>
          <p:cNvSpPr/>
          <p:nvPr/>
        </p:nvSpPr>
        <p:spPr>
          <a:xfrm>
            <a:off x="7858125" y="2004715"/>
            <a:ext cx="3714750" cy="9525"/>
          </a:xfrm>
          <a:prstGeom prst="rect">
            <a:avLst/>
          </a:prstGeom>
          <a:solidFill>
            <a:srgbClr val="E2E8F0"/>
          </a:solidFill>
          <a:ln/>
        </p:spPr>
      </p:sp>
      <p:sp>
        <p:nvSpPr>
          <p:cNvPr id="22" name="Text 20"/>
          <p:cNvSpPr txBox="1"/>
          <p:nvPr/>
        </p:nvSpPr>
        <p:spPr>
          <a:xfrm>
            <a:off x="7972425" y="1471910"/>
            <a:ext cx="3514725" cy="453628"/>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Chỉ là tính năng nhận tiền trong app ngân hàng, chờ khách hàng tự bật; không gắn với quản lý bán hàng; ngân hàng không có đội phát triển merchant thực địa</a:t>
            </a:r>
            <a:endParaRPr lang="en-US" sz="900" dirty="0"/>
          </a:p>
        </p:txBody>
      </p:sp>
      <p:sp>
        <p:nvSpPr>
          <p:cNvPr id="23" name="Shape 21"/>
          <p:cNvSpPr/>
          <p:nvPr/>
        </p:nvSpPr>
        <p:spPr>
          <a:xfrm>
            <a:off x="619125" y="2613720"/>
            <a:ext cx="2095500" cy="9525"/>
          </a:xfrm>
          <a:prstGeom prst="rect">
            <a:avLst/>
          </a:prstGeom>
          <a:solidFill>
            <a:srgbClr val="E2E8F0"/>
          </a:solidFill>
          <a:ln/>
        </p:spPr>
      </p:sp>
      <p:sp>
        <p:nvSpPr>
          <p:cNvPr id="24" name="Text 22"/>
          <p:cNvSpPr txBox="1"/>
          <p:nvPr/>
        </p:nvSpPr>
        <p:spPr>
          <a:xfrm>
            <a:off x="733425" y="2080915"/>
            <a:ext cx="467359"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VNPAY</a:t>
            </a:r>
            <a:endParaRPr lang="en-US" sz="900" dirty="0"/>
          </a:p>
        </p:txBody>
      </p:sp>
      <p:sp>
        <p:nvSpPr>
          <p:cNvPr id="25" name="Text 23"/>
          <p:cNvSpPr txBox="1"/>
          <p:nvPr/>
        </p:nvSpPr>
        <p:spPr>
          <a:xfrm>
            <a:off x="733425" y="2236291"/>
            <a:ext cx="182133"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QR</a:t>
            </a:r>
            <a:endParaRPr lang="en-US" sz="750" dirty="0"/>
          </a:p>
        </p:txBody>
      </p:sp>
      <p:sp>
        <p:nvSpPr>
          <p:cNvPr id="26" name="Shape 24"/>
          <p:cNvSpPr/>
          <p:nvPr/>
        </p:nvSpPr>
        <p:spPr>
          <a:xfrm>
            <a:off x="2714625" y="2613720"/>
            <a:ext cx="5143500" cy="9525"/>
          </a:xfrm>
          <a:prstGeom prst="rect">
            <a:avLst/>
          </a:prstGeom>
          <a:solidFill>
            <a:srgbClr val="E2E8F0"/>
          </a:solidFill>
          <a:ln/>
        </p:spPr>
      </p:sp>
      <p:sp>
        <p:nvSpPr>
          <p:cNvPr id="27" name="Text 25"/>
          <p:cNvSpPr txBox="1"/>
          <p:nvPr/>
        </p:nvSpPr>
        <p:spPr>
          <a:xfrm>
            <a:off x="2828925" y="2080915"/>
            <a:ext cx="4943475" cy="453628"/>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Khách Trung Quốc, Hàn Quốc, Thái Lan, Lào, Campuchia, Singapore quét VNPAY-QR bằng app nước mình (WeChat Pay, Alipay, UnionPay, Toss Pay…). Đã có tại Thế Giới Di Động, Điện Máy Xanh, TopZone (từ 9/2026)</a:t>
            </a:r>
            <a:endParaRPr lang="en-US" sz="900" dirty="0"/>
          </a:p>
        </p:txBody>
      </p:sp>
      <p:sp>
        <p:nvSpPr>
          <p:cNvPr id="28" name="Shape 26"/>
          <p:cNvSpPr/>
          <p:nvPr/>
        </p:nvSpPr>
        <p:spPr>
          <a:xfrm>
            <a:off x="7858125" y="2613720"/>
            <a:ext cx="3714750" cy="9525"/>
          </a:xfrm>
          <a:prstGeom prst="rect">
            <a:avLst/>
          </a:prstGeom>
          <a:solidFill>
            <a:srgbClr val="E2E8F0"/>
          </a:solidFill>
          <a:ln/>
        </p:spPr>
      </p:sp>
      <p:sp>
        <p:nvSpPr>
          <p:cNvPr id="29" name="Text 27"/>
          <p:cNvSpPr txBox="1"/>
          <p:nvPr/>
        </p:nvSpPr>
        <p:spPr>
          <a:xfrm>
            <a:off x="7972425" y="2080915"/>
            <a:ext cx="3110749"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Chỉ khách từ các nước đã kết nối; tập trung chuỗi lớn</a:t>
            </a:r>
            <a:endParaRPr lang="en-US" sz="900" dirty="0"/>
          </a:p>
        </p:txBody>
      </p:sp>
      <p:sp>
        <p:nvSpPr>
          <p:cNvPr id="30" name="Shape 28"/>
          <p:cNvSpPr/>
          <p:nvPr/>
        </p:nvSpPr>
        <p:spPr>
          <a:xfrm>
            <a:off x="619125" y="3067348"/>
            <a:ext cx="2095500" cy="9525"/>
          </a:xfrm>
          <a:prstGeom prst="rect">
            <a:avLst/>
          </a:prstGeom>
          <a:solidFill>
            <a:srgbClr val="E2E8F0"/>
          </a:solidFill>
          <a:ln/>
        </p:spPr>
      </p:sp>
      <p:sp>
        <p:nvSpPr>
          <p:cNvPr id="31" name="Text 29"/>
          <p:cNvSpPr txBox="1"/>
          <p:nvPr/>
        </p:nvSpPr>
        <p:spPr>
          <a:xfrm>
            <a:off x="733425" y="2689920"/>
            <a:ext cx="467359"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VNPAY</a:t>
            </a:r>
            <a:endParaRPr lang="en-US" sz="900" dirty="0"/>
          </a:p>
        </p:txBody>
      </p:sp>
      <p:sp>
        <p:nvSpPr>
          <p:cNvPr id="32" name="Text 30"/>
          <p:cNvSpPr txBox="1"/>
          <p:nvPr/>
        </p:nvSpPr>
        <p:spPr>
          <a:xfrm>
            <a:off x="733425" y="2845296"/>
            <a:ext cx="918862"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App cho du khách</a:t>
            </a:r>
            <a:endParaRPr lang="en-US" sz="750" dirty="0"/>
          </a:p>
        </p:txBody>
      </p:sp>
      <p:sp>
        <p:nvSpPr>
          <p:cNvPr id="33" name="Shape 31"/>
          <p:cNvSpPr/>
          <p:nvPr/>
        </p:nvSpPr>
        <p:spPr>
          <a:xfrm>
            <a:off x="2714625" y="3067348"/>
            <a:ext cx="5143500" cy="9525"/>
          </a:xfrm>
          <a:prstGeom prst="rect">
            <a:avLst/>
          </a:prstGeom>
          <a:solidFill>
            <a:srgbClr val="E2E8F0"/>
          </a:solidFill>
          <a:ln/>
        </p:spPr>
      </p:sp>
      <p:sp>
        <p:nvSpPr>
          <p:cNvPr id="34" name="Text 32"/>
          <p:cNvSpPr txBox="1"/>
          <p:nvPr/>
        </p:nvSpPr>
        <p:spPr>
          <a:xfrm>
            <a:off x="2828925" y="2689920"/>
            <a:ext cx="4998479"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Hợp tác Mastercard: khách quốc tế tải app VNPAY, liên kết thẻ rồi quét QR thanh toán</a:t>
            </a:r>
            <a:endParaRPr lang="en-US" sz="900" dirty="0"/>
          </a:p>
        </p:txBody>
      </p:sp>
      <p:sp>
        <p:nvSpPr>
          <p:cNvPr id="35" name="Shape 33"/>
          <p:cNvSpPr/>
          <p:nvPr/>
        </p:nvSpPr>
        <p:spPr>
          <a:xfrm>
            <a:off x="7858125" y="3067348"/>
            <a:ext cx="3714750" cy="9525"/>
          </a:xfrm>
          <a:prstGeom prst="rect">
            <a:avLst/>
          </a:prstGeom>
          <a:solidFill>
            <a:srgbClr val="E2E8F0"/>
          </a:solidFill>
          <a:ln/>
        </p:spPr>
      </p:sp>
      <p:sp>
        <p:nvSpPr>
          <p:cNvPr id="36" name="Text 34"/>
          <p:cNvSpPr txBox="1"/>
          <p:nvPr/>
        </p:nvSpPr>
        <p:spPr>
          <a:xfrm>
            <a:off x="7972425" y="2689920"/>
            <a:ext cx="351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Khách phải tải thêm app, đăng ký, liên kết thẻ trong chuyến đi ngắn</a:t>
            </a:r>
            <a:endParaRPr lang="en-US" sz="900" dirty="0"/>
          </a:p>
        </p:txBody>
      </p:sp>
      <p:sp>
        <p:nvSpPr>
          <p:cNvPr id="37" name="Shape 35"/>
          <p:cNvSpPr/>
          <p:nvPr/>
        </p:nvSpPr>
        <p:spPr>
          <a:xfrm>
            <a:off x="619125" y="3520976"/>
            <a:ext cx="2095500" cy="9525"/>
          </a:xfrm>
          <a:prstGeom prst="rect">
            <a:avLst/>
          </a:prstGeom>
          <a:solidFill>
            <a:srgbClr val="E2E8F0"/>
          </a:solidFill>
          <a:ln/>
        </p:spPr>
      </p:sp>
      <p:sp>
        <p:nvSpPr>
          <p:cNvPr id="38" name="Text 36"/>
          <p:cNvSpPr txBox="1"/>
          <p:nvPr/>
        </p:nvSpPr>
        <p:spPr>
          <a:xfrm>
            <a:off x="733425" y="3143548"/>
            <a:ext cx="467359"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VNPAY</a:t>
            </a:r>
            <a:endParaRPr lang="en-US" sz="900" dirty="0"/>
          </a:p>
        </p:txBody>
      </p:sp>
      <p:sp>
        <p:nvSpPr>
          <p:cNvPr id="39" name="Text 37"/>
          <p:cNvSpPr txBox="1"/>
          <p:nvPr/>
        </p:nvSpPr>
        <p:spPr>
          <a:xfrm>
            <a:off x="733425" y="3298924"/>
            <a:ext cx="444957"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SoftPOS</a:t>
            </a:r>
            <a:endParaRPr lang="en-US" sz="750" dirty="0"/>
          </a:p>
        </p:txBody>
      </p:sp>
      <p:sp>
        <p:nvSpPr>
          <p:cNvPr id="40" name="Shape 38"/>
          <p:cNvSpPr/>
          <p:nvPr/>
        </p:nvSpPr>
        <p:spPr>
          <a:xfrm>
            <a:off x="2714625" y="3520976"/>
            <a:ext cx="5143500" cy="9525"/>
          </a:xfrm>
          <a:prstGeom prst="rect">
            <a:avLst/>
          </a:prstGeom>
          <a:solidFill>
            <a:srgbClr val="E2E8F0"/>
          </a:solidFill>
          <a:ln/>
        </p:spPr>
      </p:sp>
      <p:sp>
        <p:nvSpPr>
          <p:cNvPr id="41" name="Text 39"/>
          <p:cNvSpPr txBox="1"/>
          <p:nvPr/>
        </p:nvSpPr>
        <p:spPr>
          <a:xfrm>
            <a:off x="2828925" y="3143548"/>
            <a:ext cx="494347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Biến điện thoại Android thành máy nhận thẻ không tiếp xúc (Visa, Apple Pay, Google Pay, Samsung Pay), đạt chuẩn PCI CPoC</a:t>
            </a:r>
            <a:endParaRPr lang="en-US" sz="900" dirty="0"/>
          </a:p>
        </p:txBody>
      </p:sp>
      <p:sp>
        <p:nvSpPr>
          <p:cNvPr id="42" name="Shape 40"/>
          <p:cNvSpPr/>
          <p:nvPr/>
        </p:nvSpPr>
        <p:spPr>
          <a:xfrm>
            <a:off x="7858125" y="3520976"/>
            <a:ext cx="3714750" cy="9525"/>
          </a:xfrm>
          <a:prstGeom prst="rect">
            <a:avLst/>
          </a:prstGeom>
          <a:solidFill>
            <a:srgbClr val="E2E8F0"/>
          </a:solidFill>
          <a:ln/>
        </p:spPr>
      </p:sp>
      <p:sp>
        <p:nvSpPr>
          <p:cNvPr id="43" name="Text 41"/>
          <p:cNvSpPr txBox="1"/>
          <p:nvPr/>
        </p:nvSpPr>
        <p:spPr>
          <a:xfrm>
            <a:off x="7972425" y="3143548"/>
            <a:ext cx="351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Là app thanh toán riêng, không gắn với quản lý bán hàng của hộ kinh doanh</a:t>
            </a:r>
            <a:endParaRPr lang="en-US" sz="900" dirty="0"/>
          </a:p>
        </p:txBody>
      </p:sp>
      <p:sp>
        <p:nvSpPr>
          <p:cNvPr id="44" name="Shape 42"/>
          <p:cNvSpPr/>
          <p:nvPr/>
        </p:nvSpPr>
        <p:spPr>
          <a:xfrm>
            <a:off x="619125" y="3974604"/>
            <a:ext cx="2095500" cy="9525"/>
          </a:xfrm>
          <a:prstGeom prst="rect">
            <a:avLst/>
          </a:prstGeom>
          <a:solidFill>
            <a:srgbClr val="E2E8F0"/>
          </a:solidFill>
          <a:ln/>
        </p:spPr>
      </p:sp>
      <p:sp>
        <p:nvSpPr>
          <p:cNvPr id="45" name="Text 43"/>
          <p:cNvSpPr txBox="1"/>
          <p:nvPr/>
        </p:nvSpPr>
        <p:spPr>
          <a:xfrm>
            <a:off x="733425" y="3597176"/>
            <a:ext cx="685854"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Ngân hàng</a:t>
            </a:r>
            <a:endParaRPr lang="en-US" sz="900" dirty="0"/>
          </a:p>
        </p:txBody>
      </p:sp>
      <p:sp>
        <p:nvSpPr>
          <p:cNvPr id="46" name="Text 44"/>
          <p:cNvSpPr txBox="1"/>
          <p:nvPr/>
        </p:nvSpPr>
        <p:spPr>
          <a:xfrm>
            <a:off x="733425" y="3752552"/>
            <a:ext cx="1007837"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VCB Tap to Phone…</a:t>
            </a:r>
            <a:endParaRPr lang="en-US" sz="750" dirty="0"/>
          </a:p>
        </p:txBody>
      </p:sp>
      <p:sp>
        <p:nvSpPr>
          <p:cNvPr id="47" name="Shape 45"/>
          <p:cNvSpPr/>
          <p:nvPr/>
        </p:nvSpPr>
        <p:spPr>
          <a:xfrm>
            <a:off x="2714625" y="3974604"/>
            <a:ext cx="5143500" cy="9525"/>
          </a:xfrm>
          <a:prstGeom prst="rect">
            <a:avLst/>
          </a:prstGeom>
          <a:solidFill>
            <a:srgbClr val="E2E8F0"/>
          </a:solidFill>
          <a:ln/>
        </p:spPr>
      </p:sp>
      <p:sp>
        <p:nvSpPr>
          <p:cNvPr id="48" name="Text 46"/>
          <p:cNvSpPr txBox="1"/>
          <p:nvPr/>
        </p:nvSpPr>
        <p:spPr>
          <a:xfrm>
            <a:off x="2828925" y="3597176"/>
            <a:ext cx="3400866"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Cửa hàng nhận thẻ không tiếp xúc trên điện thoại Android</a:t>
            </a:r>
            <a:endParaRPr lang="en-US" sz="900" dirty="0"/>
          </a:p>
        </p:txBody>
      </p:sp>
      <p:sp>
        <p:nvSpPr>
          <p:cNvPr id="49" name="Shape 47"/>
          <p:cNvSpPr/>
          <p:nvPr/>
        </p:nvSpPr>
        <p:spPr>
          <a:xfrm>
            <a:off x="7858125" y="3974604"/>
            <a:ext cx="3714750" cy="9525"/>
          </a:xfrm>
          <a:prstGeom prst="rect">
            <a:avLst/>
          </a:prstGeom>
          <a:solidFill>
            <a:srgbClr val="E2E8F0"/>
          </a:solidFill>
          <a:ln/>
        </p:spPr>
      </p:sp>
      <p:sp>
        <p:nvSpPr>
          <p:cNvPr id="50" name="Text 48"/>
          <p:cNvSpPr txBox="1"/>
          <p:nvPr/>
        </p:nvSpPr>
        <p:spPr>
          <a:xfrm>
            <a:off x="7972425" y="3597176"/>
            <a:ext cx="351472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Chủ tiệm dùng thêm một app riêng; chưa có phương án khi khách không chạm được</a:t>
            </a:r>
            <a:endParaRPr lang="en-US" sz="900" dirty="0"/>
          </a:p>
        </p:txBody>
      </p:sp>
      <p:sp>
        <p:nvSpPr>
          <p:cNvPr id="51" name="Shape 49"/>
          <p:cNvSpPr/>
          <p:nvPr/>
        </p:nvSpPr>
        <p:spPr>
          <a:xfrm>
            <a:off x="619125" y="4428232"/>
            <a:ext cx="2095500" cy="9525"/>
          </a:xfrm>
          <a:prstGeom prst="rect">
            <a:avLst/>
          </a:prstGeom>
          <a:solidFill>
            <a:srgbClr val="E2E8F0"/>
          </a:solidFill>
          <a:ln/>
        </p:spPr>
      </p:sp>
      <p:sp>
        <p:nvSpPr>
          <p:cNvPr id="52" name="Text 50"/>
          <p:cNvSpPr txBox="1"/>
          <p:nvPr/>
        </p:nvSpPr>
        <p:spPr>
          <a:xfrm>
            <a:off x="733425" y="4050804"/>
            <a:ext cx="416719"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MoMo</a:t>
            </a:r>
            <a:endParaRPr lang="en-US" sz="900" dirty="0"/>
          </a:p>
        </p:txBody>
      </p:sp>
      <p:sp>
        <p:nvSpPr>
          <p:cNvPr id="53" name="Shape 51"/>
          <p:cNvSpPr/>
          <p:nvPr/>
        </p:nvSpPr>
        <p:spPr>
          <a:xfrm>
            <a:off x="2714625" y="4428232"/>
            <a:ext cx="5143500" cy="9525"/>
          </a:xfrm>
          <a:prstGeom prst="rect">
            <a:avLst/>
          </a:prstGeom>
          <a:solidFill>
            <a:srgbClr val="E2E8F0"/>
          </a:solidFill>
          <a:ln/>
        </p:spPr>
      </p:sp>
      <p:sp>
        <p:nvSpPr>
          <p:cNvPr id="54" name="Text 52"/>
          <p:cNvSpPr txBox="1"/>
          <p:nvPr/>
        </p:nvSpPr>
        <p:spPr>
          <a:xfrm>
            <a:off x="2828925" y="4050804"/>
            <a:ext cx="4943475" cy="298252"/>
          </a:xfrm>
          <a:prstGeom prst="rect">
            <a:avLst/>
          </a:prstGeom>
          <a:noFill/>
          <a:ln/>
        </p:spPr>
        <p:txBody>
          <a:bodyPr wrap="square" lIns="0" tIns="0" rIns="0" bIns="0" rtlCol="0" anchor="t"/>
          <a:lstStyle/>
          <a:p>
            <a:pPr marL="0" indent="0" algn="l">
              <a:lnSpc>
                <a:spcPts val="1220"/>
              </a:lnSpc>
              <a:buNone/>
            </a:pPr>
            <a:r>
              <a:rPr lang="en-US" sz="900" b="1" dirty="0">
                <a:solidFill>
                  <a:srgbClr val="334155"/>
                </a:solidFill>
              </a:rPr>
              <a:t>Tập trung chiều ra (người Việt dùng MoMo quét Alipay+ ở nước ngoài), làm du lịch cùng Saigontourist</a:t>
            </a:r>
            <a:endParaRPr lang="en-US" sz="900" dirty="0"/>
          </a:p>
        </p:txBody>
      </p:sp>
      <p:sp>
        <p:nvSpPr>
          <p:cNvPr id="55" name="Shape 53"/>
          <p:cNvSpPr/>
          <p:nvPr/>
        </p:nvSpPr>
        <p:spPr>
          <a:xfrm>
            <a:off x="7858125" y="4428232"/>
            <a:ext cx="3714750" cy="9525"/>
          </a:xfrm>
          <a:prstGeom prst="rect">
            <a:avLst/>
          </a:prstGeom>
          <a:solidFill>
            <a:srgbClr val="E2E8F0"/>
          </a:solidFill>
          <a:ln/>
        </p:spPr>
      </p:sp>
      <p:sp>
        <p:nvSpPr>
          <p:cNvPr id="56" name="Text 54"/>
          <p:cNvSpPr txBox="1"/>
          <p:nvPr/>
        </p:nvSpPr>
        <p:spPr>
          <a:xfrm>
            <a:off x="7972425" y="4050804"/>
            <a:ext cx="2600876"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Chưa phục vụ du khách trả tiền tại Việt Nam</a:t>
            </a:r>
            <a:endParaRPr lang="en-US" sz="900" dirty="0"/>
          </a:p>
        </p:txBody>
      </p:sp>
      <p:sp>
        <p:nvSpPr>
          <p:cNvPr id="57" name="Text 55"/>
          <p:cNvSpPr txBox="1"/>
          <p:nvPr/>
        </p:nvSpPr>
        <p:spPr>
          <a:xfrm>
            <a:off x="733425" y="4504432"/>
            <a:ext cx="1248891" cy="142875"/>
          </a:xfrm>
          <a:prstGeom prst="rect">
            <a:avLst/>
          </a:prstGeom>
          <a:noFill/>
          <a:ln/>
        </p:spPr>
        <p:txBody>
          <a:bodyPr wrap="none" lIns="0" tIns="0" rIns="0" bIns="0" rtlCol="0" anchor="t"/>
          <a:lstStyle/>
          <a:p>
            <a:pPr marL="0" indent="0" algn="l">
              <a:lnSpc>
                <a:spcPts val="1220"/>
              </a:lnSpc>
              <a:buNone/>
            </a:pPr>
            <a:r>
              <a:rPr lang="en-US" sz="900" b="1" dirty="0">
                <a:solidFill>
                  <a:srgbClr val="0F172A"/>
                </a:solidFill>
              </a:rPr>
              <a:t>Phần mềm bán hàng</a:t>
            </a:r>
            <a:endParaRPr lang="en-US" sz="900" dirty="0"/>
          </a:p>
        </p:txBody>
      </p:sp>
      <p:sp>
        <p:nvSpPr>
          <p:cNvPr id="58" name="Text 56"/>
          <p:cNvSpPr txBox="1"/>
          <p:nvPr/>
        </p:nvSpPr>
        <p:spPr>
          <a:xfrm>
            <a:off x="733425" y="4659809"/>
            <a:ext cx="1046646" cy="114300"/>
          </a:xfrm>
          <a:prstGeom prst="rect">
            <a:avLst/>
          </a:prstGeom>
          <a:noFill/>
          <a:ln/>
        </p:spPr>
        <p:txBody>
          <a:bodyPr wrap="none" lIns="0" tIns="0" rIns="0" bIns="0" rtlCol="0" anchor="t"/>
          <a:lstStyle/>
          <a:p>
            <a:pPr marL="0" indent="0" algn="l">
              <a:lnSpc>
                <a:spcPts val="1020"/>
              </a:lnSpc>
              <a:buNone/>
            </a:pPr>
            <a:r>
              <a:rPr lang="en-US" sz="750" b="1" dirty="0">
                <a:solidFill>
                  <a:srgbClr val="64748B"/>
                </a:solidFill>
              </a:rPr>
              <a:t>KiotViet, Sapo, MISA</a:t>
            </a:r>
            <a:endParaRPr lang="en-US" sz="750" dirty="0"/>
          </a:p>
        </p:txBody>
      </p:sp>
      <p:sp>
        <p:nvSpPr>
          <p:cNvPr id="59" name="Text 57"/>
          <p:cNvSpPr txBox="1"/>
          <p:nvPr/>
        </p:nvSpPr>
        <p:spPr>
          <a:xfrm>
            <a:off x="2828925" y="4504432"/>
            <a:ext cx="3192625"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Quản lý bán hàng, có kết nối máy POS hoặc QR nội địa</a:t>
            </a:r>
            <a:endParaRPr lang="en-US" sz="900" dirty="0"/>
          </a:p>
        </p:txBody>
      </p:sp>
      <p:sp>
        <p:nvSpPr>
          <p:cNvPr id="60" name="Text 58"/>
          <p:cNvSpPr txBox="1"/>
          <p:nvPr/>
        </p:nvSpPr>
        <p:spPr>
          <a:xfrm>
            <a:off x="7972425" y="4504432"/>
            <a:ext cx="2528307" cy="142875"/>
          </a:xfrm>
          <a:prstGeom prst="rect">
            <a:avLst/>
          </a:prstGeom>
          <a:noFill/>
          <a:ln/>
        </p:spPr>
        <p:txBody>
          <a:bodyPr wrap="none" lIns="0" tIns="0" rIns="0" bIns="0" rtlCol="0" anchor="t"/>
          <a:lstStyle/>
          <a:p>
            <a:pPr marL="0" indent="0" algn="l">
              <a:lnSpc>
                <a:spcPts val="1220"/>
              </a:lnSpc>
              <a:buNone/>
            </a:pPr>
            <a:r>
              <a:rPr lang="en-US" sz="900" b="1" dirty="0">
                <a:solidFill>
                  <a:srgbClr val="334155"/>
                </a:solidFill>
              </a:rPr>
              <a:t>Chưa có giải pháp riêng cho khách quốc tế</a:t>
            </a:r>
            <a:endParaRPr lang="en-US" sz="900" dirty="0"/>
          </a:p>
        </p:txBody>
      </p:sp>
      <p:sp>
        <p:nvSpPr>
          <p:cNvPr id="61" name="Shape 59"/>
          <p:cNvSpPr/>
          <p:nvPr/>
        </p:nvSpPr>
        <p:spPr>
          <a:xfrm>
            <a:off x="10796588" y="6343650"/>
            <a:ext cx="323850" cy="323850"/>
          </a:xfrm>
          <a:prstGeom prst="ellipse">
            <a:avLst/>
          </a:prstGeom>
          <a:solidFill>
            <a:srgbClr val="F0001E"/>
          </a:solidFill>
          <a:ln/>
        </p:spPr>
      </p:sp>
      <p:sp>
        <p:nvSpPr>
          <p:cNvPr id="62" name="Shape 60"/>
          <p:cNvSpPr/>
          <p:nvPr/>
        </p:nvSpPr>
        <p:spPr>
          <a:xfrm>
            <a:off x="10901363" y="6415088"/>
            <a:ext cx="114300" cy="180975"/>
          </a:xfrm>
          <a:prstGeom prst="roundRect">
            <a:avLst>
              <a:gd name="adj" fmla="val 29167"/>
            </a:avLst>
          </a:prstGeom>
          <a:ln w="19050">
            <a:solidFill>
              <a:srgbClr val="FFFFFF"/>
            </a:solidFill>
            <a:prstDash val="solid"/>
          </a:ln>
        </p:spPr>
      </p:sp>
      <p:sp>
        <p:nvSpPr>
          <p:cNvPr id="63" name="Text 61"/>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64" name="Text 62"/>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65" name="Text 63"/>
          <p:cNvSpPr txBox="1"/>
          <p:nvPr/>
        </p:nvSpPr>
        <p:spPr>
          <a:xfrm>
            <a:off x="10500420" y="6429375"/>
            <a:ext cx="195542"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70232" y="323850"/>
            <a:ext cx="912168" cy="247650"/>
          </a:xfrm>
          <a:prstGeom prst="roundRect">
            <a:avLst>
              <a:gd name="adj" fmla="val 50000"/>
            </a:avLst>
          </a:prstGeom>
          <a:solidFill>
            <a:srgbClr val="E5E7EB"/>
          </a:solidFill>
          <a:ln/>
        </p:spPr>
      </p:sp>
      <p:sp>
        <p:nvSpPr>
          <p:cNvPr id="3" name="Text 1"/>
          <p:cNvSpPr txBox="1"/>
          <p:nvPr/>
        </p:nvSpPr>
        <p:spPr>
          <a:xfrm>
            <a:off x="10841682" y="371475"/>
            <a:ext cx="641524"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D</a:t>
            </a:r>
            <a:endParaRPr lang="en-US" sz="980" dirty="0"/>
          </a:p>
        </p:txBody>
      </p:sp>
      <p:sp>
        <p:nvSpPr>
          <p:cNvPr id="4" name="Text 2"/>
          <p:cNvSpPr txBox="1"/>
          <p:nvPr/>
        </p:nvSpPr>
        <p:spPr>
          <a:xfrm>
            <a:off x="609600" y="400050"/>
            <a:ext cx="3722849"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BẢNG SO SÁNH ĐẦY ĐỦ · KÊNH OFFLINE</a:t>
            </a:r>
            <a:endParaRPr lang="en-US" sz="1050" dirty="0"/>
          </a:p>
        </p:txBody>
      </p:sp>
      <p:sp>
        <p:nvSpPr>
          <p:cNvPr id="5" name="Text 3"/>
          <p:cNvSpPr txBox="1"/>
          <p:nvPr/>
        </p:nvSpPr>
        <p:spPr>
          <a:xfrm>
            <a:off x="609600" y="609600"/>
            <a:ext cx="6026587"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So sánh các cách nhận tiền của khách quốc tế</a:t>
            </a:r>
            <a:endParaRPr lang="en-US" sz="2030" dirty="0"/>
          </a:p>
        </p:txBody>
      </p:sp>
      <p:sp>
        <p:nvSpPr>
          <p:cNvPr id="6" name="Shape 4"/>
          <p:cNvSpPr/>
          <p:nvPr/>
        </p:nvSpPr>
        <p:spPr>
          <a:xfrm>
            <a:off x="609600" y="1066205"/>
            <a:ext cx="10972800" cy="4373166"/>
          </a:xfrm>
          <a:prstGeom prst="roundRect">
            <a:avLst>
              <a:gd name="adj" fmla="val 2614"/>
            </a:avLst>
          </a:prstGeom>
          <a:solidFill>
            <a:srgbClr val="FFFFFF"/>
          </a:solidFill>
          <a:ln w="9525">
            <a:solidFill>
              <a:srgbClr val="E2E8F0"/>
            </a:solidFill>
            <a:prstDash val="solid"/>
          </a:ln>
        </p:spPr>
      </p:sp>
      <p:sp>
        <p:nvSpPr>
          <p:cNvPr id="7" name="Shape 5"/>
          <p:cNvSpPr/>
          <p:nvPr/>
        </p:nvSpPr>
        <p:spPr>
          <a:xfrm>
            <a:off x="619125" y="1075730"/>
            <a:ext cx="1905000" cy="446484"/>
          </a:xfrm>
          <a:prstGeom prst="rect">
            <a:avLst/>
          </a:prstGeom>
          <a:solidFill>
            <a:srgbClr val="F1F5F9"/>
          </a:solidFill>
          <a:ln/>
        </p:spPr>
      </p:sp>
      <p:sp>
        <p:nvSpPr>
          <p:cNvPr id="8" name="Shape 6"/>
          <p:cNvSpPr/>
          <p:nvPr/>
        </p:nvSpPr>
        <p:spPr>
          <a:xfrm>
            <a:off x="619125" y="1512689"/>
            <a:ext cx="1905000" cy="9525"/>
          </a:xfrm>
          <a:prstGeom prst="rect">
            <a:avLst/>
          </a:prstGeom>
          <a:solidFill>
            <a:srgbClr val="E2E8F0"/>
          </a:solidFill>
          <a:ln/>
        </p:spPr>
      </p:sp>
      <p:sp>
        <p:nvSpPr>
          <p:cNvPr id="9" name="Text 7"/>
          <p:cNvSpPr txBox="1"/>
          <p:nvPr/>
        </p:nvSpPr>
        <p:spPr>
          <a:xfrm>
            <a:off x="714375" y="1294209"/>
            <a:ext cx="494336"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Tiêu chí</a:t>
            </a:r>
            <a:endParaRPr lang="en-US" sz="860" dirty="0"/>
          </a:p>
        </p:txBody>
      </p:sp>
      <p:sp>
        <p:nvSpPr>
          <p:cNvPr id="10" name="Shape 8"/>
          <p:cNvSpPr/>
          <p:nvPr/>
        </p:nvSpPr>
        <p:spPr>
          <a:xfrm>
            <a:off x="2524125" y="1075730"/>
            <a:ext cx="1738313" cy="446484"/>
          </a:xfrm>
          <a:prstGeom prst="rect">
            <a:avLst/>
          </a:prstGeom>
          <a:solidFill>
            <a:srgbClr val="F1F5F9"/>
          </a:solidFill>
          <a:ln/>
        </p:spPr>
      </p:sp>
      <p:sp>
        <p:nvSpPr>
          <p:cNvPr id="11" name="Shape 9"/>
          <p:cNvSpPr/>
          <p:nvPr/>
        </p:nvSpPr>
        <p:spPr>
          <a:xfrm>
            <a:off x="2524125" y="1512689"/>
            <a:ext cx="1738313" cy="9525"/>
          </a:xfrm>
          <a:prstGeom prst="rect">
            <a:avLst/>
          </a:prstGeom>
          <a:solidFill>
            <a:srgbClr val="E2E8F0"/>
          </a:solidFill>
          <a:ln/>
        </p:spPr>
      </p:sp>
      <p:sp>
        <p:nvSpPr>
          <p:cNvPr id="12" name="Text 10"/>
          <p:cNvSpPr txBox="1"/>
          <p:nvPr/>
        </p:nvSpPr>
        <p:spPr>
          <a:xfrm>
            <a:off x="2619375" y="1294209"/>
            <a:ext cx="1184211"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Máy POS ngân hàng</a:t>
            </a:r>
            <a:endParaRPr lang="en-US" sz="860" dirty="0"/>
          </a:p>
        </p:txBody>
      </p:sp>
      <p:sp>
        <p:nvSpPr>
          <p:cNvPr id="13" name="Shape 11"/>
          <p:cNvSpPr/>
          <p:nvPr/>
        </p:nvSpPr>
        <p:spPr>
          <a:xfrm>
            <a:off x="4262438" y="1075730"/>
            <a:ext cx="1738313" cy="446484"/>
          </a:xfrm>
          <a:prstGeom prst="rect">
            <a:avLst/>
          </a:prstGeom>
          <a:solidFill>
            <a:srgbClr val="F1F5F9"/>
          </a:solidFill>
          <a:ln/>
        </p:spPr>
      </p:sp>
      <p:sp>
        <p:nvSpPr>
          <p:cNvPr id="14" name="Shape 12"/>
          <p:cNvSpPr/>
          <p:nvPr/>
        </p:nvSpPr>
        <p:spPr>
          <a:xfrm>
            <a:off x="4262438" y="1512689"/>
            <a:ext cx="1738313" cy="9525"/>
          </a:xfrm>
          <a:prstGeom prst="rect">
            <a:avLst/>
          </a:prstGeom>
          <a:solidFill>
            <a:srgbClr val="E2E8F0"/>
          </a:solidFill>
          <a:ln/>
        </p:spPr>
      </p:sp>
      <p:sp>
        <p:nvSpPr>
          <p:cNvPr id="15" name="Text 13"/>
          <p:cNvSpPr txBox="1"/>
          <p:nvPr/>
        </p:nvSpPr>
        <p:spPr>
          <a:xfrm>
            <a:off x="4357688" y="1151930"/>
            <a:ext cx="1581150" cy="275630"/>
          </a:xfrm>
          <a:prstGeom prst="rect">
            <a:avLst/>
          </a:prstGeom>
          <a:noFill/>
          <a:ln/>
        </p:spPr>
        <p:txBody>
          <a:bodyPr wrap="square" lIns="0" tIns="0" rIns="0" bIns="0" rtlCol="0" anchor="t"/>
          <a:lstStyle/>
          <a:p>
            <a:pPr marL="0" indent="0" algn="l">
              <a:lnSpc>
                <a:spcPts val="1120"/>
              </a:lnSpc>
              <a:buNone/>
            </a:pPr>
            <a:r>
              <a:rPr lang="en-US" sz="860" b="1" dirty="0">
                <a:solidFill>
                  <a:srgbClr val="334155"/>
                </a:solidFill>
              </a:rPr>
              <a:t>SoftPOS của ngân hàng, VNPAY</a:t>
            </a:r>
            <a:endParaRPr lang="en-US" sz="860" dirty="0"/>
          </a:p>
        </p:txBody>
      </p:sp>
      <p:sp>
        <p:nvSpPr>
          <p:cNvPr id="16" name="Shape 14"/>
          <p:cNvSpPr/>
          <p:nvPr/>
        </p:nvSpPr>
        <p:spPr>
          <a:xfrm>
            <a:off x="6000750" y="1075730"/>
            <a:ext cx="1738313" cy="446484"/>
          </a:xfrm>
          <a:prstGeom prst="rect">
            <a:avLst/>
          </a:prstGeom>
          <a:solidFill>
            <a:srgbClr val="F1F5F9"/>
          </a:solidFill>
          <a:ln/>
        </p:spPr>
      </p:sp>
      <p:sp>
        <p:nvSpPr>
          <p:cNvPr id="17" name="Shape 15"/>
          <p:cNvSpPr/>
          <p:nvPr/>
        </p:nvSpPr>
        <p:spPr>
          <a:xfrm>
            <a:off x="6000750" y="1512689"/>
            <a:ext cx="1738313" cy="9525"/>
          </a:xfrm>
          <a:prstGeom prst="rect">
            <a:avLst/>
          </a:prstGeom>
          <a:solidFill>
            <a:srgbClr val="E2E8F0"/>
          </a:solidFill>
          <a:ln/>
        </p:spPr>
      </p:sp>
      <p:sp>
        <p:nvSpPr>
          <p:cNvPr id="18" name="Text 16"/>
          <p:cNvSpPr txBox="1"/>
          <p:nvPr/>
        </p:nvSpPr>
        <p:spPr>
          <a:xfrm>
            <a:off x="6096000" y="1151930"/>
            <a:ext cx="1581150" cy="275630"/>
          </a:xfrm>
          <a:prstGeom prst="rect">
            <a:avLst/>
          </a:prstGeom>
          <a:noFill/>
          <a:ln/>
        </p:spPr>
        <p:txBody>
          <a:bodyPr wrap="square" lIns="0" tIns="0" rIns="0" bIns="0" rtlCol="0" anchor="t"/>
          <a:lstStyle/>
          <a:p>
            <a:pPr marL="0" indent="0" algn="l">
              <a:lnSpc>
                <a:spcPts val="1120"/>
              </a:lnSpc>
              <a:buNone/>
            </a:pPr>
            <a:r>
              <a:rPr lang="en-US" sz="860" b="1" dirty="0">
                <a:solidFill>
                  <a:srgbClr val="334155"/>
                </a:solidFill>
              </a:rPr>
              <a:t>Visa Accept trong app ngân hàng</a:t>
            </a:r>
            <a:endParaRPr lang="en-US" sz="860" dirty="0"/>
          </a:p>
        </p:txBody>
      </p:sp>
      <p:sp>
        <p:nvSpPr>
          <p:cNvPr id="19" name="Shape 17"/>
          <p:cNvSpPr/>
          <p:nvPr/>
        </p:nvSpPr>
        <p:spPr>
          <a:xfrm>
            <a:off x="7739062" y="1075730"/>
            <a:ext cx="1738313" cy="446484"/>
          </a:xfrm>
          <a:prstGeom prst="rect">
            <a:avLst/>
          </a:prstGeom>
          <a:solidFill>
            <a:srgbClr val="F1F5F9"/>
          </a:solidFill>
          <a:ln/>
        </p:spPr>
      </p:sp>
      <p:sp>
        <p:nvSpPr>
          <p:cNvPr id="20" name="Shape 18"/>
          <p:cNvSpPr/>
          <p:nvPr/>
        </p:nvSpPr>
        <p:spPr>
          <a:xfrm>
            <a:off x="7739062" y="1512689"/>
            <a:ext cx="1738313" cy="9525"/>
          </a:xfrm>
          <a:prstGeom prst="rect">
            <a:avLst/>
          </a:prstGeom>
          <a:solidFill>
            <a:srgbClr val="E2E8F0"/>
          </a:solidFill>
          <a:ln/>
        </p:spPr>
      </p:sp>
      <p:sp>
        <p:nvSpPr>
          <p:cNvPr id="21" name="Text 19"/>
          <p:cNvSpPr txBox="1"/>
          <p:nvPr/>
        </p:nvSpPr>
        <p:spPr>
          <a:xfrm>
            <a:off x="7834313" y="1294209"/>
            <a:ext cx="1100283" cy="133350"/>
          </a:xfrm>
          <a:prstGeom prst="rect">
            <a:avLst/>
          </a:prstGeom>
          <a:noFill/>
          <a:ln/>
        </p:spPr>
        <p:txBody>
          <a:bodyPr wrap="none" lIns="0" tIns="0" rIns="0" bIns="0" rtlCol="0" anchor="t"/>
          <a:lstStyle/>
          <a:p>
            <a:pPr marL="0" indent="0" algn="l">
              <a:lnSpc>
                <a:spcPts val="1120"/>
              </a:lnSpc>
              <a:buNone/>
            </a:pPr>
            <a:r>
              <a:rPr lang="en-US" sz="860" b="1" dirty="0">
                <a:solidFill>
                  <a:srgbClr val="334155"/>
                </a:solidFill>
              </a:rPr>
              <a:t>QR xuyên biên giới</a:t>
            </a:r>
            <a:endParaRPr lang="en-US" sz="860" dirty="0"/>
          </a:p>
        </p:txBody>
      </p:sp>
      <p:sp>
        <p:nvSpPr>
          <p:cNvPr id="22" name="Shape 20"/>
          <p:cNvSpPr/>
          <p:nvPr/>
        </p:nvSpPr>
        <p:spPr>
          <a:xfrm>
            <a:off x="9477375" y="1075730"/>
            <a:ext cx="2095500" cy="446484"/>
          </a:xfrm>
          <a:prstGeom prst="rect">
            <a:avLst/>
          </a:prstGeom>
          <a:solidFill>
            <a:srgbClr val="E11D48"/>
          </a:solidFill>
          <a:ln/>
        </p:spPr>
      </p:sp>
      <p:sp>
        <p:nvSpPr>
          <p:cNvPr id="23" name="Shape 21"/>
          <p:cNvSpPr/>
          <p:nvPr/>
        </p:nvSpPr>
        <p:spPr>
          <a:xfrm>
            <a:off x="9477375" y="1512689"/>
            <a:ext cx="2095500" cy="9525"/>
          </a:xfrm>
          <a:prstGeom prst="rect">
            <a:avLst/>
          </a:prstGeom>
          <a:solidFill>
            <a:srgbClr val="E2E8F0"/>
          </a:solidFill>
          <a:ln/>
        </p:spPr>
      </p:sp>
      <p:sp>
        <p:nvSpPr>
          <p:cNvPr id="24" name="Text 22"/>
          <p:cNvSpPr txBox="1"/>
          <p:nvPr/>
        </p:nvSpPr>
        <p:spPr>
          <a:xfrm>
            <a:off x="9572625" y="1294209"/>
            <a:ext cx="1831649" cy="133350"/>
          </a:xfrm>
          <a:prstGeom prst="rect">
            <a:avLst/>
          </a:prstGeom>
          <a:noFill/>
          <a:ln/>
        </p:spPr>
        <p:txBody>
          <a:bodyPr wrap="none" lIns="0" tIns="0" rIns="0" bIns="0" rtlCol="0" anchor="t"/>
          <a:lstStyle/>
          <a:p>
            <a:pPr marL="0" indent="0" algn="l">
              <a:lnSpc>
                <a:spcPts val="1120"/>
              </a:lnSpc>
              <a:buNone/>
            </a:pPr>
            <a:r>
              <a:rPr lang="en-US" sz="860" b="1" dirty="0">
                <a:solidFill>
                  <a:srgbClr val="FFFFFF"/>
                </a:solidFill>
              </a:rPr>
              <a:t>VDF: Visa Accept trong Tendoo</a:t>
            </a:r>
            <a:endParaRPr lang="en-US" sz="860" dirty="0"/>
          </a:p>
        </p:txBody>
      </p:sp>
      <p:sp>
        <p:nvSpPr>
          <p:cNvPr id="25" name="Shape 23"/>
          <p:cNvSpPr/>
          <p:nvPr/>
        </p:nvSpPr>
        <p:spPr>
          <a:xfrm>
            <a:off x="619125" y="1934170"/>
            <a:ext cx="1905000" cy="9525"/>
          </a:xfrm>
          <a:prstGeom prst="rect">
            <a:avLst/>
          </a:prstGeom>
          <a:solidFill>
            <a:srgbClr val="E2E8F0"/>
          </a:solidFill>
          <a:ln/>
        </p:spPr>
      </p:sp>
      <p:sp>
        <p:nvSpPr>
          <p:cNvPr id="26" name="Text 24"/>
          <p:cNvSpPr txBox="1"/>
          <p:nvPr/>
        </p:nvSpPr>
        <p:spPr>
          <a:xfrm>
            <a:off x="714375" y="1579364"/>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Khách từ nước nào cũng trả được</a:t>
            </a:r>
            <a:endParaRPr lang="en-US" sz="860" dirty="0"/>
          </a:p>
        </p:txBody>
      </p:sp>
      <p:sp>
        <p:nvSpPr>
          <p:cNvPr id="27" name="Shape 25"/>
          <p:cNvSpPr/>
          <p:nvPr/>
        </p:nvSpPr>
        <p:spPr>
          <a:xfrm>
            <a:off x="2524125" y="1934170"/>
            <a:ext cx="1738313" cy="9525"/>
          </a:xfrm>
          <a:prstGeom prst="rect">
            <a:avLst/>
          </a:prstGeom>
          <a:solidFill>
            <a:srgbClr val="E2E8F0"/>
          </a:solidFill>
          <a:ln/>
        </p:spPr>
      </p:sp>
      <p:sp>
        <p:nvSpPr>
          <p:cNvPr id="28" name="Text 26"/>
          <p:cNvSpPr txBox="1"/>
          <p:nvPr/>
        </p:nvSpPr>
        <p:spPr>
          <a:xfrm>
            <a:off x="2619375" y="1579364"/>
            <a:ext cx="49118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 (thẻ)</a:t>
            </a:r>
            <a:endParaRPr lang="en-US" sz="860" dirty="0"/>
          </a:p>
        </p:txBody>
      </p:sp>
      <p:sp>
        <p:nvSpPr>
          <p:cNvPr id="29" name="Shape 27"/>
          <p:cNvSpPr/>
          <p:nvPr/>
        </p:nvSpPr>
        <p:spPr>
          <a:xfrm>
            <a:off x="4262438" y="1934170"/>
            <a:ext cx="1738313" cy="9525"/>
          </a:xfrm>
          <a:prstGeom prst="rect">
            <a:avLst/>
          </a:prstGeom>
          <a:solidFill>
            <a:srgbClr val="E2E8F0"/>
          </a:solidFill>
          <a:ln/>
        </p:spPr>
      </p:sp>
      <p:sp>
        <p:nvSpPr>
          <p:cNvPr id="30" name="Text 28"/>
          <p:cNvSpPr txBox="1"/>
          <p:nvPr/>
        </p:nvSpPr>
        <p:spPr>
          <a:xfrm>
            <a:off x="4357688" y="1579364"/>
            <a:ext cx="992693"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 (thẻ, ví chạm)</a:t>
            </a:r>
            <a:endParaRPr lang="en-US" sz="860" dirty="0"/>
          </a:p>
        </p:txBody>
      </p:sp>
      <p:sp>
        <p:nvSpPr>
          <p:cNvPr id="31" name="Shape 29"/>
          <p:cNvSpPr/>
          <p:nvPr/>
        </p:nvSpPr>
        <p:spPr>
          <a:xfrm>
            <a:off x="6000750" y="1934170"/>
            <a:ext cx="1738313" cy="9525"/>
          </a:xfrm>
          <a:prstGeom prst="rect">
            <a:avLst/>
          </a:prstGeom>
          <a:solidFill>
            <a:srgbClr val="E2E8F0"/>
          </a:solidFill>
          <a:ln/>
        </p:spPr>
      </p:sp>
      <p:sp>
        <p:nvSpPr>
          <p:cNvPr id="32" name="Text 30"/>
          <p:cNvSpPr txBox="1"/>
          <p:nvPr/>
        </p:nvSpPr>
        <p:spPr>
          <a:xfrm>
            <a:off x="6096000" y="1579364"/>
            <a:ext cx="992693"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 (thẻ, ví chạm)</a:t>
            </a:r>
            <a:endParaRPr lang="en-US" sz="860" dirty="0"/>
          </a:p>
        </p:txBody>
      </p:sp>
      <p:sp>
        <p:nvSpPr>
          <p:cNvPr id="33" name="Shape 31"/>
          <p:cNvSpPr/>
          <p:nvPr/>
        </p:nvSpPr>
        <p:spPr>
          <a:xfrm>
            <a:off x="7739062" y="1934170"/>
            <a:ext cx="1738313" cy="9525"/>
          </a:xfrm>
          <a:prstGeom prst="rect">
            <a:avLst/>
          </a:prstGeom>
          <a:solidFill>
            <a:srgbClr val="E2E8F0"/>
          </a:solidFill>
          <a:ln/>
        </p:spPr>
      </p:sp>
      <p:sp>
        <p:nvSpPr>
          <p:cNvPr id="34" name="Text 32"/>
          <p:cNvSpPr txBox="1"/>
          <p:nvPr/>
        </p:nvSpPr>
        <p:spPr>
          <a:xfrm>
            <a:off x="7834313" y="1579364"/>
            <a:ext cx="1216866"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Chỉ 6 nước đã kết nối</a:t>
            </a:r>
            <a:endParaRPr lang="en-US" sz="860" dirty="0"/>
          </a:p>
        </p:txBody>
      </p:sp>
      <p:sp>
        <p:nvSpPr>
          <p:cNvPr id="35" name="Shape 33"/>
          <p:cNvSpPr/>
          <p:nvPr/>
        </p:nvSpPr>
        <p:spPr>
          <a:xfrm>
            <a:off x="9477375" y="1522214"/>
            <a:ext cx="2095500" cy="421481"/>
          </a:xfrm>
          <a:prstGeom prst="rect">
            <a:avLst/>
          </a:prstGeom>
          <a:solidFill>
            <a:srgbClr val="FFF5F6"/>
          </a:solidFill>
          <a:ln/>
        </p:spPr>
      </p:sp>
      <p:sp>
        <p:nvSpPr>
          <p:cNvPr id="36" name="Shape 34"/>
          <p:cNvSpPr/>
          <p:nvPr/>
        </p:nvSpPr>
        <p:spPr>
          <a:xfrm>
            <a:off x="9477375" y="1934170"/>
            <a:ext cx="2095500" cy="9525"/>
          </a:xfrm>
          <a:prstGeom prst="rect">
            <a:avLst/>
          </a:prstGeom>
          <a:solidFill>
            <a:srgbClr val="E2E8F0"/>
          </a:solidFill>
          <a:ln/>
        </p:spPr>
      </p:sp>
      <p:sp>
        <p:nvSpPr>
          <p:cNvPr id="37" name="Text 35"/>
          <p:cNvSpPr txBox="1"/>
          <p:nvPr/>
        </p:nvSpPr>
        <p:spPr>
          <a:xfrm>
            <a:off x="9572625" y="1579364"/>
            <a:ext cx="19335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Có (thẻ Visa, Mastercard, ví chạm, link)</a:t>
            </a:r>
            <a:endParaRPr lang="en-US" sz="860" dirty="0"/>
          </a:p>
        </p:txBody>
      </p:sp>
      <p:sp>
        <p:nvSpPr>
          <p:cNvPr id="38" name="Shape 36"/>
          <p:cNvSpPr/>
          <p:nvPr/>
        </p:nvSpPr>
        <p:spPr>
          <a:xfrm>
            <a:off x="619125" y="2206823"/>
            <a:ext cx="1905000" cy="9525"/>
          </a:xfrm>
          <a:prstGeom prst="rect">
            <a:avLst/>
          </a:prstGeom>
          <a:solidFill>
            <a:srgbClr val="E2E8F0"/>
          </a:solidFill>
          <a:ln/>
        </p:spPr>
      </p:sp>
      <p:sp>
        <p:nvSpPr>
          <p:cNvPr id="39" name="Text 37"/>
          <p:cNvSpPr txBox="1"/>
          <p:nvPr/>
        </p:nvSpPr>
        <p:spPr>
          <a:xfrm>
            <a:off x="714375" y="2000845"/>
            <a:ext cx="1831175"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Khách không phải cài thêm app</a:t>
            </a:r>
            <a:endParaRPr lang="en-US" sz="860" dirty="0"/>
          </a:p>
        </p:txBody>
      </p:sp>
      <p:sp>
        <p:nvSpPr>
          <p:cNvPr id="40" name="Shape 38"/>
          <p:cNvSpPr/>
          <p:nvPr/>
        </p:nvSpPr>
        <p:spPr>
          <a:xfrm>
            <a:off x="2524125" y="2206823"/>
            <a:ext cx="1738313" cy="9525"/>
          </a:xfrm>
          <a:prstGeom prst="rect">
            <a:avLst/>
          </a:prstGeom>
          <a:solidFill>
            <a:srgbClr val="E2E8F0"/>
          </a:solidFill>
          <a:ln/>
        </p:spPr>
      </p:sp>
      <p:sp>
        <p:nvSpPr>
          <p:cNvPr id="41" name="Text 39"/>
          <p:cNvSpPr txBox="1"/>
          <p:nvPr/>
        </p:nvSpPr>
        <p:spPr>
          <a:xfrm>
            <a:off x="2619375" y="2000845"/>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42" name="Shape 40"/>
          <p:cNvSpPr/>
          <p:nvPr/>
        </p:nvSpPr>
        <p:spPr>
          <a:xfrm>
            <a:off x="4262438" y="2206823"/>
            <a:ext cx="1738313" cy="9525"/>
          </a:xfrm>
          <a:prstGeom prst="rect">
            <a:avLst/>
          </a:prstGeom>
          <a:solidFill>
            <a:srgbClr val="E2E8F0"/>
          </a:solidFill>
          <a:ln/>
        </p:spPr>
      </p:sp>
      <p:sp>
        <p:nvSpPr>
          <p:cNvPr id="43" name="Text 41"/>
          <p:cNvSpPr txBox="1"/>
          <p:nvPr/>
        </p:nvSpPr>
        <p:spPr>
          <a:xfrm>
            <a:off x="4357688" y="2000845"/>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44" name="Shape 42"/>
          <p:cNvSpPr/>
          <p:nvPr/>
        </p:nvSpPr>
        <p:spPr>
          <a:xfrm>
            <a:off x="6000750" y="2206823"/>
            <a:ext cx="1738313" cy="9525"/>
          </a:xfrm>
          <a:prstGeom prst="rect">
            <a:avLst/>
          </a:prstGeom>
          <a:solidFill>
            <a:srgbClr val="E2E8F0"/>
          </a:solidFill>
          <a:ln/>
        </p:spPr>
      </p:sp>
      <p:sp>
        <p:nvSpPr>
          <p:cNvPr id="45" name="Text 43"/>
          <p:cNvSpPr txBox="1"/>
          <p:nvPr/>
        </p:nvSpPr>
        <p:spPr>
          <a:xfrm>
            <a:off x="6096000" y="2000845"/>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46" name="Shape 44"/>
          <p:cNvSpPr/>
          <p:nvPr/>
        </p:nvSpPr>
        <p:spPr>
          <a:xfrm>
            <a:off x="7739062" y="2206823"/>
            <a:ext cx="1738313" cy="9525"/>
          </a:xfrm>
          <a:prstGeom prst="rect">
            <a:avLst/>
          </a:prstGeom>
          <a:solidFill>
            <a:srgbClr val="E2E8F0"/>
          </a:solidFill>
          <a:ln/>
        </p:spPr>
      </p:sp>
      <p:sp>
        <p:nvSpPr>
          <p:cNvPr id="47" name="Text 45"/>
          <p:cNvSpPr txBox="1"/>
          <p:nvPr/>
        </p:nvSpPr>
        <p:spPr>
          <a:xfrm>
            <a:off x="7834313" y="2000845"/>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48" name="Shape 46"/>
          <p:cNvSpPr/>
          <p:nvPr/>
        </p:nvSpPr>
        <p:spPr>
          <a:xfrm>
            <a:off x="9477375" y="1943695"/>
            <a:ext cx="2095500" cy="272653"/>
          </a:xfrm>
          <a:prstGeom prst="rect">
            <a:avLst/>
          </a:prstGeom>
          <a:solidFill>
            <a:srgbClr val="FFF5F6"/>
          </a:solidFill>
          <a:ln/>
        </p:spPr>
      </p:sp>
      <p:sp>
        <p:nvSpPr>
          <p:cNvPr id="49" name="Shape 47"/>
          <p:cNvSpPr/>
          <p:nvPr/>
        </p:nvSpPr>
        <p:spPr>
          <a:xfrm>
            <a:off x="9477375" y="2206823"/>
            <a:ext cx="2095500" cy="9525"/>
          </a:xfrm>
          <a:prstGeom prst="rect">
            <a:avLst/>
          </a:prstGeom>
          <a:solidFill>
            <a:srgbClr val="E2E8F0"/>
          </a:solidFill>
          <a:ln/>
        </p:spPr>
      </p:sp>
      <p:sp>
        <p:nvSpPr>
          <p:cNvPr id="50" name="Text 48"/>
          <p:cNvSpPr txBox="1"/>
          <p:nvPr/>
        </p:nvSpPr>
        <p:spPr>
          <a:xfrm>
            <a:off x="9572625" y="2000845"/>
            <a:ext cx="195227"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Có</a:t>
            </a:r>
            <a:endParaRPr lang="en-US" sz="860" dirty="0"/>
          </a:p>
        </p:txBody>
      </p:sp>
      <p:sp>
        <p:nvSpPr>
          <p:cNvPr id="51" name="Shape 49"/>
          <p:cNvSpPr/>
          <p:nvPr/>
        </p:nvSpPr>
        <p:spPr>
          <a:xfrm>
            <a:off x="619125" y="2628305"/>
            <a:ext cx="1905000" cy="9525"/>
          </a:xfrm>
          <a:prstGeom prst="rect">
            <a:avLst/>
          </a:prstGeom>
          <a:solidFill>
            <a:srgbClr val="E2E8F0"/>
          </a:solidFill>
          <a:ln/>
        </p:spPr>
      </p:sp>
      <p:sp>
        <p:nvSpPr>
          <p:cNvPr id="52" name="Text 50"/>
          <p:cNvSpPr txBox="1"/>
          <p:nvPr/>
        </p:nvSpPr>
        <p:spPr>
          <a:xfrm>
            <a:off x="714375" y="2273498"/>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Cửa hàng không cần mua thiết bị</a:t>
            </a:r>
            <a:endParaRPr lang="en-US" sz="860" dirty="0"/>
          </a:p>
        </p:txBody>
      </p:sp>
      <p:sp>
        <p:nvSpPr>
          <p:cNvPr id="53" name="Shape 51"/>
          <p:cNvSpPr/>
          <p:nvPr/>
        </p:nvSpPr>
        <p:spPr>
          <a:xfrm>
            <a:off x="2524125" y="2628305"/>
            <a:ext cx="1738313" cy="9525"/>
          </a:xfrm>
          <a:prstGeom prst="rect">
            <a:avLst/>
          </a:prstGeom>
          <a:solidFill>
            <a:srgbClr val="E2E8F0"/>
          </a:solidFill>
          <a:ln/>
        </p:spPr>
      </p:sp>
      <p:sp>
        <p:nvSpPr>
          <p:cNvPr id="54" name="Text 52"/>
          <p:cNvSpPr txBox="1"/>
          <p:nvPr/>
        </p:nvSpPr>
        <p:spPr>
          <a:xfrm>
            <a:off x="2619375" y="2273498"/>
            <a:ext cx="40536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a:t>
            </a:r>
            <a:endParaRPr lang="en-US" sz="860" dirty="0"/>
          </a:p>
        </p:txBody>
      </p:sp>
      <p:sp>
        <p:nvSpPr>
          <p:cNvPr id="55" name="Shape 53"/>
          <p:cNvSpPr/>
          <p:nvPr/>
        </p:nvSpPr>
        <p:spPr>
          <a:xfrm>
            <a:off x="4262438" y="2628305"/>
            <a:ext cx="1738313" cy="9525"/>
          </a:xfrm>
          <a:prstGeom prst="rect">
            <a:avLst/>
          </a:prstGeom>
          <a:solidFill>
            <a:srgbClr val="E2E8F0"/>
          </a:solidFill>
          <a:ln/>
        </p:spPr>
      </p:sp>
      <p:sp>
        <p:nvSpPr>
          <p:cNvPr id="56" name="Text 54"/>
          <p:cNvSpPr txBox="1"/>
          <p:nvPr/>
        </p:nvSpPr>
        <p:spPr>
          <a:xfrm>
            <a:off x="4357688" y="2273498"/>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57" name="Shape 55"/>
          <p:cNvSpPr/>
          <p:nvPr/>
        </p:nvSpPr>
        <p:spPr>
          <a:xfrm>
            <a:off x="6000750" y="2628305"/>
            <a:ext cx="1738313" cy="9525"/>
          </a:xfrm>
          <a:prstGeom prst="rect">
            <a:avLst/>
          </a:prstGeom>
          <a:solidFill>
            <a:srgbClr val="E2E8F0"/>
          </a:solidFill>
          <a:ln/>
        </p:spPr>
      </p:sp>
      <p:sp>
        <p:nvSpPr>
          <p:cNvPr id="58" name="Text 56"/>
          <p:cNvSpPr txBox="1"/>
          <p:nvPr/>
        </p:nvSpPr>
        <p:spPr>
          <a:xfrm>
            <a:off x="6096000" y="2273498"/>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59" name="Shape 57"/>
          <p:cNvSpPr/>
          <p:nvPr/>
        </p:nvSpPr>
        <p:spPr>
          <a:xfrm>
            <a:off x="7739062" y="2628305"/>
            <a:ext cx="1738313" cy="9525"/>
          </a:xfrm>
          <a:prstGeom prst="rect">
            <a:avLst/>
          </a:prstGeom>
          <a:solidFill>
            <a:srgbClr val="E2E8F0"/>
          </a:solidFill>
          <a:ln/>
        </p:spPr>
      </p:sp>
      <p:sp>
        <p:nvSpPr>
          <p:cNvPr id="60" name="Text 58"/>
          <p:cNvSpPr txBox="1"/>
          <p:nvPr/>
        </p:nvSpPr>
        <p:spPr>
          <a:xfrm>
            <a:off x="7834313" y="2273498"/>
            <a:ext cx="194438"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a:t>
            </a:r>
            <a:endParaRPr lang="en-US" sz="860" dirty="0"/>
          </a:p>
        </p:txBody>
      </p:sp>
      <p:sp>
        <p:nvSpPr>
          <p:cNvPr id="61" name="Shape 59"/>
          <p:cNvSpPr/>
          <p:nvPr/>
        </p:nvSpPr>
        <p:spPr>
          <a:xfrm>
            <a:off x="9477375" y="2216348"/>
            <a:ext cx="2095500" cy="421481"/>
          </a:xfrm>
          <a:prstGeom prst="rect">
            <a:avLst/>
          </a:prstGeom>
          <a:solidFill>
            <a:srgbClr val="FFF5F6"/>
          </a:solidFill>
          <a:ln/>
        </p:spPr>
      </p:sp>
      <p:sp>
        <p:nvSpPr>
          <p:cNvPr id="62" name="Shape 60"/>
          <p:cNvSpPr/>
          <p:nvPr/>
        </p:nvSpPr>
        <p:spPr>
          <a:xfrm>
            <a:off x="9477375" y="2628305"/>
            <a:ext cx="2095500" cy="9525"/>
          </a:xfrm>
          <a:prstGeom prst="rect">
            <a:avLst/>
          </a:prstGeom>
          <a:solidFill>
            <a:srgbClr val="E2E8F0"/>
          </a:solidFill>
          <a:ln/>
        </p:spPr>
      </p:sp>
      <p:sp>
        <p:nvSpPr>
          <p:cNvPr id="63" name="Text 61"/>
          <p:cNvSpPr txBox="1"/>
          <p:nvPr/>
        </p:nvSpPr>
        <p:spPr>
          <a:xfrm>
            <a:off x="9572625" y="2273498"/>
            <a:ext cx="195227"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Có</a:t>
            </a:r>
            <a:endParaRPr lang="en-US" sz="860" dirty="0"/>
          </a:p>
        </p:txBody>
      </p:sp>
      <p:sp>
        <p:nvSpPr>
          <p:cNvPr id="64" name="Shape 62"/>
          <p:cNvSpPr/>
          <p:nvPr/>
        </p:nvSpPr>
        <p:spPr>
          <a:xfrm>
            <a:off x="619125" y="2900958"/>
            <a:ext cx="1905000" cy="9525"/>
          </a:xfrm>
          <a:prstGeom prst="rect">
            <a:avLst/>
          </a:prstGeom>
          <a:solidFill>
            <a:srgbClr val="E2E8F0"/>
          </a:solidFill>
          <a:ln/>
        </p:spPr>
      </p:sp>
      <p:sp>
        <p:nvSpPr>
          <p:cNvPr id="65" name="Text 63"/>
          <p:cNvSpPr txBox="1"/>
          <p:nvPr/>
        </p:nvSpPr>
        <p:spPr>
          <a:xfrm>
            <a:off x="714375" y="2694980"/>
            <a:ext cx="978810"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Phí với cửa hàng</a:t>
            </a:r>
            <a:endParaRPr lang="en-US" sz="860" dirty="0"/>
          </a:p>
        </p:txBody>
      </p:sp>
      <p:sp>
        <p:nvSpPr>
          <p:cNvPr id="66" name="Shape 64"/>
          <p:cNvSpPr/>
          <p:nvPr/>
        </p:nvSpPr>
        <p:spPr>
          <a:xfrm>
            <a:off x="2524125" y="2900958"/>
            <a:ext cx="1738313" cy="9525"/>
          </a:xfrm>
          <a:prstGeom prst="rect">
            <a:avLst/>
          </a:prstGeom>
          <a:solidFill>
            <a:srgbClr val="E2E8F0"/>
          </a:solidFill>
          <a:ln/>
        </p:spPr>
      </p:sp>
      <p:sp>
        <p:nvSpPr>
          <p:cNvPr id="67" name="Text 65"/>
          <p:cNvSpPr txBox="1"/>
          <p:nvPr/>
        </p:nvSpPr>
        <p:spPr>
          <a:xfrm>
            <a:off x="2619375" y="2694980"/>
            <a:ext cx="1145087"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MDR theo hợp đồng</a:t>
            </a:r>
            <a:endParaRPr lang="en-US" sz="860" dirty="0"/>
          </a:p>
        </p:txBody>
      </p:sp>
      <p:sp>
        <p:nvSpPr>
          <p:cNvPr id="68" name="Shape 66"/>
          <p:cNvSpPr/>
          <p:nvPr/>
        </p:nvSpPr>
        <p:spPr>
          <a:xfrm>
            <a:off x="4262438" y="2900958"/>
            <a:ext cx="1738313" cy="9525"/>
          </a:xfrm>
          <a:prstGeom prst="rect">
            <a:avLst/>
          </a:prstGeom>
          <a:solidFill>
            <a:srgbClr val="E2E8F0"/>
          </a:solidFill>
          <a:ln/>
        </p:spPr>
      </p:sp>
      <p:sp>
        <p:nvSpPr>
          <p:cNvPr id="69" name="Text 67"/>
          <p:cNvSpPr txBox="1"/>
          <p:nvPr/>
        </p:nvSpPr>
        <p:spPr>
          <a:xfrm>
            <a:off x="4357688" y="2694980"/>
            <a:ext cx="1145087"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MDR theo hợp đồng</a:t>
            </a:r>
            <a:endParaRPr lang="en-US" sz="860" dirty="0"/>
          </a:p>
        </p:txBody>
      </p:sp>
      <p:sp>
        <p:nvSpPr>
          <p:cNvPr id="70" name="Shape 68"/>
          <p:cNvSpPr/>
          <p:nvPr/>
        </p:nvSpPr>
        <p:spPr>
          <a:xfrm>
            <a:off x="6000750" y="2900958"/>
            <a:ext cx="1738313" cy="9525"/>
          </a:xfrm>
          <a:prstGeom prst="rect">
            <a:avLst/>
          </a:prstGeom>
          <a:solidFill>
            <a:srgbClr val="E2E8F0"/>
          </a:solidFill>
          <a:ln/>
        </p:spPr>
      </p:sp>
      <p:sp>
        <p:nvSpPr>
          <p:cNvPr id="71" name="Text 69"/>
          <p:cNvSpPr txBox="1"/>
          <p:nvPr/>
        </p:nvSpPr>
        <p:spPr>
          <a:xfrm>
            <a:off x="6096000" y="2694980"/>
            <a:ext cx="61502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Gần như 0</a:t>
            </a:r>
            <a:endParaRPr lang="en-US" sz="860" dirty="0"/>
          </a:p>
        </p:txBody>
      </p:sp>
      <p:sp>
        <p:nvSpPr>
          <p:cNvPr id="72" name="Shape 70"/>
          <p:cNvSpPr/>
          <p:nvPr/>
        </p:nvSpPr>
        <p:spPr>
          <a:xfrm>
            <a:off x="7739062" y="2900958"/>
            <a:ext cx="1738313" cy="9525"/>
          </a:xfrm>
          <a:prstGeom prst="rect">
            <a:avLst/>
          </a:prstGeom>
          <a:solidFill>
            <a:srgbClr val="E2E8F0"/>
          </a:solidFill>
          <a:ln/>
        </p:spPr>
      </p:sp>
      <p:sp>
        <p:nvSpPr>
          <p:cNvPr id="73" name="Text 71"/>
          <p:cNvSpPr txBox="1"/>
          <p:nvPr/>
        </p:nvSpPr>
        <p:spPr>
          <a:xfrm>
            <a:off x="7834313" y="2694980"/>
            <a:ext cx="1244001"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Theo đơn vị cung cấp</a:t>
            </a:r>
            <a:endParaRPr lang="en-US" sz="860" dirty="0"/>
          </a:p>
        </p:txBody>
      </p:sp>
      <p:sp>
        <p:nvSpPr>
          <p:cNvPr id="74" name="Shape 72"/>
          <p:cNvSpPr/>
          <p:nvPr/>
        </p:nvSpPr>
        <p:spPr>
          <a:xfrm>
            <a:off x="9477375" y="2637830"/>
            <a:ext cx="2095500" cy="272653"/>
          </a:xfrm>
          <a:prstGeom prst="rect">
            <a:avLst/>
          </a:prstGeom>
          <a:solidFill>
            <a:srgbClr val="FFF5F6"/>
          </a:solidFill>
          <a:ln/>
        </p:spPr>
      </p:sp>
      <p:sp>
        <p:nvSpPr>
          <p:cNvPr id="75" name="Shape 73"/>
          <p:cNvSpPr/>
          <p:nvPr/>
        </p:nvSpPr>
        <p:spPr>
          <a:xfrm>
            <a:off x="9477375" y="2900958"/>
            <a:ext cx="2095500" cy="9525"/>
          </a:xfrm>
          <a:prstGeom prst="rect">
            <a:avLst/>
          </a:prstGeom>
          <a:solidFill>
            <a:srgbClr val="E2E8F0"/>
          </a:solidFill>
          <a:ln/>
        </p:spPr>
      </p:sp>
      <p:sp>
        <p:nvSpPr>
          <p:cNvPr id="76" name="Text 74"/>
          <p:cNvSpPr txBox="1"/>
          <p:nvPr/>
        </p:nvSpPr>
        <p:spPr>
          <a:xfrm>
            <a:off x="9572625" y="2694980"/>
            <a:ext cx="1758764"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Gần như 0, có lộ trình nâng gói</a:t>
            </a:r>
            <a:endParaRPr lang="en-US" sz="860" dirty="0"/>
          </a:p>
        </p:txBody>
      </p:sp>
      <p:sp>
        <p:nvSpPr>
          <p:cNvPr id="77" name="Shape 75"/>
          <p:cNvSpPr/>
          <p:nvPr/>
        </p:nvSpPr>
        <p:spPr>
          <a:xfrm>
            <a:off x="619125" y="3173611"/>
            <a:ext cx="1905000" cy="9525"/>
          </a:xfrm>
          <a:prstGeom prst="rect">
            <a:avLst/>
          </a:prstGeom>
          <a:solidFill>
            <a:srgbClr val="E2E8F0"/>
          </a:solidFill>
          <a:ln/>
        </p:spPr>
      </p:sp>
      <p:sp>
        <p:nvSpPr>
          <p:cNvPr id="78" name="Text 76"/>
          <p:cNvSpPr txBox="1"/>
          <p:nvPr/>
        </p:nvSpPr>
        <p:spPr>
          <a:xfrm>
            <a:off x="714375" y="2967633"/>
            <a:ext cx="459787"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Tiền về</a:t>
            </a:r>
            <a:endParaRPr lang="en-US" sz="860" dirty="0"/>
          </a:p>
        </p:txBody>
      </p:sp>
      <p:sp>
        <p:nvSpPr>
          <p:cNvPr id="79" name="Shape 77"/>
          <p:cNvSpPr/>
          <p:nvPr/>
        </p:nvSpPr>
        <p:spPr>
          <a:xfrm>
            <a:off x="2524125" y="3173611"/>
            <a:ext cx="1738313" cy="9525"/>
          </a:xfrm>
          <a:prstGeom prst="rect">
            <a:avLst/>
          </a:prstGeom>
          <a:solidFill>
            <a:srgbClr val="E2E8F0"/>
          </a:solidFill>
          <a:ln/>
        </p:spPr>
      </p:sp>
      <p:sp>
        <p:nvSpPr>
          <p:cNvPr id="80" name="Text 78"/>
          <p:cNvSpPr txBox="1"/>
          <p:nvPr/>
        </p:nvSpPr>
        <p:spPr>
          <a:xfrm>
            <a:off x="2619375" y="2967633"/>
            <a:ext cx="1357429"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Theo chu kỳ quyết toán</a:t>
            </a:r>
            <a:endParaRPr lang="en-US" sz="860" dirty="0"/>
          </a:p>
        </p:txBody>
      </p:sp>
      <p:sp>
        <p:nvSpPr>
          <p:cNvPr id="81" name="Shape 79"/>
          <p:cNvSpPr/>
          <p:nvPr/>
        </p:nvSpPr>
        <p:spPr>
          <a:xfrm>
            <a:off x="4262438" y="3173611"/>
            <a:ext cx="1738313" cy="9525"/>
          </a:xfrm>
          <a:prstGeom prst="rect">
            <a:avLst/>
          </a:prstGeom>
          <a:solidFill>
            <a:srgbClr val="E2E8F0"/>
          </a:solidFill>
          <a:ln/>
        </p:spPr>
      </p:sp>
      <p:sp>
        <p:nvSpPr>
          <p:cNvPr id="82" name="Text 80"/>
          <p:cNvSpPr txBox="1"/>
          <p:nvPr/>
        </p:nvSpPr>
        <p:spPr>
          <a:xfrm>
            <a:off x="4357688" y="2967633"/>
            <a:ext cx="1357429"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Theo chu kỳ quyết toán</a:t>
            </a:r>
            <a:endParaRPr lang="en-US" sz="860" dirty="0"/>
          </a:p>
        </p:txBody>
      </p:sp>
      <p:sp>
        <p:nvSpPr>
          <p:cNvPr id="83" name="Shape 81"/>
          <p:cNvSpPr/>
          <p:nvPr/>
        </p:nvSpPr>
        <p:spPr>
          <a:xfrm>
            <a:off x="6000750" y="3173611"/>
            <a:ext cx="1738313" cy="9525"/>
          </a:xfrm>
          <a:prstGeom prst="rect">
            <a:avLst/>
          </a:prstGeom>
          <a:solidFill>
            <a:srgbClr val="E2E8F0"/>
          </a:solidFill>
          <a:ln/>
        </p:spPr>
      </p:sp>
      <p:sp>
        <p:nvSpPr>
          <p:cNvPr id="84" name="Text 82"/>
          <p:cNvSpPr txBox="1"/>
          <p:nvPr/>
        </p:nvSpPr>
        <p:spPr>
          <a:xfrm>
            <a:off x="6096000" y="2967633"/>
            <a:ext cx="894094"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Gần như tức thì</a:t>
            </a:r>
            <a:endParaRPr lang="en-US" sz="860" dirty="0"/>
          </a:p>
        </p:txBody>
      </p:sp>
      <p:sp>
        <p:nvSpPr>
          <p:cNvPr id="85" name="Shape 83"/>
          <p:cNvSpPr/>
          <p:nvPr/>
        </p:nvSpPr>
        <p:spPr>
          <a:xfrm>
            <a:off x="7739062" y="3173611"/>
            <a:ext cx="1738313" cy="9525"/>
          </a:xfrm>
          <a:prstGeom prst="rect">
            <a:avLst/>
          </a:prstGeom>
          <a:solidFill>
            <a:srgbClr val="E2E8F0"/>
          </a:solidFill>
          <a:ln/>
        </p:spPr>
      </p:sp>
      <p:sp>
        <p:nvSpPr>
          <p:cNvPr id="86" name="Text 84"/>
          <p:cNvSpPr txBox="1"/>
          <p:nvPr/>
        </p:nvSpPr>
        <p:spPr>
          <a:xfrm>
            <a:off x="7834313" y="2967633"/>
            <a:ext cx="1244001"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Theo đơn vị cung cấp</a:t>
            </a:r>
            <a:endParaRPr lang="en-US" sz="860" dirty="0"/>
          </a:p>
        </p:txBody>
      </p:sp>
      <p:sp>
        <p:nvSpPr>
          <p:cNvPr id="87" name="Shape 85"/>
          <p:cNvSpPr/>
          <p:nvPr/>
        </p:nvSpPr>
        <p:spPr>
          <a:xfrm>
            <a:off x="9477375" y="2910483"/>
            <a:ext cx="2095500" cy="272653"/>
          </a:xfrm>
          <a:prstGeom prst="rect">
            <a:avLst/>
          </a:prstGeom>
          <a:solidFill>
            <a:srgbClr val="FFF5F6"/>
          </a:solidFill>
          <a:ln/>
        </p:spPr>
      </p:sp>
      <p:sp>
        <p:nvSpPr>
          <p:cNvPr id="88" name="Shape 86"/>
          <p:cNvSpPr/>
          <p:nvPr/>
        </p:nvSpPr>
        <p:spPr>
          <a:xfrm>
            <a:off x="9477375" y="3173611"/>
            <a:ext cx="2095500" cy="9525"/>
          </a:xfrm>
          <a:prstGeom prst="rect">
            <a:avLst/>
          </a:prstGeom>
          <a:solidFill>
            <a:srgbClr val="E2E8F0"/>
          </a:solidFill>
          <a:ln/>
        </p:spPr>
      </p:sp>
      <p:sp>
        <p:nvSpPr>
          <p:cNvPr id="89" name="Text 87"/>
          <p:cNvSpPr txBox="1"/>
          <p:nvPr/>
        </p:nvSpPr>
        <p:spPr>
          <a:xfrm>
            <a:off x="9572625" y="2967633"/>
            <a:ext cx="902771"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Gần như tức thì</a:t>
            </a:r>
            <a:endParaRPr lang="en-US" sz="860" dirty="0"/>
          </a:p>
        </p:txBody>
      </p:sp>
      <p:sp>
        <p:nvSpPr>
          <p:cNvPr id="90" name="Shape 88"/>
          <p:cNvSpPr/>
          <p:nvPr/>
        </p:nvSpPr>
        <p:spPr>
          <a:xfrm>
            <a:off x="619125" y="3595092"/>
            <a:ext cx="1905000" cy="9525"/>
          </a:xfrm>
          <a:prstGeom prst="rect">
            <a:avLst/>
          </a:prstGeom>
          <a:solidFill>
            <a:srgbClr val="E2E8F0"/>
          </a:solidFill>
          <a:ln/>
        </p:spPr>
      </p:sp>
      <p:sp>
        <p:nvSpPr>
          <p:cNvPr id="91" name="Text 89"/>
          <p:cNvSpPr txBox="1"/>
          <p:nvPr/>
        </p:nvSpPr>
        <p:spPr>
          <a:xfrm>
            <a:off x="714375" y="3240286"/>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Có phương án khi không chạm được</a:t>
            </a:r>
            <a:endParaRPr lang="en-US" sz="860" dirty="0"/>
          </a:p>
        </p:txBody>
      </p:sp>
      <p:sp>
        <p:nvSpPr>
          <p:cNvPr id="92" name="Shape 90"/>
          <p:cNvSpPr/>
          <p:nvPr/>
        </p:nvSpPr>
        <p:spPr>
          <a:xfrm>
            <a:off x="2524125" y="3595092"/>
            <a:ext cx="1738313" cy="9525"/>
          </a:xfrm>
          <a:prstGeom prst="rect">
            <a:avLst/>
          </a:prstGeom>
          <a:solidFill>
            <a:srgbClr val="E2E8F0"/>
          </a:solidFill>
          <a:ln/>
        </p:spPr>
      </p:sp>
      <p:sp>
        <p:nvSpPr>
          <p:cNvPr id="93" name="Text 91"/>
          <p:cNvSpPr txBox="1"/>
          <p:nvPr/>
        </p:nvSpPr>
        <p:spPr>
          <a:xfrm>
            <a:off x="2619375" y="3240286"/>
            <a:ext cx="882262"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Quẹt, cắm chip</a:t>
            </a:r>
            <a:endParaRPr lang="en-US" sz="860" dirty="0"/>
          </a:p>
        </p:txBody>
      </p:sp>
      <p:sp>
        <p:nvSpPr>
          <p:cNvPr id="94" name="Shape 92"/>
          <p:cNvSpPr/>
          <p:nvPr/>
        </p:nvSpPr>
        <p:spPr>
          <a:xfrm>
            <a:off x="4262438" y="3595092"/>
            <a:ext cx="1738313" cy="9525"/>
          </a:xfrm>
          <a:prstGeom prst="rect">
            <a:avLst/>
          </a:prstGeom>
          <a:solidFill>
            <a:srgbClr val="E2E8F0"/>
          </a:solidFill>
          <a:ln/>
        </p:spPr>
      </p:sp>
      <p:sp>
        <p:nvSpPr>
          <p:cNvPr id="95" name="Text 93"/>
          <p:cNvSpPr txBox="1"/>
          <p:nvPr/>
        </p:nvSpPr>
        <p:spPr>
          <a:xfrm>
            <a:off x="4357688" y="3240286"/>
            <a:ext cx="40536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a:t>
            </a:r>
            <a:endParaRPr lang="en-US" sz="860" dirty="0"/>
          </a:p>
        </p:txBody>
      </p:sp>
      <p:sp>
        <p:nvSpPr>
          <p:cNvPr id="96" name="Shape 94"/>
          <p:cNvSpPr/>
          <p:nvPr/>
        </p:nvSpPr>
        <p:spPr>
          <a:xfrm>
            <a:off x="6000750" y="3595092"/>
            <a:ext cx="1738313" cy="9525"/>
          </a:xfrm>
          <a:prstGeom prst="rect">
            <a:avLst/>
          </a:prstGeom>
          <a:solidFill>
            <a:srgbClr val="E2E8F0"/>
          </a:solidFill>
          <a:ln/>
        </p:spPr>
      </p:sp>
      <p:sp>
        <p:nvSpPr>
          <p:cNvPr id="97" name="Text 95"/>
          <p:cNvSpPr txBox="1"/>
          <p:nvPr/>
        </p:nvSpPr>
        <p:spPr>
          <a:xfrm>
            <a:off x="6096000" y="3240286"/>
            <a:ext cx="50948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 (link)</a:t>
            </a:r>
            <a:endParaRPr lang="en-US" sz="860" dirty="0"/>
          </a:p>
        </p:txBody>
      </p:sp>
      <p:sp>
        <p:nvSpPr>
          <p:cNvPr id="98" name="Shape 96"/>
          <p:cNvSpPr/>
          <p:nvPr/>
        </p:nvSpPr>
        <p:spPr>
          <a:xfrm>
            <a:off x="7739062" y="3595092"/>
            <a:ext cx="1738313" cy="9525"/>
          </a:xfrm>
          <a:prstGeom prst="rect">
            <a:avLst/>
          </a:prstGeom>
          <a:solidFill>
            <a:srgbClr val="E2E8F0"/>
          </a:solidFill>
          <a:ln/>
        </p:spPr>
      </p:sp>
      <p:sp>
        <p:nvSpPr>
          <p:cNvPr id="99" name="Text 97"/>
          <p:cNvSpPr txBox="1"/>
          <p:nvPr/>
        </p:nvSpPr>
        <p:spPr>
          <a:xfrm>
            <a:off x="7834313" y="3240286"/>
            <a:ext cx="89015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 áp dụng</a:t>
            </a:r>
            <a:endParaRPr lang="en-US" sz="860" dirty="0"/>
          </a:p>
        </p:txBody>
      </p:sp>
      <p:sp>
        <p:nvSpPr>
          <p:cNvPr id="100" name="Shape 98"/>
          <p:cNvSpPr/>
          <p:nvPr/>
        </p:nvSpPr>
        <p:spPr>
          <a:xfrm>
            <a:off x="9477375" y="3183136"/>
            <a:ext cx="2095500" cy="421481"/>
          </a:xfrm>
          <a:prstGeom prst="rect">
            <a:avLst/>
          </a:prstGeom>
          <a:solidFill>
            <a:srgbClr val="FFF5F6"/>
          </a:solidFill>
          <a:ln/>
        </p:spPr>
      </p:sp>
      <p:sp>
        <p:nvSpPr>
          <p:cNvPr id="101" name="Shape 99"/>
          <p:cNvSpPr/>
          <p:nvPr/>
        </p:nvSpPr>
        <p:spPr>
          <a:xfrm>
            <a:off x="9477375" y="3595092"/>
            <a:ext cx="2095500" cy="9525"/>
          </a:xfrm>
          <a:prstGeom prst="rect">
            <a:avLst/>
          </a:prstGeom>
          <a:solidFill>
            <a:srgbClr val="E2E8F0"/>
          </a:solidFill>
          <a:ln/>
        </p:spPr>
      </p:sp>
      <p:sp>
        <p:nvSpPr>
          <p:cNvPr id="102" name="Text 100"/>
          <p:cNvSpPr txBox="1"/>
          <p:nvPr/>
        </p:nvSpPr>
        <p:spPr>
          <a:xfrm>
            <a:off x="9572625" y="3240286"/>
            <a:ext cx="515002"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Có (link)</a:t>
            </a:r>
            <a:endParaRPr lang="en-US" sz="860" dirty="0"/>
          </a:p>
        </p:txBody>
      </p:sp>
      <p:sp>
        <p:nvSpPr>
          <p:cNvPr id="103" name="Shape 101"/>
          <p:cNvSpPr/>
          <p:nvPr/>
        </p:nvSpPr>
        <p:spPr>
          <a:xfrm>
            <a:off x="619125" y="4016573"/>
            <a:ext cx="1905000" cy="9525"/>
          </a:xfrm>
          <a:prstGeom prst="rect">
            <a:avLst/>
          </a:prstGeom>
          <a:solidFill>
            <a:srgbClr val="E2E8F0"/>
          </a:solidFill>
          <a:ln/>
        </p:spPr>
      </p:sp>
      <p:sp>
        <p:nvSpPr>
          <p:cNvPr id="104" name="Text 102"/>
          <p:cNvSpPr txBox="1"/>
          <p:nvPr/>
        </p:nvSpPr>
        <p:spPr>
          <a:xfrm>
            <a:off x="714375" y="3661767"/>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Thanh toán nằm ngay trong phần mềm bán hàng, tự ghi sổ</a:t>
            </a:r>
            <a:endParaRPr lang="en-US" sz="860" dirty="0"/>
          </a:p>
        </p:txBody>
      </p:sp>
      <p:sp>
        <p:nvSpPr>
          <p:cNvPr id="105" name="Shape 103"/>
          <p:cNvSpPr/>
          <p:nvPr/>
        </p:nvSpPr>
        <p:spPr>
          <a:xfrm>
            <a:off x="2524125" y="4016573"/>
            <a:ext cx="1738313" cy="9525"/>
          </a:xfrm>
          <a:prstGeom prst="rect">
            <a:avLst/>
          </a:prstGeom>
          <a:solidFill>
            <a:srgbClr val="E2E8F0"/>
          </a:solidFill>
          <a:ln/>
        </p:spPr>
      </p:sp>
      <p:sp>
        <p:nvSpPr>
          <p:cNvPr id="106" name="Text 104"/>
          <p:cNvSpPr txBox="1"/>
          <p:nvPr/>
        </p:nvSpPr>
        <p:spPr>
          <a:xfrm>
            <a:off x="2619375" y="3661767"/>
            <a:ext cx="40536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a:t>
            </a:r>
            <a:endParaRPr lang="en-US" sz="860" dirty="0"/>
          </a:p>
        </p:txBody>
      </p:sp>
      <p:sp>
        <p:nvSpPr>
          <p:cNvPr id="107" name="Shape 105"/>
          <p:cNvSpPr/>
          <p:nvPr/>
        </p:nvSpPr>
        <p:spPr>
          <a:xfrm>
            <a:off x="4262438" y="4016573"/>
            <a:ext cx="1738313" cy="9525"/>
          </a:xfrm>
          <a:prstGeom prst="rect">
            <a:avLst/>
          </a:prstGeom>
          <a:solidFill>
            <a:srgbClr val="E2E8F0"/>
          </a:solidFill>
          <a:ln/>
        </p:spPr>
      </p:sp>
      <p:sp>
        <p:nvSpPr>
          <p:cNvPr id="108" name="Text 106"/>
          <p:cNvSpPr txBox="1"/>
          <p:nvPr/>
        </p:nvSpPr>
        <p:spPr>
          <a:xfrm>
            <a:off x="4357688" y="3661767"/>
            <a:ext cx="40536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a:t>
            </a:r>
            <a:endParaRPr lang="en-US" sz="860" dirty="0"/>
          </a:p>
        </p:txBody>
      </p:sp>
      <p:sp>
        <p:nvSpPr>
          <p:cNvPr id="109" name="Shape 107"/>
          <p:cNvSpPr/>
          <p:nvPr/>
        </p:nvSpPr>
        <p:spPr>
          <a:xfrm>
            <a:off x="6000750" y="4016573"/>
            <a:ext cx="1738313" cy="9525"/>
          </a:xfrm>
          <a:prstGeom prst="rect">
            <a:avLst/>
          </a:prstGeom>
          <a:solidFill>
            <a:srgbClr val="E2E8F0"/>
          </a:solidFill>
          <a:ln/>
        </p:spPr>
      </p:sp>
      <p:sp>
        <p:nvSpPr>
          <p:cNvPr id="110" name="Text 108"/>
          <p:cNvSpPr txBox="1"/>
          <p:nvPr/>
        </p:nvSpPr>
        <p:spPr>
          <a:xfrm>
            <a:off x="6096000" y="3661767"/>
            <a:ext cx="405360"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a:t>
            </a:r>
            <a:endParaRPr lang="en-US" sz="860" dirty="0"/>
          </a:p>
        </p:txBody>
      </p:sp>
      <p:sp>
        <p:nvSpPr>
          <p:cNvPr id="111" name="Shape 109"/>
          <p:cNvSpPr/>
          <p:nvPr/>
        </p:nvSpPr>
        <p:spPr>
          <a:xfrm>
            <a:off x="7739062" y="4016573"/>
            <a:ext cx="1738313" cy="9525"/>
          </a:xfrm>
          <a:prstGeom prst="rect">
            <a:avLst/>
          </a:prstGeom>
          <a:solidFill>
            <a:srgbClr val="E2E8F0"/>
          </a:solidFill>
          <a:ln/>
        </p:spPr>
      </p:sp>
      <p:sp>
        <p:nvSpPr>
          <p:cNvPr id="112" name="Text 110"/>
          <p:cNvSpPr txBox="1"/>
          <p:nvPr/>
        </p:nvSpPr>
        <p:spPr>
          <a:xfrm>
            <a:off x="7834313" y="3661767"/>
            <a:ext cx="567535"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Một phần</a:t>
            </a:r>
            <a:endParaRPr lang="en-US" sz="860" dirty="0"/>
          </a:p>
        </p:txBody>
      </p:sp>
      <p:sp>
        <p:nvSpPr>
          <p:cNvPr id="113" name="Shape 111"/>
          <p:cNvSpPr/>
          <p:nvPr/>
        </p:nvSpPr>
        <p:spPr>
          <a:xfrm>
            <a:off x="9477375" y="3604617"/>
            <a:ext cx="2095500" cy="421481"/>
          </a:xfrm>
          <a:prstGeom prst="rect">
            <a:avLst/>
          </a:prstGeom>
          <a:solidFill>
            <a:srgbClr val="FFF5F6"/>
          </a:solidFill>
          <a:ln/>
        </p:spPr>
      </p:sp>
      <p:sp>
        <p:nvSpPr>
          <p:cNvPr id="114" name="Shape 112"/>
          <p:cNvSpPr/>
          <p:nvPr/>
        </p:nvSpPr>
        <p:spPr>
          <a:xfrm>
            <a:off x="9477375" y="4016573"/>
            <a:ext cx="2095500" cy="9525"/>
          </a:xfrm>
          <a:prstGeom prst="rect">
            <a:avLst/>
          </a:prstGeom>
          <a:solidFill>
            <a:srgbClr val="E2E8F0"/>
          </a:solidFill>
          <a:ln/>
        </p:spPr>
      </p:sp>
      <p:sp>
        <p:nvSpPr>
          <p:cNvPr id="115" name="Text 113"/>
          <p:cNvSpPr txBox="1"/>
          <p:nvPr/>
        </p:nvSpPr>
        <p:spPr>
          <a:xfrm>
            <a:off x="9572625" y="3661767"/>
            <a:ext cx="1065734"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Có (trong Tendoo)</a:t>
            </a:r>
            <a:endParaRPr lang="en-US" sz="860" dirty="0"/>
          </a:p>
        </p:txBody>
      </p:sp>
      <p:sp>
        <p:nvSpPr>
          <p:cNvPr id="116" name="Shape 114"/>
          <p:cNvSpPr/>
          <p:nvPr/>
        </p:nvSpPr>
        <p:spPr>
          <a:xfrm>
            <a:off x="619125" y="4438055"/>
            <a:ext cx="1905000" cy="9525"/>
          </a:xfrm>
          <a:prstGeom prst="rect">
            <a:avLst/>
          </a:prstGeom>
          <a:solidFill>
            <a:srgbClr val="E2E8F0"/>
          </a:solidFill>
          <a:ln/>
        </p:spPr>
      </p:sp>
      <p:sp>
        <p:nvSpPr>
          <p:cNvPr id="117" name="Text 115"/>
          <p:cNvSpPr txBox="1"/>
          <p:nvPr/>
        </p:nvSpPr>
        <p:spPr>
          <a:xfrm>
            <a:off x="714375" y="4083248"/>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Không phải thêm app, công cụ mới</a:t>
            </a:r>
            <a:endParaRPr lang="en-US" sz="860" dirty="0"/>
          </a:p>
        </p:txBody>
      </p:sp>
      <p:sp>
        <p:nvSpPr>
          <p:cNvPr id="118" name="Shape 116"/>
          <p:cNvSpPr/>
          <p:nvPr/>
        </p:nvSpPr>
        <p:spPr>
          <a:xfrm>
            <a:off x="2524125" y="4438055"/>
            <a:ext cx="1738313" cy="9525"/>
          </a:xfrm>
          <a:prstGeom prst="rect">
            <a:avLst/>
          </a:prstGeom>
          <a:solidFill>
            <a:srgbClr val="E2E8F0"/>
          </a:solidFill>
          <a:ln/>
        </p:spPr>
      </p:sp>
      <p:sp>
        <p:nvSpPr>
          <p:cNvPr id="119" name="Text 117"/>
          <p:cNvSpPr txBox="1"/>
          <p:nvPr/>
        </p:nvSpPr>
        <p:spPr>
          <a:xfrm>
            <a:off x="2619375" y="4083248"/>
            <a:ext cx="1073465"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 (thêm máy)</a:t>
            </a:r>
            <a:endParaRPr lang="en-US" sz="860" dirty="0"/>
          </a:p>
        </p:txBody>
      </p:sp>
      <p:sp>
        <p:nvSpPr>
          <p:cNvPr id="120" name="Shape 118"/>
          <p:cNvSpPr/>
          <p:nvPr/>
        </p:nvSpPr>
        <p:spPr>
          <a:xfrm>
            <a:off x="4262438" y="4438055"/>
            <a:ext cx="1738313" cy="9525"/>
          </a:xfrm>
          <a:prstGeom prst="rect">
            <a:avLst/>
          </a:prstGeom>
          <a:solidFill>
            <a:srgbClr val="E2E8F0"/>
          </a:solidFill>
          <a:ln/>
        </p:spPr>
      </p:sp>
      <p:sp>
        <p:nvSpPr>
          <p:cNvPr id="121" name="Text 119"/>
          <p:cNvSpPr txBox="1"/>
          <p:nvPr/>
        </p:nvSpPr>
        <p:spPr>
          <a:xfrm>
            <a:off x="4357688" y="4083248"/>
            <a:ext cx="1046015"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 (thêm app)</a:t>
            </a:r>
            <a:endParaRPr lang="en-US" sz="860" dirty="0"/>
          </a:p>
        </p:txBody>
      </p:sp>
      <p:sp>
        <p:nvSpPr>
          <p:cNvPr id="122" name="Shape 120"/>
          <p:cNvSpPr/>
          <p:nvPr/>
        </p:nvSpPr>
        <p:spPr>
          <a:xfrm>
            <a:off x="6000750" y="4438055"/>
            <a:ext cx="1738313" cy="9525"/>
          </a:xfrm>
          <a:prstGeom prst="rect">
            <a:avLst/>
          </a:prstGeom>
          <a:solidFill>
            <a:srgbClr val="E2E8F0"/>
          </a:solidFill>
          <a:ln/>
        </p:spPr>
      </p:sp>
      <p:sp>
        <p:nvSpPr>
          <p:cNvPr id="123" name="Text 121"/>
          <p:cNvSpPr txBox="1"/>
          <p:nvPr/>
        </p:nvSpPr>
        <p:spPr>
          <a:xfrm>
            <a:off x="6096000" y="4083248"/>
            <a:ext cx="1669789"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Không (dùng app ngân hàng)</a:t>
            </a:r>
            <a:endParaRPr lang="en-US" sz="860" dirty="0"/>
          </a:p>
        </p:txBody>
      </p:sp>
      <p:sp>
        <p:nvSpPr>
          <p:cNvPr id="124" name="Shape 122"/>
          <p:cNvSpPr/>
          <p:nvPr/>
        </p:nvSpPr>
        <p:spPr>
          <a:xfrm>
            <a:off x="7739062" y="4438055"/>
            <a:ext cx="1738313" cy="9525"/>
          </a:xfrm>
          <a:prstGeom prst="rect">
            <a:avLst/>
          </a:prstGeom>
          <a:solidFill>
            <a:srgbClr val="E2E8F0"/>
          </a:solidFill>
          <a:ln/>
        </p:spPr>
      </p:sp>
      <p:sp>
        <p:nvSpPr>
          <p:cNvPr id="125" name="Text 123"/>
          <p:cNvSpPr txBox="1"/>
          <p:nvPr/>
        </p:nvSpPr>
        <p:spPr>
          <a:xfrm>
            <a:off x="7834313" y="4083248"/>
            <a:ext cx="1581150" cy="282178"/>
          </a:xfrm>
          <a:prstGeom prst="rect">
            <a:avLst/>
          </a:prstGeom>
          <a:noFill/>
          <a:ln/>
        </p:spPr>
        <p:txBody>
          <a:bodyPr wrap="square" lIns="0" tIns="0" rIns="0" bIns="0" rtlCol="0" anchor="t"/>
          <a:lstStyle/>
          <a:p>
            <a:pPr marL="0" indent="0" algn="l">
              <a:lnSpc>
                <a:spcPts val="1170"/>
              </a:lnSpc>
              <a:buNone/>
            </a:pPr>
            <a:r>
              <a:rPr lang="en-US" sz="860" b="1" dirty="0">
                <a:solidFill>
                  <a:srgbClr val="334155"/>
                </a:solidFill>
              </a:rPr>
              <a:t>Không (thêm mã QR, app nhận tiền)</a:t>
            </a:r>
            <a:endParaRPr lang="en-US" sz="860" dirty="0"/>
          </a:p>
        </p:txBody>
      </p:sp>
      <p:sp>
        <p:nvSpPr>
          <p:cNvPr id="126" name="Shape 124"/>
          <p:cNvSpPr/>
          <p:nvPr/>
        </p:nvSpPr>
        <p:spPr>
          <a:xfrm>
            <a:off x="9477375" y="4026098"/>
            <a:ext cx="2095500" cy="421481"/>
          </a:xfrm>
          <a:prstGeom prst="rect">
            <a:avLst/>
          </a:prstGeom>
          <a:solidFill>
            <a:srgbClr val="FFF5F6"/>
          </a:solidFill>
          <a:ln/>
        </p:spPr>
      </p:sp>
      <p:sp>
        <p:nvSpPr>
          <p:cNvPr id="127" name="Shape 125"/>
          <p:cNvSpPr/>
          <p:nvPr/>
        </p:nvSpPr>
        <p:spPr>
          <a:xfrm>
            <a:off x="9477375" y="4438055"/>
            <a:ext cx="2095500" cy="9525"/>
          </a:xfrm>
          <a:prstGeom prst="rect">
            <a:avLst/>
          </a:prstGeom>
          <a:solidFill>
            <a:srgbClr val="E2E8F0"/>
          </a:solidFill>
          <a:ln/>
        </p:spPr>
      </p:sp>
      <p:sp>
        <p:nvSpPr>
          <p:cNvPr id="128" name="Text 126"/>
          <p:cNvSpPr txBox="1"/>
          <p:nvPr/>
        </p:nvSpPr>
        <p:spPr>
          <a:xfrm>
            <a:off x="9572625" y="4083248"/>
            <a:ext cx="1841587" cy="133350"/>
          </a:xfrm>
          <a:prstGeom prst="rect">
            <a:avLst/>
          </a:prstGeom>
          <a:noFill/>
          <a:ln/>
        </p:spPr>
        <p:txBody>
          <a:bodyPr wrap="none" lIns="0" tIns="0" rIns="0" bIns="0" rtlCol="0" anchor="t"/>
          <a:lstStyle/>
          <a:p>
            <a:pPr marL="0" indent="0" algn="l">
              <a:lnSpc>
                <a:spcPts val="1170"/>
              </a:lnSpc>
              <a:buNone/>
            </a:pPr>
            <a:r>
              <a:rPr lang="en-US" sz="860" b="1" dirty="0">
                <a:solidFill>
                  <a:srgbClr val="0F172A"/>
                </a:solidFill>
              </a:rPr>
              <a:t>Có (dùng ngay Tendoo đang có)</a:t>
            </a:r>
            <a:endParaRPr lang="en-US" sz="860" dirty="0"/>
          </a:p>
        </p:txBody>
      </p:sp>
      <p:sp>
        <p:nvSpPr>
          <p:cNvPr id="129" name="Shape 127"/>
          <p:cNvSpPr/>
          <p:nvPr/>
        </p:nvSpPr>
        <p:spPr>
          <a:xfrm>
            <a:off x="619125" y="5008364"/>
            <a:ext cx="1905000" cy="9525"/>
          </a:xfrm>
          <a:prstGeom prst="rect">
            <a:avLst/>
          </a:prstGeom>
          <a:solidFill>
            <a:srgbClr val="E2E8F0"/>
          </a:solidFill>
          <a:ln/>
        </p:spPr>
      </p:sp>
      <p:sp>
        <p:nvSpPr>
          <p:cNvPr id="130" name="Text 128"/>
          <p:cNvSpPr txBox="1"/>
          <p:nvPr/>
        </p:nvSpPr>
        <p:spPr>
          <a:xfrm>
            <a:off x="714375" y="4504730"/>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Đối soát, chứng từ, hỗ trợ khiếu nại</a:t>
            </a:r>
            <a:endParaRPr lang="en-US" sz="860" dirty="0"/>
          </a:p>
        </p:txBody>
      </p:sp>
      <p:sp>
        <p:nvSpPr>
          <p:cNvPr id="131" name="Shape 129"/>
          <p:cNvSpPr/>
          <p:nvPr/>
        </p:nvSpPr>
        <p:spPr>
          <a:xfrm>
            <a:off x="2524125" y="5008364"/>
            <a:ext cx="1738313" cy="9525"/>
          </a:xfrm>
          <a:prstGeom prst="rect">
            <a:avLst/>
          </a:prstGeom>
          <a:solidFill>
            <a:srgbClr val="E2E8F0"/>
          </a:solidFill>
          <a:ln/>
        </p:spPr>
      </p:sp>
      <p:sp>
        <p:nvSpPr>
          <p:cNvPr id="132" name="Text 130"/>
          <p:cNvSpPr txBox="1"/>
          <p:nvPr/>
        </p:nvSpPr>
        <p:spPr>
          <a:xfrm>
            <a:off x="2619375" y="4504730"/>
            <a:ext cx="945207"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Có hóa đơn POS</a:t>
            </a:r>
            <a:endParaRPr lang="en-US" sz="860" dirty="0"/>
          </a:p>
        </p:txBody>
      </p:sp>
      <p:sp>
        <p:nvSpPr>
          <p:cNvPr id="133" name="Shape 131"/>
          <p:cNvSpPr/>
          <p:nvPr/>
        </p:nvSpPr>
        <p:spPr>
          <a:xfrm>
            <a:off x="4262438" y="5008364"/>
            <a:ext cx="1738313" cy="9525"/>
          </a:xfrm>
          <a:prstGeom prst="rect">
            <a:avLst/>
          </a:prstGeom>
          <a:solidFill>
            <a:srgbClr val="E2E8F0"/>
          </a:solidFill>
          <a:ln/>
        </p:spPr>
      </p:sp>
      <p:sp>
        <p:nvSpPr>
          <p:cNvPr id="134" name="Text 132"/>
          <p:cNvSpPr txBox="1"/>
          <p:nvPr/>
        </p:nvSpPr>
        <p:spPr>
          <a:xfrm>
            <a:off x="4357688" y="4504730"/>
            <a:ext cx="981334"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Lịch sử giao dịch</a:t>
            </a:r>
            <a:endParaRPr lang="en-US" sz="860" dirty="0"/>
          </a:p>
        </p:txBody>
      </p:sp>
      <p:sp>
        <p:nvSpPr>
          <p:cNvPr id="135" name="Shape 133"/>
          <p:cNvSpPr/>
          <p:nvPr/>
        </p:nvSpPr>
        <p:spPr>
          <a:xfrm>
            <a:off x="6000750" y="5008364"/>
            <a:ext cx="1738313" cy="9525"/>
          </a:xfrm>
          <a:prstGeom prst="rect">
            <a:avLst/>
          </a:prstGeom>
          <a:solidFill>
            <a:srgbClr val="E2E8F0"/>
          </a:solidFill>
          <a:ln/>
        </p:spPr>
      </p:sp>
      <p:sp>
        <p:nvSpPr>
          <p:cNvPr id="136" name="Text 134"/>
          <p:cNvSpPr txBox="1"/>
          <p:nvPr/>
        </p:nvSpPr>
        <p:spPr>
          <a:xfrm>
            <a:off x="6096000" y="4504730"/>
            <a:ext cx="1566142"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Lịch sử giao dịch, hoàn tiền</a:t>
            </a:r>
            <a:endParaRPr lang="en-US" sz="860" dirty="0"/>
          </a:p>
        </p:txBody>
      </p:sp>
      <p:sp>
        <p:nvSpPr>
          <p:cNvPr id="137" name="Shape 135"/>
          <p:cNvSpPr/>
          <p:nvPr/>
        </p:nvSpPr>
        <p:spPr>
          <a:xfrm>
            <a:off x="7739062" y="5008364"/>
            <a:ext cx="1738313" cy="9525"/>
          </a:xfrm>
          <a:prstGeom prst="rect">
            <a:avLst/>
          </a:prstGeom>
          <a:solidFill>
            <a:srgbClr val="E2E8F0"/>
          </a:solidFill>
          <a:ln/>
        </p:spPr>
      </p:sp>
      <p:sp>
        <p:nvSpPr>
          <p:cNvPr id="138" name="Text 136"/>
          <p:cNvSpPr txBox="1"/>
          <p:nvPr/>
        </p:nvSpPr>
        <p:spPr>
          <a:xfrm>
            <a:off x="7834313" y="4504730"/>
            <a:ext cx="981334"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Lịch sử giao dịch</a:t>
            </a:r>
            <a:endParaRPr lang="en-US" sz="860" dirty="0"/>
          </a:p>
        </p:txBody>
      </p:sp>
      <p:sp>
        <p:nvSpPr>
          <p:cNvPr id="139" name="Shape 137"/>
          <p:cNvSpPr/>
          <p:nvPr/>
        </p:nvSpPr>
        <p:spPr>
          <a:xfrm>
            <a:off x="9477375" y="4447580"/>
            <a:ext cx="2095500" cy="570309"/>
          </a:xfrm>
          <a:prstGeom prst="rect">
            <a:avLst/>
          </a:prstGeom>
          <a:solidFill>
            <a:srgbClr val="FFF5F6"/>
          </a:solidFill>
          <a:ln/>
        </p:spPr>
      </p:sp>
      <p:sp>
        <p:nvSpPr>
          <p:cNvPr id="140" name="Shape 138"/>
          <p:cNvSpPr/>
          <p:nvPr/>
        </p:nvSpPr>
        <p:spPr>
          <a:xfrm>
            <a:off x="9477375" y="5008364"/>
            <a:ext cx="2095500" cy="9525"/>
          </a:xfrm>
          <a:prstGeom prst="rect">
            <a:avLst/>
          </a:prstGeom>
          <a:solidFill>
            <a:srgbClr val="E2E8F0"/>
          </a:solidFill>
          <a:ln/>
        </p:spPr>
      </p:sp>
      <p:sp>
        <p:nvSpPr>
          <p:cNvPr id="141" name="Text 139"/>
          <p:cNvSpPr txBox="1"/>
          <p:nvPr/>
        </p:nvSpPr>
        <p:spPr>
          <a:xfrm>
            <a:off x="9572625" y="4504730"/>
            <a:ext cx="1933575" cy="431006"/>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Gắn với đơn hàng và hóa đơn điện tử trên Tendoo; hoàn tiền, báo cáo đối soát</a:t>
            </a:r>
            <a:endParaRPr lang="en-US" sz="860" dirty="0"/>
          </a:p>
        </p:txBody>
      </p:sp>
      <p:sp>
        <p:nvSpPr>
          <p:cNvPr id="142" name="Text 140"/>
          <p:cNvSpPr txBox="1"/>
          <p:nvPr/>
        </p:nvSpPr>
        <p:spPr>
          <a:xfrm>
            <a:off x="714375" y="5075039"/>
            <a:ext cx="17430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Kênh đưa giải pháp đến hộ kinh doanh</a:t>
            </a:r>
            <a:endParaRPr lang="en-US" sz="860" dirty="0"/>
          </a:p>
        </p:txBody>
      </p:sp>
      <p:sp>
        <p:nvSpPr>
          <p:cNvPr id="143" name="Text 141"/>
          <p:cNvSpPr txBox="1"/>
          <p:nvPr/>
        </p:nvSpPr>
        <p:spPr>
          <a:xfrm>
            <a:off x="2619375" y="5075039"/>
            <a:ext cx="1223965"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Nhân viên ngân hàng</a:t>
            </a:r>
            <a:endParaRPr lang="en-US" sz="860" dirty="0"/>
          </a:p>
        </p:txBody>
      </p:sp>
      <p:sp>
        <p:nvSpPr>
          <p:cNvPr id="144" name="Text 142"/>
          <p:cNvSpPr txBox="1"/>
          <p:nvPr/>
        </p:nvSpPr>
        <p:spPr>
          <a:xfrm>
            <a:off x="4357688" y="5075039"/>
            <a:ext cx="1586177"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Nhân viên ngân hàng, đại lý</a:t>
            </a:r>
            <a:endParaRPr lang="en-US" sz="860" dirty="0"/>
          </a:p>
        </p:txBody>
      </p:sp>
      <p:sp>
        <p:nvSpPr>
          <p:cNvPr id="145" name="Text 143"/>
          <p:cNvSpPr txBox="1"/>
          <p:nvPr/>
        </p:nvSpPr>
        <p:spPr>
          <a:xfrm>
            <a:off x="6096000" y="5075039"/>
            <a:ext cx="1630665"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Khách hàng tự bật trong app</a:t>
            </a:r>
            <a:endParaRPr lang="en-US" sz="860" dirty="0"/>
          </a:p>
        </p:txBody>
      </p:sp>
      <p:sp>
        <p:nvSpPr>
          <p:cNvPr id="146" name="Text 144"/>
          <p:cNvSpPr txBox="1"/>
          <p:nvPr/>
        </p:nvSpPr>
        <p:spPr>
          <a:xfrm>
            <a:off x="7834313" y="5075039"/>
            <a:ext cx="1282967" cy="133350"/>
          </a:xfrm>
          <a:prstGeom prst="rect">
            <a:avLst/>
          </a:prstGeom>
          <a:noFill/>
          <a:ln/>
        </p:spPr>
        <p:txBody>
          <a:bodyPr wrap="none" lIns="0" tIns="0" rIns="0" bIns="0" rtlCol="0" anchor="t"/>
          <a:lstStyle/>
          <a:p>
            <a:pPr marL="0" indent="0" algn="l">
              <a:lnSpc>
                <a:spcPts val="1170"/>
              </a:lnSpc>
              <a:buNone/>
            </a:pPr>
            <a:r>
              <a:rPr lang="en-US" sz="860" b="1" dirty="0">
                <a:solidFill>
                  <a:srgbClr val="334155"/>
                </a:solidFill>
              </a:rPr>
              <a:t>Ngân hàng, trung gian</a:t>
            </a:r>
            <a:endParaRPr lang="en-US" sz="860" dirty="0"/>
          </a:p>
        </p:txBody>
      </p:sp>
      <p:sp>
        <p:nvSpPr>
          <p:cNvPr id="147" name="Shape 145"/>
          <p:cNvSpPr/>
          <p:nvPr/>
        </p:nvSpPr>
        <p:spPr>
          <a:xfrm>
            <a:off x="9477375" y="5017889"/>
            <a:ext cx="2095500" cy="411956"/>
          </a:xfrm>
          <a:prstGeom prst="rect">
            <a:avLst/>
          </a:prstGeom>
          <a:solidFill>
            <a:srgbClr val="FFF5F6"/>
          </a:solidFill>
          <a:ln/>
        </p:spPr>
      </p:sp>
      <p:sp>
        <p:nvSpPr>
          <p:cNvPr id="148" name="Text 146"/>
          <p:cNvSpPr txBox="1"/>
          <p:nvPr/>
        </p:nvSpPr>
        <p:spPr>
          <a:xfrm>
            <a:off x="9572625" y="5075039"/>
            <a:ext cx="1933575" cy="282178"/>
          </a:xfrm>
          <a:prstGeom prst="rect">
            <a:avLst/>
          </a:prstGeom>
          <a:noFill/>
          <a:ln/>
        </p:spPr>
        <p:txBody>
          <a:bodyPr wrap="square" lIns="0" tIns="0" rIns="0" bIns="0" rtlCol="0" anchor="t"/>
          <a:lstStyle/>
          <a:p>
            <a:pPr marL="0" indent="0" algn="l">
              <a:lnSpc>
                <a:spcPts val="1170"/>
              </a:lnSpc>
              <a:buNone/>
            </a:pPr>
            <a:r>
              <a:rPr lang="en-US" sz="860" b="1" dirty="0">
                <a:solidFill>
                  <a:srgbClr val="0F172A"/>
                </a:solidFill>
              </a:rPr>
              <a:t>Tệp hộ kinh doanh Tendoo, đội kênh bán VTT</a:t>
            </a:r>
            <a:endParaRPr lang="en-US" sz="860" dirty="0"/>
          </a:p>
        </p:txBody>
      </p:sp>
      <p:sp>
        <p:nvSpPr>
          <p:cNvPr id="149" name="Text 147"/>
          <p:cNvSpPr txBox="1"/>
          <p:nvPr/>
        </p:nvSpPr>
        <p:spPr>
          <a:xfrm>
            <a:off x="609600" y="6501854"/>
            <a:ext cx="8120348" cy="133350"/>
          </a:xfrm>
          <a:prstGeom prst="rect">
            <a:avLst/>
          </a:prstGeom>
          <a:noFill/>
          <a:ln/>
        </p:spPr>
        <p:txBody>
          <a:bodyPr wrap="none" lIns="0" tIns="0" rIns="0" bIns="0" rtlCol="0" anchor="t"/>
          <a:lstStyle/>
          <a:p>
            <a:pPr marL="0" indent="0" algn="l">
              <a:lnSpc>
                <a:spcPts val="1160"/>
              </a:lnSpc>
              <a:buNone/>
            </a:pPr>
            <a:r>
              <a:rPr lang="en-US" sz="830" b="1" dirty="0">
                <a:solidFill>
                  <a:srgbClr val="94A3B8"/>
                </a:solidFill>
              </a:rPr>
              <a:t>Visa Accept trong app ngân hàng: VPBank, Sacombank, VIB. QR xuyên biên giới: VietQR Global, VNPAY-QR. Đánh giá sơ bộ theo thông tin đến 10/2026.</a:t>
            </a:r>
            <a:endParaRPr lang="en-US" sz="830" dirty="0"/>
          </a:p>
        </p:txBody>
      </p:sp>
      <p:sp>
        <p:nvSpPr>
          <p:cNvPr id="150" name="Shape 148"/>
          <p:cNvSpPr/>
          <p:nvPr/>
        </p:nvSpPr>
        <p:spPr>
          <a:xfrm>
            <a:off x="10796588" y="6343650"/>
            <a:ext cx="323850" cy="323850"/>
          </a:xfrm>
          <a:prstGeom prst="ellipse">
            <a:avLst/>
          </a:prstGeom>
          <a:solidFill>
            <a:srgbClr val="F0001E"/>
          </a:solidFill>
          <a:ln/>
        </p:spPr>
      </p:sp>
      <p:sp>
        <p:nvSpPr>
          <p:cNvPr id="151" name="Shape 149"/>
          <p:cNvSpPr/>
          <p:nvPr/>
        </p:nvSpPr>
        <p:spPr>
          <a:xfrm>
            <a:off x="10901363" y="6415088"/>
            <a:ext cx="114300" cy="180975"/>
          </a:xfrm>
          <a:prstGeom prst="roundRect">
            <a:avLst>
              <a:gd name="adj" fmla="val 29167"/>
            </a:avLst>
          </a:prstGeom>
          <a:ln w="19050">
            <a:solidFill>
              <a:srgbClr val="FFFFFF"/>
            </a:solidFill>
            <a:prstDash val="solid"/>
          </a:ln>
        </p:spPr>
      </p:sp>
      <p:sp>
        <p:nvSpPr>
          <p:cNvPr id="152" name="Text 150"/>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153" name="Text 151"/>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154" name="Text 152"/>
          <p:cNvSpPr txBox="1"/>
          <p:nvPr/>
        </p:nvSpPr>
        <p:spPr>
          <a:xfrm>
            <a:off x="10508754" y="6429375"/>
            <a:ext cx="186708"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0684073" y="323850"/>
            <a:ext cx="898327" cy="247650"/>
          </a:xfrm>
          <a:prstGeom prst="roundRect">
            <a:avLst>
              <a:gd name="adj" fmla="val 50000"/>
            </a:avLst>
          </a:prstGeom>
          <a:solidFill>
            <a:srgbClr val="E5E7EB"/>
          </a:solidFill>
          <a:ln/>
        </p:spPr>
      </p:sp>
      <p:sp>
        <p:nvSpPr>
          <p:cNvPr id="3" name="Text 1"/>
          <p:cNvSpPr txBox="1"/>
          <p:nvPr/>
        </p:nvSpPr>
        <p:spPr>
          <a:xfrm>
            <a:off x="10855523" y="371475"/>
            <a:ext cx="626852" cy="152400"/>
          </a:xfrm>
          <a:prstGeom prst="rect">
            <a:avLst/>
          </a:prstGeom>
          <a:noFill/>
          <a:ln/>
        </p:spPr>
        <p:txBody>
          <a:bodyPr wrap="none" lIns="0" tIns="0" rIns="0" bIns="0" rtlCol="0" anchor="t"/>
          <a:lstStyle/>
          <a:p>
            <a:pPr marL="0" indent="0" algn="l">
              <a:lnSpc>
                <a:spcPts val="1170"/>
              </a:lnSpc>
              <a:buNone/>
            </a:pPr>
            <a:r>
              <a:rPr lang="en-US" sz="980" b="1" dirty="0">
                <a:solidFill>
                  <a:srgbClr val="4B5563"/>
                </a:solidFill>
              </a:rPr>
              <a:t>Phụ lục E</a:t>
            </a:r>
            <a:endParaRPr lang="en-US" sz="980" dirty="0"/>
          </a:p>
        </p:txBody>
      </p:sp>
      <p:sp>
        <p:nvSpPr>
          <p:cNvPr id="4" name="Text 2"/>
          <p:cNvSpPr txBox="1"/>
          <p:nvPr/>
        </p:nvSpPr>
        <p:spPr>
          <a:xfrm>
            <a:off x="609600" y="400050"/>
            <a:ext cx="1942868" cy="161925"/>
          </a:xfrm>
          <a:prstGeom prst="rect">
            <a:avLst/>
          </a:prstGeom>
          <a:noFill/>
          <a:ln/>
        </p:spPr>
        <p:txBody>
          <a:bodyPr wrap="none" lIns="0" tIns="0" rIns="0" bIns="0" rtlCol="0" anchor="t"/>
          <a:lstStyle/>
          <a:p>
            <a:pPr marL="0" indent="0" algn="l">
              <a:lnSpc>
                <a:spcPts val="1260"/>
              </a:lnSpc>
              <a:buNone/>
            </a:pPr>
            <a:r>
              <a:rPr lang="en-US" sz="1050" b="1" kern="0" spc="20" dirty="0">
                <a:solidFill>
                  <a:srgbClr val="E11D48"/>
                </a:solidFill>
              </a:rPr>
              <a:t>PHỤ LỤC · NGUỒN SỐ LIỆU</a:t>
            </a:r>
            <a:endParaRPr lang="en-US" sz="1050" dirty="0"/>
          </a:p>
        </p:txBody>
      </p:sp>
      <p:sp>
        <p:nvSpPr>
          <p:cNvPr id="5" name="Text 3"/>
          <p:cNvSpPr txBox="1"/>
          <p:nvPr/>
        </p:nvSpPr>
        <p:spPr>
          <a:xfrm>
            <a:off x="609600" y="609600"/>
            <a:ext cx="1818870" cy="314325"/>
          </a:xfrm>
          <a:prstGeom prst="rect">
            <a:avLst/>
          </a:prstGeom>
          <a:noFill/>
          <a:ln/>
        </p:spPr>
        <p:txBody>
          <a:bodyPr wrap="none" lIns="0" tIns="0" rIns="0" bIns="0" rtlCol="0" anchor="t"/>
          <a:lstStyle/>
          <a:p>
            <a:pPr marL="0" indent="0" algn="l">
              <a:lnSpc>
                <a:spcPts val="2470"/>
              </a:lnSpc>
              <a:buNone/>
            </a:pPr>
            <a:r>
              <a:rPr lang="en-US" sz="2030" b="1" kern="0" spc="-30" dirty="0">
                <a:solidFill>
                  <a:srgbClr val="0F172A"/>
                </a:solidFill>
              </a:rPr>
              <a:t>Nguồn số liệu</a:t>
            </a:r>
            <a:endParaRPr lang="en-US" sz="2030" dirty="0"/>
          </a:p>
        </p:txBody>
      </p:sp>
      <p:sp>
        <p:nvSpPr>
          <p:cNvPr id="6" name="Text 4"/>
          <p:cNvSpPr txBox="1"/>
          <p:nvPr/>
        </p:nvSpPr>
        <p:spPr>
          <a:xfrm>
            <a:off x="609600" y="1085255"/>
            <a:ext cx="495282" cy="133350"/>
          </a:xfrm>
          <a:prstGeom prst="rect">
            <a:avLst/>
          </a:prstGeom>
          <a:noFill/>
          <a:ln/>
        </p:spPr>
        <p:txBody>
          <a:bodyPr wrap="none" lIns="0" tIns="0" rIns="0" bIns="0" rtlCol="0" anchor="t"/>
          <a:lstStyle/>
          <a:p>
            <a:pPr marL="0" indent="0" algn="l">
              <a:lnSpc>
                <a:spcPts val="1040"/>
              </a:lnSpc>
              <a:buNone/>
            </a:pPr>
            <a:r>
              <a:rPr lang="en-US" sz="860" b="1" kern="0" spc="30" dirty="0">
                <a:solidFill>
                  <a:srgbClr val="E11D48"/>
                </a:solidFill>
              </a:rPr>
              <a:t>CHUNG</a:t>
            </a:r>
            <a:endParaRPr lang="en-US" sz="860" dirty="0"/>
          </a:p>
        </p:txBody>
      </p:sp>
      <p:sp>
        <p:nvSpPr>
          <p:cNvPr id="7" name="Text 5"/>
          <p:cNvSpPr txBox="1"/>
          <p:nvPr/>
        </p:nvSpPr>
        <p:spPr>
          <a:xfrm>
            <a:off x="609600" y="1256705"/>
            <a:ext cx="3524250" cy="402134"/>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Visa, "VDS – Acquiring discussion", 10/2026 (</a:t>
            </a:r>
            <a:r>
              <a:rPr lang="en-US" sz="800" b="1" i="1" dirty="0">
                <a:solidFill>
                  <a:srgbClr val="334155"/>
                </a:solidFill>
              </a:rPr>
              <a:t>Visa Confidential</a:t>
            </a:r>
            <a:r>
              <a:rPr lang="en-US" sz="800" b="1" dirty="0">
                <a:solidFill>
                  <a:srgbClr val="334155"/>
                </a:solidFill>
              </a:rPr>
              <a:t>): Visa Accept, hạn mức, phí, lộ trình nâng gói, triển khai tại VPBank, Sacombank, VIB; Visa QR Connector; Visa Acceptance Platform</a:t>
            </a:r>
            <a:endParaRPr lang="en-US" sz="800" dirty="0"/>
          </a:p>
        </p:txBody>
      </p:sp>
      <p:sp>
        <p:nvSpPr>
          <p:cNvPr id="8" name="Text 6"/>
          <p:cNvSpPr txBox="1"/>
          <p:nvPr/>
        </p:nvSpPr>
        <p:spPr>
          <a:xfrm>
            <a:off x="609600" y="1712268"/>
            <a:ext cx="3524250" cy="402134"/>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"Nhu cầu giải pháp thanh toán phục vụ khách du lịch quốc tế tại merchant Việt Nam", khảo sát 132 merchant tại Hà Nội và TP.HCM, 7/2026</a:t>
            </a:r>
            <a:endParaRPr lang="en-US" sz="800" dirty="0"/>
          </a:p>
        </p:txBody>
      </p:sp>
      <p:sp>
        <p:nvSpPr>
          <p:cNvPr id="9" name="Text 7"/>
          <p:cNvSpPr txBox="1"/>
          <p:nvPr/>
        </p:nvSpPr>
        <p:spPr>
          <a:xfrm>
            <a:off x="609600" y="2167830"/>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"Nhu cầu thanh toán của khách quốc tế đến Việt Nam", khảo sát 10 khách quốc tế, 16/10/2026</a:t>
            </a:r>
            <a:endParaRPr lang="en-US" sz="800" dirty="0"/>
          </a:p>
        </p:txBody>
      </p:sp>
      <p:sp>
        <p:nvSpPr>
          <p:cNvPr id="10" name="Text 8"/>
          <p:cNvSpPr txBox="1"/>
          <p:nvPr/>
        </p:nvSpPr>
        <p:spPr>
          <a:xfrm>
            <a:off x="609600" y="2484239"/>
            <a:ext cx="2627379"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NQ 198/2025/QH15 (bỏ thuế khoán từ 01/01/2026)</a:t>
            </a:r>
            <a:endParaRPr lang="en-US" sz="800" dirty="0"/>
          </a:p>
        </p:txBody>
      </p:sp>
      <p:sp>
        <p:nvSpPr>
          <p:cNvPr id="11" name="Text 9"/>
          <p:cNvSpPr txBox="1"/>
          <p:nvPr/>
        </p:nvSpPr>
        <p:spPr>
          <a:xfrm>
            <a:off x="609600" y="2661493"/>
            <a:ext cx="3394082"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Hỗ trợ hộ kinh doanh chuyển đổi số và kê khai thuế – VnEconomy</a:t>
            </a:r>
            <a:endParaRPr lang="en-US" sz="800" dirty="0"/>
          </a:p>
        </p:txBody>
      </p:sp>
      <p:sp>
        <p:nvSpPr>
          <p:cNvPr id="12" name="Text 10"/>
          <p:cNvSpPr txBox="1"/>
          <p:nvPr/>
        </p:nvSpPr>
        <p:spPr>
          <a:xfrm>
            <a:off x="609600" y="2838748"/>
            <a:ext cx="2822525"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Kết quả triển khai hóa đơn điện tử – Thời báo Tài chính</a:t>
            </a:r>
            <a:endParaRPr lang="en-US" sz="800" dirty="0"/>
          </a:p>
        </p:txBody>
      </p:sp>
      <p:sp>
        <p:nvSpPr>
          <p:cNvPr id="13" name="Text 11"/>
          <p:cNvSpPr txBox="1"/>
          <p:nvPr/>
        </p:nvSpPr>
        <p:spPr>
          <a:xfrm>
            <a:off x="609600" y="3016002"/>
            <a:ext cx="1984989"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5 triệu hộ kinh doanh – Báo Chính phủ</a:t>
            </a:r>
            <a:endParaRPr lang="en-US" sz="800" dirty="0"/>
          </a:p>
        </p:txBody>
      </p:sp>
      <p:sp>
        <p:nvSpPr>
          <p:cNvPr id="14" name="Text 12"/>
          <p:cNvSpPr txBox="1"/>
          <p:nvPr/>
        </p:nvSpPr>
        <p:spPr>
          <a:xfrm>
            <a:off x="609600" y="3193256"/>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3,24 triệu hộ, cá nhân kinh doanh; 2,03 triệu có địa điểm cố định, Tổng cục Thuế 8/2024 – Thanh Niên</a:t>
            </a:r>
            <a:endParaRPr lang="en-US" sz="800" dirty="0"/>
          </a:p>
        </p:txBody>
      </p:sp>
      <p:sp>
        <p:nvSpPr>
          <p:cNvPr id="15" name="Text 13"/>
          <p:cNvSpPr txBox="1"/>
          <p:nvPr/>
        </p:nvSpPr>
        <p:spPr>
          <a:xfrm>
            <a:off x="609600" y="3509665"/>
            <a:ext cx="2575319"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737.159 máy POS cuối 2024, NHNN – VietNamNet</a:t>
            </a:r>
            <a:endParaRPr lang="en-US" sz="800" dirty="0"/>
          </a:p>
        </p:txBody>
      </p:sp>
      <p:sp>
        <p:nvSpPr>
          <p:cNvPr id="16" name="Text 14"/>
          <p:cNvSpPr txBox="1"/>
          <p:nvPr/>
        </p:nvSpPr>
        <p:spPr>
          <a:xfrm>
            <a:off x="609600" y="3686919"/>
            <a:ext cx="2798862"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Khảo sát 350 doanh nghiệp nhỏ: 42% nhận thẻ – Visa</a:t>
            </a:r>
            <a:endParaRPr lang="en-US" sz="800" dirty="0"/>
          </a:p>
        </p:txBody>
      </p:sp>
      <p:sp>
        <p:nvSpPr>
          <p:cNvPr id="17" name="Text 15"/>
          <p:cNvSpPr txBox="1"/>
          <p:nvPr/>
        </p:nvSpPr>
        <p:spPr>
          <a:xfrm>
            <a:off x="609600" y="3864173"/>
            <a:ext cx="3003789"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61 địa điểm quy hoạch khu du lịch quốc gia – VietnamPlus</a:t>
            </a:r>
            <a:endParaRPr lang="en-US" sz="800" dirty="0"/>
          </a:p>
        </p:txBody>
      </p:sp>
      <p:sp>
        <p:nvSpPr>
          <p:cNvPr id="18" name="Text 16"/>
          <p:cNvSpPr txBox="1"/>
          <p:nvPr/>
        </p:nvSpPr>
        <p:spPr>
          <a:xfrm>
            <a:off x="609600" y="4041428"/>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153 di tích quốc gia đặc biệt – Cổng Chính phủ; hơn 4.000 di tích quốc gia, 41.000 di tích – Wikipedia</a:t>
            </a:r>
            <a:endParaRPr lang="en-US" sz="800" dirty="0"/>
          </a:p>
        </p:txBody>
      </p:sp>
      <p:sp>
        <p:nvSpPr>
          <p:cNvPr id="19" name="Text 17"/>
          <p:cNvSpPr txBox="1"/>
          <p:nvPr/>
        </p:nvSpPr>
        <p:spPr>
          <a:xfrm>
            <a:off x="609600" y="4357836"/>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Hội An: 236 cơ sở trên 2 tuyến phố, bằng 4% toàn thành phố – Tuổi Trẻ; Phường Hoàn Kiếm 4.310 hộ kinh doanh – Nhân Dân</a:t>
            </a:r>
            <a:endParaRPr lang="en-US" sz="800" dirty="0"/>
          </a:p>
        </p:txBody>
      </p:sp>
      <p:sp>
        <p:nvSpPr>
          <p:cNvPr id="20" name="Text 18"/>
          <p:cNvSpPr txBox="1"/>
          <p:nvPr/>
        </p:nvSpPr>
        <p:spPr>
          <a:xfrm>
            <a:off x="609600" y="4674245"/>
            <a:ext cx="2731815"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Chi tiêu 1.200–1.400 USD mỗi chuyến – VietnamPlus</a:t>
            </a:r>
            <a:endParaRPr lang="en-US" sz="800" dirty="0"/>
          </a:p>
        </p:txBody>
      </p:sp>
      <p:sp>
        <p:nvSpPr>
          <p:cNvPr id="21" name="Text 19"/>
          <p:cNvSpPr txBox="1"/>
          <p:nvPr/>
        </p:nvSpPr>
        <p:spPr>
          <a:xfrm>
            <a:off x="609600" y="4851499"/>
            <a:ext cx="2656091"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21,2 triệu lượt khách quốc tế 2025 – Báo Chính phủ</a:t>
            </a:r>
            <a:endParaRPr lang="en-US" sz="800" dirty="0"/>
          </a:p>
        </p:txBody>
      </p:sp>
      <p:sp>
        <p:nvSpPr>
          <p:cNvPr id="22" name="Text 20"/>
          <p:cNvSpPr txBox="1"/>
          <p:nvPr/>
        </p:nvSpPr>
        <p:spPr>
          <a:xfrm>
            <a:off x="609600" y="5028754"/>
            <a:ext cx="2863385"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Khách quốc tế 9 tháng 2026 tăng 14,5% – Báo Văn hóa</a:t>
            </a:r>
            <a:endParaRPr lang="en-US" sz="800" dirty="0"/>
          </a:p>
        </p:txBody>
      </p:sp>
      <p:sp>
        <p:nvSpPr>
          <p:cNvPr id="23" name="Text 21"/>
          <p:cNvSpPr txBox="1"/>
          <p:nvPr/>
        </p:nvSpPr>
        <p:spPr>
          <a:xfrm>
            <a:off x="4349800" y="1085255"/>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Nguồn khách 9 tháng 2026 theo thị trường – VietnamPlus; Mekong ASEAN</a:t>
            </a:r>
            <a:endParaRPr lang="en-US" sz="800" dirty="0"/>
          </a:p>
        </p:txBody>
      </p:sp>
      <p:sp>
        <p:nvSpPr>
          <p:cNvPr id="24" name="Text 22"/>
          <p:cNvSpPr txBox="1"/>
          <p:nvPr/>
        </p:nvSpPr>
        <p:spPr>
          <a:xfrm>
            <a:off x="4349800" y="1401663"/>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Chi tiêu bình quân và cơ cấu chi tiêu khách quốc tế 2019, Niên giám thống kê 2022 – VietNamNet; CafeBiz</a:t>
            </a:r>
            <a:endParaRPr lang="en-US" sz="800" dirty="0"/>
          </a:p>
        </p:txBody>
      </p:sp>
      <p:sp>
        <p:nvSpPr>
          <p:cNvPr id="25" name="Text 23"/>
          <p:cNvSpPr txBox="1"/>
          <p:nvPr/>
        </p:nvSpPr>
        <p:spPr>
          <a:xfrm>
            <a:off x="4349800" y="1718072"/>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Thu 15,22 tỷ USD từ khách quốc tế 2025, khoảng 718 USD mỗi lượt – Dân trí</a:t>
            </a:r>
            <a:endParaRPr lang="en-US" sz="800" dirty="0"/>
          </a:p>
        </p:txBody>
      </p:sp>
      <p:sp>
        <p:nvSpPr>
          <p:cNvPr id="26" name="Text 24"/>
          <p:cNvSpPr txBox="1"/>
          <p:nvPr/>
        </p:nvSpPr>
        <p:spPr>
          <a:xfrm>
            <a:off x="4349800" y="2034480"/>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Cơ cấu thanh toán tại điểm bán Hàn Quốc 2024, Worldpay GPR 2025 – Payments CMI</a:t>
            </a:r>
            <a:endParaRPr lang="en-US" sz="800" dirty="0"/>
          </a:p>
        </p:txBody>
      </p:sp>
      <p:sp>
        <p:nvSpPr>
          <p:cNvPr id="27" name="Text 25"/>
          <p:cNvSpPr txBox="1"/>
          <p:nvPr/>
        </p:nvSpPr>
        <p:spPr>
          <a:xfrm>
            <a:off x="4349800" y="2350889"/>
            <a:ext cx="3439832"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Thẻ chiếm 71% chi tiêu tại cửa hàng ở Mỹ 2025 – Global Payments</a:t>
            </a:r>
            <a:endParaRPr lang="en-US" sz="800" dirty="0"/>
          </a:p>
        </p:txBody>
      </p:sp>
      <p:sp>
        <p:nvSpPr>
          <p:cNvPr id="28" name="Text 26"/>
          <p:cNvSpPr txBox="1"/>
          <p:nvPr/>
        </p:nvSpPr>
        <p:spPr>
          <a:xfrm>
            <a:off x="4349800" y="2528143"/>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Alipay, WeChat Pay chiếm 87% giá trị tại điểm bán ở Trung Quốc, Worldpay GPR 2026 – Rich Turrin</a:t>
            </a:r>
            <a:endParaRPr lang="en-US" sz="800" dirty="0"/>
          </a:p>
        </p:txBody>
      </p:sp>
      <p:sp>
        <p:nvSpPr>
          <p:cNvPr id="29" name="Text 27"/>
          <p:cNvSpPr txBox="1"/>
          <p:nvPr/>
        </p:nvSpPr>
        <p:spPr>
          <a:xfrm>
            <a:off x="4349800" y="2844552"/>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Tiền mặt ở Nhật Bản khoảng 38% chi tiêu tại cửa hàng, Worldpay GPR 2026 – Dwayne Gefferie</a:t>
            </a:r>
            <a:endParaRPr lang="en-US" sz="800" dirty="0"/>
          </a:p>
        </p:txBody>
      </p:sp>
      <p:sp>
        <p:nvSpPr>
          <p:cNvPr id="30" name="Text 28"/>
          <p:cNvSpPr txBox="1"/>
          <p:nvPr/>
        </p:nvSpPr>
        <p:spPr>
          <a:xfrm>
            <a:off x="4349800" y="3160961"/>
            <a:ext cx="2479718"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Thẻ ở Úc, Anh khoảng 67–70% – Payments CMI</a:t>
            </a:r>
            <a:endParaRPr lang="en-US" sz="800" dirty="0"/>
          </a:p>
        </p:txBody>
      </p:sp>
      <p:sp>
        <p:nvSpPr>
          <p:cNvPr id="31" name="Text 29"/>
          <p:cNvSpPr txBox="1"/>
          <p:nvPr/>
        </p:nvSpPr>
        <p:spPr>
          <a:xfrm>
            <a:off x="4349800" y="3338215"/>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Khoảng 6% điểm chấp nhận thanh toán nhận VietQR Global: NHNN và Cục Du lịch, hội thảo 25/9/2026</a:t>
            </a:r>
            <a:endParaRPr lang="en-US" sz="800" dirty="0"/>
          </a:p>
        </p:txBody>
      </p:sp>
      <p:sp>
        <p:nvSpPr>
          <p:cNvPr id="32" name="Text 30"/>
          <p:cNvSpPr txBox="1"/>
          <p:nvPr/>
        </p:nvSpPr>
        <p:spPr>
          <a:xfrm>
            <a:off x="4349800" y="3654623"/>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VietQR Global tăng khoảng 8 lần, 8 tháng 2026 – Thị trường Tài chính Tiền tệ</a:t>
            </a:r>
            <a:endParaRPr lang="en-US" sz="800" dirty="0"/>
          </a:p>
        </p:txBody>
      </p:sp>
      <p:sp>
        <p:nvSpPr>
          <p:cNvPr id="33" name="Text 31"/>
          <p:cNvSpPr txBox="1"/>
          <p:nvPr/>
        </p:nvSpPr>
        <p:spPr>
          <a:xfrm>
            <a:off x="4349800" y="3971032"/>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Thanh toán QR xuyên biên giới: từ kết nối được đến sử dụng hiệu quả – VNBA</a:t>
            </a:r>
            <a:endParaRPr lang="en-US" sz="800" dirty="0"/>
          </a:p>
        </p:txBody>
      </p:sp>
      <p:sp>
        <p:nvSpPr>
          <p:cNvPr id="34" name="Text 32"/>
          <p:cNvSpPr txBox="1"/>
          <p:nvPr/>
        </p:nvSpPr>
        <p:spPr>
          <a:xfrm>
            <a:off x="4349800" y="4287441"/>
            <a:ext cx="2928381"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Rào cản thiết bị, chi phí của cửa hàng địa phương – VCCI</a:t>
            </a:r>
            <a:endParaRPr lang="en-US" sz="800" dirty="0"/>
          </a:p>
        </p:txBody>
      </p:sp>
      <p:sp>
        <p:nvSpPr>
          <p:cNvPr id="35" name="Text 33"/>
          <p:cNvSpPr txBox="1"/>
          <p:nvPr/>
        </p:nvSpPr>
        <p:spPr>
          <a:xfrm>
            <a:off x="4349800" y="4464695"/>
            <a:ext cx="3263301"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QR xuyên biên giới Việt Nam – Trung Quốc – Đại biểu Nhân dân</a:t>
            </a:r>
            <a:endParaRPr lang="en-US" sz="800" dirty="0"/>
          </a:p>
        </p:txBody>
      </p:sp>
      <p:sp>
        <p:nvSpPr>
          <p:cNvPr id="36" name="Text 34"/>
          <p:cNvSpPr txBox="1"/>
          <p:nvPr/>
        </p:nvSpPr>
        <p:spPr>
          <a:xfrm>
            <a:off x="4349800" y="4641949"/>
            <a:ext cx="3619676"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GLN kết nối mạng QR quốc gia Việt Nam qua NAPAS – IBS Intelligence</a:t>
            </a:r>
            <a:endParaRPr lang="en-US" sz="800" dirty="0"/>
          </a:p>
        </p:txBody>
      </p:sp>
      <p:sp>
        <p:nvSpPr>
          <p:cNvPr id="37" name="Text 35"/>
          <p:cNvSpPr txBox="1"/>
          <p:nvPr/>
        </p:nvSpPr>
        <p:spPr>
          <a:xfrm>
            <a:off x="4349800" y="4819204"/>
            <a:ext cx="3344862"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Ra mắt thanh toán xuyên biên giới Việt Nam – Singapore – NHNN</a:t>
            </a:r>
            <a:endParaRPr lang="en-US" sz="800" dirty="0"/>
          </a:p>
        </p:txBody>
      </p:sp>
      <p:sp>
        <p:nvSpPr>
          <p:cNvPr id="38" name="Text 36"/>
          <p:cNvSpPr txBox="1"/>
          <p:nvPr/>
        </p:nvSpPr>
        <p:spPr>
          <a:xfrm>
            <a:off x="4349800" y="4996458"/>
            <a:ext cx="2282678"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NAPAS và VNPAY hợp tác toàn diện – VNBA</a:t>
            </a:r>
            <a:endParaRPr lang="en-US" sz="800" dirty="0"/>
          </a:p>
        </p:txBody>
      </p:sp>
      <p:sp>
        <p:nvSpPr>
          <p:cNvPr id="39" name="Text 37"/>
          <p:cNvSpPr txBox="1"/>
          <p:nvPr/>
        </p:nvSpPr>
        <p:spPr>
          <a:xfrm>
            <a:off x="4349800" y="5173712"/>
            <a:ext cx="3456396"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Du khách quốc tế thanh toán VNPAY-QR tại MWG – Điện Máy Xanh</a:t>
            </a:r>
            <a:endParaRPr lang="en-US" sz="800" dirty="0"/>
          </a:p>
        </p:txBody>
      </p:sp>
      <p:sp>
        <p:nvSpPr>
          <p:cNvPr id="40" name="Text 38"/>
          <p:cNvSpPr txBox="1"/>
          <p:nvPr/>
        </p:nvSpPr>
        <p:spPr>
          <a:xfrm>
            <a:off x="8089850" y="1085255"/>
            <a:ext cx="2557808"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Visa và VNPAY hợp tác về VNPAY SoftPOS – Visa</a:t>
            </a:r>
            <a:endParaRPr lang="en-US" sz="800" dirty="0"/>
          </a:p>
        </p:txBody>
      </p:sp>
      <p:sp>
        <p:nvSpPr>
          <p:cNvPr id="41" name="Text 39"/>
          <p:cNvSpPr txBox="1"/>
          <p:nvPr/>
        </p:nvSpPr>
        <p:spPr>
          <a:xfrm>
            <a:off x="8089850" y="1262509"/>
            <a:ext cx="2339629"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VNPAY SoftPOS đạt chuẩn PCI CPoC – VNBA</a:t>
            </a:r>
            <a:endParaRPr lang="en-US" sz="800" dirty="0"/>
          </a:p>
        </p:txBody>
      </p:sp>
      <p:sp>
        <p:nvSpPr>
          <p:cNvPr id="42" name="Text 40"/>
          <p:cNvSpPr txBox="1"/>
          <p:nvPr/>
        </p:nvSpPr>
        <p:spPr>
          <a:xfrm>
            <a:off x="8089850" y="1439763"/>
            <a:ext cx="3549316"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Vietcombank ra mắt VCB Tap to Phone – Thị trường Tài chính Tiền tệ</a:t>
            </a:r>
            <a:endParaRPr lang="en-US" sz="800" dirty="0"/>
          </a:p>
        </p:txBody>
      </p:sp>
      <p:sp>
        <p:nvSpPr>
          <p:cNvPr id="43" name="Text 41"/>
          <p:cNvSpPr txBox="1"/>
          <p:nvPr/>
        </p:nvSpPr>
        <p:spPr>
          <a:xfrm>
            <a:off x="8089850" y="1617018"/>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Biểu phí Tap to Phone/SoftPOS công khai: VPBank (hiệu lực 01/08/2026), Techcombank (khách đăng ký mới từ 01/03/2025)</a:t>
            </a:r>
            <a:endParaRPr lang="en-US" sz="800" dirty="0"/>
          </a:p>
        </p:txBody>
      </p:sp>
      <p:sp>
        <p:nvSpPr>
          <p:cNvPr id="44" name="Text 42"/>
          <p:cNvSpPr txBox="1"/>
          <p:nvPr/>
        </p:nvSpPr>
        <p:spPr>
          <a:xfrm>
            <a:off x="8089850" y="1933426"/>
            <a:ext cx="2871430"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MoMo và Alipay+ cho người Việt đi nước ngoài – MoMo</a:t>
            </a:r>
            <a:endParaRPr lang="en-US" sz="800" dirty="0"/>
          </a:p>
        </p:txBody>
      </p:sp>
      <p:sp>
        <p:nvSpPr>
          <p:cNvPr id="45" name="Text 43"/>
          <p:cNvSpPr txBox="1"/>
          <p:nvPr/>
        </p:nvSpPr>
        <p:spPr>
          <a:xfrm>
            <a:off x="8089850" y="2167830"/>
            <a:ext cx="1477167" cy="133350"/>
          </a:xfrm>
          <a:prstGeom prst="rect">
            <a:avLst/>
          </a:prstGeom>
          <a:noFill/>
          <a:ln/>
        </p:spPr>
        <p:txBody>
          <a:bodyPr wrap="none" lIns="0" tIns="0" rIns="0" bIns="0" rtlCol="0" anchor="t"/>
          <a:lstStyle/>
          <a:p>
            <a:pPr marL="0" indent="0" algn="l">
              <a:lnSpc>
                <a:spcPts val="1040"/>
              </a:lnSpc>
              <a:buNone/>
            </a:pPr>
            <a:r>
              <a:rPr lang="en-US" sz="860" b="1" kern="0" spc="30" dirty="0">
                <a:solidFill>
                  <a:srgbClr val="E11D48"/>
                </a:solidFill>
              </a:rPr>
              <a:t>KÊNH ONLINE (SLIDE 6)</a:t>
            </a:r>
            <a:endParaRPr lang="en-US" sz="860" dirty="0"/>
          </a:p>
        </p:txBody>
      </p:sp>
      <p:sp>
        <p:nvSpPr>
          <p:cNvPr id="46" name="Text 44"/>
          <p:cNvSpPr txBox="1"/>
          <p:nvPr/>
        </p:nvSpPr>
        <p:spPr>
          <a:xfrm>
            <a:off x="8089850" y="2339280"/>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56% khách Mỹ dùng AI cho chuyến đi, The AI Surge – Phocuswright 3/2026; Travel Weekly</a:t>
            </a:r>
            <a:endParaRPr lang="en-US" sz="800" dirty="0"/>
          </a:p>
        </p:txBody>
      </p:sp>
      <p:sp>
        <p:nvSpPr>
          <p:cNvPr id="47" name="Text 45"/>
          <p:cNvSpPr txBox="1"/>
          <p:nvPr/>
        </p:nvSpPr>
        <p:spPr>
          <a:xfrm>
            <a:off x="8089850" y="2655689"/>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Gen Z 69%, Millennials 64% dùng AI tạo sinh lên kế hoạch, Booking.com 2026 – Statista</a:t>
            </a:r>
            <a:endParaRPr lang="en-US" sz="800" dirty="0"/>
          </a:p>
        </p:txBody>
      </p:sp>
      <p:sp>
        <p:nvSpPr>
          <p:cNvPr id="48" name="Text 46"/>
          <p:cNvSpPr txBox="1"/>
          <p:nvPr/>
        </p:nvSpPr>
        <p:spPr>
          <a:xfrm>
            <a:off x="8089850" y="2972098"/>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81% khách Việt dự định dùng AI, Agoda 2026 Travel Outlook – PR Newswire qua Utusan; VNA</a:t>
            </a:r>
            <a:endParaRPr lang="en-US" sz="800" dirty="0"/>
          </a:p>
        </p:txBody>
      </p:sp>
      <p:sp>
        <p:nvSpPr>
          <p:cNvPr id="49" name="Text 47"/>
          <p:cNvSpPr txBox="1"/>
          <p:nvPr/>
        </p:nvSpPr>
        <p:spPr>
          <a:xfrm>
            <a:off x="8089850" y="3288506"/>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99% khách Việt quan tâm AI, 11% hoàn toàn tin – BBW, dẫn Booking.com</a:t>
            </a:r>
            <a:endParaRPr lang="en-US" sz="800" dirty="0"/>
          </a:p>
        </p:txBody>
      </p:sp>
      <p:sp>
        <p:nvSpPr>
          <p:cNvPr id="50" name="Text 48"/>
          <p:cNvSpPr txBox="1"/>
          <p:nvPr/>
        </p:nvSpPr>
        <p:spPr>
          <a:xfrm>
            <a:off x="8089850" y="3604915"/>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Du lịch trực tuyến Việt Nam khoảng 4 tỷ USD 2025, e-Conomy SEA 2025 – VnEconomy</a:t>
            </a:r>
            <a:endParaRPr lang="en-US" sz="800" dirty="0"/>
          </a:p>
        </p:txBody>
      </p:sp>
      <p:sp>
        <p:nvSpPr>
          <p:cNvPr id="51" name="Text 49"/>
          <p:cNvSpPr txBox="1"/>
          <p:nvPr/>
        </p:nvSpPr>
        <p:spPr>
          <a:xfrm>
            <a:off x="8089850" y="3921323"/>
            <a:ext cx="3524250" cy="402134"/>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OTA 58,85% lượt đặt phòng 2025, hoa hồng 15–25% – Tạp chí Kinh tế – Tài chính 12/5/2026; hoa hồng Booking.com tối thiểu 15% – Vietnam Booking</a:t>
            </a:r>
            <a:endParaRPr lang="en-US" sz="800" dirty="0"/>
          </a:p>
        </p:txBody>
      </p:sp>
      <p:sp>
        <p:nvSpPr>
          <p:cNvPr id="52" name="Text 50"/>
          <p:cNvSpPr txBox="1"/>
          <p:nvPr/>
        </p:nvSpPr>
        <p:spPr>
          <a:xfrm>
            <a:off x="8089850" y="4376886"/>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50,2 triệu thẻ quốc tế, Vụ Thanh toán NHNN quý I/2025 – VietnamFinance</a:t>
            </a:r>
            <a:endParaRPr lang="en-US" sz="800" dirty="0"/>
          </a:p>
        </p:txBody>
      </p:sp>
      <p:sp>
        <p:nvSpPr>
          <p:cNvPr id="53" name="Text 51"/>
          <p:cNvSpPr txBox="1"/>
          <p:nvPr/>
        </p:nvSpPr>
        <p:spPr>
          <a:xfrm>
            <a:off x="8089850" y="4693295"/>
            <a:ext cx="3529438" cy="123825"/>
          </a:xfrm>
          <a:prstGeom prst="rect">
            <a:avLst/>
          </a:prstGeom>
          <a:noFill/>
          <a:ln/>
        </p:spPr>
        <p:txBody>
          <a:bodyPr wrap="none" lIns="0" tIns="0" rIns="0" bIns="0" rtlCol="0" anchor="t"/>
          <a:lstStyle/>
          <a:p>
            <a:pPr marL="0" indent="0" algn="l">
              <a:lnSpc>
                <a:spcPts val="1100"/>
              </a:lnSpc>
              <a:buNone/>
            </a:pPr>
            <a:r>
              <a:rPr lang="en-US" sz="800" b="1" dirty="0">
                <a:solidFill>
                  <a:srgbClr val="334155"/>
                </a:solidFill>
              </a:rPr>
              <a:t>81 triệu lượt khách nội địa 6 tháng 2026 – Thương hiệu và Công luận</a:t>
            </a:r>
            <a:endParaRPr lang="en-US" sz="800" dirty="0"/>
          </a:p>
        </p:txBody>
      </p:sp>
      <p:sp>
        <p:nvSpPr>
          <p:cNvPr id="54" name="Text 52"/>
          <p:cNvSpPr txBox="1"/>
          <p:nvPr/>
        </p:nvSpPr>
        <p:spPr>
          <a:xfrm>
            <a:off x="8089850" y="4870549"/>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Booking.com, Expedia ra app trong ChatGPT 10/2025 – Skift; PhocusWire</a:t>
            </a:r>
            <a:endParaRPr lang="en-US" sz="800" dirty="0"/>
          </a:p>
        </p:txBody>
      </p:sp>
      <p:sp>
        <p:nvSpPr>
          <p:cNvPr id="55" name="Text 53"/>
          <p:cNvSpPr txBox="1"/>
          <p:nvPr/>
        </p:nvSpPr>
        <p:spPr>
          <a:xfrm>
            <a:off x="8089850" y="5186958"/>
            <a:ext cx="3524250" cy="262979"/>
          </a:xfrm>
          <a:prstGeom prst="rect">
            <a:avLst/>
          </a:prstGeom>
          <a:noFill/>
          <a:ln/>
        </p:spPr>
        <p:txBody>
          <a:bodyPr wrap="square" lIns="0" tIns="0" rIns="0" bIns="0" rtlCol="0" anchor="t"/>
          <a:lstStyle/>
          <a:p>
            <a:pPr marL="0" indent="0" algn="l">
              <a:lnSpc>
                <a:spcPts val="1100"/>
              </a:lnSpc>
              <a:buNone/>
            </a:pPr>
            <a:r>
              <a:rPr lang="en-US" sz="800" b="1" dirty="0">
                <a:solidFill>
                  <a:srgbClr val="334155"/>
                </a:solidFill>
              </a:rPr>
              <a:t>PasGo hơn 3.000 nhà hàng – App Store; phí đặt bàn theo khách 0,5–3 EUR – resOS</a:t>
            </a:r>
            <a:endParaRPr lang="en-US" sz="800" dirty="0"/>
          </a:p>
        </p:txBody>
      </p:sp>
      <p:sp>
        <p:nvSpPr>
          <p:cNvPr id="56" name="Shape 54"/>
          <p:cNvSpPr/>
          <p:nvPr/>
        </p:nvSpPr>
        <p:spPr>
          <a:xfrm>
            <a:off x="10796588" y="6343650"/>
            <a:ext cx="323850" cy="323850"/>
          </a:xfrm>
          <a:prstGeom prst="ellipse">
            <a:avLst/>
          </a:prstGeom>
          <a:solidFill>
            <a:srgbClr val="F0001E"/>
          </a:solidFill>
          <a:ln/>
        </p:spPr>
      </p:sp>
      <p:sp>
        <p:nvSpPr>
          <p:cNvPr id="57" name="Shape 55"/>
          <p:cNvSpPr/>
          <p:nvPr/>
        </p:nvSpPr>
        <p:spPr>
          <a:xfrm>
            <a:off x="10901363" y="6415088"/>
            <a:ext cx="114300" cy="180975"/>
          </a:xfrm>
          <a:prstGeom prst="roundRect">
            <a:avLst>
              <a:gd name="adj" fmla="val 29167"/>
            </a:avLst>
          </a:prstGeom>
          <a:ln w="19050">
            <a:solidFill>
              <a:srgbClr val="FFFFFF"/>
            </a:solidFill>
            <a:prstDash val="solid"/>
          </a:ln>
        </p:spPr>
      </p:sp>
      <p:sp>
        <p:nvSpPr>
          <p:cNvPr id="58" name="Text 56"/>
          <p:cNvSpPr txBox="1"/>
          <p:nvPr/>
        </p:nvSpPr>
        <p:spPr>
          <a:xfrm>
            <a:off x="11187113" y="6336804"/>
            <a:ext cx="533460"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F0001E"/>
                </a:solidFill>
              </a:rPr>
              <a:t>viettel</a:t>
            </a:r>
            <a:endParaRPr lang="en-US" sz="1200" dirty="0"/>
          </a:p>
        </p:txBody>
      </p:sp>
      <p:sp>
        <p:nvSpPr>
          <p:cNvPr id="59" name="Text 57"/>
          <p:cNvSpPr txBox="1"/>
          <p:nvPr/>
        </p:nvSpPr>
        <p:spPr>
          <a:xfrm>
            <a:off x="11187113" y="6477000"/>
            <a:ext cx="578263" cy="190500"/>
          </a:xfrm>
          <a:prstGeom prst="rect">
            <a:avLst/>
          </a:prstGeom>
          <a:noFill/>
          <a:ln/>
        </p:spPr>
        <p:txBody>
          <a:bodyPr wrap="none" lIns="0" tIns="0" rIns="0" bIns="0" rtlCol="0" anchor="t"/>
          <a:lstStyle/>
          <a:p>
            <a:pPr marL="0" indent="0" algn="l">
              <a:lnSpc>
                <a:spcPts val="1100"/>
              </a:lnSpc>
              <a:buNone/>
            </a:pPr>
            <a:r>
              <a:rPr lang="en-US" sz="1200" b="1" kern="0" spc="-20" dirty="0">
                <a:solidFill>
                  <a:srgbClr val="0F172A"/>
                </a:solidFill>
              </a:rPr>
              <a:t>money</a:t>
            </a:r>
            <a:endParaRPr lang="en-US" sz="1200" dirty="0"/>
          </a:p>
        </p:txBody>
      </p:sp>
      <p:sp>
        <p:nvSpPr>
          <p:cNvPr id="60" name="Text 58"/>
          <p:cNvSpPr txBox="1"/>
          <p:nvPr/>
        </p:nvSpPr>
        <p:spPr>
          <a:xfrm>
            <a:off x="10500122" y="6429375"/>
            <a:ext cx="195858" cy="142875"/>
          </a:xfrm>
          <a:prstGeom prst="rect">
            <a:avLst/>
          </a:prstGeom>
          <a:noFill/>
          <a:ln/>
        </p:spPr>
        <p:txBody>
          <a:bodyPr wrap="none" lIns="0" tIns="0" rIns="0" bIns="0" rtlCol="0" anchor="t"/>
          <a:lstStyle/>
          <a:p>
            <a:pPr marL="0" indent="0" algn="l">
              <a:lnSpc>
                <a:spcPts val="1080"/>
              </a:lnSpc>
              <a:buNone/>
            </a:pPr>
            <a:r>
              <a:rPr lang="en-US" sz="900" b="1" dirty="0">
                <a:solidFill>
                  <a:srgbClr val="CBD5E1"/>
                </a:solidFill>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TotalTime>
  <Words>13548</Words>
  <Application>Microsoft Macintosh PowerPoint</Application>
  <PresentationFormat>Widescreen</PresentationFormat>
  <Paragraphs>705</Paragraphs>
  <Slides>28</Slides>
  <Notes>28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28</vt:i4>
      </vt:variant>
    </vt:vector>
  </HeadingPairs>
  <TitlesOfParts>
    <vt:vector size="30"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Merchant thế hệ mới</dc:title>
  <dc:subject>PptxGenJS Presentation</dc:subject>
  <dc:creator>VDF</dc:creator>
  <cp:lastModifiedBy>Hoàng Nguyễn Huy</cp:lastModifiedBy>
  <cp:revision>3</cp:revision>
  <dcterms:created xsi:type="dcterms:W3CDTF">2026-10-27T02:45:46Z</dcterms:created>
  <dcterms:modified xsi:type="dcterms:W3CDTF">2026-10-27T04:20:46Z</dcterms:modified>
</cp:coreProperties>
</file>