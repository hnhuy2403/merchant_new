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Trình bày với Tổng giám đốc VDF về giải pháp "Merchant thế hệ mới": giúp merchant vừa và nhỏ của VTT bán được cho khách quốc tế qua hai kênh độc lập, thanh toán tại cửa hàng (offline) và AI tư vấn du lịch (online).
THÔNG ĐIỆP CHÍNH
• Offline: VDF đưa Visa Accept và VietQR Global vào app Tendoo để merchant vừa và nhỏ nhận tiền của khách quốc tế ngay trên điện thoại: khách chạm thẻ, trả qua link nếu không chạm được, hoặc quét QR bằng ví, app ngân hàng nước mình. Không cần máy POS, chi phí thấp. Merchant lớn lên theo lộ trình nâng gói của Visa.
• Online: AI tư vấn du lịch giới thiệu merchant vừa và nhỏ đến khách quốc tế và khách Việt dùng thẻ quốc tế, cho khách đặt phòng, đặt bàn ngay. Khách gặp AI qua kênh Viettel.
• VDF cung cấp giải pháp, làm việc với Visa, NAPAS và xử lý dòng tiền; VTT phát triển merchant và đưa khách đến AI.
Lưu ý bảo mật: số liệu về Visa Accept (hạn mức, phí, lộ trình nâng gói) lấy từ tài liệu Visa Confidential. Chỉ dùng trong tài liệu nội bộ.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MẠCH LẬP LUẬN
Khách quốc tế tăng nhanh nhưng cửa hàng nhỏ chưa có cách nhận tiền phù hợp → các giải pháp đang có đều còn hạn chế → khách đã hỏi AI và đặt chỗ online, nhưng merchant nhỏ chưa có mặt ở các kênh đó → merchant vừa và nhỏ mất khách ở cả hai đầu: không được khách tìm thấy, và không nhận được tiền khi khách đã ở quầy; đó cũng là hai khoảng trống VDF có cơ hội lấp → giải pháp → VTT và VDF cùng triển khai.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ĐÃ RÚT KHỎI SLIDE
• Khoảng 500 nghìn hộ quanh hơn 4.000 điểm du lịch (ước tính VDF).
• Từ 01/01/2026 bỏ thuế khoán; hơn 308 nghìn hộ đã dùng hóa đơn điện tử từ máy tính tiền (Bộ Tài chính, 5/2026).
• 737 nghìn máy POS tính cả doanh nghiệp (NHNN, cuối 2024).
• Kết luận đầy đủ: Tệp lớn, đang số hóa, nhưng phần lớn chưa nhận được thẻ. Đây là khoảng trống cần một cách nhận thẻ phù hợp với hộ kinh doanh nhỏ.
• Kết quả khảo sát 132 merchant đã tách sang slide sau.
SLIDE 2 – MERCHANT VỪA VÀ NHỎ
• Hộ kinh doanh đang buộc phải số hóa: từ 01/01/2026 bỏ thuế khoán, chuyển sang tự kê khai (NQ 198/2025/QH15). Đến 14/5/2026, hơn 308.000 hộ đã đăng ký hóa đơn điện tử từ máy tính tiền, tăng 35% so với cuối 2025 (Bộ Tài chính).
• Biểu đồ tròn chỉ phân tệp, chưa lọc tệp mục tiêu. Tệp mục tiêu không chỉ gồm hộ có địa điểm cố định: Tap to Phone chỉ cần điện thoại, nên hộ không có mặt bằng cố định (bán hàng rong, quầy di động, hội chợ) cũng dùng được.
• Lát "chưa đăng ký thuế" (1,76 triệu) là số suy ra: 5 triệu trừ 3,24 triệu. Hai nguồn khác thời điểm nên chỉ là số gần đúng. Lát 1,21 triệu = 3,24 − 2,03 (cá nhân kinh doanh theo lần phát sinh, cho thuê tài sản…).
• Không dùng câu "hộ kinh doanh đóng góp gần 30% GDP": Tổng cục Thống kê (2017) ước tính khu vực cá thể đóng góp khoảng 11–13% GDP; con số 30% của VEPR tính cả nông, lâm, thủy sản.
• 737 nghìn máy POS là toàn hệ thống, gồm cả doanh nghiệp, nên số hộ kinh doanh có máy POS còn thấp hơn nhiều so với 2,03 triệu hộ có địa điểm cố định.
• Khảo sát Visa: 350 doanh nghiệp, chủ yếu siêu nhỏ và do nữ làm chủ, 9–10/2023. Tỉ lệ 79% và 46% tính trên các doanh nghiệp đã dùng thanh toán số.
• Cách ước tính khoảng 500 nghìn hộ quanh điểm du lịch (gọi chung là điểm du lịch: khu du lịch, danh lam thắng cảnh, di tích có khách quốc tế):
   Nhóm điểm | Số điểm | Số hộ mỗi điểm (giả định) | Tổng số hộ
   Khu du lịch lớn (kiểu Hội An, phố cổ Hà Nội, Sa Pa, Phú Quốc) | 61 khu được quy hoạch thành khu du lịch quốc gia (QĐ 509/QĐ-TTg, 6/2024) | 3.000–4.000 | 183–244 nghìn
   Di tích quốc gia đặc biệt, gồm danh thắng (Hạ Long, Tràng An, Mỹ Sơn…) | 153 | 350–500 | 54–77 nghìn
   Di tích, danh thắng cấp quốc gia | hơn 4.000 | 30–50 | 120–200 nghìn
   Tổng | khoảng 4.200 điểm |  | 360–520 nghìn, lấy khoảng 500 nghìn
   – Mốc cho nhóm khu du lịch lớn: Hội An cũ khoảng 5.900 cơ sở kinh doanh (2 tuyến Trần Phú, Nguyễn Thị Minh Khai có 236 cơ sở, bằng 4% toàn thành phố, 3/2024); phường Hoàn Kiếm (phố cổ Hà Nội) 4.310 hộ kinh doanh. Đây là 2 điểm đông nhất nên lấy 3.000–4.000 cho trung bình.
   – Số hộ mỗi điểm ở 2 nhóm di tích là giả định, chưa có số đo. Nên nhờ đội kênh bán VTT đếm thử ở 3–5 điểm.
   – Không tính hơn 9.000 di tích cấp tỉnh vì phần lớn chỉ có khách trong nước. Một số di tích nằm trong khu du lịch lớn (ví dụ Hội An) nên tổng có đếm trùng.
   – Số 500 nghìn nằm gần cận trên của khoảng ước tính. Nếu bị hỏi, nêu đủ khoảng 360–520 nghìn và các giả định ở bảng trên.
   – Kiểm tra độ hợp lý: 500 nghìn hộ bằng khoảng 10% trong 5 triệu hộ kinh doanh.
• Chi tiết khảo sát merchant: xem slide 2b.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ĐÃ RÚT KHỎI SLIDE
• Insight 1: có merchant mở cả tài khoản ngân hàng Malaysia để nhận tiền của khách Malaysia ("nhiều phương tiện quá", "phải thêm hình thức mới").
• Insight 2: nhiều nơi phải cộng thêm khoảng 30.000đ mỗi giao dịch vào tiền của khách.
• Không đưa lên slide này: "20% du khách bỏ đi tìm cửa hàng khác" là số của khảo sát 10 khách quốc tế (2/10 sang cửa hàng khác), không phải khảo sát merchant; đã thể hiện ở slide khách quốc tế dưới dạng tỉ lệ %.
• Kết luận đầy đủ: Merchant có nhu cầu nhận tiền của khách quốc tế và sẵn sàng đổi cách làm, nhưng chỉ khi phí thấp. Giải pháp cần chi phí thấp, gắn với chứng từ và đối soát.
SLIDE 2B – KHẢO SÁT 132 MERCHANT
• Chi tiết khảo sát merchant (dùng khi được hỏi; các slide sau dẫn chiếu theo số insight):
   – Insight 1 – Phải chắp vá nhiều cách nhận tiền: 78% merchant dùng song song tiền mặt, QR và POS; 100% vẫn phải giữ tiền mặt để dự phòng. Có merchant mở cả tài khoản ngân hàng Malaysia để nhận tiền của khách Malaysia ("nhiều phương tiện quá", "phải thêm hình thức mới").
   – Insight 2 – Phí là rào cản lớn nhất: 48,5% coi phí POS là rắc rối lớn nhất (3–5% mỗi giao dịch); nhiều nơi phải cộng thêm khoảng 30.000đ mỗi giao dịch vào tiền của khách. 50,8% lo chi phí triển khai giải pháp mới.
   – Insight 3 – Mất doanh thu tại quầy: 14,4% bị hủy đơn vì khách không có tiền mặt VND hoặc thiếu tiền lẻ; 9,1% không nhận được Apple Pay, Google Pay, ví nước ngoài.
   – Insight 4 – Cần niềm tin: 26,5% merchant cần đối soát minh bạch, nhận tiền nhanh, có hóa đơn hoặc bằng chứng giao dịch để chống gian lận, khiếu nại.
   – Chỉ 22% có xu hướng từ chối giải pháp mới.
• Sẵn sàng theo mức phí: 81,5% sẵn sàng nếu phí 1–2%; kỳ vọng phí trên 3% thì chỉ 24,3% sẵn sàng. Trong nhóm "chưa chắc chắn", 42,5% chuyển sang sẵn sàng khi được báo một mức phí cụ thể và thấp.
• Lưu ý khi trích dẫn: kịch bản khảo sát là giải pháp NFC Tag với phí 1–2%, không phải Visa Accept. "Sẵn sàng triển khai" mới là ý định, chưa phải hành vi thật. Một số tỉ lệ trong báo cáo dùng mẫu số không thống nhất (127 và 132); slide dùng tỉ lệ trên 132 merchant.
• Mẫu: 78% điểm bán có khách quốc tế đóng góp trên 50% doanh thu; ngành chủ yếu là bán lẻ 36%, lưu niệm 30%, nhà hàng 23%.
• Cách diễn đạt theo bản phân tích khảo sát: insight 2 – phí POS thẻ quốc tế 3–5% buộc merchant thu phụ phí ngoài hoặc để khách chịu phí; 50,8% e ngại chi phí đầu tư thiết bị và thủ tục lắp đặt POS truyền thống. Insight 3 – 14,4% bị hủy đơn vì khách không có tiền mặt VND hoặc thiếu tiền lẻ. Insight 4 – 26,5% cần đối soát minh bạch, nhận tiền nhanh, có hóa đơn hoặc bằng chứng giao dịch để chống gian lận, khiếu nại.
• Không dùng số "20% du khách bỏ đi tìm cửa hàng khác" trên slide này: đó là khảo sát 10 khách quốc tế (2/10), cỡ mẫu nhỏ, không phải khảo sát merchant.
• Hai con số 78% khác nhau: 78% có trên 50% doanh thu từ khách quốc tế (mẫu khảo sát) và 78% dùng song song tiền mặt, QR và POS (insight 1). Nói rõ khi trình bày để tránh nhầm.
• Không nêu mức phí của VDF: mức phí cho merchant sẽ thống nhất sau khi triển khai.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ĐÃ RÚT KHỎI SLIDE
• Tỉ trọng: Trung Quốc 22%, Hàn Quốc 17%, Nga 6%, Đài Loan 5%, Mỹ 4%, Nhật Bản 4%. Ví ở Trung Quốc là Alipay, WeChat Pay; Nhật Bản tiền mặt còn nhiều.
• Khảo sát khách đầy đủ: khách vẫn phải mang tiền mặt cho chi tiêu hằng ngày; khi cửa hàng không nhận thẻ, khách phải xoay xở (nhờ người khác trả hộ, đi rút hoặc đổi tiền), có khách sang cửa hàng khác; khó trả tiền nhất ở quán ăn, quán cà phê và điểm tham quan; khách sẵn sàng dùng cách trả tiền mới nếu tiện.
SLIDE 3 – KHÁCH QUỐC TẾ
• Nguồn khách 9 tháng 2026: Cục Thống kê, Cục Du lịch Quốc gia (công bố 3/10/2026). Trung Quốc và Hàn Quốc chiếm gần 40%. Tiếp theo trong top 10: Campuchia 688 nghìn (+40,5%), Philippines 523 nghìn (+55,2%), Ấn Độ khoảng 505–671 nghìn (+33%; hai nguồn báo chí lệch nhau), Úc 485 nghìn (+21%). Tỉ trọng là VDF tự tính trên 17,7 triệu. Châu Á chiếm khoảng 74,5%, chỉ tăng 7,6%.
• Hai thị trường lớn nhất tăng chậm (Trung Quốc +1,5%) hoặc giảm (Hàn Quốc −5,5%). Tăng trưởng đang đến từ châu Âu, châu Mỹ, châu Úc và Ấn Độ.
• Visa Accept nhận thẻ Visa, Mastercard nên phù hợp nhất với khách Hàn Quốc, Mỹ, Úc, châu Âu. Khách Trung Quốc chủ yếu dùng ví nước mình: phục vụ qua VietQR Global (slide 9b). Khách Nga tăng mạnh nhưng thẻ Visa, Mastercard phát hành tại Nga không dùng được ở nước ngoài từ 3/2022, nên Visa Accept gần như không phục vụ được nhóm này.
• Đài Loan chưa có số liệu về cách trả tiền tại cửa hàng; để trống, không suy đoán.
• Năm 2025: 21,2 triệu lượt khách quốc tế, tổng thu du lịch khoảng 1 triệu tỷ đồng. Du lịch quốc tế toàn cầu 6 tháng đầu 2026 chỉ tăng 0,4%.
• 1.150 USD là điều tra chi tiêu của Tổng cục Thống kê năm 2019 (bản mới nhất có cơ cấu theo khoản). 718 USD là tổng thu từ khách quốc tế 2025 (15,22 tỷ USD) chia cho 21,2 triệu lượt. Hai số khác nhau do khác cách tính. VietnamPlus có nêu mức 1.200–1.400 USD mỗi chuyến, chưa rõ cách tính.
• Cơ cấu chi tiêu: ăn uống 21,9%, mua sắm 12,4%, cộng lại khoảng 34% (Tổng cục Thống kê). Cách tính 5–8 tỷ USD: 21,2 triệu lượt × 718–1.150 USD × 34%.
• Cách trả tiền tại cửa hàng ở nước của khách: Hàn Quốc (2024) thẻ 68% (tín dụng 54%, ghi nợ 14%), ví 20%, tiền mặt 7%; Mỹ (2025) thẻ 71%; Úc, Anh thẻ khoảng 67–70%; Nhật Bản (2025) tiền mặt còn khoảng 38%; Trung Quốc (2025) Alipay, WeChat Pay chiếm 87%. Đây là thói quen ở nước của khách, không phải số đo tại Việt Nam; nên xin số tại Việt Nam từ Visa hoặc NAPAS. Số của Úc, Anh, Nhật Bản lấy qua nguồn thứ cấp, cần đối chiếu báo cáo gốc Worldpay.
• Chi tiết khảo sát khách (10 người; slide chỉ nêu %, cỡ mẫu nhỏ, chỉ nói khi được hỏi): 5/10 phải mang tiền mặt cho chi tiêu hằng ngày; 8/10 phải xoay xở khi không trả được; 7/10 sẵn sàng dùng giải pháp mới. 3/10 gặp phụ phí thẻ hoặc yêu cầu chi tối thiểu; 2/10 gặp cửa hàng chỉ nhận QR ngân hàng hoặc ví Việt Nam. Khi không trả được: nhờ người khác trả hộ (3/10), đi rút hoặc đổi tiền (2/10), sang cửa hàng khác (2/10). Cần nhất ở quán ăn, quán cà phê và điểm tham quan (cùng 7/10).
• Kịch bản khảo sát khách là thu phí 5% của khách (6/10 sẵn sàng trả). Mức phí của giải pháp VDF chưa chốt, nên không đưa con số 5% lên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ĐÃ RÚT KHỎI SLIDE
• Ví dụ nhóm: vừa và nhỏ, cá nhân (quán ăn, cà phê, quầy lưu niệm, sạp chợ, homestay); trung bình (nhà hàng, cửa hàng có mặt bằng, spa, khách sạn nhỏ); lớn (khách sạn chuỗi, trung tâm thương mại, chuỗi bán lẻ, chuỗi nhà hàng).
• Ghi chú ô: POS ở nhóm nhỏ: không có máy, ngại phí; QR quốc tế: khách quét bằng ví, app nước mình; app Việt Nam: cửa hàng có QR nội địa nhưng khách ít khi dùng.
• Câu nối: ba giải pháp mới đang có trên thị trường (slide sau) chưa lấp được khoảng trống này.
SLIDE 4 – KHÁCH QUỐC TẾ ĐANG TRẢ TIỀN THẾ NÀO, THEO TỪNG NHÓM MERCHANT
• QR quốc tế hiện chỉ có ở nhóm lớn. Tap to Phone đã có ở nhóm trung bình và lớn, chủ yếu dùng qua app ngân hàng (VPBank, Sacombank, VIB, VCB…), chưa đến được nhóm vừa và nhỏ.
• Ma trận là đánh giá của VDF, dựa trên khảo sát 132 merchant (78% dùng song song tiền mặt, QR và POS; 100% vẫn giữ tiền mặt; 48,5% coi phí POS 3–5% là rắc rối lớn nhất) và thông tin công khai về các giải pháp hiện có (slide 5). Chưa có số liệu công khai về cách khách quốc tế trả tiền theo từng nhóm merchant.
• Nhóm vừa và nhỏ ứng với tệp hộ kinh doanh ở slide 2, gồm cả hộ không có địa điểm cố định (Tap to Phone không cần mặt bằng). Nhóm lớn (chuỗi nhà hàng, khách sạn) là đối tượng thêm của booking online (slide 8), không phải trọng tâm của Visa Accept tại quầy.
• Dòng "QR quốc tế" ở nhóm vừa và nhỏ là khoảng trống VDF lấp bằng VietQR Global trong Tendoo (slide 9b); dòng "Tap to Phone" lấp bằng Visa Accept (slide 9).
• Nhu cầu là có thật: giao dịch VietQR Global của khách Thái Lan, Lào, Campuchia 8 tháng 2026 tăng khoảng 8 lần so với 2025; của khách Trung Quốc tăng khoảng 3 lần (NAPAS).
• Cửa hàng đặc sản, quán ăn ở địa phương còn vướng rào cản thiết bị và chi phí (VCCI).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ĐÃ RÚT KHỎI SLIDE
• QR quốc tế: khách quét QR của cửa hàng bằng ví hoặc app ngân hàng nước mình; cửa hàng nhận tiền VND. Khách châu Âu, Mỹ, Úc, Nhật Bản, Ấn Độ chưa dùng được. 6% điểm chấp nhận thanh toán nhận QR quốc tế, chủ yếu ở chuỗi lớn.
• App Việt Nam: khách tải app thanh toán Việt Nam, đăng ký, liên kết thẻ quốc tế ngay tại quầy, chỉ để dùng trong một chuyến đi ngắn.
• Tap to Phone: VPBank, Sacombank, VIB dùng Visa Accept; phí 2,5–3,9% mỗi giao dịch cộng phí duy trì đến 50.000đ/tháng.
• Kết luận đầy đủ: Thị trường không thiếu phương thức thanh toán, mà thiếu một giải pháp đến được hộ kinh doanh nhỏ, gắn với việc bán hàng và chi phí thấp.
SLIDE 5 – CÁC GIẢI PHÁP HIỆN CÓ VÀ HẠN CHẾ
• QR quốc tế: VietQR Global đã kết nối Thái Lan, Lào, Campuchia, Trung Quốc, Hàn Quốc, Singapore, đang mở rộng sang Nhật Bản, Ấn Độ, Malaysia. VNPAY-QR nhận WeChat Pay, Alipay, UnionPay, Toss Pay…; đã có tại Thế Giới Di Động, Điện Máy Xanh, TopZone (từ 9/2026). VNPAY đi qua chuỗi lớn trước, hộ kinh doanh nhỏ chưa được phủ.
• App Việt Nam liên kết thẻ: khách phải làm 3 bước (tải app, đăng ký, liên kết thẻ) trước lần trả tiền đầu tiên, trong khi đang đứng ở quầy.
• Tap to Phone: VPBank (TapLink), Sacombank, VIB (BizPay) dùng Visa Accept trong app ngân hàng; VNPAY SoftPOS là app nhận thẻ riêng, đạt chuẩn PCI CPoC; VCB Tap to Phone là tính năng nhận thẻ của Vietcombank. Merchant nhỏ ngại phí: 48,5% coi phí 3–5% là rắc rối lớn nhất (insight 2).
• Biểu phí công khai: VPBank (hiệu lực 01/08/2026, chưa gồm VAT): thẻ phát hành ở nước ngoài 3,5–3,8%, thẻ quốc tế phát hành tại Việt Nam 1,2–2,2%, thẻ nội địa 0,7%; phí duy trì 50.000đ/thiết bị/tháng, chỉ miễn khi doanh số SoftPOS trong tháng từ 100 triệu. Techcombank (khách đăng ký mới từ 01/03/2025): thẻ phát hành ở nước ngoài 2,5% (doanh số dưới 1,9 tỷ/năm) hoặc 3,5–3,9%; phí 15.000đ/thiết bị/tháng. Đây là biểu phí Tap to Phone/SoftPOS thông thường của ngân hàng, không phải phí Visa Accept (Visa Accept có MDR gần như bằng 0, slide 9).
• So sánh: VietQR chỉ 0,3% (VPBank); TPBank 0% cho giao dịch QR đến 200.000đ. Merchant nhỏ ít có lý do nhận thẻ, trừ khi phục vụ khách quốc tế, mà đây lại là nhóm chịu phí cao nhất.
• Vietcombank, Sacombank, Agribank, MB chưa công bố biểu phí SoftPOS. Số của TPBank (16.500đ/tháng, đặt cọc khoảng 3 triệu/thiết bị) lấy từ nguồn thứ cấp.
• Visa Accept đã có ở ba ngân hàng, nên công nghệ không phải là khác biệt. Khác biệt nằm ở tệp merchant, kênh phát triển và việc gắn với bán hàng.
• Khi trình bày cột QR quốc tế: không chê công nghệ QR, vì giải pháp của VDF cũng dùng VietQR Global (slide 9b). Hạn chế "6 nước" được bù bằng Visa Accept; hạn chế "~6% điểm bán" là bài toán phủ điểm bán, VTT làm được qua đội kênh bán.
• Khi trình bày cột Tap to Phone: không chê công nghệ chạm thẻ, vì giải pháp của VDF cũng dùng Tap to Phone. Chỉ nói hạn chế về việc tách khỏi bán hàng và chính sách phí của ngân hàng.
• Cần nghiên cứu thêm: kết quả triển khai Visa Accept của VPBank, Sacombank, VIB; nguồn xác nhận hợp tác VNPAY – Mastercard.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ĐÃ RÚT KHỎI SLIDE
• 56% khách Mỹ đã dùng AI cho ít nhất một chuyến đi trong 12 tháng qua, tăng từ 33% ở nửa đầu 2025 (Phocuswright, 3/2026).
• AI tạo sinh (ChatGPT, Gemini) chiếm 33% việc tìm hiểu chuyến đi, gần bằng công cụ tìm kiếm (35%) (Phocuswright, 3/2026).
• 64–69% khách Millennials và Gen Z dùng AI tạo sinh để lên kế hoạch du lịch (Booking.com, 32.800 người ở 34 nước, 2026).
• 81% khách Việt dự định dùng AI, cao nhất châu Á (trung bình 63%) (Agoda, 3/2026).
• Du lịch trực tuyến Việt Nam tăng 16% năm 2025. OTA chiếm khoảng 59% lượt đặt phòng khách sạn năm 2025.
• Tripadvisor, TheFork (đặt bàn nhà hàng) công bố sẽ tham gia ChatGPT. Booking.com đã có trợ lý AI lên lịch trình trong app từ 6/2023.
SLIDE 6 – KHÁCH TÌM VÀ ĐẶT CHỖ THẾ NÀO
• Phocuswright: báo cáo "The AI Surge: Travel's Fastest Behavioral Shift in a Decade" (3/2026), khảo sát khách du lịch Mỹ. 56% là dùng AI cho lên kế hoạch, đặt chỗ hoặc hỗ trợ tại điểm đến, tăng từ 43% ở nửa cuối 2025. Một nửa người dùng AI trong công cụ tìm kiếm vẫn bấm vào trang gốc sau khi xem câu trả lời của AI. Chưa có số tương tự cho khách quốc tế đến Việt Nam.
• Booking.com: khảo sát xu hướng du lịch 2026, 32.800 người dự định đi du lịch năm 2026 ở 34 nước. Gen Z 69%, Millennials 64%, Gen X 41%, Boomers 11%. Số liệu do Booking.com công bố, chưa có phương pháp chi tiết.
• Agoda (2026 Travel Outlook, 3/2026): 81% là ý định, không phải tỉ lệ đã dùng. Một số báo Việt Nam viết như thể 81% đã dùng AI; khi trình bày nói "dự định". Khách Việt đã dùng AI chủ yếu để tạo lịch trình (30%), dịch tức thời (30%), gợi ý điểm tham quan và quán ăn. Booking.com (cuối 2025): 99% khách Việt quan tâm đến AI, nhưng chỉ 11% hoàn toàn tin, 41% luôn kiểm tra lại. Đây là lý do AI phải trả lời theo dữ liệu thật của merchant.
• Số OTA 58,85% lượt đặt phòng và hoa hồng 15–25% lấy từ một bài nghiên cứu trên Tạp chí Kinh tế – Tài chính (12/5/2026, trường hợp Mường Thanh và Vinpearl). Bài không ghi nguồn gốc của hai số này; trên slide nên ghi "khoảng". Cùng bài nêu chi phí phân phối qua kênh trực tiếp chỉ 4,25–4,5%. Một OTA trong nước (Vietnam Booking) nêu hoa hồng Booking.com tối thiểu 15%.
• Số 4 tỷ USD là mảng du lịch trực tuyến trong báo cáo e-Conomy SEA 2025 (25/11/2025), gồm cả khách nội địa và quốc tế; toàn nền kinh tế số Việt Nam khoảng 39 tỷ USD.
• Khách Việt: 50,2 triệu thẻ quốc tế là toàn bộ thẻ quốc tế đang lưu hành (cả ghi nợ và tín dụng), chưa tách được số người dùng thẻ khi đi du lịch. Du lịch nội địa 6 tháng đầu 2026 khoảng 81 triệu lượt (Cục Du lịch Quốc gia), mục tiêu cả năm 150 triệu lượt.
• Đặt bàn nhà hàng ở Việt Nam: PasGo tự công bố hơn 3.000 nhà hàng, chủ yếu ở Hà Nội, TP.HCM, Đà Nẵng; chưa có biểu phí công khai. Trên thế giới, nền tảng đặt bàn thường thu khoảng 0,5–3 EUR mỗi khách (TheFork, OpenTable…), số do các đơn vị phần mềm công bố.
• Ý "merchant vừa và nhỏ ít khi có mặt trên các nền tảng" là đánh giá của VDF, chưa có số đo. Nếu cần chứng minh, nhờ đội kênh bán VTT kiểm tra ở 3–5 điểm du lịch: bao nhiêu hộ có trên Google Maps, Tripadvisor, OTA và có thông tin bằng tiếng nước ngoài.
• Slide này chỉ nói hành vi của khách; kênh khách gặp AI trình bày ở slide 11.
• Chưa có khảo sát công khai về cách khách quốc tế tìm quán ăn, điểm mua sắm tại Việt Nam. Có thể hỏi bổ sung 1–2 câu trong khảo sát khách quốc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ĐÃ RÚT KHỎI SLIDE
• Tại cửa hàng: chỉ khoảng 6% điểm chấp nhận thanh toán nhận QR quốc tế. Khách phải mang tiền mặt, đi rút hoặc đổi tiền, có khách sang cửa hàng khác. 58% merchant sẵn sàng dùng giải pháp mới; kỳ vọng phí trên 3% thì chỉ 24,3% sẵn sàng.
• Trước khi khách đến: khách đã hỏi AI và đặt chỗ online; merchant vừa và nhỏ chưa có mặt trên các nền tảng. 81% khách Việt dự định dùng AI.
• Kết luận: Hai vấn đề, hai cơ hội độc lập, cần hai cách giải quyết riêng. Cùng VTT, VDF có kênh đến merchant để lấp cả hai.
SLIDE 7 – VẤN ĐỀ VÀ CƠ HỘI CỦA VDF
• Slide này tổng hợp các hạn chế đã nêu ở các slide trước (slide 2–6) thành 2 vấn đề và 2 cơ hội, mỗi cặp ứng với một kênh của giải pháp (slide 8). Hai cặp độc lập; không trình bày như một hành trình nối tiếp "khách tìm thấy cửa hàng qua AI rồi trả tiền tại chính cửa hàng đó".
• Slide này chưa nhắc Visa Accept và VietQR Global; hai giải pháp xuất hiện lần đầu ở phần Giải pháp (slide 8, 9, 9b).
• Cột 1 – Tại cửa hàng:
   – Vấn đề có bằng chứng từ khảo sát 132 merchant và khảo sát 10 khách quốc tế. Insight 3 của khảo sát merchant: 14,4% bị hủy đơn vì khách không có tiền mặt VND hoặc thiếu tiền lẻ; 9,1% không nhận được Apple Pay, Google Pay, ví nước ngoài. Cả nước chỉ có 737 nghìn máy POS, tính cả doanh nghiệp (slide 2), dùng khi được hỏi.
   – 500 nghìn hộ là ước tính của VDF (khoảng 360–520 nghìn, xem ghi chú slide 2).
   – Số 81,5% và 24,3% lấy từ khảo sát 132 merchant (7/2026). Trong nhóm "chưa chắc chắn", 42,5% chuyển sang sẵn sàng khi được báo một mức phí cụ thể và thấp.
   – Không nêu mức phí của VDF: mức phí cho merchant sẽ thống nhất sau khi triển khai. "Chi phí thấp" là so với phí POS 3–5% và Tap to Phone/SoftPOS thông thường của ngân hàng 2,5–3,9% (slide 5).
• Cột 2 – Trước khi khách đến:
   – Chưa có khảo sát riêng. Ý "merchant vừa và nhỏ chưa có mặt trên các nền tảng" là đánh giá của VDF, chưa có số đo (xem ghi chú slide 6). Số 56% là khách Mỹ, 81% khách Việt là ý định; nói đúng như vậy khi trình bày. Số 4 tỷ USD gồm cả khách nội địa và quốc tế. Đã bỏ số 50,2 triệu thẻ quốc tế khỏi slide: đây là thẻ của người Việt, dễ bị hiểu nhầm là thẻ của khách nước ngoài; dùng khi được hỏi về khách Việt (ghi chú slide 6).
   – Cũng gồm các chuỗi nhà hàng, khách sạn lớn ở phần booking online: đặt chỗ đang tập trung qua OTA (khoảng 59% lượt đặt phòng, hoa hồng 15–25%, slide 6). Không nói giải pháp của VDF rẻ hơn OTA; chính sách affiliate và booking online sẽ thống nhất sau khi triển khai.
• Lợi thế khi hợp tác với VTT: tệp hộ kinh doanh Tendoo là hơn 200.000 lượt được hỗ trợ chuyển đổi thuế, không phải số merchant đang dùng.
• Bỏ các ý của bản cũ: slide "Vấn đề nội tại của Tendoo và Tammi" (AI của Tendoo hướng vào trong, quá tải khi livestream, thiếu người trực tin nhắn, Tammi chưa có thương mại); trợ lý livestream, tin nhắn, trợ lý tại quầy (đã bỏ khỏi giải pháp); mở rộng sang khách Việt trên Tammi (chưa có trong giải pháp chốt 25/10). Nội dung cũ lưu ở bản v0.7.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ĐÃ RÚT KHỎI SLIDE
• Định nghĩa: VDF giúp merchant vừa và nhỏ bán được cho khách quốc tế qua hai kênh: tại cửa hàng, merchant nhận thẻ (Visa Accept) và QR quốc tế (VietQR Global) ngay trên điện thoại, tích hợp trong app Tendoo; online, AI tư vấn cho khách điểm du lịch, điểm ăn chơi, mua sắm và khách sạn.
• Chạm thẻ (Tap to Phone) là cách nhận tiền chính với khách dùng thẻ; link thanh toán khi khách không chạm được. Với Visa Accept, tiền về gần như tức thì.
• VietQR Global: khách từ các nước đã kết nối quét QR bằng ví, app ngân hàng nước mình; cửa hàng nhận VND.
• Phí IRF của Visa: miễn phí với giao dịch dưới 200.000đ, 200đ mỗi giao dịch trên 200.000đ.
• Merchant được: kênh offline nhận được tiền của khách quốc tế, không cần POS, tiền vào Tendoo, phí IRF thấp; kênh online có thêm khách nhờ AI giới thiệu.
• Doanh thu kênh offline: VDF chia phí giao dịch với VTT.
• Doanh thu kênh online: tiền affiliate do merchant trả; một phần phí giao dịch booking online.
• VTT phát triển merchant vừa và nhỏ qua tệp hộ kinh doanh Tendoo và đội kênh bán thực địa; các chuỗi nhà hàng, khách sạn lớn cho booking online.
SLIDE 8 – GIẢI PHÁP TỔNG THỂ
• Slide này trả lời đủ 3 tiêu chí ở cột Tại cửa hàng của slide 7: đến được hộ kinh doanh nhỏ (không cần máy POS, VTT phát triển merchant), gắn với việc bán hàng (nhận tiền ngay trong app Tendoo), chi phí thấp (phí IRF của Visa).
• Phí IRF là phí của Visa, không phải mức phí VDF thu merchant. Không nêu phí VietQR Global với merchant. Mức phí cho merchant ở kênh offline, chính sách affiliate và chính sách booking online sẽ thống nhất sau khi triển khai; không nêu các con số này trên slide.
• Theo tài liệu Visa (mục Ghi chú giải pháp Visa Accept), mức IRF trên áp dụng từ 01/02/2027 và còn có phí acquirer 0,002 USD với giao dịch từ 200.000đ; trước đó IRF và phí acquirer mỗi loại 10bps, tối đa 250đ mỗi giao dịch. Nói đúng mốc thời gian nếu được hỏi.
• VTT phát triển merchant cho cả hai kênh, qua tệp hộ kinh doanh Tendoo (hơn 200.000 lượt được hỗ trợ chuyển đổi thuế, không phải số merchant đang dùng) và đội kênh bán thực địa; với booking online, VTT phát triển cả các chuỗi nhà hàng, khách sạn lớn.
• Doanh thu của VDF theo từng kênh bổ sung sau; trên slide chỉ nêu các dòng thu.
• Kênh khách gặp AI trình bày ở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ĐÃ RÚT KHỎI SLIDE
• Visa Accept biến người dùng thẻ Visa ghi nợ, trả trước thành người bán: ai cũng nhận được thẻ. Đăng ký nhanh.
• Chạm thẻ: khách chạm thẻ hoặc ví vào điện thoại cửa hàng. Link thanh toán: merchant gửi link để khách trả bằng thẻ; giao dịch qua link được bảo vệ bằng 3-D Secure. Merchant theo dõi doanh số, lịch sử, chi tiết từng giao dịch; có hoàn tiền và báo cáo đối soát.
• Hạn mức: 100 triệu đồng (4.000 USD) và 2.000 giao dịch mỗi tháng; 8 triệu đồng (300 USD) mỗi giao dịch.
• Phí: IRF miễn phí dưới 200.000đ, 200đ từ 200.000đ; phí acquirer miễn phí dưới 200.000đ, 0,002 USD từ 200.000đ.
• Nâng gói: Visa Accept MDR gần như bằng 0 trong hạn mức; gói SMB MDR dưới 1%, khoảng 180 triệu đồng (7.000 USD) mỗi tháng, không giới hạn số giao dịch và giá trị mỗi giao dịch; nhận thẻ đầy đủ theo biểu phí chuẩn, không giới hạn, dùng nhiều loại thiết bị.
SLIDE 9 – GIẢI PHÁP CHI TIẾT 1 (OFFLINE): VISA ACCEPT
• Số liệu trên slide lấy từ tài liệu Visa Confidential (trang 12–22). Chỉ dùng trong tài liệu nội bộ.
• Phí ở khối 3 áp dụng từ 01/02/2027. Trước đó IRF và phí acquirer mỗi loại 10bps, tối đa 250đ mỗi giao dịch. Nói đúng mốc thời gian nếu được hỏi. Đây là phí mạng lưới của Visa, không phải mức phí VDF thu merchant; mức phí cho merchant thống nhất sau khi triển khai.
• Trên trang 12, Visa ghi mức giá cho merchant là "competitive pricing", còn để ngỏ (to be decided).
• Theo tài liệu Visa, merchant đăng ký qua app của ngân hàng phát hành thẻ: SDK Visa Accept nằm trong app ngân hàng, bước KYB do ngân hàng làm. Giải pháp VDF tích hợp Visa Accept vào app Tendoo; nếu được hỏi về KYB, nói đúng là cách làm đang được thống nhất với Visa.
• Chạm hạn mức thì merchant không giao dịch tiếp được trong tháng đó và được mời nâng lên gói SMB. Merchant có thể ở lại Visa Accept. Visa đặt hạn mức để tránh ăn vào tệp merchant hiện có của ngân hàng và tạo đường nâng gói.
• Kiểm soát rủi ro của Visa: tự động theo dõi tần suất giao dịch, giới hạn số tiền và số giao dịch; ngân hàng phát hành phát hiện cách dùng bất thường.
• Không nói "chạy trên mọi điện thoại" (chạm thẻ cần điện thoại có NFC) và không nói "nhận mọi loại thẻ" (xem mục "Ghi chú giải pháp Visa Accept").
• Không nêu tỉ lệ chia phí giao dịch giữa VDF và VTT khi chưa thống nhất.
GHI CHÚ GIẢI PHÁP VISA ACCEPT (CHO NGƯỜI TRÌNH, KHÔNG ĐƯA LÊN SLIDE)
Mục này giúp người trình dùng từ cho chuẩn và trả lời khi được hỏi sâu.
• Bản chất: Visa Accept biến chủ thẻ Visa (ghi nợ, trả trước) thành người bán. Merchant dùng thẻ Visa đang có để nhận tiền. VDF không phát hành thẻ. SDK Visa Accept được tích hợp vào app Tendoo.
• Cách nói chuẩn:
   – Dùng "nhận thẻ ngay trên điện thoại", "chạm thẻ", "trả qua link".
   – Không nói "VDF phát hành thẻ cho merchant".
   – Không nói "nhận mọi loại thẻ". Hiện tại là thẻ Visa và Mastercard khi chạm; với link thì xác nhận lại loại thẻ được nhận.
   – Không nói "chạy trên mọi điện thoại". Chạm thẻ chỉ chạy trên Android có NFC; iPhone dùng trả qua link.
• Hai cách nhận tiền:
   – Chạm thẻ (Tap to Phone, Android): nhận thẻ Visa, Mastercard và ví trên điện thoại.
   – Trả qua link (Pay by Link): khách quét mã QR trên điện thoại cửa hàng hoặc nhận link qua SMS, email, rồi nhập thẻ; có xác thực 3-D Secure.
• Hạn mức (theo Visa): khoảng 100 triệu đồng (4.000 USD) và 2.000 giao dịch mỗi tháng; khoảng 8 triệu đồng (300 USD) mỗi giao dịch.
• Phí (theo Visa):
   – MDR với merchant gần như bằng 0.
   – Phí mạng lưới đến 31/01/2027: IRF và phí acquirer mỗi loại 10bps, tối đa 250đ mỗi giao dịch.
   – Từ 01/02/2027: giao dịch dưới 200.000đ miễn phí; từ 200.000đ trở lên, IRF 200đ và phí acquirer 0,002 USD.
• Tiền về: gần như tức thì, vào thẻ Visa của merchant.
• Lộ trình nâng gói của Visa:
   – Merchant chạm hạn mức Visa Accept thì không giao dịch tiếp được trong tháng đó.
   – Merchant được mời nâng lên gói SMB: MDR dưới 1%, khoảng 180 triệu đồng (7.000 USD) mỗi tháng, không giới hạn số giao dịch và giá trị mỗi giao dịch.
   – Sau đó lên gói nhận thẻ đầy đủ theo biểu phí chuẩn, dùng nhiều loại thiết bị.
• Kiểm soát rủi ro: theo dõi tần suất giao dịch, giới hạn hạn mức, 3-D Secure cho giao dịch qua link, chức năng hoàn tiền, báo cáo doanh số và đối soát.
• Đã triển khai tại Việt Nam: VPBank (TapLink), Sacombank, VIB (BizPay).
• Sản phẩm Visa khác có thể dùng ở phase sau:
   – Visa QR Connector: Viettel Money làm cầu nối QR, du khách quét mã bằng ví có thẻ Visa.
   – Visa Acceptance Platform: Pay by Link, Tap to Phone, quản lý token, công cụ chống gian lận Decision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ĐÃ RÚT KHỎI SLIDE
• VietQR Global là mạng QR xuyên biên giới do NAPAS vận hành. Khách quét mã QR của cửa hàng bằng ví hoặc app ngân hàng nước mình; cửa hàng nhận tiền VND.
• Đã kết nối: Thái Lan, Lào, Campuchia, Trung Quốc, Hàn Quốc, Singapore. Đang mở rộng: Nhật Bản, Ấn Độ, Malaysia.
• Gần 40%: Trung Quốc 22% và Hàn Quốc 17% tổng lượt khách quốc tế 9 tháng 2026 (slide 3).
SLIDE 9B – GIẢI PHÁP CHI TIẾT 1B (OFFLINE): VIETQR GLOBAL
• VDF làm việc với NAPAS để nhận thanh toán VietQR Global, giống như VDF làm việc với Visa cho Visa Accept. Dòng tiền xử lý qua Viettel Money.
• Khách Trung Quốc quét bằng ví hoặc app ngân hàng theo đúng kết nối của NAPAS. Không cần nêu tên app cụ thể khi trình bày.
• Không nêu phí VietQR Global với merchant. Mức phí cho merchant thống nhất sau khi triển khai.
• VietQR Global đi cùng Visa Accept từ Phase 1 (Q2/2027), trong cùng app Tendoo.
• Hai cách bổ sung cho nhau: Visa Accept cho khách dùng thẻ (khách từ nước nào cũng có thẻ Visa, Mastercard); VietQR Global cho khách dùng ví, app ngân hàng nước mình, trong đó có phần lớn khách Trung Quốc mà Visa Accept không phục vụ được. Khách Hàn Quốc dùng được cả hai.
• Nhu cầu là có thật: giao dịch VietQR Global của khách Thái Lan, Lào, Campuchia 8 tháng 2026 tăng khoảng 8 lần so với 2025; của khách Trung Quốc tăng khoảng 3 lần (NAPAS). Nhưng mới khoảng 6% điểm chấp nhận thanh toán nhận QR quốc tế (slide 5): đây là bài toán phủ điểm bán, đúng việc VTT làm được qua đội kênh bán.
• Tendoo hiện chưa có VietQR nội địa; VietQR Global là tính năng mới trong Tendoo.
• Không nói "khách nước nào cũng quét được": chỉ khách từ các nước đã kết nối.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KỊCH BẢN DEMO (CỬA HÀNG MẪU: LAN'S HOUSE, TRÀ VÀ QUÀ LƯU NIỆM Ở HỘI AN)
• Đăng ký (slide này): mở Visa Accept trong Tendoo, chọn thẻ Visa nhận tiền, đặt tên người bán, đồng ý điều khoản và hạn mức.
• Chạm thẻ (slide sau): tạo đơn từ hàng có sẵn trong Tendoo, du khách Pháp chạm thẻ Visa, giao dịch vào bảng điều khiển và sổ bán hàng.
• Link thanh toán (phụ lục): du khách Hàn Quốc không chạm được thẻ; chủ tiệm gửi link, khách nhập thẻ, xác thực 3-D Secure.
• Theo dõi và hoàn tiền (phụ lục): lịch sử, chi tiết giao dịch, hoàn tiền, báo cáo doanh số và đối soát.
• Nâng gói (phụ lục): chạm hạn mức tháng, được mời lên gói SMB hoặc ở lại Visa Accept.
SLIDE 10 – DEMO VISA ACCEPT: ĐĂNG KÝ
• Demo là minh họa, dựng theo luồng màn hình Visa đưa trong tài liệu VDS – Acquiring discussion (10/2026), Visa ghi "For illustration purposes only". Luồng thật trong Tendoo sẽ thống nhất với Visa.
• Bước đăng ký: theo tài liệu Visa, merchant đăng ký trong app ngân hàng phát hành thẻ, ngân hàng làm bước xác minh (KYB). Demo không vẽ bước xác minh vì cách làm trong Tendoo chưa thống nhất. Nếu được hỏi, nói đúng như vậy.
• Phí: demo không hiện mức phí trên từng giao dịch, vì mức phí cho merchant thống nhất sau khi triển khai. Kịch bản Nâng gói dùng mức phí của Visa (MDR gần như 0, gói SMB dưới 1%).
• Chạm thẻ cần điện thoại Android có NFC. Kịch bản Link thanh toán dùng cho khách không chạm được; theo Visa, cửa hàng cũng có thể cho khách quét mã trên điện thoại cửa hàng thay vì gửi tin nhắn.
• Hoàn tiền và báo cáo (doanh số, đối soát quyết toán, từng giao dịch) theo trang 15 và 20 tài liệu Visa.
• Nâng gói: theo trang 22, chạm hạn mức thì không giao dịch tiếp được trong tháng; merchant chọn lên gói SMB hoặc ở lại Visa Accept. Việc nâng gói do VDF thực hiện (VDF làm mọi việc với Visa).
• Tên cửa hàng, khách, số tiền và số thẻ trong demo đều là giả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10B – DEMO VISA ACCEPT: CHẠM THẺ
• Chạm thẻ là cách nhận tiền chính tại quầy; cần điện thoại Android có NFC.
• Khách không chạm được thì trả qua link ngay trên màn hình chờ chạm (luồng chi tiết ở phụ lục).
• Demo không hiện mức phí trên từng giao dịch, vì mức phí cho merchant thống nhất sau khi triển khai.
• Ba kịch bản còn lại (Link thanh toán, Theo dõi và hoàn tiền, Nâng gói) ở phụ lục "Màn hình demo Visa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ĐÃ RÚT KHỎI SLIDE
• Kênh Viettel: link mở AI trong tin nhắn chào mừng khi khách roaming vào Việt Nam, trên SIM/eSIM du lịch Viettel và tại quầy bán SIM ở sân bay. AI là web app, khách bấm link là dùng ngay.
• VTT phát triển merchant vừa và nhỏ qua tệp hộ kinh doanh Tendoo và đội kênh bán thực địa; các chuỗi nhà hàng, khách sạn lớn cho booking online.
• Chính sách affiliate và booking online thống nhất sau khi triển khai.
• Kết luận: AI đưa khách đến merchant vừa và nhỏ và cho khách đặt chỗ ngay; merchant có thêm khách, VDF có doanh thu từ affiliate và phí booking.
SLIDE 11 – GIẢI PHÁP CHI TIẾT 2 (ONLINE)
• Kênh online độc lập với kênh offline; không trình bày như hành trình "khách tìm thấy cửa hàng qua AI rồi chạm thẻ tại cửa hàng đó".
• Kênh khách gặp AI (chốt 26/10): kênh Viettel, gồm tin nhắn chào mừng khi khách roaming vào Việt Nam, SIM/eSIM du lịch Viettel và quầy bán SIM ở sân bay. Khách gặp AI ngay lúc vừa hạ cánh. AI là web app: khách bấm link là dùng, không cần cài app.
• Cổng du lịch của tỉnh và Tammi mở sau pilot. Nếu được hỏi về các kênh khác (khách sạn đối tác gửi link, app trong ChatGPT), nói đúng là đang thống nhất.
• Chính sách affiliate (mức, cách tính) và phần phí booking VDF được hưởng thống nhất sau khi triển khai. Không nói giải pháp rẻ hơn OTA.
• Chuỗi nhà hàng, khách sạn lớn chỉ tham gia phần booking online; VTT phát triển cả nhóm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NHÂN VẬT
Minji, 28 tuổi, nhân viên văn phòng ở Seoul, đi Đà Nẵng 5 ngày. Đã đặt khách sạn ở Đà Nẵng, chưa biết ăn gì, chơi gì, muốn ghé Hội An 1 đêm.
HÀNH TRÌNH
• Hạ cánh (slide này): nhận tin nhắn chào mừng roaming của Viettel, có link "Hỏi AI về Đà Nẵng".
• Mở AI: web app mở ngay, không cần cài app, không cần đăng nhập.
• Hỏi tư vấn (slide này) bằng tiếng Hàn; AI trả lời bằng tiếng Hàn, gợi ý 3 quán hải sản vừa và nhỏ gần biển Mỹ Khê và lịch trình ngày mai.
• Đặt bàn (slide sau) 19h cho 2 người, đặt cọc bằng thẻ quốc tế; quán xác nhận qua app Tendoo.
• Đặt phòng (phụ lục) khách sạn nhỏ gần phố cổ Hội An, trả trước bằng thẻ quốc tế.
• Kết quả (phụ lục): ra khỏi sân bay đã có chỗ ăn tối và chỗ ở Hội An.
CÂU CHỐT KHI DEMO
Minji không phải cài app, không phải tự tìm. Từ lúc hạ cánh đến lúc ra khỏi sân bay, Minji đã đặt xong chỗ ăn và chỗ ở tại các merchant vừa và nhỏ.
SLIDE 12 – DEMO KÊNH ONLINE: HẠ CÁNH VÀ HỎI TƯ VẤN
• Minji, các quán và khách sạn trong demo đều là giả định.
• Hành trình dừng ở lúc đặt chỗ xong; không kể cảnh khách đến quán chạm thẻ, vì kênh online và offline độc lập.
• Nếu được hỏi về mức phí booking hay affiliate: thống nhất sau khi triển khai.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12B – DEMO KÊNH ONLINE: ĐẶT BÀN
• Hỏi tư vấn không cần đăng nhập; khách chỉ điền tên, số điện thoại, email khi chốt đặt chỗ.
• Khách đặt cọc, hoặc trả trước toàn bộ, bằng thẻ quốc tế; quán nhận và xác nhận lượt đặt ngay trong app Tendoo.
• Nếu được hỏi về mức phí booking hay affiliate: thống nhất sau khi triển khai.
• Hai kịch bản còn lại (Đặt phòng, Kết quả) ở phụ lục "Màn hình demo AI tư vấn du lịch".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ĐÃ RÚT KHỎI SLIDE
• Offline: merchant dùng Visa Accept và VietQR Global trong app Tendoo. VTT tích hợp hai cách nhận tiền vào Tendoo và phát triển merchant qua tệp hộ kinh doanh Tendoo và đội kênh bán thực địa. VDF xử lý dòng tiền qua Viettel Money (vận hành, đối soát, kiểm soát rủi ro) và làm việc với Visa; Visa tài trợ và cung cấp giải pháp, gồm cả nâng merchant lên các gói cao hơn (SMB, nhận thẻ đầy đủ). VDF làm việc với NAPAS để nhận thanh toán VietQR Global.
• Online: du khách được AI Booking (web app do VDF xây và vận hành) tư vấn địa điểm. VTT phát triển, kết nối merchant trên Tendoo (hộ vừa và nhỏ, chuỗi nhà hàng, khách sạn lớn) và ghi nhận booking. VDF xử lý dòng tiền booking qua Viettel Money: khách trả trước, đặt cọc bằng thẻ quốc tế.
• VTT có thể đưa khách đến AI qua kênh Viettel: tin nhắn chào mừng roaming, SIM/eSIM du lịch, quầy SIM sân bay.
• Kết luận: VDF lo giải pháp AI, việc với Visa, NAPAS và dòng tiền; VTT lo Tendoo và merchant.
SLIDE 13 – PHÂN VAI VTT VÀ VDF
• Không nêu tỉ lệ chia phí giao dịch giữa VDF và VTT khi chưa thống nhất; phần này thuộc slide 14.
• Mọi việc với Visa do VDF làm, gồm cả nâng merchant lên các gói cao hơn của Visa (SMB, nhận thẻ đầy đủ). Việc với NAPAS cho VietQR Global cũng do VDF làm.
• Dòng tiền của cả hai kênh do VDF xử lý qua Viettel Money: giao dịch Visa Accept, VietQR Global tại cửa hàng và tiền khách trả trước, đặt cọc khi booking online.
• Tammi và cổng du lịch của tỉnh là kênh đưa khách đến AI sau pilot, chưa có vai trong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MÔ HÌNH KINH DOANH
• Phát triển merchant: Visa tài trợ chi phí phát triển merchant cho VDF; VDF trả phí phát triển merchant cho VTT; VTT dùng để cấp ưu đãi cho merchant.
• Thanh toán: VTT cung cấp gói thanh toán trên Tendoo cho merchant; VDF thu phí trên giao dịch phát sinh và trả MDR cho Visa (giao dịch thẻ qua Visa Accept), NAPAS (giao dịch VietQR Global).
• Tín dụng: VDF cấp gói tín dụng SME, VTT offer cho merchant; hai bên ăn chia phần chênh lệch.
• Du khách – ưu đãi và booking: VTT cấp ưu đãi cho du khách khi thanh toán qua Visa Accept (80% phần chênh lệch); VDF thu phí giao dịch booking phát sinh, ăn chia 50% phần chênh lệch với VTT.
• Du khách – gói sub: VTT cung cấp gói sub khi du khách dùng dịch vụ booking AI; VDF thu phí, ăn chia với VTT.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TIẾT ĐÃ RÚT KHỎI SLIDE
• Phase 0 (Q4/2026–Q1/2027): chốt hợp tác Visa Accept với Visa, VietQR Global với NAPAS; thiết kế tích hợp vào Tendoo. Thiết kế AI tư vấn du lịch và booking online (web app); thống nhất với VTT về kênh tin nhắn roaming, SIM/eSIM du lịch, quầy SIM sân bay. Làm việc với VTT, chốt phạm vi và đầu mối.
• Phase 1: Q2/2027 mở Visa Accept (chạm thẻ, link thanh toán) và VietQR Global (quét QR) trong Tendoo cho nhóm cửa hàng pilot; Q3/2027 pilot AI tư vấn và booking online qua kênh Viettel. VTT phát triển merchant pilot tại một nhóm điểm đông khách quốc tế (Hội An, Đà Nẵng, Phú Quốc): kênh offline từ Q2, kênh online từ Q3.
• Phase 2 (từ Q4/2027): nhân rộng; merchant chạm hạn mức nâng lên gói SMB, nhận thẻ đầy đủ theo lộ trình của Visa; mở thêm cổng du lịch của tỉnh và Tammi; nhân rộng ra các điểm du lịch qua đội kênh bán VTT, tiến tới phủ các merchant Tendoo phục vụ khách quốc tế.
• Hai kênh độc lập: kênh online triển khai sau kênh offline một quý, nhưng không có bước nào của kênh này phụ thuộc kênh kia.
• KPI đầy đủ: Offline: GMV của cửa hàng qua Visa Accept và VietQR Global (theo dõi riêng thẻ và QR); số cửa hàng phát sinh giao dịch. Online: số lượt đặt phòng, đặt bàn qua AI; GMV booking online.
SLIDE 15 – LỘ TRÌNH TRIỂN KHAI
• Pilot kênh offline: hộ kinh doanh vừa và nhỏ, mọi ngành hàng, ưu tiên quán ăn, quán cà phê và cửa hàng gần điểm tham quan (bối cảnh được 7/10 khách quốc tế chọn). Ưu tiên điểm có nhiều khách dùng thẻ (Hàn Quốc, châu Âu, Mỹ, Úc) hoặc khách từ các nước đã kết nối VietQR Global (Trung Quốc, Hàn Quốc, ASEAN). Chỉ tiêu kênh bán theo cửa hàng phát sinh giao dịch, không theo số tài khoản mở.
• Pilot kênh online (từ Q3/2027, sau kênh offline): khách gặp AI qua kênh Viettel (tin nhắn chào mừng roaming, SIM/eSIM du lịch, quầy SIM sân bay). Cổng du lịch của tỉnh và Tammi mở sau pilot.
• Hai kênh độc lập: không đo GMV tại quầy theo lượt khách đến từ AI.
• Chỉ số theo dõi kênh offline: tỉ lệ cửa hàng còn giao dịch sau 30 ngày; số merchant chạm hạn mức và nâng gói.
• Mức phí cho merchant, chính sách affiliate và booking online: thống nhất sau khi triển khai.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TỔNG GIÁM ĐỐC CÓ THỂ HỎI XOÁY
• "VPBank, Sacombank, VIB đã có Visa Accept rồi. VDF làm sau thì khác gì?" Ở ngân hàng, Visa Accept chỉ là một nút trong app, chờ khách hàng tự bật. VDF đưa Visa Accept vào phần mềm bán hàng Tendoo, đến tệp hộ kinh doanh Tendoo qua đội kênh bán thực địa (slide 5).
• "Phí gần như bằng 0 thì VDF kiếm tiền ở đâu?" Kênh offline: VDF chia phí giao dịch với VTT. Kênh online: tiền affiliate do merchant trả và một phần phí booking online (slide 8). Mức cụ thể bổ sung sau.
• "Hạn mức 8 triệu mỗi giao dịch, 100 triệu mỗi tháng có đủ không?" Đủ cho phần lớn hộ kinh doanh nhỏ phục vụ du khách. Cửa hàng vượt hạn mức được VDF nâng lên gói SMB của Visa.
• "Đã có VietQR Global, sao còn cần Visa Accept?" QR chỉ dùng được với khách từ 6 nước đã kết nối (đang mở rộng Nhật Bản, Ấn Độ, Malaysia). Khách châu Âu, Mỹ, Úc chủ yếu trả bằng thẻ, mà thẻ Visa, Mastercard thì khách nước nào cũng có. Vì vậy VDF làm cả hai trong cùng app Tendoo (slide 9, 9b).
• "Khách Trung Quốc chủ yếu dùng Alipay, WeChat Pay. Có phục vụ được không?" Có, từ Phase 1 (Q2/2027): khách Trung Quốc quét VietQR Global của cửa hàng bằng app nước mình, theo kết nối của NAPAS.
• "Phí VietQR Global với merchant là bao nhiêu?" Mức phí cho merchant thống nhất sau khi triển khai.
• "Merchant dùng iPhone thì sao?" Vẫn nhận được tiền qua link; chạm thẻ cần điện thoại Android.
• "Đội kênh bán của VTT chính là kênh đã tạo ra merchant ảo. Lần này khác gì?" Chỉ tiêu theo cửa hàng phát sinh giao dịch, không theo số tài khoản mở.
• "Khảo sát khách chỉ có 10 người, có tin được không?" Đây là khảo sát thăm dò, chỉ dùng làm tín hiệu bổ sung. Bằng chứng chính là khảo sát 132 merchant. Pilot sẽ đo giao dịch thật thay cho ý định khảo sát.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image" Target="../media/image-22-13.png"/><Relationship Id="rId14" Type="http://schemas.openxmlformats.org/officeDocument/2006/relationships/slideLayout" Target="../slideLayouts/slideLayout1.xml"/><Relationship Id="rId1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graphic svg" descr="svg">    </p:cNvPr>
          <p:cNvPicPr>
            <a:picLocks noChangeAspect="1"/>
          </p:cNvPicPr>
          <p:nvPr/>
        </p:nvPicPr>
        <p:blipFill>
          <a:blip r:embed="rId2"/>
          <a:stretch>
            <a:fillRect/>
          </a:stretch>
        </p:blipFill>
        <p:spPr>
          <a:xfrm>
            <a:off x="0" y="0"/>
            <a:ext cx="12192000" cy="6858000"/>
          </a:xfrm>
          <a:prstGeom prst="rect">
            <a:avLst/>
          </a:prstGeom>
        </p:spPr>
      </p:pic>
      <p:sp>
        <p:nvSpPr>
          <p:cNvPr id="3" name="mk"/>
          <p:cNvSpPr/>
          <p:nvPr/>
        </p:nvSpPr>
        <p:spPr>
          <a:xfrm>
            <a:off x="762000" y="638175"/>
            <a:ext cx="323850" cy="323850"/>
          </a:xfrm>
          <a:prstGeom prst="ellipse">
            <a:avLst/>
          </a:prstGeom>
          <a:solidFill>
            <a:srgbClr val="F0001E"/>
          </a:solidFill>
          <a:ln/>
        </p:spPr>
      </p:sp>
      <p:sp>
        <p:nvSpPr>
          <p:cNvPr id="4" name="Shape 1"/>
          <p:cNvSpPr/>
          <p:nvPr/>
        </p:nvSpPr>
        <p:spPr>
          <a:xfrm>
            <a:off x="876300" y="719137"/>
            <a:ext cx="95250" cy="161925"/>
          </a:xfrm>
          <a:prstGeom prst="roundRect">
            <a:avLst>
              <a:gd name="adj" fmla="val 25000"/>
            </a:avLst>
          </a:prstGeom>
          <a:ln w="19050">
            <a:solidFill>
              <a:srgbClr val="FFFFFF"/>
            </a:solidFill>
            <a:prstDash val="solid"/>
          </a:ln>
        </p:spPr>
      </p:sp>
      <p:sp>
        <p:nvSpPr>
          <p:cNvPr id="5" name="text b"/>
          <p:cNvSpPr txBox="1"/>
          <p:nvPr/>
        </p:nvSpPr>
        <p:spPr>
          <a:xfrm>
            <a:off x="1152525" y="617112"/>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6" name="text b"/>
          <p:cNvSpPr txBox="1"/>
          <p:nvPr/>
        </p:nvSpPr>
        <p:spPr>
          <a:xfrm>
            <a:off x="1152525" y="757308"/>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7" name="text brand-x"/>
          <p:cNvSpPr txBox="1"/>
          <p:nvPr/>
        </p:nvSpPr>
        <p:spPr>
          <a:xfrm>
            <a:off x="1795462" y="673533"/>
            <a:ext cx="230684" cy="253134"/>
          </a:xfrm>
          <a:prstGeom prst="rect">
            <a:avLst/>
          </a:prstGeom>
          <a:noFill/>
          <a:ln/>
        </p:spPr>
        <p:txBody>
          <a:bodyPr wrap="none" lIns="0" tIns="0" rIns="0" bIns="0" rtlCol="0" anchor="ctr"/>
          <a:lstStyle/>
          <a:p>
            <a:pPr algn="l" indent="0" marL="0">
              <a:buNone/>
            </a:pPr>
            <a:r>
              <a:rPr lang="en-US" sz="1370" b="1" dirty="0">
                <a:solidFill>
                  <a:srgbClr val="334155"/>
                </a:solidFill>
                <a:latin typeface="Segoe UI" pitchFamily="34" charset="0"/>
                <a:ea typeface="Segoe UI" pitchFamily="34" charset="-122"/>
                <a:cs typeface="Segoe UI" pitchFamily="34" charset="-120"/>
              </a:rPr>
              <a:t>×</a:t>
            </a:r>
            <a:endParaRPr lang="en-US" sz="1370" dirty="0"/>
          </a:p>
        </p:txBody>
      </p:sp>
      <p:sp>
        <p:nvSpPr>
          <p:cNvPr id="8" name="text brand-word"/>
          <p:cNvSpPr txBox="1"/>
          <p:nvPr/>
        </p:nvSpPr>
        <p:spPr>
          <a:xfrm>
            <a:off x="2045196" y="592866"/>
            <a:ext cx="1057573" cy="414468"/>
          </a:xfrm>
          <a:prstGeom prst="rect">
            <a:avLst/>
          </a:prstGeom>
          <a:noFill/>
          <a:ln/>
        </p:spPr>
        <p:txBody>
          <a:bodyPr wrap="none" lIns="0" tIns="0" rIns="0" bIns="0" rtlCol="0" anchor="ctr"/>
          <a:lstStyle/>
          <a:p>
            <a:pPr algn="l" indent="0" marL="0">
              <a:buNone/>
            </a:pPr>
            <a:r>
              <a:rPr lang="en-US" sz="2250" spc="-90" kern="0" dirty="0">
                <a:solidFill>
                  <a:srgbClr val="0F172A"/>
                </a:solidFill>
                <a:latin typeface="Segoe UI Black" pitchFamily="34" charset="0"/>
                <a:ea typeface="Segoe UI Black" pitchFamily="34" charset="-122"/>
                <a:cs typeface="Segoe UI Black" pitchFamily="34" charset="-120"/>
              </a:rPr>
              <a:t>tendoo</a:t>
            </a:r>
            <a:endParaRPr lang="en-US" sz="2250" dirty="0"/>
          </a:p>
        </p:txBody>
      </p:sp>
      <p:sp>
        <p:nvSpPr>
          <p:cNvPr id="9" name="pill red conf"/>
          <p:cNvSpPr/>
          <p:nvPr/>
        </p:nvSpPr>
        <p:spPr>
          <a:xfrm>
            <a:off x="10493425" y="709613"/>
            <a:ext cx="1084213" cy="219075"/>
          </a:xfrm>
          <a:prstGeom prst="roundRect">
            <a:avLst>
              <a:gd name="adj" fmla="val 50000"/>
            </a:avLst>
          </a:prstGeom>
          <a:solidFill>
            <a:srgbClr val="FFE4E6"/>
          </a:solidFill>
          <a:ln w="9525">
            <a:solidFill>
              <a:srgbClr val="FECDD3"/>
            </a:solidFill>
            <a:prstDash val="solid"/>
          </a:ln>
        </p:spPr>
      </p:sp>
      <p:sp>
        <p:nvSpPr>
          <p:cNvPr id="10" name="text pill red conf"/>
          <p:cNvSpPr txBox="1"/>
          <p:nvPr/>
        </p:nvSpPr>
        <p:spPr>
          <a:xfrm>
            <a:off x="10602962" y="739854"/>
            <a:ext cx="979438" cy="158592"/>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TÀI LIỆU NỘI BỘ</a:t>
            </a:r>
            <a:endParaRPr lang="en-US" sz="860" dirty="0"/>
          </a:p>
        </p:txBody>
      </p:sp>
      <p:sp>
        <p:nvSpPr>
          <p:cNvPr id="11" name="block-border"/>
          <p:cNvSpPr/>
          <p:nvPr/>
        </p:nvSpPr>
        <p:spPr>
          <a:xfrm>
            <a:off x="685800" y="1866900"/>
            <a:ext cx="76200" cy="2426345"/>
          </a:xfrm>
          <a:prstGeom prst="rect">
            <a:avLst/>
          </a:prstGeom>
          <a:solidFill>
            <a:srgbClr val="E11D48"/>
          </a:solidFill>
          <a:ln/>
        </p:spPr>
      </p:sp>
      <p:sp>
        <p:nvSpPr>
          <p:cNvPr id="12" name="text kicker"/>
          <p:cNvSpPr txBox="1"/>
          <p:nvPr/>
        </p:nvSpPr>
        <p:spPr>
          <a:xfrm>
            <a:off x="1047750" y="1880672"/>
            <a:ext cx="1722686" cy="248681"/>
          </a:xfrm>
          <a:prstGeom prst="rect">
            <a:avLst/>
          </a:prstGeom>
          <a:noFill/>
          <a:ln/>
        </p:spPr>
        <p:txBody>
          <a:bodyPr wrap="none" lIns="0" tIns="0" rIns="0" bIns="0" rtlCol="0" anchor="ctr"/>
          <a:lstStyle/>
          <a:p>
            <a:pPr algn="l" indent="0" marL="0">
              <a:buNone/>
            </a:pPr>
            <a:r>
              <a:rPr lang="en-US" sz="1350" b="1" dirty="0">
                <a:solidFill>
                  <a:srgbClr val="E11D48"/>
                </a:solidFill>
                <a:latin typeface="Segoe UI" pitchFamily="34" charset="0"/>
                <a:ea typeface="Segoe UI" pitchFamily="34" charset="-122"/>
                <a:cs typeface="Segoe UI" pitchFamily="34" charset="-120"/>
              </a:rPr>
              <a:t>Trình bày giải pháp</a:t>
            </a:r>
            <a:endParaRPr lang="en-US" sz="1350" dirty="0"/>
          </a:p>
        </p:txBody>
      </p:sp>
      <p:sp>
        <p:nvSpPr>
          <p:cNvPr id="13" name="text xl"/>
          <p:cNvSpPr txBox="1"/>
          <p:nvPr/>
        </p:nvSpPr>
        <p:spPr>
          <a:xfrm>
            <a:off x="1047750" y="2186757"/>
            <a:ext cx="8524128" cy="1160510"/>
          </a:xfrm>
          <a:prstGeom prst="rect">
            <a:avLst/>
          </a:prstGeom>
          <a:noFill/>
          <a:ln/>
        </p:spPr>
        <p:txBody>
          <a:bodyPr wrap="none" lIns="0" tIns="0" rIns="0" bIns="0" rtlCol="0" anchor="ctr"/>
          <a:lstStyle/>
          <a:p>
            <a:pPr algn="l" indent="0" marL="0">
              <a:buNone/>
            </a:pPr>
            <a:r>
              <a:rPr lang="en-US" sz="6300" spc="-60" kern="0" dirty="0">
                <a:solidFill>
                  <a:srgbClr val="E11D48"/>
                </a:solidFill>
                <a:latin typeface="Segoe UI Black" pitchFamily="34" charset="0"/>
                <a:ea typeface="Segoe UI Black" pitchFamily="34" charset="-122"/>
                <a:cs typeface="Segoe UI Black" pitchFamily="34" charset="-120"/>
              </a:rPr>
              <a:t>Merchant thế hệ mới</a:t>
            </a:r>
            <a:endParaRPr lang="en-US" sz="6300" dirty="0"/>
          </a:p>
        </p:txBody>
      </p:sp>
      <p:sp>
        <p:nvSpPr>
          <p:cNvPr id="14" name="text md"/>
          <p:cNvSpPr txBox="1"/>
          <p:nvPr/>
        </p:nvSpPr>
        <p:spPr>
          <a:xfrm>
            <a:off x="1047750" y="3388416"/>
            <a:ext cx="7348674" cy="842275"/>
          </a:xfrm>
          <a:prstGeom prst="rect">
            <a:avLst/>
          </a:prstGeom>
          <a:noFill/>
          <a:ln/>
        </p:spPr>
        <p:txBody>
          <a:bodyPr wrap="none" lIns="0" tIns="0" rIns="0" bIns="0" rtlCol="0" anchor="ctr"/>
          <a:lstStyle/>
          <a:p>
            <a:pPr algn="l" indent="0" marL="0">
              <a:lnSpc>
                <a:spcPts val="3320"/>
              </a:lnSpc>
              <a:buNone/>
            </a:pPr>
            <a:r>
              <a:rPr lang="en-US" sz="2550" b="1" dirty="0">
                <a:solidFill>
                  <a:srgbClr val="0F172A"/>
                </a:solidFill>
                <a:latin typeface="Segoe UI" pitchFamily="34" charset="0"/>
                <a:ea typeface="Segoe UI" pitchFamily="34" charset="-122"/>
                <a:cs typeface="Segoe UI" pitchFamily="34" charset="-120"/>
              </a:rPr>
              <a:t>Thanh toán tại cửa hàng và </a:t>
            </a:r>
            <a:pPr algn="l" indent="0" marL="0">
              <a:lnSpc>
                <a:spcPts val="3320"/>
              </a:lnSpc>
              <a:buNone/>
            </a:pPr>
            <a:r>
              <a:rPr lang="en-US" sz="2550" b="1" dirty="0">
                <a:solidFill>
                  <a:srgbClr val="E11D48"/>
                </a:solidFill>
                <a:latin typeface="Segoe UI" pitchFamily="34" charset="0"/>
                <a:ea typeface="Segoe UI" pitchFamily="34" charset="-122"/>
                <a:cs typeface="Segoe UI" pitchFamily="34" charset="-120"/>
              </a:rPr>
              <a:t>AI tư vấn du lịch</a:t>
            </a:r>
            <a:endParaRPr lang="en-US" sz="2550" dirty="0"/>
          </a:p>
          <a:p>
            <a:pPr algn="l" indent="0" marL="0">
              <a:lnSpc>
                <a:spcPts val="3320"/>
              </a:lnSpc>
              <a:buNone/>
            </a:pPr>
            <a:r>
              <a:rPr lang="en-US" sz="2550" b="1" dirty="0">
                <a:solidFill>
                  <a:srgbClr val="0F172A"/>
                </a:solidFill>
                <a:latin typeface="Segoe UI" pitchFamily="34" charset="0"/>
                <a:ea typeface="Segoe UI" pitchFamily="34" charset="-122"/>
                <a:cs typeface="Segoe UI" pitchFamily="34" charset="-120"/>
              </a:rPr>
              <a:t>cho merchant VTT</a:t>
            </a:r>
            <a:endParaRPr lang="en-US" sz="2550" dirty="0"/>
          </a:p>
        </p:txBody>
      </p:sp>
      <p:sp>
        <p:nvSpPr>
          <p:cNvPr id="15" name="text meta"/>
          <p:cNvSpPr txBox="1"/>
          <p:nvPr/>
        </p:nvSpPr>
        <p:spPr>
          <a:xfrm>
            <a:off x="685800" y="6099817"/>
            <a:ext cx="2453292" cy="220966"/>
          </a:xfrm>
          <a:prstGeom prst="rect">
            <a:avLst/>
          </a:prstGeom>
          <a:noFill/>
          <a:ln/>
        </p:spPr>
        <p:txBody>
          <a:bodyPr wrap="none" lIns="0" tIns="0" rIns="0" bIns="0" rtlCol="0" anchor="ctr"/>
          <a:lstStyle/>
          <a:p>
            <a:pPr algn="l" indent="0" marL="0">
              <a:buNone/>
            </a:pPr>
            <a:r>
              <a:rPr lang="en-US" sz="1200" b="1" dirty="0">
                <a:solidFill>
                  <a:srgbClr val="64748B"/>
                </a:solidFill>
                <a:latin typeface="Segoe UI" pitchFamily="34" charset="0"/>
                <a:ea typeface="Segoe UI" pitchFamily="34" charset="-122"/>
                <a:cs typeface="Segoe UI" pitchFamily="34" charset="-120"/>
              </a:rPr>
              <a:t>Đơn vị trình bày: VDF · 10/2026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oc-left __nops"/>
          <p:cNvSpPr/>
          <p:nvPr/>
        </p:nvSpPr>
        <p:spPr>
          <a:xfrm>
            <a:off x="728663" y="728663"/>
            <a:ext cx="3895725" cy="5248275"/>
          </a:xfrm>
          <a:prstGeom prst="roundRect">
            <a:avLst>
              <a:gd name="adj" fmla="val 4279"/>
            </a:avLst>
          </a:prstGeom>
          <a:solidFill>
            <a:srgbClr val="FFFFFF"/>
          </a:solidFill>
          <a:ln w="9525">
            <a:solidFill>
              <a:srgbClr val="E2E8F0"/>
            </a:solidFill>
            <a:prstDash val="solid"/>
          </a:ln>
        </p:spPr>
      </p:sp>
      <p:sp>
        <p:nvSpPr>
          <p:cNvPr id="3" name="Shape 1"/>
          <p:cNvSpPr/>
          <p:nvPr/>
        </p:nvSpPr>
        <p:spPr>
          <a:xfrm>
            <a:off x="733425" y="733425"/>
            <a:ext cx="3886200" cy="66675"/>
          </a:xfrm>
          <a:prstGeom prst="roundRect">
            <a:avLst>
              <a:gd name="adj" fmla="val 50000"/>
            </a:avLst>
          </a:prstGeom>
          <a:solidFill>
            <a:srgbClr val="E11D48"/>
          </a:solidFill>
          <a:ln/>
        </p:spPr>
      </p:sp>
      <p:sp>
        <p:nvSpPr>
          <p:cNvPr id="4" name="Shape 2"/>
          <p:cNvSpPr/>
          <p:nvPr/>
        </p:nvSpPr>
        <p:spPr>
          <a:xfrm>
            <a:off x="733425" y="766763"/>
            <a:ext cx="3886200" cy="33337"/>
          </a:xfrm>
          <a:prstGeom prst="rect">
            <a:avLst/>
          </a:prstGeom>
          <a:solidFill>
            <a:srgbClr val="E11D48"/>
          </a:solidFill>
          <a:ln/>
        </p:spPr>
      </p:sp>
      <p:sp>
        <p:nvSpPr>
          <p:cNvPr id="5" name="text label red"/>
          <p:cNvSpPr txBox="1"/>
          <p:nvPr/>
        </p:nvSpPr>
        <p:spPr>
          <a:xfrm>
            <a:off x="1076325" y="1102995"/>
            <a:ext cx="679996" cy="165735"/>
          </a:xfrm>
          <a:prstGeom prst="rect">
            <a:avLst/>
          </a:prstGeom>
          <a:noFill/>
          <a:ln/>
        </p:spPr>
        <p:txBody>
          <a:bodyPr wrap="none" lIns="0" tIns="0" rIns="0" bIns="0" rtlCol="0" anchor="ctr"/>
          <a:lstStyle/>
          <a:p>
            <a:pPr algn="l" indent="0" marL="0">
              <a:buNone/>
            </a:pPr>
            <a:r>
              <a:rPr lang="en-US" sz="900" b="1" spc="40" kern="0" dirty="0">
                <a:solidFill>
                  <a:srgbClr val="E11D48"/>
                </a:solidFill>
                <a:latin typeface="Segoe UI" pitchFamily="34" charset="0"/>
                <a:ea typeface="Segoe UI" pitchFamily="34" charset="-122"/>
                <a:cs typeface="Segoe UI" pitchFamily="34" charset="-120"/>
              </a:rPr>
              <a:t>MỤC LỤC</a:t>
            </a:r>
            <a:endParaRPr lang="en-US" sz="900" dirty="0"/>
          </a:p>
        </p:txBody>
      </p:sp>
      <p:sp>
        <p:nvSpPr>
          <p:cNvPr id="6" name="text toc-h"/>
          <p:cNvSpPr txBox="1"/>
          <p:nvPr/>
        </p:nvSpPr>
        <p:spPr>
          <a:xfrm>
            <a:off x="1076325" y="1352550"/>
            <a:ext cx="3238500" cy="1134963"/>
          </a:xfrm>
          <a:prstGeom prst="rect">
            <a:avLst/>
          </a:prstGeom>
          <a:noFill/>
          <a:ln/>
        </p:spPr>
        <p:txBody>
          <a:bodyPr wrap="square" lIns="0" tIns="0" rIns="0" bIns="0" rtlCol="0" anchor="ctr"/>
          <a:lstStyle/>
          <a:p>
            <a:pPr algn="l" indent="0" marL="0">
              <a:lnSpc>
                <a:spcPts val="4210"/>
              </a:lnSpc>
              <a:buNone/>
            </a:pPr>
            <a:r>
              <a:rPr lang="en-US" sz="3900" spc="-80" kern="0" dirty="0">
                <a:solidFill>
                  <a:srgbClr val="0F172A"/>
                </a:solidFill>
                <a:latin typeface="Segoe UI Black" pitchFamily="34" charset="0"/>
                <a:ea typeface="Segoe UI Black" pitchFamily="34" charset="-122"/>
                <a:cs typeface="Segoe UI Black" pitchFamily="34" charset="-120"/>
              </a:rPr>
              <a:t>Nội dung chính</a:t>
            </a:r>
            <a:endParaRPr lang="en-US" sz="3900" dirty="0"/>
          </a:p>
        </p:txBody>
      </p:sp>
      <p:sp>
        <p:nvSpPr>
          <p:cNvPr id="7" name="toc-app"/>
          <p:cNvSpPr/>
          <p:nvPr/>
        </p:nvSpPr>
        <p:spPr>
          <a:xfrm>
            <a:off x="1081087" y="4218682"/>
            <a:ext cx="3190875" cy="1367730"/>
          </a:xfrm>
          <a:prstGeom prst="roundRect">
            <a:avLst>
              <a:gd name="adj" fmla="val 9402"/>
            </a:avLst>
          </a:prstGeom>
          <a:solidFill>
            <a:srgbClr val="FFF1F2"/>
          </a:solidFill>
          <a:ln w="9525">
            <a:solidFill>
              <a:srgbClr val="FECDD3"/>
            </a:solidFill>
            <a:prstDash val="solid"/>
          </a:ln>
        </p:spPr>
      </p:sp>
      <p:sp>
        <p:nvSpPr>
          <p:cNvPr id="8" name="text toc-app"/>
          <p:cNvSpPr txBox="1"/>
          <p:nvPr/>
        </p:nvSpPr>
        <p:spPr>
          <a:xfrm>
            <a:off x="1295400" y="4619625"/>
            <a:ext cx="2354378" cy="771525"/>
          </a:xfrm>
          <a:prstGeom prst="rect">
            <a:avLst/>
          </a:prstGeom>
          <a:noFill/>
          <a:ln/>
        </p:spPr>
        <p:txBody>
          <a:bodyPr wrap="none" lIns="0" tIns="0" rIns="0" bIns="0" rtlCol="0" anchor="ctr"/>
          <a:lstStyle/>
          <a:p>
            <a:pPr algn="l" indent="0" marL="0">
              <a:lnSpc>
                <a:spcPts val="2030"/>
              </a:lnSpc>
              <a:buNone/>
            </a:pPr>
            <a:r>
              <a:rPr lang="en-US" sz="1130" b="1" dirty="0">
                <a:solidFill>
                  <a:srgbClr val="334155"/>
                </a:solidFill>
                <a:latin typeface="Segoe UI" pitchFamily="34" charset="0"/>
                <a:ea typeface="Segoe UI" pitchFamily="34" charset="-122"/>
                <a:cs typeface="Segoe UI" pitchFamily="34" charset="-120"/>
              </a:rPr>
              <a:t>Màn hình demo Visa Accept</a:t>
            </a:r>
            <a:endParaRPr lang="en-US" sz="1130" dirty="0"/>
          </a:p>
          <a:p>
            <a:pPr algn="l" indent="0" marL="0">
              <a:lnSpc>
                <a:spcPts val="2030"/>
              </a:lnSpc>
              <a:buNone/>
            </a:pPr>
            <a:r>
              <a:rPr lang="en-US" sz="1130" b="1" dirty="0">
                <a:solidFill>
                  <a:srgbClr val="334155"/>
                </a:solidFill>
                <a:latin typeface="Segoe UI" pitchFamily="34" charset="0"/>
                <a:ea typeface="Segoe UI" pitchFamily="34" charset="-122"/>
                <a:cs typeface="Segoe UI" pitchFamily="34" charset="-120"/>
              </a:rPr>
              <a:t>Màn hình demo AI tư vấn du lịch</a:t>
            </a:r>
            <a:endParaRPr lang="en-US" sz="1130" dirty="0"/>
          </a:p>
          <a:p>
            <a:pPr algn="l" indent="0" marL="0">
              <a:lnSpc>
                <a:spcPts val="2030"/>
              </a:lnSpc>
              <a:buNone/>
            </a:pPr>
            <a:r>
              <a:rPr lang="en-US" sz="1130" b="1" dirty="0">
                <a:solidFill>
                  <a:srgbClr val="334155"/>
                </a:solidFill>
                <a:latin typeface="Segoe UI" pitchFamily="34" charset="0"/>
                <a:ea typeface="Segoe UI" pitchFamily="34" charset="-122"/>
                <a:cs typeface="Segoe UI" pitchFamily="34" charset="-120"/>
              </a:rPr>
              <a:t>Nguồn số liệu</a:t>
            </a:r>
            <a:endParaRPr lang="en-US" sz="1130" dirty="0"/>
          </a:p>
        </p:txBody>
      </p:sp>
      <p:sp>
        <p:nvSpPr>
          <p:cNvPr id="9" name="text label red"/>
          <p:cNvSpPr txBox="1"/>
          <p:nvPr/>
        </p:nvSpPr>
        <p:spPr>
          <a:xfrm>
            <a:off x="1295400" y="4411087"/>
            <a:ext cx="647254" cy="205740"/>
          </a:xfrm>
          <a:prstGeom prst="rect">
            <a:avLst/>
          </a:prstGeom>
          <a:noFill/>
          <a:ln/>
        </p:spPr>
        <p:txBody>
          <a:bodyPr wrap="none" lIns="0" tIns="0" rIns="0" bIns="0" rtlCol="0" anchor="ctr"/>
          <a:lstStyle/>
          <a:p>
            <a:pPr algn="l" indent="0" marL="0">
              <a:buNone/>
            </a:pPr>
            <a:r>
              <a:rPr lang="en-US" sz="900" b="1" spc="40" kern="0" dirty="0">
                <a:solidFill>
                  <a:srgbClr val="E11D48"/>
                </a:solidFill>
                <a:latin typeface="Segoe UI" pitchFamily="34" charset="0"/>
                <a:ea typeface="Segoe UI" pitchFamily="34" charset="-122"/>
                <a:cs typeface="Segoe UI" pitchFamily="34" charset="-120"/>
              </a:rPr>
              <a:t>PHỤ LỤC</a:t>
            </a:r>
            <a:endParaRPr lang="en-US" sz="900" dirty="0"/>
          </a:p>
        </p:txBody>
      </p:sp>
      <p:sp>
        <p:nvSpPr>
          <p:cNvPr id="10" name="toc-item"/>
          <p:cNvSpPr/>
          <p:nvPr/>
        </p:nvSpPr>
        <p:spPr>
          <a:xfrm>
            <a:off x="4919663" y="728663"/>
            <a:ext cx="6543675" cy="1654076"/>
          </a:xfrm>
          <a:prstGeom prst="roundRect">
            <a:avLst>
              <a:gd name="adj" fmla="val 8926"/>
            </a:avLst>
          </a:prstGeom>
          <a:solidFill>
            <a:srgbClr val="FFFFFF"/>
          </a:solidFill>
          <a:ln w="9525">
            <a:solidFill>
              <a:srgbClr val="E2E8F0"/>
            </a:solidFill>
            <a:prstDash val="solid"/>
          </a:ln>
        </p:spPr>
      </p:sp>
      <p:sp>
        <p:nvSpPr>
          <p:cNvPr id="11" name="n"/>
          <p:cNvSpPr/>
          <p:nvPr/>
        </p:nvSpPr>
        <p:spPr>
          <a:xfrm>
            <a:off x="5133975" y="1231850"/>
            <a:ext cx="685800" cy="647700"/>
          </a:xfrm>
          <a:prstGeom prst="roundRect">
            <a:avLst>
              <a:gd name="adj" fmla="val 17647"/>
            </a:avLst>
          </a:prstGeom>
          <a:solidFill>
            <a:srgbClr val="FFF1F2"/>
          </a:solidFill>
          <a:ln/>
        </p:spPr>
      </p:sp>
      <p:sp>
        <p:nvSpPr>
          <p:cNvPr id="12" name="text n"/>
          <p:cNvSpPr txBox="1"/>
          <p:nvPr/>
        </p:nvSpPr>
        <p:spPr>
          <a:xfrm>
            <a:off x="5314950" y="1348532"/>
            <a:ext cx="438150" cy="414338"/>
          </a:xfrm>
          <a:prstGeom prst="rect">
            <a:avLst/>
          </a:prstGeom>
          <a:noFill/>
          <a:ln/>
        </p:spPr>
        <p:txBody>
          <a:bodyPr wrap="none" lIns="0" tIns="0" rIns="0" bIns="0" rtlCol="0" anchor="ctr"/>
          <a:lstStyle/>
          <a:p>
            <a:pPr algn="l" indent="0" marL="0">
              <a:buNone/>
            </a:pPr>
            <a:r>
              <a:rPr lang="en-US" sz="2250" b="1" dirty="0">
                <a:solidFill>
                  <a:srgbClr val="E11D48"/>
                </a:solidFill>
                <a:latin typeface="Segoe UI" pitchFamily="34" charset="0"/>
                <a:ea typeface="Segoe UI" pitchFamily="34" charset="-122"/>
                <a:cs typeface="Segoe UI" pitchFamily="34" charset="-120"/>
              </a:rPr>
              <a:t>01</a:t>
            </a:r>
            <a:endParaRPr lang="en-US" sz="2250" dirty="0"/>
          </a:p>
        </p:txBody>
      </p:sp>
      <p:sp>
        <p:nvSpPr>
          <p:cNvPr id="13" name="text t"/>
          <p:cNvSpPr txBox="1"/>
          <p:nvPr/>
        </p:nvSpPr>
        <p:spPr>
          <a:xfrm>
            <a:off x="6048375" y="1376154"/>
            <a:ext cx="2405964" cy="359092"/>
          </a:xfrm>
          <a:prstGeom prst="rect">
            <a:avLst/>
          </a:prstGeom>
          <a:noFill/>
          <a:ln/>
        </p:spPr>
        <p:txBody>
          <a:bodyPr wrap="none" lIns="0" tIns="0" rIns="0" bIns="0" rtlCol="0" anchor="ctr"/>
          <a:lstStyle/>
          <a:p>
            <a:pPr algn="l" indent="0" marL="0">
              <a:buNone/>
            </a:pPr>
            <a:r>
              <a:rPr lang="en-US" sz="1950" b="1" dirty="0">
                <a:solidFill>
                  <a:srgbClr val="0F172A"/>
                </a:solidFill>
                <a:latin typeface="Segoe UI" pitchFamily="34" charset="0"/>
                <a:ea typeface="Segoe UI" pitchFamily="34" charset="-122"/>
                <a:cs typeface="Segoe UI" pitchFamily="34" charset="-120"/>
              </a:rPr>
              <a:t>Bối cảnh và vấn đề</a:t>
            </a:r>
            <a:endParaRPr lang="en-US" sz="1950" dirty="0"/>
          </a:p>
        </p:txBody>
      </p:sp>
      <p:sp>
        <p:nvSpPr>
          <p:cNvPr id="14" name="toc-item"/>
          <p:cNvSpPr/>
          <p:nvPr/>
        </p:nvSpPr>
        <p:spPr>
          <a:xfrm>
            <a:off x="4919663" y="2525613"/>
            <a:ext cx="6543675" cy="1654225"/>
          </a:xfrm>
          <a:prstGeom prst="roundRect">
            <a:avLst>
              <a:gd name="adj" fmla="val 8925"/>
            </a:avLst>
          </a:prstGeom>
          <a:solidFill>
            <a:srgbClr val="FFFFFF"/>
          </a:solidFill>
          <a:ln w="9525">
            <a:solidFill>
              <a:srgbClr val="E2E8F0"/>
            </a:solidFill>
            <a:prstDash val="solid"/>
          </a:ln>
        </p:spPr>
      </p:sp>
      <p:sp>
        <p:nvSpPr>
          <p:cNvPr id="15" name="n"/>
          <p:cNvSpPr/>
          <p:nvPr/>
        </p:nvSpPr>
        <p:spPr>
          <a:xfrm>
            <a:off x="5133975" y="3028801"/>
            <a:ext cx="685800" cy="647700"/>
          </a:xfrm>
          <a:prstGeom prst="roundRect">
            <a:avLst>
              <a:gd name="adj" fmla="val 17647"/>
            </a:avLst>
          </a:prstGeom>
          <a:solidFill>
            <a:srgbClr val="FFF1F2"/>
          </a:solidFill>
          <a:ln/>
        </p:spPr>
      </p:sp>
      <p:sp>
        <p:nvSpPr>
          <p:cNvPr id="16" name="text n"/>
          <p:cNvSpPr txBox="1"/>
          <p:nvPr/>
        </p:nvSpPr>
        <p:spPr>
          <a:xfrm>
            <a:off x="5286821" y="3145482"/>
            <a:ext cx="494258" cy="414338"/>
          </a:xfrm>
          <a:prstGeom prst="rect">
            <a:avLst/>
          </a:prstGeom>
          <a:noFill/>
          <a:ln/>
        </p:spPr>
        <p:txBody>
          <a:bodyPr wrap="none" lIns="0" tIns="0" rIns="0" bIns="0" rtlCol="0" anchor="ctr"/>
          <a:lstStyle/>
          <a:p>
            <a:pPr algn="l" indent="0" marL="0">
              <a:buNone/>
            </a:pPr>
            <a:r>
              <a:rPr lang="en-US" sz="2250" b="1" dirty="0">
                <a:solidFill>
                  <a:srgbClr val="E11D48"/>
                </a:solidFill>
                <a:latin typeface="Segoe UI" pitchFamily="34" charset="0"/>
                <a:ea typeface="Segoe UI" pitchFamily="34" charset="-122"/>
                <a:cs typeface="Segoe UI" pitchFamily="34" charset="-120"/>
              </a:rPr>
              <a:t>02</a:t>
            </a:r>
            <a:endParaRPr lang="en-US" sz="2250" dirty="0"/>
          </a:p>
        </p:txBody>
      </p:sp>
      <p:sp>
        <p:nvSpPr>
          <p:cNvPr id="17" name="text t"/>
          <p:cNvSpPr txBox="1"/>
          <p:nvPr/>
        </p:nvSpPr>
        <p:spPr>
          <a:xfrm>
            <a:off x="6048375" y="3173105"/>
            <a:ext cx="1259681" cy="359092"/>
          </a:xfrm>
          <a:prstGeom prst="rect">
            <a:avLst/>
          </a:prstGeom>
          <a:noFill/>
          <a:ln/>
        </p:spPr>
        <p:txBody>
          <a:bodyPr wrap="none" lIns="0" tIns="0" rIns="0" bIns="0" rtlCol="0" anchor="ctr"/>
          <a:lstStyle/>
          <a:p>
            <a:pPr algn="l" indent="0" marL="0">
              <a:buNone/>
            </a:pPr>
            <a:r>
              <a:rPr lang="en-US" sz="1950" b="1" dirty="0">
                <a:solidFill>
                  <a:srgbClr val="0F172A"/>
                </a:solidFill>
                <a:latin typeface="Segoe UI" pitchFamily="34" charset="0"/>
                <a:ea typeface="Segoe UI" pitchFamily="34" charset="-122"/>
                <a:cs typeface="Segoe UI" pitchFamily="34" charset="-120"/>
              </a:rPr>
              <a:t>Giải pháp</a:t>
            </a:r>
            <a:endParaRPr lang="en-US" sz="1950" dirty="0"/>
          </a:p>
        </p:txBody>
      </p:sp>
      <p:sp>
        <p:nvSpPr>
          <p:cNvPr id="18" name="toc-item"/>
          <p:cNvSpPr/>
          <p:nvPr/>
        </p:nvSpPr>
        <p:spPr>
          <a:xfrm>
            <a:off x="4919663" y="4322713"/>
            <a:ext cx="6543675" cy="1654225"/>
          </a:xfrm>
          <a:prstGeom prst="roundRect">
            <a:avLst>
              <a:gd name="adj" fmla="val 8925"/>
            </a:avLst>
          </a:prstGeom>
          <a:solidFill>
            <a:srgbClr val="FFFFFF"/>
          </a:solidFill>
          <a:ln w="9525">
            <a:solidFill>
              <a:srgbClr val="E2E8F0"/>
            </a:solidFill>
            <a:prstDash val="solid"/>
          </a:ln>
        </p:spPr>
      </p:sp>
      <p:sp>
        <p:nvSpPr>
          <p:cNvPr id="19" name="n"/>
          <p:cNvSpPr/>
          <p:nvPr/>
        </p:nvSpPr>
        <p:spPr>
          <a:xfrm>
            <a:off x="5133975" y="4825901"/>
            <a:ext cx="685800" cy="647700"/>
          </a:xfrm>
          <a:prstGeom prst="roundRect">
            <a:avLst>
              <a:gd name="adj" fmla="val 17647"/>
            </a:avLst>
          </a:prstGeom>
          <a:solidFill>
            <a:srgbClr val="FFF1F2"/>
          </a:solidFill>
          <a:ln/>
        </p:spPr>
      </p:sp>
      <p:sp>
        <p:nvSpPr>
          <p:cNvPr id="20" name="text n"/>
          <p:cNvSpPr txBox="1"/>
          <p:nvPr/>
        </p:nvSpPr>
        <p:spPr>
          <a:xfrm>
            <a:off x="5284143" y="4942582"/>
            <a:ext cx="499765" cy="414338"/>
          </a:xfrm>
          <a:prstGeom prst="rect">
            <a:avLst/>
          </a:prstGeom>
          <a:noFill/>
          <a:ln/>
        </p:spPr>
        <p:txBody>
          <a:bodyPr wrap="none" lIns="0" tIns="0" rIns="0" bIns="0" rtlCol="0" anchor="ctr"/>
          <a:lstStyle/>
          <a:p>
            <a:pPr algn="l" indent="0" marL="0">
              <a:buNone/>
            </a:pPr>
            <a:r>
              <a:rPr lang="en-US" sz="2250" b="1" dirty="0">
                <a:solidFill>
                  <a:srgbClr val="E11D48"/>
                </a:solidFill>
                <a:latin typeface="Segoe UI" pitchFamily="34" charset="0"/>
                <a:ea typeface="Segoe UI" pitchFamily="34" charset="-122"/>
                <a:cs typeface="Segoe UI" pitchFamily="34" charset="-120"/>
              </a:rPr>
              <a:t>03</a:t>
            </a:r>
            <a:endParaRPr lang="en-US" sz="2250" dirty="0"/>
          </a:p>
        </p:txBody>
      </p:sp>
      <p:sp>
        <p:nvSpPr>
          <p:cNvPr id="21" name="text t"/>
          <p:cNvSpPr txBox="1"/>
          <p:nvPr/>
        </p:nvSpPr>
        <p:spPr>
          <a:xfrm>
            <a:off x="6048375" y="4970205"/>
            <a:ext cx="4682567" cy="359092"/>
          </a:xfrm>
          <a:prstGeom prst="rect">
            <a:avLst/>
          </a:prstGeom>
          <a:noFill/>
          <a:ln/>
        </p:spPr>
        <p:txBody>
          <a:bodyPr wrap="none" lIns="0" tIns="0" rIns="0" bIns="0" rtlCol="0" anchor="ctr"/>
          <a:lstStyle/>
          <a:p>
            <a:pPr algn="l" indent="0" marL="0">
              <a:buNone/>
            </a:pPr>
            <a:r>
              <a:rPr lang="en-US" sz="1950" b="1" dirty="0">
                <a:solidFill>
                  <a:srgbClr val="0F172A"/>
                </a:solidFill>
                <a:latin typeface="Segoe UI" pitchFamily="34" charset="0"/>
                <a:ea typeface="Segoe UI" pitchFamily="34" charset="-122"/>
                <a:cs typeface="Segoe UI" pitchFamily="34" charset="-120"/>
              </a:rPr>
              <a:t>Mô hình hợp tác và lộ trình triển khai</a:t>
            </a:r>
            <a:endParaRPr lang="en-US" sz="1950" dirty="0"/>
          </a:p>
        </p:txBody>
      </p:sp>
      <p:sp>
        <p:nvSpPr>
          <p:cNvPr id="22" name="mk"/>
          <p:cNvSpPr/>
          <p:nvPr/>
        </p:nvSpPr>
        <p:spPr>
          <a:xfrm>
            <a:off x="10796588" y="6343650"/>
            <a:ext cx="323850" cy="323850"/>
          </a:xfrm>
          <a:prstGeom prst="ellipse">
            <a:avLst/>
          </a:prstGeom>
          <a:solidFill>
            <a:srgbClr val="F0001E"/>
          </a:solidFill>
          <a:ln/>
        </p:spPr>
      </p:sp>
      <p:sp>
        <p:nvSpPr>
          <p:cNvPr id="23" name="Shape 21"/>
          <p:cNvSpPr/>
          <p:nvPr/>
        </p:nvSpPr>
        <p:spPr>
          <a:xfrm>
            <a:off x="10910888" y="6424613"/>
            <a:ext cx="95250" cy="161925"/>
          </a:xfrm>
          <a:prstGeom prst="roundRect">
            <a:avLst>
              <a:gd name="adj" fmla="val 25000"/>
            </a:avLst>
          </a:prstGeom>
          <a:ln w="19050">
            <a:solidFill>
              <a:srgbClr val="FFFFFF"/>
            </a:solidFill>
            <a:prstDash val="solid"/>
          </a:ln>
        </p:spPr>
      </p:sp>
      <p:sp>
        <p:nvSpPr>
          <p:cNvPr id="24"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25"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graphic svg" descr="svg">    </p:cNvPr>
          <p:cNvPicPr>
            <a:picLocks noChangeAspect="1"/>
          </p:cNvPicPr>
          <p:nvPr/>
        </p:nvPicPr>
        <p:blipFill>
          <a:blip r:embed="rId2"/>
          <a:stretch>
            <a:fillRect/>
          </a:stretch>
        </p:blipFill>
        <p:spPr>
          <a:xfrm>
            <a:off x="0" y="0"/>
            <a:ext cx="12192000" cy="6858000"/>
          </a:xfrm>
          <a:prstGeom prst="rect">
            <a:avLst/>
          </a:prstGeom>
        </p:spPr>
      </p:pic>
      <p:sp>
        <p:nvSpPr>
          <p:cNvPr id="3" name="text dnum"/>
          <p:cNvSpPr txBox="1"/>
          <p:nvPr/>
        </p:nvSpPr>
        <p:spPr>
          <a:xfrm>
            <a:off x="742950" y="3369842"/>
            <a:ext cx="2190152" cy="2070942"/>
          </a:xfrm>
          <a:prstGeom prst="rect">
            <a:avLst/>
          </a:prstGeom>
          <a:noFill/>
          <a:ln/>
        </p:spPr>
        <p:txBody>
          <a:bodyPr wrap="none" lIns="0" tIns="0" rIns="0" bIns="0" rtlCol="0" anchor="ctr"/>
          <a:lstStyle/>
          <a:p>
            <a:pPr algn="l" indent="0" marL="0">
              <a:buNone/>
            </a:pPr>
            <a:r>
              <a:rPr lang="en-US" sz="11250" spc="-340" kern="0" dirty="0">
                <a:solidFill>
                  <a:srgbClr val="F0001E"/>
                </a:solidFill>
                <a:latin typeface="Segoe UI Black" pitchFamily="34" charset="0"/>
                <a:ea typeface="Segoe UI Black" pitchFamily="34" charset="-122"/>
                <a:cs typeface="Segoe UI Black" pitchFamily="34" charset="-120"/>
              </a:rPr>
              <a:t>01.</a:t>
            </a:r>
            <a:endParaRPr lang="en-US" sz="11250" dirty="0"/>
          </a:p>
        </p:txBody>
      </p:sp>
      <p:sp>
        <p:nvSpPr>
          <p:cNvPr id="4" name="text dtitle"/>
          <p:cNvSpPr txBox="1"/>
          <p:nvPr/>
        </p:nvSpPr>
        <p:spPr>
          <a:xfrm>
            <a:off x="781050" y="5263112"/>
            <a:ext cx="5511742" cy="856150"/>
          </a:xfrm>
          <a:prstGeom prst="rect">
            <a:avLst/>
          </a:prstGeom>
          <a:noFill/>
          <a:ln/>
        </p:spPr>
        <p:txBody>
          <a:bodyPr wrap="none" lIns="0" tIns="0" rIns="0" bIns="0" rtlCol="0" anchor="ctr"/>
          <a:lstStyle/>
          <a:p>
            <a:pPr algn="l" indent="0" marL="0">
              <a:buNone/>
            </a:pPr>
            <a:r>
              <a:rPr lang="en-US" sz="4650" b="1" spc="-90" kern="0" dirty="0">
                <a:solidFill>
                  <a:srgbClr val="0F172A"/>
                </a:solidFill>
                <a:latin typeface="Segoe UI" pitchFamily="34" charset="0"/>
                <a:ea typeface="Segoe UI" pitchFamily="34" charset="-122"/>
                <a:cs typeface="Segoe UI" pitchFamily="34" charset="-120"/>
              </a:rPr>
              <a:t>Bối cảnh và vấn đề</a:t>
            </a:r>
            <a:endParaRPr lang="en-US" sz="4650" dirty="0"/>
          </a:p>
        </p:txBody>
      </p:sp>
      <p:sp>
        <p:nvSpPr>
          <p:cNvPr id="5" name="mk"/>
          <p:cNvSpPr/>
          <p:nvPr/>
        </p:nvSpPr>
        <p:spPr>
          <a:xfrm>
            <a:off x="10796588" y="6343650"/>
            <a:ext cx="323850" cy="323850"/>
          </a:xfrm>
          <a:prstGeom prst="ellipse">
            <a:avLst/>
          </a:prstGeom>
          <a:solidFill>
            <a:srgbClr val="F0001E"/>
          </a:solidFill>
          <a:ln/>
        </p:spPr>
      </p:sp>
      <p:sp>
        <p:nvSpPr>
          <p:cNvPr id="6" name="Shape 3"/>
          <p:cNvSpPr/>
          <p:nvPr/>
        </p:nvSpPr>
        <p:spPr>
          <a:xfrm>
            <a:off x="10910888" y="6424613"/>
            <a:ext cx="95250" cy="161925"/>
          </a:xfrm>
          <a:prstGeom prst="roundRect">
            <a:avLst>
              <a:gd name="adj" fmla="val 25000"/>
            </a:avLst>
          </a:prstGeom>
          <a:ln w="19050">
            <a:solidFill>
              <a:srgbClr val="FFFFFF"/>
            </a:solidFill>
            <a:prstDash val="solid"/>
          </a:ln>
        </p:spPr>
      </p:sp>
      <p:sp>
        <p:nvSpPr>
          <p:cNvPr id="7"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8"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3525414"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BỐI CẢNH VÀ VẤN ĐỀ · MERCHANT VỪA VÀ NHỎ</a:t>
            </a:r>
            <a:endParaRPr lang="en-US" sz="1050" dirty="0"/>
          </a:p>
        </p:txBody>
      </p:sp>
      <p:sp>
        <p:nvSpPr>
          <p:cNvPr id="3" name="text title"/>
          <p:cNvSpPr txBox="1"/>
          <p:nvPr/>
        </p:nvSpPr>
        <p:spPr>
          <a:xfrm>
            <a:off x="609600" y="581263"/>
            <a:ext cx="10517556"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Merchant vừa và nhỏ: </a:t>
            </a:r>
            <a:pPr algn="l" indent="0" marL="0">
              <a:buNone/>
            </a:pPr>
            <a:r>
              <a:rPr lang="en-US" sz="2330" b="1" spc="-30" kern="0" dirty="0">
                <a:solidFill>
                  <a:srgbClr val="E11D48"/>
                </a:solidFill>
                <a:latin typeface="Segoe UI" pitchFamily="34" charset="0"/>
                <a:ea typeface="Segoe UI" pitchFamily="34" charset="-122"/>
                <a:cs typeface="Segoe UI" pitchFamily="34" charset="-120"/>
              </a:rPr>
              <a:t>tệp lớn, đang số hóa</a:t>
            </a:r>
            <a:pPr algn="l" indent="0" marL="0">
              <a:buNone/>
            </a:pPr>
            <a:r>
              <a:rPr lang="en-US" sz="2330" b="1" spc="-30" kern="0" dirty="0">
                <a:solidFill>
                  <a:srgbClr val="0F172A"/>
                </a:solidFill>
                <a:latin typeface="Segoe UI" pitchFamily="34" charset="0"/>
                <a:ea typeface="Segoe UI" pitchFamily="34" charset="-122"/>
                <a:cs typeface="Segoe UI" pitchFamily="34" charset="-120"/>
              </a:rPr>
              <a:t>, nhưng chưa nhận được thẻ</a:t>
            </a:r>
            <a:endParaRPr lang="en-US" sz="2330" dirty="0"/>
          </a:p>
        </p:txBody>
      </p:sp>
      <p:sp>
        <p:nvSpPr>
          <p:cNvPr id="4" name="card donut-wrap"/>
          <p:cNvSpPr/>
          <p:nvPr/>
        </p:nvSpPr>
        <p:spPr>
          <a:xfrm>
            <a:off x="614363" y="1174552"/>
            <a:ext cx="3705225" cy="4305895"/>
          </a:xfrm>
          <a:prstGeom prst="roundRect">
            <a:avLst>
              <a:gd name="adj" fmla="val 3470"/>
            </a:avLst>
          </a:prstGeom>
          <a:solidFill>
            <a:srgbClr val="FFFFFF"/>
          </a:solidFill>
          <a:ln w="9525">
            <a:solidFill>
              <a:srgbClr val="E2E8F0"/>
            </a:solidFill>
            <a:prstDash val="solid"/>
          </a:ln>
        </p:spPr>
      </p:sp>
      <p:pic>
        <p:nvPicPr>
          <p:cNvPr id="5" name="graphic svg" descr="svg">    </p:cNvPr>
          <p:cNvPicPr>
            <a:picLocks noChangeAspect="1"/>
          </p:cNvPicPr>
          <p:nvPr/>
        </p:nvPicPr>
        <p:blipFill>
          <a:blip r:embed="rId1"/>
          <a:stretch>
            <a:fillRect/>
          </a:stretch>
        </p:blipFill>
        <p:spPr>
          <a:xfrm>
            <a:off x="1581150" y="1898303"/>
            <a:ext cx="1771650" cy="1771650"/>
          </a:xfrm>
          <a:prstGeom prst="rect">
            <a:avLst/>
          </a:prstGeom>
        </p:spPr>
      </p:pic>
      <p:sp>
        <p:nvSpPr>
          <p:cNvPr id="6" name="text b"/>
          <p:cNvSpPr txBox="1"/>
          <p:nvPr/>
        </p:nvSpPr>
        <p:spPr>
          <a:xfrm>
            <a:off x="2069455" y="2501408"/>
            <a:ext cx="909191" cy="374940"/>
          </a:xfrm>
          <a:prstGeom prst="rect">
            <a:avLst/>
          </a:prstGeom>
          <a:noFill/>
          <a:ln/>
        </p:spPr>
        <p:txBody>
          <a:bodyPr wrap="none" lIns="0" tIns="0" rIns="0" bIns="0" rtlCol="0" anchor="ctr"/>
          <a:lstStyle/>
          <a:p>
            <a:pPr algn="l" indent="0" marL="0">
              <a:buNone/>
            </a:pPr>
            <a:r>
              <a:rPr lang="en-US" sz="2040" spc="-40" kern="0" dirty="0">
                <a:solidFill>
                  <a:srgbClr val="0F172A"/>
                </a:solidFill>
                <a:latin typeface="Segoe UI Black" pitchFamily="34" charset="0"/>
                <a:ea typeface="Segoe UI Black" pitchFamily="34" charset="-122"/>
                <a:cs typeface="Segoe UI Black" pitchFamily="34" charset="-120"/>
              </a:rPr>
              <a:t>5 triệu</a:t>
            </a:r>
            <a:endParaRPr lang="en-US" sz="2040" dirty="0"/>
          </a:p>
        </p:txBody>
      </p:sp>
      <p:sp>
        <p:nvSpPr>
          <p:cNvPr id="7" name="text span"/>
          <p:cNvSpPr txBox="1"/>
          <p:nvPr/>
        </p:nvSpPr>
        <p:spPr>
          <a:xfrm>
            <a:off x="2040582" y="2842475"/>
            <a:ext cx="966936" cy="178580"/>
          </a:xfrm>
          <a:prstGeom prst="rect">
            <a:avLst/>
          </a:prstGeom>
          <a:noFill/>
          <a:ln/>
        </p:spPr>
        <p:txBody>
          <a:bodyPr wrap="none" lIns="0" tIns="0" rIns="0" bIns="0" rtlCol="0" anchor="ctr"/>
          <a:lstStyle/>
          <a:p>
            <a:pPr algn="l" indent="0" marL="0">
              <a:buNone/>
            </a:pPr>
            <a:r>
              <a:rPr lang="en-US" sz="970" b="1" dirty="0">
                <a:solidFill>
                  <a:srgbClr val="64748B"/>
                </a:solidFill>
                <a:latin typeface="Segoe UI" pitchFamily="34" charset="0"/>
                <a:ea typeface="Segoe UI" pitchFamily="34" charset="-122"/>
                <a:cs typeface="Segoe UI" pitchFamily="34" charset="-120"/>
              </a:rPr>
              <a:t>hộ kinh doanh</a:t>
            </a:r>
            <a:endParaRPr lang="en-US" sz="970" dirty="0"/>
          </a:p>
        </p:txBody>
      </p:sp>
      <p:sp>
        <p:nvSpPr>
          <p:cNvPr id="8" name="Shape 5"/>
          <p:cNvSpPr/>
          <p:nvPr/>
        </p:nvSpPr>
        <p:spPr>
          <a:xfrm>
            <a:off x="809625" y="3819971"/>
            <a:ext cx="133350" cy="133350"/>
          </a:xfrm>
          <a:prstGeom prst="roundRect">
            <a:avLst>
              <a:gd name="adj" fmla="val 28571"/>
            </a:avLst>
          </a:prstGeom>
          <a:solidFill>
            <a:srgbClr val="0F172A"/>
          </a:solidFill>
          <a:ln/>
        </p:spPr>
      </p:sp>
      <p:sp>
        <p:nvSpPr>
          <p:cNvPr id="9" name="text span"/>
          <p:cNvSpPr txBox="1"/>
          <p:nvPr/>
        </p:nvSpPr>
        <p:spPr>
          <a:xfrm>
            <a:off x="1038225" y="3786088"/>
            <a:ext cx="1341090" cy="186233"/>
          </a:xfrm>
          <a:prstGeom prst="rect">
            <a:avLst/>
          </a:prstGeom>
          <a:noFill/>
          <a:ln/>
        </p:spPr>
        <p:txBody>
          <a:bodyPr wrap="none" lIns="0" tIns="0" rIns="0" bIns="0" rtlCol="0" anchor="ctr"/>
          <a:lstStyle/>
          <a:p>
            <a:pPr algn="l" indent="0" marL="0">
              <a:buNone/>
            </a:pPr>
            <a:r>
              <a:rPr lang="en-US" sz="1010" b="1" dirty="0">
                <a:solidFill>
                  <a:srgbClr val="334155"/>
                </a:solidFill>
                <a:latin typeface="Segoe UI" pitchFamily="34" charset="0"/>
                <a:ea typeface="Segoe UI" pitchFamily="34" charset="-122"/>
                <a:cs typeface="Segoe UI" pitchFamily="34" charset="-120"/>
              </a:rPr>
              <a:t>Có địa điểm cố định</a:t>
            </a:r>
            <a:endParaRPr lang="en-US" sz="1010" dirty="0"/>
          </a:p>
        </p:txBody>
      </p:sp>
      <p:sp>
        <p:nvSpPr>
          <p:cNvPr id="10" name="text b"/>
          <p:cNvSpPr txBox="1"/>
          <p:nvPr/>
        </p:nvSpPr>
        <p:spPr>
          <a:xfrm>
            <a:off x="3416796" y="3780287"/>
            <a:ext cx="821829" cy="207956"/>
          </a:xfrm>
          <a:prstGeom prst="rect">
            <a:avLst/>
          </a:prstGeom>
          <a:noFill/>
          <a:ln/>
        </p:spPr>
        <p:txBody>
          <a:bodyPr wrap="none" lIns="0" tIns="0" rIns="0" bIns="0" rtlCol="0" anchor="ctr"/>
          <a:lstStyle/>
          <a:p>
            <a:pPr algn="l" indent="0" marL="0">
              <a:buNone/>
            </a:pPr>
            <a:r>
              <a:rPr lang="en-US" sz="1130" dirty="0">
                <a:solidFill>
                  <a:srgbClr val="0F172A"/>
                </a:solidFill>
                <a:latin typeface="Segoe UI Black" pitchFamily="34" charset="0"/>
                <a:ea typeface="Segoe UI Black" pitchFamily="34" charset="-122"/>
                <a:cs typeface="Segoe UI Black" pitchFamily="34" charset="-120"/>
              </a:rPr>
              <a:t>2,03 triệu</a:t>
            </a:r>
            <a:endParaRPr lang="en-US" sz="1130" dirty="0"/>
          </a:p>
        </p:txBody>
      </p:sp>
      <p:sp>
        <p:nvSpPr>
          <p:cNvPr id="11" name="r-border"/>
          <p:cNvSpPr/>
          <p:nvPr/>
        </p:nvSpPr>
        <p:spPr>
          <a:xfrm>
            <a:off x="809625" y="4027140"/>
            <a:ext cx="3314700" cy="9525"/>
          </a:xfrm>
          <a:prstGeom prst="rect">
            <a:avLst/>
          </a:prstGeom>
          <a:solidFill>
            <a:srgbClr val="E2E8F0"/>
          </a:solidFill>
          <a:ln/>
        </p:spPr>
      </p:sp>
      <p:sp>
        <p:nvSpPr>
          <p:cNvPr id="12" name="Shape 9"/>
          <p:cNvSpPr/>
          <p:nvPr/>
        </p:nvSpPr>
        <p:spPr>
          <a:xfrm>
            <a:off x="809625" y="4184749"/>
            <a:ext cx="133350" cy="133350"/>
          </a:xfrm>
          <a:prstGeom prst="roundRect">
            <a:avLst>
              <a:gd name="adj" fmla="val 28571"/>
            </a:avLst>
          </a:prstGeom>
          <a:solidFill>
            <a:srgbClr val="64748B"/>
          </a:solidFill>
          <a:ln/>
        </p:spPr>
      </p:sp>
      <p:sp>
        <p:nvSpPr>
          <p:cNvPr id="13" name="text span"/>
          <p:cNvSpPr txBox="1"/>
          <p:nvPr/>
        </p:nvSpPr>
        <p:spPr>
          <a:xfrm>
            <a:off x="1038225" y="4076639"/>
            <a:ext cx="2384822" cy="334837"/>
          </a:xfrm>
          <a:prstGeom prst="rect">
            <a:avLst/>
          </a:prstGeom>
          <a:noFill/>
          <a:ln/>
        </p:spPr>
        <p:txBody>
          <a:bodyPr wrap="square" lIns="0" tIns="0" rIns="0" bIns="0" rtlCol="0" anchor="ctr"/>
          <a:lstStyle/>
          <a:p>
            <a:pPr algn="l" indent="0" marL="0">
              <a:lnSpc>
                <a:spcPts val="1320"/>
              </a:lnSpc>
              <a:buNone/>
            </a:pPr>
            <a:r>
              <a:rPr lang="en-US" sz="1010" b="1" dirty="0">
                <a:solidFill>
                  <a:srgbClr val="334155"/>
                </a:solidFill>
                <a:latin typeface="Segoe UI" pitchFamily="34" charset="0"/>
                <a:ea typeface="Segoe UI" pitchFamily="34" charset="-122"/>
                <a:cs typeface="Segoe UI" pitchFamily="34" charset="-120"/>
              </a:rPr>
              <a:t>Đăng ký thuế, không có địa điểm cố định</a:t>
            </a:r>
            <a:endParaRPr lang="en-US" sz="1010" dirty="0"/>
          </a:p>
        </p:txBody>
      </p:sp>
      <p:sp>
        <p:nvSpPr>
          <p:cNvPr id="14" name="text b"/>
          <p:cNvSpPr txBox="1"/>
          <p:nvPr/>
        </p:nvSpPr>
        <p:spPr>
          <a:xfrm>
            <a:off x="3480197" y="4146030"/>
            <a:ext cx="758428" cy="206026"/>
          </a:xfrm>
          <a:prstGeom prst="rect">
            <a:avLst/>
          </a:prstGeom>
          <a:noFill/>
          <a:ln/>
        </p:spPr>
        <p:txBody>
          <a:bodyPr wrap="none" lIns="0" tIns="0" rIns="0" bIns="0" rtlCol="0" anchor="ctr"/>
          <a:lstStyle/>
          <a:p>
            <a:pPr algn="l" indent="0" marL="0">
              <a:buNone/>
            </a:pPr>
            <a:r>
              <a:rPr lang="en-US" sz="1120" dirty="0">
                <a:solidFill>
                  <a:srgbClr val="0F172A"/>
                </a:solidFill>
                <a:latin typeface="Segoe UI Black" pitchFamily="34" charset="0"/>
                <a:ea typeface="Segoe UI Black" pitchFamily="34" charset="-122"/>
                <a:cs typeface="Segoe UI Black" pitchFamily="34" charset="-120"/>
              </a:rPr>
              <a:t>1,21 triệu</a:t>
            </a:r>
            <a:endParaRPr lang="en-US" sz="1120" dirty="0"/>
          </a:p>
        </p:txBody>
      </p:sp>
      <p:sp>
        <p:nvSpPr>
          <p:cNvPr id="15" name="r-border"/>
          <p:cNvSpPr/>
          <p:nvPr/>
        </p:nvSpPr>
        <p:spPr>
          <a:xfrm>
            <a:off x="809625" y="4466183"/>
            <a:ext cx="3314700" cy="9525"/>
          </a:xfrm>
          <a:prstGeom prst="rect">
            <a:avLst/>
          </a:prstGeom>
          <a:solidFill>
            <a:srgbClr val="E2E8F0"/>
          </a:solidFill>
          <a:ln/>
        </p:spPr>
      </p:sp>
      <p:sp>
        <p:nvSpPr>
          <p:cNvPr id="16" name="Shape 13"/>
          <p:cNvSpPr/>
          <p:nvPr/>
        </p:nvSpPr>
        <p:spPr>
          <a:xfrm>
            <a:off x="809625" y="4549527"/>
            <a:ext cx="133350" cy="133350"/>
          </a:xfrm>
          <a:prstGeom prst="roundRect">
            <a:avLst>
              <a:gd name="adj" fmla="val 28571"/>
            </a:avLst>
          </a:prstGeom>
          <a:solidFill>
            <a:srgbClr val="CBD5E1"/>
          </a:solidFill>
          <a:ln/>
        </p:spPr>
      </p:sp>
      <p:sp>
        <p:nvSpPr>
          <p:cNvPr id="17" name="text span"/>
          <p:cNvSpPr txBox="1"/>
          <p:nvPr/>
        </p:nvSpPr>
        <p:spPr>
          <a:xfrm>
            <a:off x="1038225" y="4515466"/>
            <a:ext cx="1294507" cy="186589"/>
          </a:xfrm>
          <a:prstGeom prst="rect">
            <a:avLst/>
          </a:prstGeom>
          <a:noFill/>
          <a:ln/>
        </p:spPr>
        <p:txBody>
          <a:bodyPr wrap="none" lIns="0" tIns="0" rIns="0" bIns="0" rtlCol="0" anchor="ctr"/>
          <a:lstStyle/>
          <a:p>
            <a:pPr algn="l" indent="0" marL="0">
              <a:buNone/>
            </a:pPr>
            <a:r>
              <a:rPr lang="en-US" sz="1010" b="1" dirty="0">
                <a:solidFill>
                  <a:srgbClr val="334155"/>
                </a:solidFill>
                <a:latin typeface="Segoe UI" pitchFamily="34" charset="0"/>
                <a:ea typeface="Segoe UI" pitchFamily="34" charset="-122"/>
                <a:cs typeface="Segoe UI" pitchFamily="34" charset="-120"/>
              </a:rPr>
              <a:t>Chưa đăng ký thuế</a:t>
            </a:r>
            <a:endParaRPr lang="en-US" sz="1010" dirty="0"/>
          </a:p>
        </p:txBody>
      </p:sp>
      <p:sp>
        <p:nvSpPr>
          <p:cNvPr id="18" name="text b"/>
          <p:cNvSpPr txBox="1"/>
          <p:nvPr/>
        </p:nvSpPr>
        <p:spPr>
          <a:xfrm>
            <a:off x="3363962" y="4510459"/>
            <a:ext cx="874663" cy="206724"/>
          </a:xfrm>
          <a:prstGeom prst="rect">
            <a:avLst/>
          </a:prstGeom>
          <a:noFill/>
          <a:ln/>
        </p:spPr>
        <p:txBody>
          <a:bodyPr wrap="none" lIns="0" tIns="0" rIns="0" bIns="0" rtlCol="0" anchor="ctr"/>
          <a:lstStyle/>
          <a:p>
            <a:pPr algn="l" indent="0" marL="0">
              <a:buNone/>
            </a:pPr>
            <a:r>
              <a:rPr lang="en-US" sz="1120" dirty="0">
                <a:solidFill>
                  <a:srgbClr val="0F172A"/>
                </a:solidFill>
                <a:latin typeface="Segoe UI Black" pitchFamily="34" charset="0"/>
                <a:ea typeface="Segoe UI Black" pitchFamily="34" charset="-122"/>
                <a:cs typeface="Segoe UI Black" pitchFamily="34" charset="-120"/>
              </a:rPr>
              <a:t>~1,76 triệu</a:t>
            </a:r>
            <a:endParaRPr lang="en-US" sz="1120" dirty="0"/>
          </a:p>
        </p:txBody>
      </p:sp>
      <p:sp>
        <p:nvSpPr>
          <p:cNvPr id="19" name="stat top c-red __nops"/>
          <p:cNvSpPr/>
          <p:nvPr/>
        </p:nvSpPr>
        <p:spPr>
          <a:xfrm>
            <a:off x="4462463" y="1174552"/>
            <a:ext cx="3486150" cy="2081510"/>
          </a:xfrm>
          <a:prstGeom prst="roundRect">
            <a:avLst>
              <a:gd name="adj" fmla="val 6178"/>
            </a:avLst>
          </a:prstGeom>
          <a:solidFill>
            <a:srgbClr val="FFFFFF"/>
          </a:solidFill>
          <a:ln w="9525">
            <a:solidFill>
              <a:srgbClr val="E2E8F0"/>
            </a:solidFill>
            <a:prstDash val="solid"/>
          </a:ln>
        </p:spPr>
      </p:sp>
      <p:sp>
        <p:nvSpPr>
          <p:cNvPr id="20" name="Shape 17"/>
          <p:cNvSpPr/>
          <p:nvPr/>
        </p:nvSpPr>
        <p:spPr>
          <a:xfrm>
            <a:off x="4467225" y="1179314"/>
            <a:ext cx="3476625" cy="47625"/>
          </a:xfrm>
          <a:prstGeom prst="roundRect">
            <a:avLst>
              <a:gd name="adj" fmla="val 50000"/>
            </a:avLst>
          </a:prstGeom>
          <a:solidFill>
            <a:srgbClr val="E11D48"/>
          </a:solidFill>
          <a:ln/>
        </p:spPr>
      </p:sp>
      <p:sp>
        <p:nvSpPr>
          <p:cNvPr id="21" name="Shape 18"/>
          <p:cNvSpPr/>
          <p:nvPr/>
        </p:nvSpPr>
        <p:spPr>
          <a:xfrm>
            <a:off x="4467225" y="1203127"/>
            <a:ext cx="3476625" cy="23812"/>
          </a:xfrm>
          <a:prstGeom prst="rect">
            <a:avLst/>
          </a:prstGeom>
          <a:solidFill>
            <a:srgbClr val="E11D48"/>
          </a:solidFill>
          <a:ln/>
        </p:spPr>
      </p:sp>
      <p:sp>
        <p:nvSpPr>
          <p:cNvPr id="22" name="text num"/>
          <p:cNvSpPr txBox="1"/>
          <p:nvPr/>
        </p:nvSpPr>
        <p:spPr>
          <a:xfrm>
            <a:off x="4676775" y="1368177"/>
            <a:ext cx="2241581" cy="552450"/>
          </a:xfrm>
          <a:prstGeom prst="rect">
            <a:avLst/>
          </a:prstGeom>
          <a:noFill/>
          <a:ln/>
        </p:spPr>
        <p:txBody>
          <a:bodyPr wrap="none" lIns="0" tIns="0" rIns="0" bIns="0" rtlCol="0" anchor="ctr"/>
          <a:lstStyle/>
          <a:p>
            <a:pPr algn="l" indent="0" marL="0">
              <a:buNone/>
            </a:pPr>
            <a:r>
              <a:rPr lang="en-US" sz="3000" b="1" spc="-60" kern="0" dirty="0">
                <a:solidFill>
                  <a:srgbClr val="E11D48"/>
                </a:solidFill>
                <a:latin typeface="Segoe UI" pitchFamily="34" charset="0"/>
                <a:ea typeface="Segoe UI" pitchFamily="34" charset="-122"/>
                <a:cs typeface="Segoe UI" pitchFamily="34" charset="-120"/>
              </a:rPr>
              <a:t>~500 nghìn</a:t>
            </a:r>
            <a:endParaRPr lang="en-US" sz="3000" dirty="0"/>
          </a:p>
        </p:txBody>
      </p:sp>
      <p:sp>
        <p:nvSpPr>
          <p:cNvPr id="23" name="text sl"/>
          <p:cNvSpPr txBox="1"/>
          <p:nvPr/>
        </p:nvSpPr>
        <p:spPr>
          <a:xfrm>
            <a:off x="4676775" y="1901101"/>
            <a:ext cx="1678632" cy="214074"/>
          </a:xfrm>
          <a:prstGeom prst="rect">
            <a:avLst/>
          </a:prstGeom>
          <a:noFill/>
          <a:ln/>
        </p:spPr>
        <p:txBody>
          <a:bodyPr wrap="none" lIns="0" tIns="0" rIns="0" bIns="0" rtlCol="0" anchor="ctr"/>
          <a:lstStyle/>
          <a:p>
            <a:pPr algn="l" indent="0" marL="0">
              <a:buNone/>
            </a:pPr>
            <a:r>
              <a:rPr lang="en-US" sz="1160" dirty="0">
                <a:solidFill>
                  <a:srgbClr val="334155"/>
                </a:solidFill>
                <a:latin typeface="Segoe UI Semibold" pitchFamily="34" charset="0"/>
                <a:ea typeface="Segoe UI Semibold" pitchFamily="34" charset="-122"/>
                <a:cs typeface="Segoe UI Semibold" pitchFamily="34" charset="-120"/>
              </a:rPr>
              <a:t>hộ quanh điểm du lịch</a:t>
            </a:r>
            <a:endParaRPr lang="en-US" sz="1160" dirty="0"/>
          </a:p>
        </p:txBody>
      </p:sp>
      <p:sp>
        <p:nvSpPr>
          <p:cNvPr id="24" name="-border"/>
          <p:cNvSpPr/>
          <p:nvPr/>
        </p:nvSpPr>
        <p:spPr>
          <a:xfrm>
            <a:off x="4676775" y="2195661"/>
            <a:ext cx="3057525" cy="0"/>
          </a:xfrm>
          <a:prstGeom prst="line">
            <a:avLst/>
          </a:prstGeom>
          <a:noFill/>
          <a:ln w="9525">
            <a:solidFill>
              <a:srgbClr val="E2E8F0"/>
            </a:solidFill>
            <a:prstDash val="dash"/>
          </a:ln>
        </p:spPr>
      </p:sp>
      <p:sp>
        <p:nvSpPr>
          <p:cNvPr id="25" name="text div"/>
          <p:cNvSpPr txBox="1"/>
          <p:nvPr/>
        </p:nvSpPr>
        <p:spPr>
          <a:xfrm>
            <a:off x="4676775" y="2268289"/>
            <a:ext cx="2511189" cy="714375"/>
          </a:xfrm>
          <a:prstGeom prst="rect">
            <a:avLst/>
          </a:prstGeom>
          <a:noFill/>
          <a:ln/>
        </p:spPr>
        <p:txBody>
          <a:bodyPr wrap="none" lIns="0" tIns="0" rIns="0" bIns="0" rtlCol="0" anchor="ctr"/>
          <a:lstStyle/>
          <a:p>
            <a:pPr algn="l" indent="0" marL="0">
              <a:lnSpc>
                <a:spcPts val="1410"/>
              </a:lnSpc>
              <a:buNone/>
            </a:pPr>
            <a:r>
              <a:rPr lang="en-US" sz="940" dirty="0">
                <a:solidFill>
                  <a:srgbClr val="64748B"/>
                </a:solidFill>
                <a:latin typeface="Segoe UI Semibold" pitchFamily="34" charset="0"/>
                <a:ea typeface="Segoe UI Semibold" pitchFamily="34" charset="-122"/>
                <a:cs typeface="Segoe UI Semibold" pitchFamily="34" charset="-120"/>
              </a:rPr>
              <a:t>61 khu du lịch quốc gia × 3.000–4.000 hộ</a:t>
            </a:r>
            <a:endParaRPr lang="en-US" sz="940" dirty="0"/>
          </a:p>
          <a:p>
            <a:pPr algn="l" indent="0" marL="0">
              <a:lnSpc>
                <a:spcPts val="1410"/>
              </a:lnSpc>
              <a:buNone/>
            </a:pPr>
            <a:r>
              <a:rPr lang="en-US" sz="940" dirty="0">
                <a:solidFill>
                  <a:srgbClr val="64748B"/>
                </a:solidFill>
                <a:latin typeface="Segoe UI Semibold" pitchFamily="34" charset="0"/>
                <a:ea typeface="Segoe UI Semibold" pitchFamily="34" charset="-122"/>
                <a:cs typeface="Segoe UI Semibold" pitchFamily="34" charset="-120"/>
              </a:rPr>
              <a:t>+ 153 di tích đặc biệt × 350–500 hộ</a:t>
            </a:r>
            <a:endParaRPr lang="en-US" sz="940" dirty="0"/>
          </a:p>
          <a:p>
            <a:pPr algn="l" indent="0" marL="0">
              <a:lnSpc>
                <a:spcPts val="1410"/>
              </a:lnSpc>
              <a:buNone/>
            </a:pPr>
            <a:r>
              <a:rPr lang="en-US" sz="940" dirty="0">
                <a:solidFill>
                  <a:srgbClr val="64748B"/>
                </a:solidFill>
                <a:latin typeface="Segoe UI Semibold" pitchFamily="34" charset="0"/>
                <a:ea typeface="Segoe UI Semibold" pitchFamily="34" charset="-122"/>
                <a:cs typeface="Segoe UI Semibold" pitchFamily="34" charset="-120"/>
              </a:rPr>
              <a:t>+ ~4.000 di tích quốc gia × 30–50 hộ</a:t>
            </a:r>
            <a:endParaRPr lang="en-US" sz="940" dirty="0"/>
          </a:p>
          <a:p>
            <a:pPr algn="l" indent="0" marL="0">
              <a:lnSpc>
                <a:spcPts val="1410"/>
              </a:lnSpc>
              <a:buNone/>
            </a:pPr>
            <a:r>
              <a:rPr lang="en-US" sz="940" dirty="0">
                <a:solidFill>
                  <a:srgbClr val="334155"/>
                </a:solidFill>
                <a:latin typeface="Segoe UI Black" pitchFamily="34" charset="0"/>
                <a:ea typeface="Segoe UI Black" pitchFamily="34" charset="-122"/>
                <a:cs typeface="Segoe UI Black" pitchFamily="34" charset="-120"/>
              </a:rPr>
              <a:t>≈ 360–520 nghìn hộ</a:t>
            </a:r>
            <a:endParaRPr lang="en-US" sz="940" dirty="0"/>
          </a:p>
        </p:txBody>
      </p:sp>
      <p:sp>
        <p:nvSpPr>
          <p:cNvPr id="26" name="stat top c-ink __nops"/>
          <p:cNvSpPr/>
          <p:nvPr/>
        </p:nvSpPr>
        <p:spPr>
          <a:xfrm>
            <a:off x="8091488" y="1174552"/>
            <a:ext cx="3486150" cy="2081510"/>
          </a:xfrm>
          <a:prstGeom prst="roundRect">
            <a:avLst>
              <a:gd name="adj" fmla="val 6178"/>
            </a:avLst>
          </a:prstGeom>
          <a:solidFill>
            <a:srgbClr val="FFFFFF"/>
          </a:solidFill>
          <a:ln w="9525">
            <a:solidFill>
              <a:srgbClr val="E2E8F0"/>
            </a:solidFill>
            <a:prstDash val="solid"/>
          </a:ln>
        </p:spPr>
      </p:sp>
      <p:sp>
        <p:nvSpPr>
          <p:cNvPr id="27" name="Shape 24"/>
          <p:cNvSpPr/>
          <p:nvPr/>
        </p:nvSpPr>
        <p:spPr>
          <a:xfrm>
            <a:off x="8096250" y="1179314"/>
            <a:ext cx="3476625" cy="47625"/>
          </a:xfrm>
          <a:prstGeom prst="roundRect">
            <a:avLst>
              <a:gd name="adj" fmla="val 50000"/>
            </a:avLst>
          </a:prstGeom>
          <a:solidFill>
            <a:srgbClr val="0F172A"/>
          </a:solidFill>
          <a:ln/>
        </p:spPr>
      </p:sp>
      <p:sp>
        <p:nvSpPr>
          <p:cNvPr id="28" name="Shape 25"/>
          <p:cNvSpPr/>
          <p:nvPr/>
        </p:nvSpPr>
        <p:spPr>
          <a:xfrm>
            <a:off x="8096250" y="1203127"/>
            <a:ext cx="3476625" cy="23812"/>
          </a:xfrm>
          <a:prstGeom prst="rect">
            <a:avLst/>
          </a:prstGeom>
          <a:solidFill>
            <a:srgbClr val="0F172A"/>
          </a:solidFill>
          <a:ln/>
        </p:spPr>
      </p:sp>
      <p:sp>
        <p:nvSpPr>
          <p:cNvPr id="29" name="text num"/>
          <p:cNvSpPr txBox="1"/>
          <p:nvPr/>
        </p:nvSpPr>
        <p:spPr>
          <a:xfrm>
            <a:off x="8305800" y="1703040"/>
            <a:ext cx="2239530" cy="552450"/>
          </a:xfrm>
          <a:prstGeom prst="rect">
            <a:avLst/>
          </a:prstGeom>
          <a:noFill/>
          <a:ln/>
        </p:spPr>
        <p:txBody>
          <a:bodyPr wrap="none" lIns="0" tIns="0" rIns="0" bIns="0" rtlCol="0" anchor="ctr"/>
          <a:lstStyle/>
          <a:p>
            <a:pPr algn="l" indent="0" marL="0">
              <a:buNone/>
            </a:pPr>
            <a:r>
              <a:rPr lang="en-US" sz="3000" b="1" spc="-60" kern="0" dirty="0">
                <a:solidFill>
                  <a:srgbClr val="0F172A"/>
                </a:solidFill>
                <a:latin typeface="Segoe UI" pitchFamily="34" charset="0"/>
                <a:ea typeface="Segoe UI" pitchFamily="34" charset="-122"/>
                <a:cs typeface="Segoe UI" pitchFamily="34" charset="-120"/>
              </a:rPr>
              <a:t>308 nghìn+</a:t>
            </a:r>
            <a:endParaRPr lang="en-US" sz="3000" dirty="0"/>
          </a:p>
        </p:txBody>
      </p:sp>
      <p:sp>
        <p:nvSpPr>
          <p:cNvPr id="30" name="text sl"/>
          <p:cNvSpPr txBox="1"/>
          <p:nvPr/>
        </p:nvSpPr>
        <p:spPr>
          <a:xfrm>
            <a:off x="8305800" y="2239595"/>
            <a:ext cx="3095625" cy="413385"/>
          </a:xfrm>
          <a:prstGeom prst="rect">
            <a:avLst/>
          </a:prstGeom>
          <a:noFill/>
          <a:ln/>
        </p:spPr>
        <p:txBody>
          <a:bodyPr wrap="square" lIns="0" tIns="0" rIns="0" bIns="0" rtlCol="0" anchor="ctr"/>
          <a:lstStyle/>
          <a:p>
            <a:pPr algn="l" indent="0" marL="0">
              <a:lnSpc>
                <a:spcPts val="1630"/>
              </a:lnSpc>
              <a:buNone/>
            </a:pPr>
            <a:r>
              <a:rPr lang="en-US" sz="1160" dirty="0">
                <a:solidFill>
                  <a:srgbClr val="334155"/>
                </a:solidFill>
                <a:latin typeface="Segoe UI Semibold" pitchFamily="34" charset="0"/>
                <a:ea typeface="Segoe UI Semibold" pitchFamily="34" charset="-122"/>
                <a:cs typeface="Segoe UI Semibold" pitchFamily="34" charset="-120"/>
              </a:rPr>
              <a:t>hộ đã dùng hóa đơn điện tử, sau khi bỏ thuế khoán</a:t>
            </a:r>
            <a:endParaRPr lang="en-US" sz="1160" dirty="0"/>
          </a:p>
        </p:txBody>
      </p:sp>
      <p:sp>
        <p:nvSpPr>
          <p:cNvPr id="31" name="stat top c-ink __nops"/>
          <p:cNvSpPr/>
          <p:nvPr/>
        </p:nvSpPr>
        <p:spPr>
          <a:xfrm>
            <a:off x="4462463" y="3398937"/>
            <a:ext cx="3486150" cy="2081510"/>
          </a:xfrm>
          <a:prstGeom prst="roundRect">
            <a:avLst>
              <a:gd name="adj" fmla="val 6178"/>
            </a:avLst>
          </a:prstGeom>
          <a:solidFill>
            <a:srgbClr val="FFFFFF"/>
          </a:solidFill>
          <a:ln w="9525">
            <a:solidFill>
              <a:srgbClr val="E2E8F0"/>
            </a:solidFill>
            <a:prstDash val="solid"/>
          </a:ln>
        </p:spPr>
      </p:sp>
      <p:sp>
        <p:nvSpPr>
          <p:cNvPr id="32" name="Shape 29"/>
          <p:cNvSpPr/>
          <p:nvPr/>
        </p:nvSpPr>
        <p:spPr>
          <a:xfrm>
            <a:off x="4467225" y="3403699"/>
            <a:ext cx="3476625" cy="47625"/>
          </a:xfrm>
          <a:prstGeom prst="roundRect">
            <a:avLst>
              <a:gd name="adj" fmla="val 50000"/>
            </a:avLst>
          </a:prstGeom>
          <a:solidFill>
            <a:srgbClr val="0F172A"/>
          </a:solidFill>
          <a:ln/>
        </p:spPr>
      </p:sp>
      <p:sp>
        <p:nvSpPr>
          <p:cNvPr id="33" name="Shape 30"/>
          <p:cNvSpPr/>
          <p:nvPr/>
        </p:nvSpPr>
        <p:spPr>
          <a:xfrm>
            <a:off x="4467225" y="3427512"/>
            <a:ext cx="3476625" cy="23812"/>
          </a:xfrm>
          <a:prstGeom prst="rect">
            <a:avLst/>
          </a:prstGeom>
          <a:solidFill>
            <a:srgbClr val="0F172A"/>
          </a:solidFill>
          <a:ln/>
        </p:spPr>
      </p:sp>
      <p:sp>
        <p:nvSpPr>
          <p:cNvPr id="34" name="text num"/>
          <p:cNvSpPr txBox="1"/>
          <p:nvPr/>
        </p:nvSpPr>
        <p:spPr>
          <a:xfrm>
            <a:off x="4676775" y="4030712"/>
            <a:ext cx="1898452" cy="552450"/>
          </a:xfrm>
          <a:prstGeom prst="rect">
            <a:avLst/>
          </a:prstGeom>
          <a:noFill/>
          <a:ln/>
        </p:spPr>
        <p:txBody>
          <a:bodyPr wrap="none" lIns="0" tIns="0" rIns="0" bIns="0" rtlCol="0" anchor="ctr"/>
          <a:lstStyle/>
          <a:p>
            <a:pPr algn="l" indent="0" marL="0">
              <a:buNone/>
            </a:pPr>
            <a:r>
              <a:rPr lang="en-US" sz="3000" b="1" spc="-60" kern="0" dirty="0">
                <a:solidFill>
                  <a:srgbClr val="0F172A"/>
                </a:solidFill>
                <a:latin typeface="Segoe UI" pitchFamily="34" charset="0"/>
                <a:ea typeface="Segoe UI" pitchFamily="34" charset="-122"/>
                <a:cs typeface="Segoe UI" pitchFamily="34" charset="-120"/>
              </a:rPr>
              <a:t>737 nghìn</a:t>
            </a:r>
            <a:endParaRPr lang="en-US" sz="3000" dirty="0"/>
          </a:p>
        </p:txBody>
      </p:sp>
      <p:sp>
        <p:nvSpPr>
          <p:cNvPr id="35" name="text sl"/>
          <p:cNvSpPr txBox="1"/>
          <p:nvPr/>
        </p:nvSpPr>
        <p:spPr>
          <a:xfrm>
            <a:off x="4676775" y="4563636"/>
            <a:ext cx="1364903" cy="214074"/>
          </a:xfrm>
          <a:prstGeom prst="rect">
            <a:avLst/>
          </a:prstGeom>
          <a:noFill/>
          <a:ln/>
        </p:spPr>
        <p:txBody>
          <a:bodyPr wrap="none" lIns="0" tIns="0" rIns="0" bIns="0" rtlCol="0" anchor="ctr"/>
          <a:lstStyle/>
          <a:p>
            <a:pPr algn="l" indent="0" marL="0">
              <a:buNone/>
            </a:pPr>
            <a:r>
              <a:rPr lang="en-US" sz="1160" dirty="0">
                <a:solidFill>
                  <a:srgbClr val="334155"/>
                </a:solidFill>
                <a:latin typeface="Segoe UI Semibold" pitchFamily="34" charset="0"/>
                <a:ea typeface="Segoe UI Semibold" pitchFamily="34" charset="-122"/>
                <a:cs typeface="Segoe UI Semibold" pitchFamily="34" charset="-120"/>
              </a:rPr>
              <a:t>máy POS cả nước</a:t>
            </a:r>
            <a:endParaRPr lang="en-US" sz="1160" dirty="0"/>
          </a:p>
        </p:txBody>
      </p:sp>
      <p:sp>
        <p:nvSpPr>
          <p:cNvPr id="36" name="stat top c-green __nops"/>
          <p:cNvSpPr/>
          <p:nvPr/>
        </p:nvSpPr>
        <p:spPr>
          <a:xfrm>
            <a:off x="8091488" y="3398937"/>
            <a:ext cx="3486150" cy="2081510"/>
          </a:xfrm>
          <a:prstGeom prst="roundRect">
            <a:avLst>
              <a:gd name="adj" fmla="val 6178"/>
            </a:avLst>
          </a:prstGeom>
          <a:solidFill>
            <a:srgbClr val="FFFFFF"/>
          </a:solidFill>
          <a:ln w="9525">
            <a:solidFill>
              <a:srgbClr val="E2E8F0"/>
            </a:solidFill>
            <a:prstDash val="solid"/>
          </a:ln>
        </p:spPr>
      </p:sp>
      <p:sp>
        <p:nvSpPr>
          <p:cNvPr id="37" name="Shape 34"/>
          <p:cNvSpPr/>
          <p:nvPr/>
        </p:nvSpPr>
        <p:spPr>
          <a:xfrm>
            <a:off x="8096250" y="3403699"/>
            <a:ext cx="3476625" cy="47625"/>
          </a:xfrm>
          <a:prstGeom prst="roundRect">
            <a:avLst>
              <a:gd name="adj" fmla="val 50000"/>
            </a:avLst>
          </a:prstGeom>
          <a:solidFill>
            <a:srgbClr val="16A34A"/>
          </a:solidFill>
          <a:ln/>
        </p:spPr>
      </p:sp>
      <p:sp>
        <p:nvSpPr>
          <p:cNvPr id="38" name="Shape 35"/>
          <p:cNvSpPr/>
          <p:nvPr/>
        </p:nvSpPr>
        <p:spPr>
          <a:xfrm>
            <a:off x="8096250" y="3427512"/>
            <a:ext cx="3476625" cy="23812"/>
          </a:xfrm>
          <a:prstGeom prst="rect">
            <a:avLst/>
          </a:prstGeom>
          <a:solidFill>
            <a:srgbClr val="16A34A"/>
          </a:solidFill>
          <a:ln/>
        </p:spPr>
      </p:sp>
      <p:sp>
        <p:nvSpPr>
          <p:cNvPr id="39" name="text num"/>
          <p:cNvSpPr txBox="1"/>
          <p:nvPr/>
        </p:nvSpPr>
        <p:spPr>
          <a:xfrm>
            <a:off x="8305800" y="3792170"/>
            <a:ext cx="3095625" cy="822960"/>
          </a:xfrm>
          <a:prstGeom prst="rect">
            <a:avLst/>
          </a:prstGeom>
          <a:noFill/>
          <a:ln/>
        </p:spPr>
        <p:txBody>
          <a:bodyPr wrap="square" lIns="0" tIns="0" rIns="0" bIns="0" rtlCol="0" anchor="ctr"/>
          <a:lstStyle/>
          <a:p>
            <a:pPr algn="l" indent="0" marL="0">
              <a:lnSpc>
                <a:spcPts val="3240"/>
              </a:lnSpc>
              <a:buNone/>
            </a:pPr>
            <a:r>
              <a:rPr lang="en-US" sz="3000" b="1" spc="-60" kern="0" dirty="0">
                <a:solidFill>
                  <a:srgbClr val="16A34A"/>
                </a:solidFill>
                <a:latin typeface="Segoe UI" pitchFamily="34" charset="0"/>
                <a:ea typeface="Segoe UI" pitchFamily="34" charset="-122"/>
                <a:cs typeface="Segoe UI" pitchFamily="34" charset="-120"/>
              </a:rPr>
              <a:t>79% </a:t>
            </a:r>
            <a:pPr algn="l" indent="0" marL="0">
              <a:lnSpc>
                <a:spcPts val="3240"/>
              </a:lnSpc>
              <a:buNone/>
            </a:pPr>
            <a:r>
              <a:rPr lang="en-US" sz="1500" b="1" spc="-60" kern="0" dirty="0">
                <a:solidFill>
                  <a:srgbClr val="94A3B8"/>
                </a:solidFill>
                <a:latin typeface="Segoe UI" pitchFamily="34" charset="0"/>
                <a:ea typeface="Segoe UI" pitchFamily="34" charset="-122"/>
                <a:cs typeface="Segoe UI" pitchFamily="34" charset="-120"/>
              </a:rPr>
              <a:t>vs 46%</a:t>
            </a:r>
            <a:endParaRPr lang="en-US" sz="3000" dirty="0"/>
          </a:p>
        </p:txBody>
      </p:sp>
      <p:sp>
        <p:nvSpPr>
          <p:cNvPr id="40" name="text sl"/>
          <p:cNvSpPr txBox="1"/>
          <p:nvPr/>
        </p:nvSpPr>
        <p:spPr>
          <a:xfrm>
            <a:off x="8305800" y="4463981"/>
            <a:ext cx="3095625" cy="413385"/>
          </a:xfrm>
          <a:prstGeom prst="rect">
            <a:avLst/>
          </a:prstGeom>
          <a:noFill/>
          <a:ln/>
        </p:spPr>
        <p:txBody>
          <a:bodyPr wrap="square" lIns="0" tIns="0" rIns="0" bIns="0" rtlCol="0" anchor="ctr"/>
          <a:lstStyle/>
          <a:p>
            <a:pPr algn="l" indent="0" marL="0">
              <a:lnSpc>
                <a:spcPts val="1630"/>
              </a:lnSpc>
              <a:buNone/>
            </a:pPr>
            <a:r>
              <a:rPr lang="en-US" sz="1160" dirty="0">
                <a:solidFill>
                  <a:srgbClr val="334155"/>
                </a:solidFill>
                <a:latin typeface="Segoe UI Semibold" pitchFamily="34" charset="0"/>
                <a:ea typeface="Segoe UI Semibold" pitchFamily="34" charset="-122"/>
                <a:cs typeface="Segoe UI Semibold" pitchFamily="34" charset="-120"/>
              </a:rPr>
              <a:t>tăng doanh thu: nhóm nhận thẻ so với nhóm không nhận</a:t>
            </a:r>
            <a:endParaRPr lang="en-US" sz="1160" dirty="0"/>
          </a:p>
        </p:txBody>
      </p:sp>
      <p:sp>
        <p:nvSpPr>
          <p:cNvPr id="41" name="takeaway __nops"/>
          <p:cNvSpPr/>
          <p:nvPr/>
        </p:nvSpPr>
        <p:spPr>
          <a:xfrm>
            <a:off x="614363" y="5623322"/>
            <a:ext cx="10963275" cy="525066"/>
          </a:xfrm>
          <a:prstGeom prst="roundRect">
            <a:avLst>
              <a:gd name="adj" fmla="val 24490"/>
            </a:avLst>
          </a:prstGeom>
          <a:solidFill>
            <a:srgbClr val="EEFBF3"/>
          </a:solidFill>
          <a:ln w="9525">
            <a:solidFill>
              <a:srgbClr val="86EFAC"/>
            </a:solidFill>
            <a:prstDash val="solid"/>
          </a:ln>
        </p:spPr>
      </p:sp>
      <p:sp>
        <p:nvSpPr>
          <p:cNvPr id="42" name="text takeaway __nops"/>
          <p:cNvSpPr txBox="1"/>
          <p:nvPr/>
        </p:nvSpPr>
        <p:spPr>
          <a:xfrm>
            <a:off x="1152525" y="5767864"/>
            <a:ext cx="4893174" cy="234791"/>
          </a:xfrm>
          <a:prstGeom prst="rect">
            <a:avLst/>
          </a:prstGeom>
          <a:noFill/>
          <a:ln/>
        </p:spPr>
        <p:txBody>
          <a:bodyPr wrap="none" lIns="0" tIns="0" rIns="0" bIns="0" rtlCol="0" anchor="ctr"/>
          <a:lstStyle/>
          <a:p>
            <a:pPr algn="l" indent="0" marL="0">
              <a:buNone/>
            </a:pPr>
            <a:r>
              <a:rPr lang="en-US" sz="1280" b="1" dirty="0">
                <a:solidFill>
                  <a:srgbClr val="0F172A"/>
                </a:solidFill>
                <a:latin typeface="Segoe UI" pitchFamily="34" charset="0"/>
                <a:ea typeface="Segoe UI" pitchFamily="34" charset="-122"/>
                <a:cs typeface="Segoe UI" pitchFamily="34" charset="-120"/>
              </a:rPr>
              <a:t>Tệp lớn, đang số hóa, </a:t>
            </a:r>
            <a:pPr algn="l" indent="0" marL="0">
              <a:buNone/>
            </a:pPr>
            <a:r>
              <a:rPr lang="en-US" sz="1280" b="1" dirty="0">
                <a:solidFill>
                  <a:srgbClr val="15803D"/>
                </a:solidFill>
                <a:latin typeface="Segoe UI" pitchFamily="34" charset="0"/>
                <a:ea typeface="Segoe UI" pitchFamily="34" charset="-122"/>
                <a:cs typeface="Segoe UI" pitchFamily="34" charset="-120"/>
              </a:rPr>
              <a:t>nhưng phần lớn chưa nhận được thẻ.</a:t>
            </a:r>
            <a:endParaRPr lang="en-US" sz="1280" dirty="0"/>
          </a:p>
        </p:txBody>
      </p:sp>
      <p:pic>
        <p:nvPicPr>
          <p:cNvPr id="43" name="graphic SPAN" descr="SPAN">    </p:cNvPr>
          <p:cNvPicPr>
            <a:picLocks noChangeAspect="1"/>
          </p:cNvPicPr>
          <p:nvPr/>
        </p:nvPicPr>
        <p:blipFill>
          <a:blip r:embed="rId2"/>
          <a:stretch>
            <a:fillRect/>
          </a:stretch>
        </p:blipFill>
        <p:spPr>
          <a:xfrm>
            <a:off x="828675" y="5790605"/>
            <a:ext cx="152400" cy="190500"/>
          </a:xfrm>
          <a:prstGeom prst="rect">
            <a:avLst/>
          </a:prstGeom>
        </p:spPr>
      </p:pic>
      <p:sp>
        <p:nvSpPr>
          <p:cNvPr id="44" name="text source"/>
          <p:cNvSpPr txBox="1"/>
          <p:nvPr/>
        </p:nvSpPr>
        <p:spPr>
          <a:xfrm>
            <a:off x="609600" y="6492581"/>
            <a:ext cx="8933825" cy="151897"/>
          </a:xfrm>
          <a:prstGeom prst="rect">
            <a:avLst/>
          </a:prstGeom>
          <a:noFill/>
          <a:ln/>
        </p:spPr>
        <p:txBody>
          <a:bodyPr wrap="none" lIns="0" tIns="0" rIns="0" bIns="0" rtlCol="0" anchor="ctr"/>
          <a:lstStyle/>
          <a:p>
            <a:pPr algn="l" indent="0" marL="0">
              <a:buNone/>
            </a:pPr>
            <a:r>
              <a:rPr lang="en-US" sz="820" dirty="0">
                <a:solidFill>
                  <a:srgbClr val="94A3B8"/>
                </a:solidFill>
                <a:latin typeface="Segoe UI Semibold" pitchFamily="34" charset="0"/>
                <a:ea typeface="Segoe UI Semibold" pitchFamily="34" charset="-122"/>
                <a:cs typeface="Segoe UI Semibold" pitchFamily="34" charset="-120"/>
              </a:rPr>
              <a:t>Nguồn: Báo Chính phủ (2025); Tổng cục Thuế (8/2024); Bộ Tài chính (5/2026); NHNN (cuối 2024); Visa (2023). 500 nghìn hộ: ước tính VDF, số hộ mỗi điểm là giả định.</a:t>
            </a:r>
            <a:endParaRPr lang="en-US" sz="820" dirty="0"/>
          </a:p>
        </p:txBody>
      </p:sp>
      <p:sp>
        <p:nvSpPr>
          <p:cNvPr id="45" name="mk"/>
          <p:cNvSpPr/>
          <p:nvPr/>
        </p:nvSpPr>
        <p:spPr>
          <a:xfrm>
            <a:off x="10796588" y="6343650"/>
            <a:ext cx="323850" cy="323850"/>
          </a:xfrm>
          <a:prstGeom prst="ellipse">
            <a:avLst/>
          </a:prstGeom>
          <a:solidFill>
            <a:srgbClr val="F0001E"/>
          </a:solidFill>
          <a:ln/>
        </p:spPr>
      </p:sp>
      <p:sp>
        <p:nvSpPr>
          <p:cNvPr id="46" name="Shape 42"/>
          <p:cNvSpPr/>
          <p:nvPr/>
        </p:nvSpPr>
        <p:spPr>
          <a:xfrm>
            <a:off x="10910888" y="6424613"/>
            <a:ext cx="95250" cy="161925"/>
          </a:xfrm>
          <a:prstGeom prst="roundRect">
            <a:avLst>
              <a:gd name="adj" fmla="val 25000"/>
            </a:avLst>
          </a:prstGeom>
          <a:ln w="19050">
            <a:solidFill>
              <a:srgbClr val="FFFFFF"/>
            </a:solidFill>
            <a:prstDash val="solid"/>
          </a:ln>
        </p:spPr>
      </p:sp>
      <p:sp>
        <p:nvSpPr>
          <p:cNvPr id="47"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48"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49" name="text pno"/>
          <p:cNvSpPr txBox="1"/>
          <p:nvPr/>
        </p:nvSpPr>
        <p:spPr>
          <a:xfrm>
            <a:off x="10570220" y="6415194"/>
            <a:ext cx="193030" cy="171238"/>
          </a:xfrm>
          <a:prstGeom prst="rect">
            <a:avLst/>
          </a:prstGeom>
          <a:noFill/>
          <a:ln/>
        </p:spPr>
        <p:txBody>
          <a:bodyPr wrap="none" lIns="0" tIns="0" rIns="0" bIns="0" rtlCol="0" anchor="ctr"/>
          <a:lstStyle/>
          <a:p>
            <a:pPr algn="l" indent="0" marL="0">
              <a:buNone/>
            </a:pPr>
            <a:r>
              <a:rPr lang="en-US" sz="930" b="1" dirty="0">
                <a:solidFill>
                  <a:srgbClr val="CBD5E1"/>
                </a:solidFill>
                <a:latin typeface="Segoe UI" pitchFamily="34" charset="0"/>
                <a:ea typeface="Segoe UI" pitchFamily="34" charset="-122"/>
                <a:cs typeface="Segoe UI" pitchFamily="34" charset="-120"/>
              </a:rPr>
              <a:t>4</a:t>
            </a:r>
            <a:endParaRPr lang="en-US" sz="9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3637264"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BỐI CẢNH VÀ VẤN ĐỀ · KHẢO SÁT 132 MERCHANT</a:t>
            </a:r>
            <a:endParaRPr lang="en-US" sz="1050" dirty="0"/>
          </a:p>
        </p:txBody>
      </p:sp>
      <p:sp>
        <p:nvSpPr>
          <p:cNvPr id="3" name="text title"/>
          <p:cNvSpPr txBox="1"/>
          <p:nvPr/>
        </p:nvSpPr>
        <p:spPr>
          <a:xfrm>
            <a:off x="609600" y="581263"/>
            <a:ext cx="10481114"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Merchant muốn nhận tiền khách quốc tế, </a:t>
            </a:r>
            <a:pPr algn="l" indent="0" marL="0">
              <a:buNone/>
            </a:pPr>
            <a:r>
              <a:rPr lang="en-US" sz="2330" b="1" spc="-30" kern="0" dirty="0">
                <a:solidFill>
                  <a:srgbClr val="E11D48"/>
                </a:solidFill>
                <a:latin typeface="Segoe UI" pitchFamily="34" charset="0"/>
                <a:ea typeface="Segoe UI" pitchFamily="34" charset="-122"/>
                <a:cs typeface="Segoe UI" pitchFamily="34" charset="-120"/>
              </a:rPr>
              <a:t>nhưng phí là rào cản lớn nhất</a:t>
            </a:r>
            <a:endParaRPr lang="en-US" sz="2330" dirty="0"/>
          </a:p>
        </p:txBody>
      </p:sp>
      <p:sp>
        <p:nvSpPr>
          <p:cNvPr id="4" name="card soft"/>
          <p:cNvSpPr/>
          <p:nvPr/>
        </p:nvSpPr>
        <p:spPr>
          <a:xfrm>
            <a:off x="614363" y="1174552"/>
            <a:ext cx="10963275" cy="400199"/>
          </a:xfrm>
          <a:prstGeom prst="roundRect">
            <a:avLst>
              <a:gd name="adj" fmla="val 32131"/>
            </a:avLst>
          </a:prstGeom>
          <a:solidFill>
            <a:srgbClr val="F8FAFC"/>
          </a:solidFill>
          <a:ln w="9525">
            <a:solidFill>
              <a:srgbClr val="E2E8F0"/>
            </a:solidFill>
            <a:prstDash val="solid"/>
          </a:ln>
        </p:spPr>
      </p:sp>
      <p:sp>
        <p:nvSpPr>
          <p:cNvPr id="5" name="text label"/>
          <p:cNvSpPr txBox="1"/>
          <p:nvPr/>
        </p:nvSpPr>
        <p:spPr>
          <a:xfrm>
            <a:off x="809625" y="1292055"/>
            <a:ext cx="1072307" cy="165043"/>
          </a:xfrm>
          <a:prstGeom prst="rect">
            <a:avLst/>
          </a:prstGeom>
          <a:noFill/>
          <a:ln/>
        </p:spPr>
        <p:txBody>
          <a:bodyPr wrap="none" lIns="0" tIns="0" rIns="0" bIns="0" rtlCol="0" anchor="ctr"/>
          <a:lstStyle/>
          <a:p>
            <a:pPr algn="l" indent="0" marL="0">
              <a:buNone/>
            </a:pPr>
            <a:r>
              <a:rPr lang="en-US" sz="900" b="1" spc="40" kern="0" dirty="0">
                <a:solidFill>
                  <a:srgbClr val="64748B"/>
                </a:solidFill>
                <a:latin typeface="Segoe UI" pitchFamily="34" charset="0"/>
                <a:ea typeface="Segoe UI" pitchFamily="34" charset="-122"/>
                <a:cs typeface="Segoe UI" pitchFamily="34" charset="-120"/>
              </a:rPr>
              <a:t>MẪU KHẢO SÁT</a:t>
            </a:r>
            <a:endParaRPr lang="en-US" sz="900" dirty="0"/>
          </a:p>
        </p:txBody>
      </p:sp>
      <p:sp>
        <p:nvSpPr>
          <p:cNvPr id="6" name="text p"/>
          <p:cNvSpPr txBox="1"/>
          <p:nvPr/>
        </p:nvSpPr>
        <p:spPr>
          <a:xfrm>
            <a:off x="1939082" y="1274448"/>
            <a:ext cx="9924544" cy="200257"/>
          </a:xfrm>
          <a:prstGeom prst="rect">
            <a:avLst/>
          </a:prstGeom>
          <a:noFill/>
          <a:ln/>
        </p:spPr>
        <p:txBody>
          <a:bodyPr wrap="none" lIns="0" tIns="0" rIns="0" bIns="0" rtlCol="0" anchor="ctr"/>
          <a:lstStyle/>
          <a:p>
            <a:pPr algn="l" indent="0" marL="0">
              <a:buNone/>
            </a:pPr>
            <a:r>
              <a:rPr lang="en-US" sz="1090" dirty="0">
                <a:solidFill>
                  <a:srgbClr val="334155"/>
                </a:solidFill>
                <a:latin typeface="Segoe UI Semibold" pitchFamily="34" charset="0"/>
                <a:ea typeface="Segoe UI Semibold" pitchFamily="34" charset="-122"/>
                <a:cs typeface="Segoe UI Semibold" pitchFamily="34" charset="-120"/>
              </a:rPr>
              <a:t>132 merchant ở Hà Nội, TP.HCM (7/2026) · </a:t>
            </a:r>
            <a:pPr algn="l" indent="0" marL="0">
              <a:buNone/>
            </a:pPr>
            <a:r>
              <a:rPr lang="en-US" sz="1090" dirty="0">
                <a:solidFill>
                  <a:srgbClr val="0284C7"/>
                </a:solidFill>
                <a:latin typeface="Segoe UI Black" pitchFamily="34" charset="0"/>
                <a:ea typeface="Segoe UI Black" pitchFamily="34" charset="-122"/>
                <a:cs typeface="Segoe UI Black" pitchFamily="34" charset="-120"/>
              </a:rPr>
              <a:t>78%</a:t>
            </a:r>
            <a:pPr algn="l" indent="0" marL="0">
              <a:buNone/>
            </a:pPr>
            <a:r>
              <a:rPr lang="en-US" sz="1090" dirty="0">
                <a:solidFill>
                  <a:srgbClr val="334155"/>
                </a:solidFill>
                <a:latin typeface="Segoe UI Semibold" pitchFamily="34" charset="0"/>
                <a:ea typeface="Segoe UI Semibold" pitchFamily="34" charset="-122"/>
                <a:cs typeface="Segoe UI Semibold" pitchFamily="34" charset="-120"/>
              </a:rPr>
              <a:t> có trên 50% doanh thu từ khách quốc tế · chủ yếu bán lẻ 36%, lưu niệm 30%, nhà hàng 23%</a:t>
            </a:r>
            <a:endParaRPr lang="en-US" sz="1090" dirty="0"/>
          </a:p>
        </p:txBody>
      </p:sp>
      <p:sp>
        <p:nvSpPr>
          <p:cNvPr id="7" name="card ins"/>
          <p:cNvSpPr/>
          <p:nvPr/>
        </p:nvSpPr>
        <p:spPr>
          <a:xfrm>
            <a:off x="614363" y="1717625"/>
            <a:ext cx="3629025" cy="1769418"/>
          </a:xfrm>
          <a:prstGeom prst="roundRect">
            <a:avLst>
              <a:gd name="adj" fmla="val 7267"/>
            </a:avLst>
          </a:prstGeom>
          <a:solidFill>
            <a:srgbClr val="FFFFFF"/>
          </a:solidFill>
          <a:ln w="9525">
            <a:solidFill>
              <a:srgbClr val="E2E8F0"/>
            </a:solidFill>
            <a:prstDash val="solid"/>
          </a:ln>
        </p:spPr>
      </p:sp>
      <p:sp>
        <p:nvSpPr>
          <p:cNvPr id="8" name="pill grey"/>
          <p:cNvSpPr/>
          <p:nvPr/>
        </p:nvSpPr>
        <p:spPr>
          <a:xfrm>
            <a:off x="814388" y="1879550"/>
            <a:ext cx="677466" cy="219075"/>
          </a:xfrm>
          <a:prstGeom prst="roundRect">
            <a:avLst>
              <a:gd name="adj" fmla="val 50000"/>
            </a:avLst>
          </a:prstGeom>
          <a:solidFill>
            <a:srgbClr val="F1F5F9"/>
          </a:solidFill>
          <a:ln w="9525">
            <a:solidFill>
              <a:srgbClr val="E2E8F0"/>
            </a:solidFill>
            <a:prstDash val="solid"/>
          </a:ln>
        </p:spPr>
      </p:sp>
      <p:sp>
        <p:nvSpPr>
          <p:cNvPr id="9" name="text pill grey"/>
          <p:cNvSpPr txBox="1"/>
          <p:nvPr/>
        </p:nvSpPr>
        <p:spPr>
          <a:xfrm>
            <a:off x="923925" y="1909535"/>
            <a:ext cx="572691" cy="159105"/>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Insight 1</a:t>
            </a:r>
            <a:endParaRPr lang="en-US" sz="860" dirty="0"/>
          </a:p>
        </p:txBody>
      </p:sp>
      <p:sp>
        <p:nvSpPr>
          <p:cNvPr id="10" name="text h3"/>
          <p:cNvSpPr txBox="1"/>
          <p:nvPr/>
        </p:nvSpPr>
        <p:spPr>
          <a:xfrm>
            <a:off x="809625" y="2145298"/>
            <a:ext cx="2702391" cy="220980"/>
          </a:xfrm>
          <a:prstGeom prst="rect">
            <a:avLst/>
          </a:prstGeom>
          <a:noFill/>
          <a:ln/>
        </p:spPr>
        <p:txBody>
          <a:bodyPr wrap="none" lIns="0" tIns="0" rIns="0" bIns="0" rtlCol="0" anchor="ctr"/>
          <a:lstStyle/>
          <a:p>
            <a:pPr algn="l" indent="0" marL="0">
              <a:buNone/>
            </a:pPr>
            <a:r>
              <a:rPr lang="en-US" sz="1200" b="1" dirty="0">
                <a:solidFill>
                  <a:srgbClr val="0F172A"/>
                </a:solidFill>
                <a:latin typeface="Segoe UI" pitchFamily="34" charset="0"/>
                <a:ea typeface="Segoe UI" pitchFamily="34" charset="-122"/>
                <a:cs typeface="Segoe UI" pitchFamily="34" charset="-120"/>
              </a:rPr>
              <a:t>Phải chắp vá nhiều cách nhận tiền</a:t>
            </a:r>
            <a:endParaRPr lang="en-US" sz="1200" dirty="0"/>
          </a:p>
        </p:txBody>
      </p:sp>
      <p:sp>
        <p:nvSpPr>
          <p:cNvPr id="11" name="text num md c-ink"/>
          <p:cNvSpPr txBox="1"/>
          <p:nvPr/>
        </p:nvSpPr>
        <p:spPr>
          <a:xfrm>
            <a:off x="809625" y="2562969"/>
            <a:ext cx="907256" cy="414338"/>
          </a:xfrm>
          <a:prstGeom prst="rect">
            <a:avLst/>
          </a:prstGeom>
          <a:noFill/>
          <a:ln/>
        </p:spPr>
        <p:txBody>
          <a:bodyPr wrap="none" lIns="0" tIns="0" rIns="0" bIns="0" rtlCol="0" anchor="ctr"/>
          <a:lstStyle/>
          <a:p>
            <a:pPr algn="l" indent="0" marL="0">
              <a:buNone/>
            </a:pPr>
            <a:r>
              <a:rPr lang="en-US" sz="2250" b="1" spc="-40" kern="0" dirty="0">
                <a:solidFill>
                  <a:srgbClr val="0F172A"/>
                </a:solidFill>
                <a:latin typeface="Segoe UI" pitchFamily="34" charset="0"/>
                <a:ea typeface="Segoe UI" pitchFamily="34" charset="-122"/>
                <a:cs typeface="Segoe UI" pitchFamily="34" charset="-120"/>
              </a:rPr>
              <a:t>100%</a:t>
            </a:r>
            <a:endParaRPr lang="en-US" sz="2250" dirty="0"/>
          </a:p>
        </p:txBody>
      </p:sp>
      <p:sp>
        <p:nvSpPr>
          <p:cNvPr id="12" name="text sl"/>
          <p:cNvSpPr txBox="1"/>
          <p:nvPr/>
        </p:nvSpPr>
        <p:spPr>
          <a:xfrm>
            <a:off x="809625" y="2982397"/>
            <a:ext cx="3276600" cy="346710"/>
          </a:xfrm>
          <a:prstGeom prst="rect">
            <a:avLst/>
          </a:prstGeom>
          <a:noFill/>
          <a:ln/>
        </p:spPr>
        <p:txBody>
          <a:bodyPr wrap="square" lIns="0" tIns="0" rIns="0" bIns="0" rtlCol="0" anchor="ctr"/>
          <a:lstStyle/>
          <a:p>
            <a:pPr algn="l" indent="0" marL="0">
              <a:lnSpc>
                <a:spcPts val="1370"/>
              </a:lnSpc>
              <a:buNone/>
            </a:pPr>
            <a:r>
              <a:rPr lang="en-US" sz="980" dirty="0">
                <a:solidFill>
                  <a:srgbClr val="334155"/>
                </a:solidFill>
                <a:latin typeface="Segoe UI Semibold" pitchFamily="34" charset="0"/>
                <a:ea typeface="Segoe UI Semibold" pitchFamily="34" charset="-122"/>
                <a:cs typeface="Segoe UI Semibold" pitchFamily="34" charset="-120"/>
              </a:rPr>
              <a:t>vẫn giữ tiền mặt dự phòng; 78% dùng song song tiền mặt, QR và POS</a:t>
            </a:r>
            <a:endParaRPr lang="en-US" sz="980" dirty="0"/>
          </a:p>
        </p:txBody>
      </p:sp>
      <p:sp>
        <p:nvSpPr>
          <p:cNvPr id="13" name="card ins rose"/>
          <p:cNvSpPr/>
          <p:nvPr/>
        </p:nvSpPr>
        <p:spPr>
          <a:xfrm>
            <a:off x="4386262" y="1717625"/>
            <a:ext cx="3629025" cy="1769418"/>
          </a:xfrm>
          <a:prstGeom prst="roundRect">
            <a:avLst>
              <a:gd name="adj" fmla="val 7267"/>
            </a:avLst>
          </a:prstGeom>
          <a:solidFill>
            <a:srgbClr val="FFF1F2"/>
          </a:solidFill>
          <a:ln w="9525">
            <a:solidFill>
              <a:srgbClr val="FECDD3"/>
            </a:solidFill>
            <a:prstDash val="solid"/>
          </a:ln>
        </p:spPr>
      </p:sp>
      <p:sp>
        <p:nvSpPr>
          <p:cNvPr id="14" name="pill red"/>
          <p:cNvSpPr/>
          <p:nvPr/>
        </p:nvSpPr>
        <p:spPr>
          <a:xfrm>
            <a:off x="4586287" y="1879550"/>
            <a:ext cx="698897" cy="219075"/>
          </a:xfrm>
          <a:prstGeom prst="roundRect">
            <a:avLst>
              <a:gd name="adj" fmla="val 50000"/>
            </a:avLst>
          </a:prstGeom>
          <a:solidFill>
            <a:srgbClr val="FFE4E6"/>
          </a:solidFill>
          <a:ln w="9525">
            <a:solidFill>
              <a:srgbClr val="FECDD3"/>
            </a:solidFill>
            <a:prstDash val="solid"/>
          </a:ln>
        </p:spPr>
      </p:sp>
      <p:sp>
        <p:nvSpPr>
          <p:cNvPr id="15" name="text pill red"/>
          <p:cNvSpPr txBox="1"/>
          <p:nvPr/>
        </p:nvSpPr>
        <p:spPr>
          <a:xfrm>
            <a:off x="4695825" y="1909271"/>
            <a:ext cx="594122" cy="159634"/>
          </a:xfrm>
          <a:prstGeom prst="rect">
            <a:avLst/>
          </a:prstGeom>
          <a:noFill/>
          <a:ln/>
        </p:spPr>
        <p:txBody>
          <a:bodyPr wrap="none" lIns="0" tIns="0" rIns="0" bIns="0" rtlCol="0" anchor="ctr"/>
          <a:lstStyle/>
          <a:p>
            <a:pPr algn="l" indent="0" marL="0">
              <a:buNone/>
            </a:pPr>
            <a:r>
              <a:rPr lang="en-US" sz="870" b="1" spc="10" kern="0" dirty="0">
                <a:solidFill>
                  <a:srgbClr val="E11D48"/>
                </a:solidFill>
                <a:latin typeface="Segoe UI" pitchFamily="34" charset="0"/>
                <a:ea typeface="Segoe UI" pitchFamily="34" charset="-122"/>
                <a:cs typeface="Segoe UI" pitchFamily="34" charset="-120"/>
              </a:rPr>
              <a:t>Insight 2</a:t>
            </a:r>
            <a:endParaRPr lang="en-US" sz="870" dirty="0"/>
          </a:p>
        </p:txBody>
      </p:sp>
      <p:sp>
        <p:nvSpPr>
          <p:cNvPr id="16" name="text h3"/>
          <p:cNvSpPr txBox="1"/>
          <p:nvPr/>
        </p:nvSpPr>
        <p:spPr>
          <a:xfrm>
            <a:off x="4581525" y="2145298"/>
            <a:ext cx="1751112" cy="220980"/>
          </a:xfrm>
          <a:prstGeom prst="rect">
            <a:avLst/>
          </a:prstGeom>
          <a:noFill/>
          <a:ln/>
        </p:spPr>
        <p:txBody>
          <a:bodyPr wrap="none" lIns="0" tIns="0" rIns="0" bIns="0" rtlCol="0" anchor="ctr"/>
          <a:lstStyle/>
          <a:p>
            <a:pPr algn="l" indent="0" marL="0">
              <a:buNone/>
            </a:pPr>
            <a:r>
              <a:rPr lang="en-US" sz="1200" b="1" dirty="0">
                <a:solidFill>
                  <a:srgbClr val="0F172A"/>
                </a:solidFill>
                <a:latin typeface="Segoe UI" pitchFamily="34" charset="0"/>
                <a:ea typeface="Segoe UI" pitchFamily="34" charset="-122"/>
                <a:cs typeface="Segoe UI" pitchFamily="34" charset="-120"/>
              </a:rPr>
              <a:t>Phí là rào cản lớn nhất</a:t>
            </a:r>
            <a:endParaRPr lang="en-US" sz="1200" dirty="0"/>
          </a:p>
        </p:txBody>
      </p:sp>
      <p:sp>
        <p:nvSpPr>
          <p:cNvPr id="17" name="text num md c-red"/>
          <p:cNvSpPr txBox="1"/>
          <p:nvPr/>
        </p:nvSpPr>
        <p:spPr>
          <a:xfrm>
            <a:off x="4581525" y="2562969"/>
            <a:ext cx="1041499" cy="414338"/>
          </a:xfrm>
          <a:prstGeom prst="rect">
            <a:avLst/>
          </a:prstGeom>
          <a:noFill/>
          <a:ln/>
        </p:spPr>
        <p:txBody>
          <a:bodyPr wrap="none" lIns="0" tIns="0" rIns="0" bIns="0" rtlCol="0" anchor="ctr"/>
          <a:lstStyle/>
          <a:p>
            <a:pPr algn="l" indent="0" marL="0">
              <a:buNone/>
            </a:pPr>
            <a:r>
              <a:rPr lang="en-US" sz="2250" b="1" spc="-40" kern="0" dirty="0">
                <a:solidFill>
                  <a:srgbClr val="E11D48"/>
                </a:solidFill>
                <a:latin typeface="Segoe UI" pitchFamily="34" charset="0"/>
                <a:ea typeface="Segoe UI" pitchFamily="34" charset="-122"/>
                <a:cs typeface="Segoe UI" pitchFamily="34" charset="-120"/>
              </a:rPr>
              <a:t>48,5%</a:t>
            </a:r>
            <a:endParaRPr lang="en-US" sz="2250" dirty="0"/>
          </a:p>
        </p:txBody>
      </p:sp>
      <p:sp>
        <p:nvSpPr>
          <p:cNvPr id="18" name="text sl"/>
          <p:cNvSpPr txBox="1"/>
          <p:nvPr/>
        </p:nvSpPr>
        <p:spPr>
          <a:xfrm>
            <a:off x="4581525" y="2982397"/>
            <a:ext cx="3276600" cy="346710"/>
          </a:xfrm>
          <a:prstGeom prst="rect">
            <a:avLst/>
          </a:prstGeom>
          <a:noFill/>
          <a:ln/>
        </p:spPr>
        <p:txBody>
          <a:bodyPr wrap="square" lIns="0" tIns="0" rIns="0" bIns="0" rtlCol="0" anchor="ctr"/>
          <a:lstStyle/>
          <a:p>
            <a:pPr algn="l" indent="0" marL="0">
              <a:lnSpc>
                <a:spcPts val="1370"/>
              </a:lnSpc>
              <a:buNone/>
            </a:pPr>
            <a:r>
              <a:rPr lang="en-US" sz="980" dirty="0">
                <a:solidFill>
                  <a:srgbClr val="334155"/>
                </a:solidFill>
                <a:latin typeface="Segoe UI Semibold" pitchFamily="34" charset="0"/>
                <a:ea typeface="Segoe UI Semibold" pitchFamily="34" charset="-122"/>
                <a:cs typeface="Segoe UI Semibold" pitchFamily="34" charset="-120"/>
              </a:rPr>
              <a:t>bức xúc vì phí POS thẻ quốc tế 3–5%, phải thu phụ phí của khách; 50,8% ngại chi phí thiết bị, thủ tục lắp POS</a:t>
            </a:r>
            <a:endParaRPr lang="en-US" sz="980" dirty="0"/>
          </a:p>
        </p:txBody>
      </p:sp>
      <p:sp>
        <p:nvSpPr>
          <p:cNvPr id="19" name="card ins"/>
          <p:cNvSpPr/>
          <p:nvPr/>
        </p:nvSpPr>
        <p:spPr>
          <a:xfrm>
            <a:off x="614363" y="3629918"/>
            <a:ext cx="3629025" cy="1942654"/>
          </a:xfrm>
          <a:prstGeom prst="roundRect">
            <a:avLst>
              <a:gd name="adj" fmla="val 6619"/>
            </a:avLst>
          </a:prstGeom>
          <a:solidFill>
            <a:srgbClr val="FFFFFF"/>
          </a:solidFill>
          <a:ln w="9525">
            <a:solidFill>
              <a:srgbClr val="E2E8F0"/>
            </a:solidFill>
            <a:prstDash val="solid"/>
          </a:ln>
        </p:spPr>
      </p:sp>
      <p:sp>
        <p:nvSpPr>
          <p:cNvPr id="20" name="pill grey"/>
          <p:cNvSpPr/>
          <p:nvPr/>
        </p:nvSpPr>
        <p:spPr>
          <a:xfrm>
            <a:off x="814388" y="3791843"/>
            <a:ext cx="700980" cy="219075"/>
          </a:xfrm>
          <a:prstGeom prst="roundRect">
            <a:avLst>
              <a:gd name="adj" fmla="val 50000"/>
            </a:avLst>
          </a:prstGeom>
          <a:solidFill>
            <a:srgbClr val="F1F5F9"/>
          </a:solidFill>
          <a:ln w="9525">
            <a:solidFill>
              <a:srgbClr val="E2E8F0"/>
            </a:solidFill>
            <a:prstDash val="solid"/>
          </a:ln>
        </p:spPr>
      </p:sp>
      <p:sp>
        <p:nvSpPr>
          <p:cNvPr id="21" name="text pill grey"/>
          <p:cNvSpPr txBox="1"/>
          <p:nvPr/>
        </p:nvSpPr>
        <p:spPr>
          <a:xfrm>
            <a:off x="923925" y="3822396"/>
            <a:ext cx="596205" cy="157969"/>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Insight 3</a:t>
            </a:r>
            <a:endParaRPr lang="en-US" sz="860" dirty="0"/>
          </a:p>
        </p:txBody>
      </p:sp>
      <p:sp>
        <p:nvSpPr>
          <p:cNvPr id="22" name="text h3"/>
          <p:cNvSpPr txBox="1"/>
          <p:nvPr/>
        </p:nvSpPr>
        <p:spPr>
          <a:xfrm>
            <a:off x="809625" y="4057590"/>
            <a:ext cx="1836986" cy="220980"/>
          </a:xfrm>
          <a:prstGeom prst="rect">
            <a:avLst/>
          </a:prstGeom>
          <a:noFill/>
          <a:ln/>
        </p:spPr>
        <p:txBody>
          <a:bodyPr wrap="none" lIns="0" tIns="0" rIns="0" bIns="0" rtlCol="0" anchor="ctr"/>
          <a:lstStyle/>
          <a:p>
            <a:pPr algn="l" indent="0" marL="0">
              <a:buNone/>
            </a:pPr>
            <a:r>
              <a:rPr lang="en-US" sz="1200" b="1" dirty="0">
                <a:solidFill>
                  <a:srgbClr val="0F172A"/>
                </a:solidFill>
                <a:latin typeface="Segoe UI" pitchFamily="34" charset="0"/>
                <a:ea typeface="Segoe UI" pitchFamily="34" charset="-122"/>
                <a:cs typeface="Segoe UI" pitchFamily="34" charset="-120"/>
              </a:rPr>
              <a:t>Mất doanh thu tại quầy</a:t>
            </a:r>
            <a:endParaRPr lang="en-US" sz="1200" dirty="0"/>
          </a:p>
        </p:txBody>
      </p:sp>
      <p:sp>
        <p:nvSpPr>
          <p:cNvPr id="23" name="text num md c-orange"/>
          <p:cNvSpPr txBox="1"/>
          <p:nvPr/>
        </p:nvSpPr>
        <p:spPr>
          <a:xfrm>
            <a:off x="809625" y="4475262"/>
            <a:ext cx="990600" cy="414338"/>
          </a:xfrm>
          <a:prstGeom prst="rect">
            <a:avLst/>
          </a:prstGeom>
          <a:noFill/>
          <a:ln/>
        </p:spPr>
        <p:txBody>
          <a:bodyPr wrap="none" lIns="0" tIns="0" rIns="0" bIns="0" rtlCol="0" anchor="ctr"/>
          <a:lstStyle/>
          <a:p>
            <a:pPr algn="l" indent="0" marL="0">
              <a:buNone/>
            </a:pPr>
            <a:r>
              <a:rPr lang="en-US" sz="2250" b="1" spc="-40" kern="0" dirty="0">
                <a:solidFill>
                  <a:srgbClr val="D97706"/>
                </a:solidFill>
                <a:latin typeface="Segoe UI" pitchFamily="34" charset="0"/>
                <a:ea typeface="Segoe UI" pitchFamily="34" charset="-122"/>
                <a:cs typeface="Segoe UI" pitchFamily="34" charset="-120"/>
              </a:rPr>
              <a:t>14,4%</a:t>
            </a:r>
            <a:endParaRPr lang="en-US" sz="2250" dirty="0"/>
          </a:p>
        </p:txBody>
      </p:sp>
      <p:sp>
        <p:nvSpPr>
          <p:cNvPr id="24" name="text sl"/>
          <p:cNvSpPr txBox="1"/>
          <p:nvPr/>
        </p:nvSpPr>
        <p:spPr>
          <a:xfrm>
            <a:off x="809625" y="4894630"/>
            <a:ext cx="3276600" cy="520065"/>
          </a:xfrm>
          <a:prstGeom prst="rect">
            <a:avLst/>
          </a:prstGeom>
          <a:noFill/>
          <a:ln/>
        </p:spPr>
        <p:txBody>
          <a:bodyPr wrap="square" lIns="0" tIns="0" rIns="0" bIns="0" rtlCol="0" anchor="ctr"/>
          <a:lstStyle/>
          <a:p>
            <a:pPr algn="l" indent="0" marL="0">
              <a:lnSpc>
                <a:spcPts val="1370"/>
              </a:lnSpc>
              <a:buNone/>
            </a:pPr>
            <a:r>
              <a:rPr lang="en-US" sz="980" dirty="0">
                <a:solidFill>
                  <a:srgbClr val="334155"/>
                </a:solidFill>
                <a:latin typeface="Segoe UI Semibold" pitchFamily="34" charset="0"/>
                <a:ea typeface="Segoe UI Semibold" pitchFamily="34" charset="-122"/>
                <a:cs typeface="Segoe UI Semibold" pitchFamily="34" charset="-120"/>
              </a:rPr>
              <a:t>bị hủy đơn vì khách không có tiền mặt VND hoặc thiếu tiền lẻ; 9,1% không nhận được Apple Pay, Google Pay, ví nước ngoài</a:t>
            </a:r>
            <a:endParaRPr lang="en-US" sz="980" dirty="0"/>
          </a:p>
        </p:txBody>
      </p:sp>
      <p:sp>
        <p:nvSpPr>
          <p:cNvPr id="25" name="card ins"/>
          <p:cNvSpPr/>
          <p:nvPr/>
        </p:nvSpPr>
        <p:spPr>
          <a:xfrm>
            <a:off x="4386262" y="3629918"/>
            <a:ext cx="3629025" cy="1942654"/>
          </a:xfrm>
          <a:prstGeom prst="roundRect">
            <a:avLst>
              <a:gd name="adj" fmla="val 6619"/>
            </a:avLst>
          </a:prstGeom>
          <a:solidFill>
            <a:srgbClr val="FFFFFF"/>
          </a:solidFill>
          <a:ln w="9525">
            <a:solidFill>
              <a:srgbClr val="E2E8F0"/>
            </a:solidFill>
            <a:prstDash val="solid"/>
          </a:ln>
        </p:spPr>
      </p:sp>
      <p:sp>
        <p:nvSpPr>
          <p:cNvPr id="26" name="pill grey"/>
          <p:cNvSpPr/>
          <p:nvPr/>
        </p:nvSpPr>
        <p:spPr>
          <a:xfrm>
            <a:off x="4586287" y="3791843"/>
            <a:ext cx="704552" cy="219075"/>
          </a:xfrm>
          <a:prstGeom prst="roundRect">
            <a:avLst>
              <a:gd name="adj" fmla="val 50000"/>
            </a:avLst>
          </a:prstGeom>
          <a:solidFill>
            <a:srgbClr val="F1F5F9"/>
          </a:solidFill>
          <a:ln w="9525">
            <a:solidFill>
              <a:srgbClr val="E2E8F0"/>
            </a:solidFill>
            <a:prstDash val="solid"/>
          </a:ln>
        </p:spPr>
      </p:sp>
      <p:sp>
        <p:nvSpPr>
          <p:cNvPr id="27" name="text pill grey"/>
          <p:cNvSpPr txBox="1"/>
          <p:nvPr/>
        </p:nvSpPr>
        <p:spPr>
          <a:xfrm>
            <a:off x="4695825" y="3821999"/>
            <a:ext cx="599777" cy="158763"/>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Insight 4</a:t>
            </a:r>
            <a:endParaRPr lang="en-US" sz="860" dirty="0"/>
          </a:p>
        </p:txBody>
      </p:sp>
      <p:sp>
        <p:nvSpPr>
          <p:cNvPr id="28" name="text h3"/>
          <p:cNvSpPr txBox="1"/>
          <p:nvPr/>
        </p:nvSpPr>
        <p:spPr>
          <a:xfrm>
            <a:off x="4581525" y="4057590"/>
            <a:ext cx="2526491" cy="220980"/>
          </a:xfrm>
          <a:prstGeom prst="rect">
            <a:avLst/>
          </a:prstGeom>
          <a:noFill/>
          <a:ln/>
        </p:spPr>
        <p:txBody>
          <a:bodyPr wrap="none" lIns="0" tIns="0" rIns="0" bIns="0" rtlCol="0" anchor="ctr"/>
          <a:lstStyle/>
          <a:p>
            <a:pPr algn="l" indent="0" marL="0">
              <a:buNone/>
            </a:pPr>
            <a:r>
              <a:rPr lang="en-US" sz="1200" b="1" dirty="0">
                <a:solidFill>
                  <a:srgbClr val="0F172A"/>
                </a:solidFill>
                <a:latin typeface="Segoe UI" pitchFamily="34" charset="0"/>
                <a:ea typeface="Segoe UI" pitchFamily="34" charset="-122"/>
                <a:cs typeface="Segoe UI" pitchFamily="34" charset="-120"/>
              </a:rPr>
              <a:t>Cần niềm tin: đối soát, chứng từ</a:t>
            </a:r>
            <a:endParaRPr lang="en-US" sz="1200" dirty="0"/>
          </a:p>
        </p:txBody>
      </p:sp>
      <p:sp>
        <p:nvSpPr>
          <p:cNvPr id="29" name="text num md c-blue"/>
          <p:cNvSpPr txBox="1"/>
          <p:nvPr/>
        </p:nvSpPr>
        <p:spPr>
          <a:xfrm>
            <a:off x="4581525" y="4475262"/>
            <a:ext cx="1023937" cy="414338"/>
          </a:xfrm>
          <a:prstGeom prst="rect">
            <a:avLst/>
          </a:prstGeom>
          <a:noFill/>
          <a:ln/>
        </p:spPr>
        <p:txBody>
          <a:bodyPr wrap="none" lIns="0" tIns="0" rIns="0" bIns="0" rtlCol="0" anchor="ctr"/>
          <a:lstStyle/>
          <a:p>
            <a:pPr algn="l" indent="0" marL="0">
              <a:buNone/>
            </a:pPr>
            <a:r>
              <a:rPr lang="en-US" sz="2250" b="1" spc="-40" kern="0" dirty="0">
                <a:solidFill>
                  <a:srgbClr val="0284C7"/>
                </a:solidFill>
                <a:latin typeface="Segoe UI" pitchFamily="34" charset="0"/>
                <a:ea typeface="Segoe UI" pitchFamily="34" charset="-122"/>
                <a:cs typeface="Segoe UI" pitchFamily="34" charset="-120"/>
              </a:rPr>
              <a:t>26,5%</a:t>
            </a:r>
            <a:endParaRPr lang="en-US" sz="2250" dirty="0"/>
          </a:p>
        </p:txBody>
      </p:sp>
      <p:sp>
        <p:nvSpPr>
          <p:cNvPr id="30" name="text sl"/>
          <p:cNvSpPr txBox="1"/>
          <p:nvPr/>
        </p:nvSpPr>
        <p:spPr>
          <a:xfrm>
            <a:off x="4581525" y="4894689"/>
            <a:ext cx="3276600" cy="346710"/>
          </a:xfrm>
          <a:prstGeom prst="rect">
            <a:avLst/>
          </a:prstGeom>
          <a:noFill/>
          <a:ln/>
        </p:spPr>
        <p:txBody>
          <a:bodyPr wrap="square" lIns="0" tIns="0" rIns="0" bIns="0" rtlCol="0" anchor="ctr"/>
          <a:lstStyle/>
          <a:p>
            <a:pPr algn="l" indent="0" marL="0">
              <a:lnSpc>
                <a:spcPts val="1370"/>
              </a:lnSpc>
              <a:buNone/>
            </a:pPr>
            <a:r>
              <a:rPr lang="en-US" sz="980" dirty="0">
                <a:solidFill>
                  <a:srgbClr val="334155"/>
                </a:solidFill>
                <a:latin typeface="Segoe UI Semibold" pitchFamily="34" charset="0"/>
                <a:ea typeface="Segoe UI Semibold" pitchFamily="34" charset="-122"/>
                <a:cs typeface="Segoe UI Semibold" pitchFamily="34" charset="-120"/>
              </a:rPr>
              <a:t>cần đối soát minh bạch, nhận tiền nhanh, có hóa đơn hoặc bằng chứng giao dịch để xử lý gian lận, khiếu nại</a:t>
            </a:r>
            <a:endParaRPr lang="en-US" sz="980" dirty="0"/>
          </a:p>
        </p:txBody>
      </p:sp>
      <p:sp>
        <p:nvSpPr>
          <p:cNvPr id="31" name="card"/>
          <p:cNvSpPr/>
          <p:nvPr/>
        </p:nvSpPr>
        <p:spPr>
          <a:xfrm>
            <a:off x="8158163" y="1717625"/>
            <a:ext cx="3419475" cy="3762821"/>
          </a:xfrm>
          <a:prstGeom prst="roundRect">
            <a:avLst>
              <a:gd name="adj" fmla="val 3760"/>
            </a:avLst>
          </a:prstGeom>
          <a:solidFill>
            <a:srgbClr val="FFFFFF"/>
          </a:solidFill>
          <a:ln w="9525">
            <a:solidFill>
              <a:srgbClr val="E2E8F0"/>
            </a:solidFill>
            <a:prstDash val="solid"/>
          </a:ln>
        </p:spPr>
      </p:sp>
      <p:sp>
        <p:nvSpPr>
          <p:cNvPr id="32" name="text label"/>
          <p:cNvSpPr txBox="1"/>
          <p:nvPr/>
        </p:nvSpPr>
        <p:spPr>
          <a:xfrm>
            <a:off x="8353425" y="1863358"/>
            <a:ext cx="2083350" cy="165735"/>
          </a:xfrm>
          <a:prstGeom prst="rect">
            <a:avLst/>
          </a:prstGeom>
          <a:noFill/>
          <a:ln/>
        </p:spPr>
        <p:txBody>
          <a:bodyPr wrap="none" lIns="0" tIns="0" rIns="0" bIns="0" rtlCol="0" anchor="ctr"/>
          <a:lstStyle/>
          <a:p>
            <a:pPr algn="l" indent="0" marL="0">
              <a:buNone/>
            </a:pPr>
            <a:r>
              <a:rPr lang="en-US" sz="900" b="1" spc="40" kern="0" dirty="0">
                <a:solidFill>
                  <a:srgbClr val="64748B"/>
                </a:solidFill>
                <a:latin typeface="Segoe UI" pitchFamily="34" charset="0"/>
                <a:ea typeface="Segoe UI" pitchFamily="34" charset="-122"/>
                <a:cs typeface="Segoe UI" pitchFamily="34" charset="-120"/>
              </a:rPr>
              <a:t>SẴN SÀNG DÙNG GIẢI PHÁP MỚI</a:t>
            </a:r>
            <a:endParaRPr lang="en-US" sz="900" dirty="0"/>
          </a:p>
        </p:txBody>
      </p:sp>
      <p:sp>
        <p:nvSpPr>
          <p:cNvPr id="33" name="text span"/>
          <p:cNvSpPr txBox="1"/>
          <p:nvPr/>
        </p:nvSpPr>
        <p:spPr>
          <a:xfrm>
            <a:off x="8353425" y="2176849"/>
            <a:ext cx="691753" cy="186452"/>
          </a:xfrm>
          <a:prstGeom prst="rect">
            <a:avLst/>
          </a:prstGeom>
          <a:noFill/>
          <a:ln/>
        </p:spPr>
        <p:txBody>
          <a:bodyPr wrap="none" lIns="0" tIns="0" rIns="0" bIns="0" rtlCol="0" anchor="ctr"/>
          <a:lstStyle/>
          <a:p>
            <a:pPr algn="l" indent="0" marL="0">
              <a:buNone/>
            </a:pPr>
            <a:r>
              <a:rPr lang="en-US" sz="1010" b="1" dirty="0">
                <a:solidFill>
                  <a:srgbClr val="334155"/>
                </a:solidFill>
                <a:latin typeface="Segoe UI" pitchFamily="34" charset="0"/>
                <a:ea typeface="Segoe UI" pitchFamily="34" charset="-122"/>
                <a:cs typeface="Segoe UI" pitchFamily="34" charset="-120"/>
              </a:rPr>
              <a:t>Sẵn sàng</a:t>
            </a:r>
            <a:endParaRPr lang="en-US" sz="1010" dirty="0"/>
          </a:p>
        </p:txBody>
      </p:sp>
      <p:sp>
        <p:nvSpPr>
          <p:cNvPr id="34" name="bar"/>
          <p:cNvSpPr/>
          <p:nvPr/>
        </p:nvSpPr>
        <p:spPr>
          <a:xfrm>
            <a:off x="9839325" y="2212925"/>
            <a:ext cx="952500" cy="114300"/>
          </a:xfrm>
          <a:prstGeom prst="roundRect">
            <a:avLst>
              <a:gd name="adj" fmla="val 50000"/>
            </a:avLst>
          </a:prstGeom>
          <a:solidFill>
            <a:srgbClr val="F1F5F9"/>
          </a:solidFill>
          <a:ln/>
        </p:spPr>
      </p:sp>
      <p:sp>
        <p:nvSpPr>
          <p:cNvPr id="35" name="Shape 33"/>
          <p:cNvSpPr/>
          <p:nvPr/>
        </p:nvSpPr>
        <p:spPr>
          <a:xfrm>
            <a:off x="9839325" y="2212925"/>
            <a:ext cx="552450" cy="114300"/>
          </a:xfrm>
          <a:prstGeom prst="roundRect">
            <a:avLst>
              <a:gd name="adj" fmla="val 50000"/>
            </a:avLst>
          </a:prstGeom>
          <a:solidFill>
            <a:srgbClr val="16A34A"/>
          </a:solidFill>
          <a:ln/>
        </p:spPr>
      </p:sp>
      <p:sp>
        <p:nvSpPr>
          <p:cNvPr id="36" name="text b"/>
          <p:cNvSpPr txBox="1"/>
          <p:nvPr/>
        </p:nvSpPr>
        <p:spPr>
          <a:xfrm>
            <a:off x="10929491" y="2166491"/>
            <a:ext cx="452884" cy="207169"/>
          </a:xfrm>
          <a:prstGeom prst="rect">
            <a:avLst/>
          </a:prstGeom>
          <a:noFill/>
          <a:ln/>
        </p:spPr>
        <p:txBody>
          <a:bodyPr wrap="none" lIns="0" tIns="0" rIns="0" bIns="0" rtlCol="0" anchor="ctr"/>
          <a:lstStyle/>
          <a:p>
            <a:pPr algn="r" indent="0" marL="0">
              <a:buNone/>
            </a:pPr>
            <a:r>
              <a:rPr lang="en-US" sz="1130" dirty="0">
                <a:solidFill>
                  <a:srgbClr val="16A34A"/>
                </a:solidFill>
                <a:latin typeface="Segoe UI Black" pitchFamily="34" charset="0"/>
                <a:ea typeface="Segoe UI Black" pitchFamily="34" charset="-122"/>
                <a:cs typeface="Segoe UI Black" pitchFamily="34" charset="-120"/>
              </a:rPr>
              <a:t>58%</a:t>
            </a:r>
            <a:endParaRPr lang="en-US" sz="1130" dirty="0"/>
          </a:p>
        </p:txBody>
      </p:sp>
      <p:sp>
        <p:nvSpPr>
          <p:cNvPr id="37" name="brk-border"/>
          <p:cNvSpPr/>
          <p:nvPr/>
        </p:nvSpPr>
        <p:spPr>
          <a:xfrm>
            <a:off x="8353425" y="2427238"/>
            <a:ext cx="3028950" cy="9525"/>
          </a:xfrm>
          <a:prstGeom prst="rect">
            <a:avLst/>
          </a:prstGeom>
          <a:solidFill>
            <a:srgbClr val="E2E8F0"/>
          </a:solidFill>
          <a:ln/>
        </p:spPr>
      </p:sp>
      <p:sp>
        <p:nvSpPr>
          <p:cNvPr id="38" name="text span"/>
          <p:cNvSpPr txBox="1"/>
          <p:nvPr/>
        </p:nvSpPr>
        <p:spPr>
          <a:xfrm>
            <a:off x="8353425" y="2500699"/>
            <a:ext cx="1371005" cy="186452"/>
          </a:xfrm>
          <a:prstGeom prst="rect">
            <a:avLst/>
          </a:prstGeom>
          <a:noFill/>
          <a:ln/>
        </p:spPr>
        <p:txBody>
          <a:bodyPr wrap="none" lIns="0" tIns="0" rIns="0" bIns="0" rtlCol="0" anchor="ctr"/>
          <a:lstStyle/>
          <a:p>
            <a:pPr algn="l" indent="0" marL="0">
              <a:buNone/>
            </a:pPr>
            <a:r>
              <a:rPr lang="en-US" sz="1010" b="1" dirty="0">
                <a:solidFill>
                  <a:srgbClr val="334155"/>
                </a:solidFill>
                <a:latin typeface="Segoe UI" pitchFamily="34" charset="0"/>
                <a:ea typeface="Segoe UI" pitchFamily="34" charset="-122"/>
                <a:cs typeface="Segoe UI" pitchFamily="34" charset="-120"/>
              </a:rPr>
              <a:t>Có xu hướng từ chối</a:t>
            </a:r>
            <a:endParaRPr lang="en-US" sz="1010" dirty="0"/>
          </a:p>
        </p:txBody>
      </p:sp>
      <p:sp>
        <p:nvSpPr>
          <p:cNvPr id="39" name="bar"/>
          <p:cNvSpPr/>
          <p:nvPr/>
        </p:nvSpPr>
        <p:spPr>
          <a:xfrm>
            <a:off x="9839325" y="2536775"/>
            <a:ext cx="952500" cy="114300"/>
          </a:xfrm>
          <a:prstGeom prst="roundRect">
            <a:avLst>
              <a:gd name="adj" fmla="val 50000"/>
            </a:avLst>
          </a:prstGeom>
          <a:solidFill>
            <a:srgbClr val="F1F5F9"/>
          </a:solidFill>
          <a:ln/>
        </p:spPr>
      </p:sp>
      <p:sp>
        <p:nvSpPr>
          <p:cNvPr id="40" name="Shape 38"/>
          <p:cNvSpPr/>
          <p:nvPr/>
        </p:nvSpPr>
        <p:spPr>
          <a:xfrm>
            <a:off x="9839325" y="2536775"/>
            <a:ext cx="209550" cy="114300"/>
          </a:xfrm>
          <a:prstGeom prst="roundRect">
            <a:avLst>
              <a:gd name="adj" fmla="val 50000"/>
            </a:avLst>
          </a:prstGeom>
          <a:solidFill>
            <a:srgbClr val="94A3B8"/>
          </a:solidFill>
          <a:ln/>
        </p:spPr>
      </p:sp>
      <p:sp>
        <p:nvSpPr>
          <p:cNvPr id="41" name="text b"/>
          <p:cNvSpPr txBox="1"/>
          <p:nvPr/>
        </p:nvSpPr>
        <p:spPr>
          <a:xfrm>
            <a:off x="10934105" y="2490341"/>
            <a:ext cx="448270" cy="207169"/>
          </a:xfrm>
          <a:prstGeom prst="rect">
            <a:avLst/>
          </a:prstGeom>
          <a:noFill/>
          <a:ln/>
        </p:spPr>
        <p:txBody>
          <a:bodyPr wrap="none" lIns="0" tIns="0" rIns="0" bIns="0" rtlCol="0" anchor="ctr"/>
          <a:lstStyle/>
          <a:p>
            <a:pPr algn="r" indent="0" marL="0">
              <a:buNone/>
            </a:pPr>
            <a:r>
              <a:rPr lang="en-US" sz="1130" dirty="0">
                <a:solidFill>
                  <a:srgbClr val="94A3B8"/>
                </a:solidFill>
                <a:latin typeface="Segoe UI Black" pitchFamily="34" charset="0"/>
                <a:ea typeface="Segoe UI Black" pitchFamily="34" charset="-122"/>
                <a:cs typeface="Segoe UI Black" pitchFamily="34" charset="-120"/>
              </a:rPr>
              <a:t>22%</a:t>
            </a:r>
            <a:endParaRPr lang="en-US" sz="1130" dirty="0"/>
          </a:p>
        </p:txBody>
      </p:sp>
      <p:sp>
        <p:nvSpPr>
          <p:cNvPr id="42" name="text label mt14"/>
          <p:cNvSpPr txBox="1"/>
          <p:nvPr/>
        </p:nvSpPr>
        <p:spPr>
          <a:xfrm>
            <a:off x="8353425" y="2873008"/>
            <a:ext cx="1615529" cy="165735"/>
          </a:xfrm>
          <a:prstGeom prst="rect">
            <a:avLst/>
          </a:prstGeom>
          <a:noFill/>
          <a:ln/>
        </p:spPr>
        <p:txBody>
          <a:bodyPr wrap="none" lIns="0" tIns="0" rIns="0" bIns="0" rtlCol="0" anchor="ctr"/>
          <a:lstStyle/>
          <a:p>
            <a:pPr algn="l" indent="0" marL="0">
              <a:buNone/>
            </a:pPr>
            <a:r>
              <a:rPr lang="en-US" sz="900" b="1" spc="40" kern="0" dirty="0">
                <a:solidFill>
                  <a:srgbClr val="64748B"/>
                </a:solidFill>
                <a:latin typeface="Segoe UI" pitchFamily="34" charset="0"/>
                <a:ea typeface="Segoe UI" pitchFamily="34" charset="-122"/>
                <a:cs typeface="Segoe UI" pitchFamily="34" charset="-120"/>
              </a:rPr>
              <a:t>THEO MỨC PHÍ KỲ VỌNG</a:t>
            </a:r>
            <a:endParaRPr lang="en-US" sz="900" dirty="0"/>
          </a:p>
        </p:txBody>
      </p:sp>
      <p:sp>
        <p:nvSpPr>
          <p:cNvPr id="43" name="text span"/>
          <p:cNvSpPr txBox="1"/>
          <p:nvPr/>
        </p:nvSpPr>
        <p:spPr>
          <a:xfrm>
            <a:off x="8353425" y="3148399"/>
            <a:ext cx="674340" cy="186452"/>
          </a:xfrm>
          <a:prstGeom prst="rect">
            <a:avLst/>
          </a:prstGeom>
          <a:noFill/>
          <a:ln/>
        </p:spPr>
        <p:txBody>
          <a:bodyPr wrap="none" lIns="0" tIns="0" rIns="0" bIns="0" rtlCol="0" anchor="ctr"/>
          <a:lstStyle/>
          <a:p>
            <a:pPr algn="l" indent="0" marL="0">
              <a:buNone/>
            </a:pPr>
            <a:r>
              <a:rPr lang="en-US" sz="1010" b="1" dirty="0">
                <a:solidFill>
                  <a:srgbClr val="334155"/>
                </a:solidFill>
                <a:latin typeface="Segoe UI" pitchFamily="34" charset="0"/>
                <a:ea typeface="Segoe UI" pitchFamily="34" charset="-122"/>
                <a:cs typeface="Segoe UI" pitchFamily="34" charset="-120"/>
              </a:rPr>
              <a:t>Phí 1–2%</a:t>
            </a:r>
            <a:endParaRPr lang="en-US" sz="1010" dirty="0"/>
          </a:p>
        </p:txBody>
      </p:sp>
      <p:sp>
        <p:nvSpPr>
          <p:cNvPr id="44" name="bar"/>
          <p:cNvSpPr/>
          <p:nvPr/>
        </p:nvSpPr>
        <p:spPr>
          <a:xfrm>
            <a:off x="9839325" y="3184475"/>
            <a:ext cx="952500" cy="114300"/>
          </a:xfrm>
          <a:prstGeom prst="roundRect">
            <a:avLst>
              <a:gd name="adj" fmla="val 50000"/>
            </a:avLst>
          </a:prstGeom>
          <a:solidFill>
            <a:srgbClr val="F1F5F9"/>
          </a:solidFill>
          <a:ln/>
        </p:spPr>
      </p:sp>
      <p:sp>
        <p:nvSpPr>
          <p:cNvPr id="45" name="Shape 43"/>
          <p:cNvSpPr/>
          <p:nvPr/>
        </p:nvSpPr>
        <p:spPr>
          <a:xfrm>
            <a:off x="9839325" y="3184475"/>
            <a:ext cx="776287" cy="114300"/>
          </a:xfrm>
          <a:prstGeom prst="roundRect">
            <a:avLst>
              <a:gd name="adj" fmla="val 50000"/>
            </a:avLst>
          </a:prstGeom>
          <a:solidFill>
            <a:srgbClr val="16A34A"/>
          </a:solidFill>
          <a:ln/>
        </p:spPr>
      </p:sp>
      <p:sp>
        <p:nvSpPr>
          <p:cNvPr id="46" name="text b"/>
          <p:cNvSpPr txBox="1"/>
          <p:nvPr/>
        </p:nvSpPr>
        <p:spPr>
          <a:xfrm>
            <a:off x="10811619" y="3138041"/>
            <a:ext cx="570756" cy="207169"/>
          </a:xfrm>
          <a:prstGeom prst="rect">
            <a:avLst/>
          </a:prstGeom>
          <a:noFill/>
          <a:ln/>
        </p:spPr>
        <p:txBody>
          <a:bodyPr wrap="none" lIns="0" tIns="0" rIns="0" bIns="0" rtlCol="0" anchor="ctr"/>
          <a:lstStyle/>
          <a:p>
            <a:pPr algn="r" indent="0" marL="0">
              <a:buNone/>
            </a:pPr>
            <a:r>
              <a:rPr lang="en-US" sz="1130" dirty="0">
                <a:solidFill>
                  <a:srgbClr val="16A34A"/>
                </a:solidFill>
                <a:latin typeface="Segoe UI Black" pitchFamily="34" charset="0"/>
                <a:ea typeface="Segoe UI Black" pitchFamily="34" charset="-122"/>
                <a:cs typeface="Segoe UI Black" pitchFamily="34" charset="-120"/>
              </a:rPr>
              <a:t>81,5%</a:t>
            </a:r>
            <a:endParaRPr lang="en-US" sz="1130" dirty="0"/>
          </a:p>
        </p:txBody>
      </p:sp>
      <p:sp>
        <p:nvSpPr>
          <p:cNvPr id="47" name="brk hot c-red-border"/>
          <p:cNvSpPr/>
          <p:nvPr/>
        </p:nvSpPr>
        <p:spPr>
          <a:xfrm>
            <a:off x="8353425" y="3398788"/>
            <a:ext cx="3028950" cy="9525"/>
          </a:xfrm>
          <a:prstGeom prst="rect">
            <a:avLst/>
          </a:prstGeom>
          <a:solidFill>
            <a:srgbClr val="E2E8F0"/>
          </a:solidFill>
          <a:ln/>
        </p:spPr>
      </p:sp>
      <p:sp>
        <p:nvSpPr>
          <p:cNvPr id="48" name="text span"/>
          <p:cNvSpPr txBox="1"/>
          <p:nvPr/>
        </p:nvSpPr>
        <p:spPr>
          <a:xfrm>
            <a:off x="8353425" y="3472249"/>
            <a:ext cx="839986" cy="186452"/>
          </a:xfrm>
          <a:prstGeom prst="rect">
            <a:avLst/>
          </a:prstGeom>
          <a:noFill/>
          <a:ln/>
        </p:spPr>
        <p:txBody>
          <a:bodyPr wrap="none" lIns="0" tIns="0" rIns="0" bIns="0" rtlCol="0" anchor="ctr"/>
          <a:lstStyle/>
          <a:p>
            <a:pPr algn="l" indent="0" marL="0">
              <a:buNone/>
            </a:pPr>
            <a:r>
              <a:rPr lang="en-US" sz="1010" b="1" dirty="0">
                <a:solidFill>
                  <a:srgbClr val="E11D48"/>
                </a:solidFill>
                <a:latin typeface="Segoe UI" pitchFamily="34" charset="0"/>
                <a:ea typeface="Segoe UI" pitchFamily="34" charset="-122"/>
                <a:cs typeface="Segoe UI" pitchFamily="34" charset="-120"/>
              </a:rPr>
              <a:t>Phí trên 3%</a:t>
            </a:r>
            <a:endParaRPr lang="en-US" sz="1010" dirty="0"/>
          </a:p>
        </p:txBody>
      </p:sp>
      <p:sp>
        <p:nvSpPr>
          <p:cNvPr id="49" name="bar"/>
          <p:cNvSpPr/>
          <p:nvPr/>
        </p:nvSpPr>
        <p:spPr>
          <a:xfrm>
            <a:off x="9839325" y="3508325"/>
            <a:ext cx="952500" cy="114300"/>
          </a:xfrm>
          <a:prstGeom prst="roundRect">
            <a:avLst>
              <a:gd name="adj" fmla="val 50000"/>
            </a:avLst>
          </a:prstGeom>
          <a:solidFill>
            <a:srgbClr val="F1F5F9"/>
          </a:solidFill>
          <a:ln/>
        </p:spPr>
      </p:sp>
      <p:sp>
        <p:nvSpPr>
          <p:cNvPr id="50" name="Shape 48"/>
          <p:cNvSpPr/>
          <p:nvPr/>
        </p:nvSpPr>
        <p:spPr>
          <a:xfrm>
            <a:off x="9839325" y="3508325"/>
            <a:ext cx="231428" cy="114300"/>
          </a:xfrm>
          <a:prstGeom prst="roundRect">
            <a:avLst>
              <a:gd name="adj" fmla="val 50000"/>
            </a:avLst>
          </a:prstGeom>
          <a:solidFill>
            <a:srgbClr val="E11D48"/>
          </a:solidFill>
          <a:ln/>
        </p:spPr>
      </p:sp>
      <p:sp>
        <p:nvSpPr>
          <p:cNvPr id="51" name="text b"/>
          <p:cNvSpPr txBox="1"/>
          <p:nvPr/>
        </p:nvSpPr>
        <p:spPr>
          <a:xfrm>
            <a:off x="10787063" y="3461891"/>
            <a:ext cx="595313" cy="207169"/>
          </a:xfrm>
          <a:prstGeom prst="rect">
            <a:avLst/>
          </a:prstGeom>
          <a:noFill/>
          <a:ln/>
        </p:spPr>
        <p:txBody>
          <a:bodyPr wrap="none" lIns="0" tIns="0" rIns="0" bIns="0" rtlCol="0" anchor="ctr"/>
          <a:lstStyle/>
          <a:p>
            <a:pPr algn="r" indent="0" marL="0">
              <a:buNone/>
            </a:pPr>
            <a:r>
              <a:rPr lang="en-US" sz="1130" dirty="0">
                <a:solidFill>
                  <a:srgbClr val="E11D48"/>
                </a:solidFill>
                <a:latin typeface="Segoe UI Black" pitchFamily="34" charset="0"/>
                <a:ea typeface="Segoe UI Black" pitchFamily="34" charset="-122"/>
                <a:cs typeface="Segoe UI Black" pitchFamily="34" charset="-120"/>
              </a:rPr>
              <a:t>24,3%</a:t>
            </a:r>
            <a:endParaRPr lang="en-US" sz="1130" dirty="0"/>
          </a:p>
        </p:txBody>
      </p:sp>
      <p:sp>
        <p:nvSpPr>
          <p:cNvPr id="52" name="quote"/>
          <p:cNvSpPr/>
          <p:nvPr/>
        </p:nvSpPr>
        <p:spPr>
          <a:xfrm>
            <a:off x="8353425" y="4592985"/>
            <a:ext cx="3028950" cy="730300"/>
          </a:xfrm>
          <a:prstGeom prst="roundRect">
            <a:avLst>
              <a:gd name="adj" fmla="val 10434"/>
            </a:avLst>
          </a:prstGeom>
          <a:solidFill>
            <a:srgbClr val="FFFFFF"/>
          </a:solidFill>
          <a:ln/>
        </p:spPr>
      </p:sp>
      <p:sp>
        <p:nvSpPr>
          <p:cNvPr id="53" name="quote-border"/>
          <p:cNvSpPr/>
          <p:nvPr/>
        </p:nvSpPr>
        <p:spPr>
          <a:xfrm>
            <a:off x="8353425" y="4592985"/>
            <a:ext cx="38100" cy="730300"/>
          </a:xfrm>
          <a:prstGeom prst="rect">
            <a:avLst/>
          </a:prstGeom>
          <a:solidFill>
            <a:srgbClr val="E11D48"/>
          </a:solidFill>
          <a:ln/>
        </p:spPr>
      </p:sp>
      <p:sp>
        <p:nvSpPr>
          <p:cNvPr id="54" name="text quote"/>
          <p:cNvSpPr txBox="1"/>
          <p:nvPr/>
        </p:nvSpPr>
        <p:spPr>
          <a:xfrm>
            <a:off x="8524875" y="4683859"/>
            <a:ext cx="2762250" cy="540068"/>
          </a:xfrm>
          <a:prstGeom prst="rect">
            <a:avLst/>
          </a:prstGeom>
          <a:noFill/>
          <a:ln/>
        </p:spPr>
        <p:txBody>
          <a:bodyPr wrap="square" lIns="0" tIns="0" rIns="0" bIns="0" rtlCol="0" anchor="ctr"/>
          <a:lstStyle/>
          <a:p>
            <a:pPr algn="l" indent="0" marL="0">
              <a:lnSpc>
                <a:spcPts val="1420"/>
              </a:lnSpc>
              <a:buNone/>
            </a:pPr>
            <a:r>
              <a:rPr lang="en-US" sz="1010" b="1" dirty="0">
                <a:solidFill>
                  <a:srgbClr val="0F172A"/>
                </a:solidFill>
                <a:latin typeface="Segoe UI" pitchFamily="34" charset="0"/>
                <a:ea typeface="Segoe UI" pitchFamily="34" charset="-122"/>
                <a:cs typeface="Segoe UI" pitchFamily="34" charset="-120"/>
              </a:rPr>
              <a:t>42,5% nhóm "chưa chắc chắn" chuyển sang sẵn sàng khi được báo một mức phí cụ thể, thấp.</a:t>
            </a:r>
            <a:endParaRPr lang="en-US" sz="1010" dirty="0"/>
          </a:p>
        </p:txBody>
      </p:sp>
      <p:sp>
        <p:nvSpPr>
          <p:cNvPr id="55" name="takeaway __nops"/>
          <p:cNvSpPr/>
          <p:nvPr/>
        </p:nvSpPr>
        <p:spPr>
          <a:xfrm>
            <a:off x="614363" y="5623322"/>
            <a:ext cx="10963275" cy="525066"/>
          </a:xfrm>
          <a:prstGeom prst="roundRect">
            <a:avLst>
              <a:gd name="adj" fmla="val 24490"/>
            </a:avLst>
          </a:prstGeom>
          <a:solidFill>
            <a:srgbClr val="EEFBF3"/>
          </a:solidFill>
          <a:ln w="9525">
            <a:solidFill>
              <a:srgbClr val="86EFAC"/>
            </a:solidFill>
            <a:prstDash val="solid"/>
          </a:ln>
        </p:spPr>
      </p:sp>
      <p:sp>
        <p:nvSpPr>
          <p:cNvPr id="56" name="text takeaway __nops"/>
          <p:cNvSpPr txBox="1"/>
          <p:nvPr/>
        </p:nvSpPr>
        <p:spPr>
          <a:xfrm>
            <a:off x="1152525" y="5767864"/>
            <a:ext cx="6120372" cy="234791"/>
          </a:xfrm>
          <a:prstGeom prst="rect">
            <a:avLst/>
          </a:prstGeom>
          <a:noFill/>
          <a:ln/>
        </p:spPr>
        <p:txBody>
          <a:bodyPr wrap="none" lIns="0" tIns="0" rIns="0" bIns="0" rtlCol="0" anchor="ctr"/>
          <a:lstStyle/>
          <a:p>
            <a:pPr algn="l" indent="0" marL="0">
              <a:buNone/>
            </a:pPr>
            <a:r>
              <a:rPr lang="en-US" sz="1280" b="1" dirty="0">
                <a:solidFill>
                  <a:srgbClr val="0F172A"/>
                </a:solidFill>
                <a:latin typeface="Segoe UI" pitchFamily="34" charset="0"/>
                <a:ea typeface="Segoe UI" pitchFamily="34" charset="-122"/>
                <a:cs typeface="Segoe UI" pitchFamily="34" charset="-120"/>
              </a:rPr>
              <a:t>Nhu cầu có thật. </a:t>
            </a:r>
            <a:pPr algn="l" indent="0" marL="0">
              <a:buNone/>
            </a:pPr>
            <a:r>
              <a:rPr lang="en-US" sz="1280" b="1" dirty="0">
                <a:solidFill>
                  <a:srgbClr val="15803D"/>
                </a:solidFill>
                <a:latin typeface="Segoe UI" pitchFamily="34" charset="0"/>
                <a:ea typeface="Segoe UI" pitchFamily="34" charset="-122"/>
                <a:cs typeface="Segoe UI" pitchFamily="34" charset="-120"/>
              </a:rPr>
              <a:t>Phí thấp là điều kiện để merchant chuyển sang nhận thẻ.</a:t>
            </a:r>
            <a:endParaRPr lang="en-US" sz="1280" dirty="0"/>
          </a:p>
        </p:txBody>
      </p:sp>
      <p:pic>
        <p:nvPicPr>
          <p:cNvPr id="57" name="graphic SPAN" descr="SPAN">    </p:cNvPr>
          <p:cNvPicPr>
            <a:picLocks noChangeAspect="1"/>
          </p:cNvPicPr>
          <p:nvPr/>
        </p:nvPicPr>
        <p:blipFill>
          <a:blip r:embed="rId1"/>
          <a:stretch>
            <a:fillRect/>
          </a:stretch>
        </p:blipFill>
        <p:spPr>
          <a:xfrm>
            <a:off x="828675" y="5790605"/>
            <a:ext cx="152400" cy="190500"/>
          </a:xfrm>
          <a:prstGeom prst="rect">
            <a:avLst/>
          </a:prstGeom>
        </p:spPr>
      </p:pic>
      <p:sp>
        <p:nvSpPr>
          <p:cNvPr id="58" name="text source"/>
          <p:cNvSpPr txBox="1"/>
          <p:nvPr/>
        </p:nvSpPr>
        <p:spPr>
          <a:xfrm>
            <a:off x="609600" y="6492544"/>
            <a:ext cx="8271558" cy="151970"/>
          </a:xfrm>
          <a:prstGeom prst="rect">
            <a:avLst/>
          </a:prstGeom>
          <a:noFill/>
          <a:ln/>
        </p:spPr>
        <p:txBody>
          <a:bodyPr wrap="none" lIns="0" tIns="0" rIns="0" bIns="0" rtlCol="0" anchor="ctr"/>
          <a:lstStyle/>
          <a:p>
            <a:pPr algn="l" indent="0" marL="0">
              <a:buNone/>
            </a:pPr>
            <a:r>
              <a:rPr lang="en-US" sz="830" dirty="0">
                <a:solidFill>
                  <a:srgbClr val="94A3B8"/>
                </a:solidFill>
                <a:latin typeface="Segoe UI Semibold" pitchFamily="34" charset="0"/>
                <a:ea typeface="Segoe UI Semibold" pitchFamily="34" charset="-122"/>
                <a:cs typeface="Segoe UI Semibold" pitchFamily="34" charset="-120"/>
              </a:rPr>
              <a:t>Nguồn: khảo sát 132 merchant tại Hà Nội, TP.HCM (7/2026). Kịch bản khảo sát là giải pháp NFC Tag, phí 1–2%; "sẵn sàng" là ý định, chưa phải hành vi thật.</a:t>
            </a:r>
            <a:endParaRPr lang="en-US" sz="830" dirty="0"/>
          </a:p>
        </p:txBody>
      </p:sp>
      <p:sp>
        <p:nvSpPr>
          <p:cNvPr id="59" name="mk"/>
          <p:cNvSpPr/>
          <p:nvPr/>
        </p:nvSpPr>
        <p:spPr>
          <a:xfrm>
            <a:off x="10796588" y="6343650"/>
            <a:ext cx="323850" cy="323850"/>
          </a:xfrm>
          <a:prstGeom prst="ellipse">
            <a:avLst/>
          </a:prstGeom>
          <a:solidFill>
            <a:srgbClr val="F0001E"/>
          </a:solidFill>
          <a:ln/>
        </p:spPr>
      </p:sp>
      <p:sp>
        <p:nvSpPr>
          <p:cNvPr id="60" name="Shape 57"/>
          <p:cNvSpPr/>
          <p:nvPr/>
        </p:nvSpPr>
        <p:spPr>
          <a:xfrm>
            <a:off x="10910888" y="6424613"/>
            <a:ext cx="95250" cy="161925"/>
          </a:xfrm>
          <a:prstGeom prst="roundRect">
            <a:avLst>
              <a:gd name="adj" fmla="val 25000"/>
            </a:avLst>
          </a:prstGeom>
          <a:ln w="19050">
            <a:solidFill>
              <a:srgbClr val="FFFFFF"/>
            </a:solidFill>
            <a:prstDash val="solid"/>
          </a:ln>
        </p:spPr>
      </p:sp>
      <p:sp>
        <p:nvSpPr>
          <p:cNvPr id="61"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62"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63" name="text pno"/>
          <p:cNvSpPr txBox="1"/>
          <p:nvPr/>
        </p:nvSpPr>
        <p:spPr>
          <a:xfrm>
            <a:off x="10576471" y="6421991"/>
            <a:ext cx="186779" cy="157642"/>
          </a:xfrm>
          <a:prstGeom prst="rect">
            <a:avLst/>
          </a:prstGeom>
          <a:noFill/>
          <a:ln/>
        </p:spPr>
        <p:txBody>
          <a:bodyPr wrap="none" lIns="0" tIns="0" rIns="0" bIns="0" rtlCol="0" anchor="ctr"/>
          <a:lstStyle/>
          <a:p>
            <a:pPr algn="l" indent="0" marL="0">
              <a:buNone/>
            </a:pPr>
            <a:r>
              <a:rPr lang="en-US" sz="860" b="1" dirty="0">
                <a:solidFill>
                  <a:srgbClr val="CBD5E1"/>
                </a:solidFill>
                <a:latin typeface="Segoe UI" pitchFamily="34" charset="0"/>
                <a:ea typeface="Segoe UI" pitchFamily="34" charset="-122"/>
                <a:cs typeface="Segoe UI" pitchFamily="34" charset="-120"/>
              </a:rPr>
              <a:t>5</a:t>
            </a:r>
            <a:endParaRPr lang="en-US" sz="8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2924514"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BỐI CẢNH VÀ VẤN ĐỀ · KHÁCH QUỐC TẾ</a:t>
            </a:r>
            <a:endParaRPr lang="en-US" sz="1050" dirty="0"/>
          </a:p>
        </p:txBody>
      </p:sp>
      <p:sp>
        <p:nvSpPr>
          <p:cNvPr id="3" name="text title"/>
          <p:cNvSpPr txBox="1"/>
          <p:nvPr/>
        </p:nvSpPr>
        <p:spPr>
          <a:xfrm>
            <a:off x="609600" y="581263"/>
            <a:ext cx="10702921"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Khách quốc tế tăng nhanh, chi nhiều, </a:t>
            </a:r>
            <a:pPr algn="l" indent="0" marL="0">
              <a:buNone/>
            </a:pPr>
            <a:r>
              <a:rPr lang="en-US" sz="2330" b="1" spc="-30" kern="0" dirty="0">
                <a:solidFill>
                  <a:srgbClr val="E11D48"/>
                </a:solidFill>
                <a:latin typeface="Segoe UI" pitchFamily="34" charset="0"/>
                <a:ea typeface="Segoe UI" pitchFamily="34" charset="-122"/>
                <a:cs typeface="Segoe UI" pitchFamily="34" charset="-120"/>
              </a:rPr>
              <a:t>nhưng khó trả tiền ở cửa hàng nhỏ</a:t>
            </a:r>
            <a:endParaRPr lang="en-US" sz="2330" dirty="0"/>
          </a:p>
        </p:txBody>
      </p:sp>
      <p:sp>
        <p:nvSpPr>
          <p:cNvPr id="4" name="stat bar c-blue __nops"/>
          <p:cNvSpPr/>
          <p:nvPr/>
        </p:nvSpPr>
        <p:spPr>
          <a:xfrm>
            <a:off x="614363" y="1174552"/>
            <a:ext cx="2371725" cy="1352699"/>
          </a:xfrm>
          <a:prstGeom prst="roundRect">
            <a:avLst>
              <a:gd name="adj" fmla="val 9506"/>
            </a:avLst>
          </a:prstGeom>
          <a:solidFill>
            <a:srgbClr val="FFFFFF"/>
          </a:solidFill>
          <a:ln w="9525">
            <a:solidFill>
              <a:srgbClr val="E2E8F0"/>
            </a:solidFill>
            <a:prstDash val="solid"/>
          </a:ln>
        </p:spPr>
      </p:sp>
      <p:sp>
        <p:nvSpPr>
          <p:cNvPr id="5" name="Shape 3"/>
          <p:cNvSpPr/>
          <p:nvPr/>
        </p:nvSpPr>
        <p:spPr>
          <a:xfrm>
            <a:off x="619125" y="1179314"/>
            <a:ext cx="57150" cy="1343174"/>
          </a:xfrm>
          <a:prstGeom prst="rect">
            <a:avLst/>
          </a:prstGeom>
          <a:solidFill>
            <a:srgbClr val="0284C7"/>
          </a:solidFill>
          <a:ln/>
        </p:spPr>
      </p:sp>
      <p:sp>
        <p:nvSpPr>
          <p:cNvPr id="6" name="text num md"/>
          <p:cNvSpPr txBox="1"/>
          <p:nvPr/>
        </p:nvSpPr>
        <p:spPr>
          <a:xfrm>
            <a:off x="809625" y="1519982"/>
            <a:ext cx="1302097" cy="414338"/>
          </a:xfrm>
          <a:prstGeom prst="rect">
            <a:avLst/>
          </a:prstGeom>
          <a:noFill/>
          <a:ln/>
        </p:spPr>
        <p:txBody>
          <a:bodyPr wrap="none" lIns="0" tIns="0" rIns="0" bIns="0" rtlCol="0" anchor="ctr"/>
          <a:lstStyle/>
          <a:p>
            <a:pPr algn="l" indent="0" marL="0">
              <a:buNone/>
            </a:pPr>
            <a:r>
              <a:rPr lang="en-US" sz="2250" b="1" spc="-40" kern="0" dirty="0">
                <a:solidFill>
                  <a:srgbClr val="0284C7"/>
                </a:solidFill>
                <a:latin typeface="Segoe UI" pitchFamily="34" charset="0"/>
                <a:ea typeface="Segoe UI" pitchFamily="34" charset="-122"/>
                <a:cs typeface="Segoe UI" pitchFamily="34" charset="-120"/>
              </a:rPr>
              <a:t>17,7 triệu</a:t>
            </a:r>
            <a:endParaRPr lang="en-US" sz="2250" dirty="0"/>
          </a:p>
        </p:txBody>
      </p:sp>
      <p:sp>
        <p:nvSpPr>
          <p:cNvPr id="7" name="text sl"/>
          <p:cNvSpPr txBox="1"/>
          <p:nvPr/>
        </p:nvSpPr>
        <p:spPr>
          <a:xfrm>
            <a:off x="809625" y="1934230"/>
            <a:ext cx="1838920" cy="193358"/>
          </a:xfrm>
          <a:prstGeom prst="rect">
            <a:avLst/>
          </a:prstGeom>
          <a:noFill/>
          <a:ln/>
        </p:spPr>
        <p:txBody>
          <a:bodyPr wrap="none" lIns="0" tIns="0" rIns="0" bIns="0" rtlCol="0" anchor="ctr"/>
          <a:lstStyle/>
          <a:p>
            <a:pPr algn="l" indent="0" marL="0">
              <a:buNone/>
            </a:pPr>
            <a:r>
              <a:rPr lang="en-US" sz="1050" dirty="0">
                <a:solidFill>
                  <a:srgbClr val="334155"/>
                </a:solidFill>
                <a:latin typeface="Segoe UI Semibold" pitchFamily="34" charset="0"/>
                <a:ea typeface="Segoe UI Semibold" pitchFamily="34" charset="-122"/>
                <a:cs typeface="Segoe UI Semibold" pitchFamily="34" charset="-120"/>
              </a:rPr>
              <a:t>lượt, 9 tháng 2026 </a:t>
            </a:r>
            <a:pPr algn="l" indent="0" marL="0">
              <a:buNone/>
            </a:pPr>
            <a:r>
              <a:rPr lang="en-US" sz="1050" b="1" dirty="0">
                <a:solidFill>
                  <a:srgbClr val="16A34A"/>
                </a:solidFill>
                <a:latin typeface="Segoe UI" pitchFamily="34" charset="0"/>
                <a:ea typeface="Segoe UI" pitchFamily="34" charset="-122"/>
                <a:cs typeface="Segoe UI" pitchFamily="34" charset="-120"/>
              </a:rPr>
              <a:t>+14,5%</a:t>
            </a:r>
            <a:endParaRPr lang="en-US" sz="1050" dirty="0"/>
          </a:p>
        </p:txBody>
      </p:sp>
      <p:sp>
        <p:nvSpPr>
          <p:cNvPr id="8" name="stat bar c-orange __nops"/>
          <p:cNvSpPr/>
          <p:nvPr/>
        </p:nvSpPr>
        <p:spPr>
          <a:xfrm>
            <a:off x="614363" y="2651075"/>
            <a:ext cx="2371725" cy="1352848"/>
          </a:xfrm>
          <a:prstGeom prst="roundRect">
            <a:avLst>
              <a:gd name="adj" fmla="val 9505"/>
            </a:avLst>
          </a:prstGeom>
          <a:solidFill>
            <a:srgbClr val="FFFFFF"/>
          </a:solidFill>
          <a:ln w="9525">
            <a:solidFill>
              <a:srgbClr val="E2E8F0"/>
            </a:solidFill>
            <a:prstDash val="solid"/>
          </a:ln>
        </p:spPr>
      </p:sp>
      <p:sp>
        <p:nvSpPr>
          <p:cNvPr id="9" name="Shape 7"/>
          <p:cNvSpPr/>
          <p:nvPr/>
        </p:nvSpPr>
        <p:spPr>
          <a:xfrm>
            <a:off x="619125" y="2655838"/>
            <a:ext cx="57150" cy="1343174"/>
          </a:xfrm>
          <a:prstGeom prst="rect">
            <a:avLst/>
          </a:prstGeom>
          <a:solidFill>
            <a:srgbClr val="D97706"/>
          </a:solidFill>
          <a:ln/>
        </p:spPr>
      </p:sp>
      <p:sp>
        <p:nvSpPr>
          <p:cNvPr id="10" name="text num md"/>
          <p:cNvSpPr txBox="1"/>
          <p:nvPr/>
        </p:nvSpPr>
        <p:spPr>
          <a:xfrm>
            <a:off x="809625" y="2996505"/>
            <a:ext cx="1470273" cy="414338"/>
          </a:xfrm>
          <a:prstGeom prst="rect">
            <a:avLst/>
          </a:prstGeom>
          <a:noFill/>
          <a:ln/>
        </p:spPr>
        <p:txBody>
          <a:bodyPr wrap="none" lIns="0" tIns="0" rIns="0" bIns="0" rtlCol="0" anchor="ctr"/>
          <a:lstStyle/>
          <a:p>
            <a:pPr algn="l" indent="0" marL="0">
              <a:buNone/>
            </a:pPr>
            <a:r>
              <a:rPr lang="en-US" sz="2250" b="1" spc="-40" kern="0" dirty="0">
                <a:solidFill>
                  <a:srgbClr val="D97706"/>
                </a:solidFill>
                <a:latin typeface="Segoe UI" pitchFamily="34" charset="0"/>
                <a:ea typeface="Segoe UI" pitchFamily="34" charset="-122"/>
                <a:cs typeface="Segoe UI" pitchFamily="34" charset="-120"/>
              </a:rPr>
              <a:t>700–1.150</a:t>
            </a:r>
            <a:endParaRPr lang="en-US" sz="2250" dirty="0"/>
          </a:p>
        </p:txBody>
      </p:sp>
      <p:sp>
        <p:nvSpPr>
          <p:cNvPr id="11" name="text sl"/>
          <p:cNvSpPr txBox="1"/>
          <p:nvPr/>
        </p:nvSpPr>
        <p:spPr>
          <a:xfrm>
            <a:off x="809625" y="3410754"/>
            <a:ext cx="1375023" cy="193358"/>
          </a:xfrm>
          <a:prstGeom prst="rect">
            <a:avLst/>
          </a:prstGeom>
          <a:noFill/>
          <a:ln/>
        </p:spPr>
        <p:txBody>
          <a:bodyPr wrap="none" lIns="0" tIns="0" rIns="0" bIns="0" rtlCol="0" anchor="ctr"/>
          <a:lstStyle/>
          <a:p>
            <a:pPr algn="l" indent="0" marL="0">
              <a:buNone/>
            </a:pPr>
            <a:r>
              <a:rPr lang="en-US" sz="1050" dirty="0">
                <a:solidFill>
                  <a:srgbClr val="334155"/>
                </a:solidFill>
                <a:latin typeface="Segoe UI Semibold" pitchFamily="34" charset="0"/>
                <a:ea typeface="Segoe UI Semibold" pitchFamily="34" charset="-122"/>
                <a:cs typeface="Segoe UI Semibold" pitchFamily="34" charset="-120"/>
              </a:rPr>
              <a:t>USD mỗi lượt khách</a:t>
            </a:r>
            <a:endParaRPr lang="en-US" sz="1050" dirty="0"/>
          </a:p>
        </p:txBody>
      </p:sp>
      <p:sp>
        <p:nvSpPr>
          <p:cNvPr id="12" name="stat bar c-red __nops"/>
          <p:cNvSpPr/>
          <p:nvPr/>
        </p:nvSpPr>
        <p:spPr>
          <a:xfrm>
            <a:off x="614363" y="4127748"/>
            <a:ext cx="2371725" cy="1352699"/>
          </a:xfrm>
          <a:prstGeom prst="roundRect">
            <a:avLst>
              <a:gd name="adj" fmla="val 9506"/>
            </a:avLst>
          </a:prstGeom>
          <a:solidFill>
            <a:srgbClr val="FFFFFF"/>
          </a:solidFill>
          <a:ln w="9525">
            <a:solidFill>
              <a:srgbClr val="E2E8F0"/>
            </a:solidFill>
            <a:prstDash val="solid"/>
          </a:ln>
        </p:spPr>
      </p:sp>
      <p:sp>
        <p:nvSpPr>
          <p:cNvPr id="13" name="Shape 11"/>
          <p:cNvSpPr/>
          <p:nvPr/>
        </p:nvSpPr>
        <p:spPr>
          <a:xfrm>
            <a:off x="619125" y="4132511"/>
            <a:ext cx="57150" cy="1343174"/>
          </a:xfrm>
          <a:prstGeom prst="rect">
            <a:avLst/>
          </a:prstGeom>
          <a:solidFill>
            <a:srgbClr val="E11D48"/>
          </a:solidFill>
          <a:ln/>
        </p:spPr>
      </p:sp>
      <p:sp>
        <p:nvSpPr>
          <p:cNvPr id="14" name="text num md"/>
          <p:cNvSpPr txBox="1"/>
          <p:nvPr/>
        </p:nvSpPr>
        <p:spPr>
          <a:xfrm>
            <a:off x="809625" y="4211092"/>
            <a:ext cx="1584573" cy="414338"/>
          </a:xfrm>
          <a:prstGeom prst="rect">
            <a:avLst/>
          </a:prstGeom>
          <a:noFill/>
          <a:ln/>
        </p:spPr>
        <p:txBody>
          <a:bodyPr wrap="none" lIns="0" tIns="0" rIns="0" bIns="0" rtlCol="0" anchor="ctr"/>
          <a:lstStyle/>
          <a:p>
            <a:pPr algn="l" indent="0" marL="0">
              <a:buNone/>
            </a:pPr>
            <a:r>
              <a:rPr lang="en-US" sz="2250" b="1" spc="-40" kern="0" dirty="0">
                <a:solidFill>
                  <a:srgbClr val="E11D48"/>
                </a:solidFill>
                <a:latin typeface="Segoe UI" pitchFamily="34" charset="0"/>
                <a:ea typeface="Segoe UI" pitchFamily="34" charset="-122"/>
                <a:cs typeface="Segoe UI" pitchFamily="34" charset="-120"/>
              </a:rPr>
              <a:t>5–8 tỷ USD</a:t>
            </a:r>
            <a:endParaRPr lang="en-US" sz="2250" dirty="0"/>
          </a:p>
        </p:txBody>
      </p:sp>
      <p:sp>
        <p:nvSpPr>
          <p:cNvPr id="15" name="text sl"/>
          <p:cNvSpPr txBox="1"/>
          <p:nvPr/>
        </p:nvSpPr>
        <p:spPr>
          <a:xfrm>
            <a:off x="809625" y="4628644"/>
            <a:ext cx="2019300" cy="373380"/>
          </a:xfrm>
          <a:prstGeom prst="rect">
            <a:avLst/>
          </a:prstGeom>
          <a:noFill/>
          <a:ln/>
        </p:spPr>
        <p:txBody>
          <a:bodyPr wrap="square" lIns="0" tIns="0" rIns="0" bIns="0" rtlCol="0" anchor="ctr"/>
          <a:lstStyle/>
          <a:p>
            <a:pPr algn="l" indent="0" marL="0">
              <a:lnSpc>
                <a:spcPts val="1470"/>
              </a:lnSpc>
              <a:buNone/>
            </a:pPr>
            <a:r>
              <a:rPr lang="en-US" sz="1050" dirty="0">
                <a:solidFill>
                  <a:srgbClr val="334155"/>
                </a:solidFill>
                <a:latin typeface="Segoe UI Semibold" pitchFamily="34" charset="0"/>
                <a:ea typeface="Segoe UI Semibold" pitchFamily="34" charset="-122"/>
                <a:cs typeface="Segoe UI Semibold" pitchFamily="34" charset="-120"/>
              </a:rPr>
              <a:t>mỗi năm cho ăn uống, mua sắm</a:t>
            </a:r>
            <a:endParaRPr lang="en-US" sz="1050" dirty="0"/>
          </a:p>
        </p:txBody>
      </p:sp>
      <p:sp>
        <p:nvSpPr>
          <p:cNvPr id="16" name="Shape 14"/>
          <p:cNvSpPr/>
          <p:nvPr/>
        </p:nvSpPr>
        <p:spPr>
          <a:xfrm>
            <a:off x="809625" y="5080992"/>
            <a:ext cx="1981200" cy="56555"/>
          </a:xfrm>
          <a:prstGeom prst="roundRect">
            <a:avLst>
              <a:gd name="adj" fmla="val 50000"/>
            </a:avLst>
          </a:prstGeom>
          <a:solidFill>
            <a:srgbClr val="FDE2E2"/>
          </a:solidFill>
          <a:ln/>
        </p:spPr>
      </p:sp>
      <p:sp>
        <p:nvSpPr>
          <p:cNvPr id="17" name="Shape 15"/>
          <p:cNvSpPr/>
          <p:nvPr/>
        </p:nvSpPr>
        <p:spPr>
          <a:xfrm>
            <a:off x="809625" y="5080992"/>
            <a:ext cx="673596" cy="56555"/>
          </a:xfrm>
          <a:prstGeom prst="rect">
            <a:avLst/>
          </a:prstGeom>
          <a:solidFill>
            <a:srgbClr val="E11D48"/>
          </a:solidFill>
          <a:ln/>
        </p:spPr>
      </p:sp>
      <p:sp>
        <p:nvSpPr>
          <p:cNvPr id="18" name="text sl"/>
          <p:cNvSpPr txBox="1"/>
          <p:nvPr/>
        </p:nvSpPr>
        <p:spPr>
          <a:xfrm>
            <a:off x="809625" y="5170289"/>
            <a:ext cx="1848148" cy="172641"/>
          </a:xfrm>
          <a:prstGeom prst="rect">
            <a:avLst/>
          </a:prstGeom>
          <a:noFill/>
          <a:ln/>
        </p:spPr>
        <p:txBody>
          <a:bodyPr wrap="none" lIns="0" tIns="0" rIns="0" bIns="0" rtlCol="0" anchor="ctr"/>
          <a:lstStyle/>
          <a:p>
            <a:pPr algn="l" indent="0" marL="0">
              <a:buNone/>
            </a:pPr>
            <a:r>
              <a:rPr lang="en-US" sz="940" dirty="0">
                <a:solidFill>
                  <a:srgbClr val="E11D48"/>
                </a:solidFill>
                <a:latin typeface="Segoe UI Black" pitchFamily="34" charset="0"/>
                <a:ea typeface="Segoe UI Black" pitchFamily="34" charset="-122"/>
                <a:cs typeface="Segoe UI Black" pitchFamily="34" charset="-120"/>
              </a:rPr>
              <a:t>~34%</a:t>
            </a:r>
            <a:pPr algn="l" indent="0" marL="0">
              <a:buNone/>
            </a:pPr>
            <a:r>
              <a:rPr lang="en-US" sz="940" dirty="0">
                <a:solidFill>
                  <a:srgbClr val="334155"/>
                </a:solidFill>
                <a:latin typeface="Segoe UI Semibold" pitchFamily="34" charset="0"/>
                <a:ea typeface="Segoe UI Semibold" pitchFamily="34" charset="-122"/>
                <a:cs typeface="Segoe UI Semibold" pitchFamily="34" charset="-120"/>
              </a:rPr>
              <a:t> tổng chi tiêu của khách</a:t>
            </a:r>
            <a:endParaRPr lang="en-US" sz="940" dirty="0"/>
          </a:p>
        </p:txBody>
      </p:sp>
      <p:sp>
        <p:nvSpPr>
          <p:cNvPr id="19" name="card"/>
          <p:cNvSpPr/>
          <p:nvPr/>
        </p:nvSpPr>
        <p:spPr>
          <a:xfrm>
            <a:off x="3128963" y="1174552"/>
            <a:ext cx="5553075" cy="4305895"/>
          </a:xfrm>
          <a:prstGeom prst="roundRect">
            <a:avLst>
              <a:gd name="adj" fmla="val 2986"/>
            </a:avLst>
          </a:prstGeom>
          <a:solidFill>
            <a:srgbClr val="FFFFFF"/>
          </a:solidFill>
          <a:ln w="9525">
            <a:solidFill>
              <a:srgbClr val="E2E8F0"/>
            </a:solidFill>
            <a:prstDash val="solid"/>
          </a:ln>
        </p:spPr>
      </p:sp>
      <p:sp>
        <p:nvSpPr>
          <p:cNvPr id="20" name="text label"/>
          <p:cNvSpPr txBox="1"/>
          <p:nvPr/>
        </p:nvSpPr>
        <p:spPr>
          <a:xfrm>
            <a:off x="3324225" y="1320284"/>
            <a:ext cx="2378041" cy="165735"/>
          </a:xfrm>
          <a:prstGeom prst="rect">
            <a:avLst/>
          </a:prstGeom>
          <a:noFill/>
          <a:ln/>
        </p:spPr>
        <p:txBody>
          <a:bodyPr wrap="none" lIns="0" tIns="0" rIns="0" bIns="0" rtlCol="0" anchor="ctr"/>
          <a:lstStyle/>
          <a:p>
            <a:pPr algn="l" indent="0" marL="0">
              <a:buNone/>
            </a:pPr>
            <a:r>
              <a:rPr lang="en-US" sz="900" b="1" spc="40" kern="0" dirty="0">
                <a:solidFill>
                  <a:srgbClr val="64748B"/>
                </a:solidFill>
                <a:latin typeface="Segoe UI" pitchFamily="34" charset="0"/>
                <a:ea typeface="Segoe UI" pitchFamily="34" charset="-122"/>
                <a:cs typeface="Segoe UI" pitchFamily="34" charset="-120"/>
              </a:rPr>
              <a:t>KHÁCH ĐẾN TỪ ĐÂU · 9 THÁNG 2026</a:t>
            </a:r>
            <a:endParaRPr lang="en-US" sz="900" dirty="0"/>
          </a:p>
        </p:txBody>
      </p:sp>
      <p:pic>
        <p:nvPicPr>
          <p:cNvPr id="21" name="graphic svg" descr="svg">    </p:cNvPr>
          <p:cNvPicPr>
            <a:picLocks noChangeAspect="1"/>
          </p:cNvPicPr>
          <p:nvPr/>
        </p:nvPicPr>
        <p:blipFill>
          <a:blip r:embed="rId1"/>
          <a:stretch>
            <a:fillRect/>
          </a:stretch>
        </p:blipFill>
        <p:spPr>
          <a:xfrm>
            <a:off x="3324225" y="1531739"/>
            <a:ext cx="5162550" cy="2372469"/>
          </a:xfrm>
          <a:prstGeom prst="rect">
            <a:avLst/>
          </a:prstGeom>
        </p:spPr>
      </p:pic>
      <p:sp>
        <p:nvSpPr>
          <p:cNvPr id="22" name="text span"/>
          <p:cNvSpPr txBox="1"/>
          <p:nvPr/>
        </p:nvSpPr>
        <p:spPr>
          <a:xfrm>
            <a:off x="3467100" y="3967513"/>
            <a:ext cx="1422053" cy="159140"/>
          </a:xfrm>
          <a:prstGeom prst="rect">
            <a:avLst/>
          </a:prstGeom>
          <a:noFill/>
          <a:ln/>
        </p:spPr>
        <p:txBody>
          <a:bodyPr wrap="none" lIns="0" tIns="0" rIns="0" bIns="0" rtlCol="0" anchor="ctr"/>
          <a:lstStyle/>
          <a:p>
            <a:pPr algn="l" indent="0" marL="0">
              <a:buNone/>
            </a:pPr>
            <a:r>
              <a:rPr lang="en-US" sz="860" b="1" dirty="0">
                <a:solidFill>
                  <a:srgbClr val="64748B"/>
                </a:solidFill>
                <a:latin typeface="Segoe UI" pitchFamily="34" charset="0"/>
                <a:ea typeface="Segoe UI" pitchFamily="34" charset="-122"/>
                <a:cs typeface="Segoe UI" pitchFamily="34" charset="-120"/>
              </a:rPr>
              <a:t>Trung Quốc </a:t>
            </a:r>
            <a:pPr algn="l" indent="0" marL="0">
              <a:buNone/>
            </a:pPr>
            <a:r>
              <a:rPr lang="en-US" sz="860" b="1" dirty="0">
                <a:solidFill>
                  <a:srgbClr val="0F172A"/>
                </a:solidFill>
                <a:latin typeface="Segoe UI" pitchFamily="34" charset="0"/>
                <a:ea typeface="Segoe UI" pitchFamily="34" charset="-122"/>
                <a:cs typeface="Segoe UI" pitchFamily="34" charset="-120"/>
              </a:rPr>
              <a:t>3,9 tr</a:t>
            </a:r>
            <a:pPr algn="l" indent="0" marL="0">
              <a:buNone/>
            </a:pPr>
            <a:r>
              <a:rPr lang="en-US" sz="860" b="1" dirty="0">
                <a:solidFill>
                  <a:srgbClr val="64748B"/>
                </a:solidFill>
                <a:latin typeface="Segoe UI" pitchFamily="34" charset="0"/>
                <a:ea typeface="Segoe UI" pitchFamily="34" charset="-122"/>
                <a:cs typeface="Segoe UI" pitchFamily="34" charset="-120"/>
              </a:rPr>
              <a:t> +1,5%</a:t>
            </a:r>
            <a:endParaRPr lang="en-US" sz="860" dirty="0"/>
          </a:p>
        </p:txBody>
      </p:sp>
      <p:sp>
        <p:nvSpPr>
          <p:cNvPr id="23" name="Shape 20"/>
          <p:cNvSpPr/>
          <p:nvPr/>
        </p:nvSpPr>
        <p:spPr>
          <a:xfrm>
            <a:off x="3324225" y="3999458"/>
            <a:ext cx="95250" cy="95250"/>
          </a:xfrm>
          <a:prstGeom prst="roundRect">
            <a:avLst>
              <a:gd name="adj" fmla="val 30000"/>
            </a:avLst>
          </a:prstGeom>
          <a:solidFill>
            <a:srgbClr val="D97706"/>
          </a:solidFill>
          <a:ln/>
        </p:spPr>
      </p:sp>
      <p:sp>
        <p:nvSpPr>
          <p:cNvPr id="24" name="text span"/>
          <p:cNvSpPr txBox="1"/>
          <p:nvPr/>
        </p:nvSpPr>
        <p:spPr>
          <a:xfrm>
            <a:off x="5032028" y="3967488"/>
            <a:ext cx="1346150" cy="159191"/>
          </a:xfrm>
          <a:prstGeom prst="rect">
            <a:avLst/>
          </a:prstGeom>
          <a:noFill/>
          <a:ln/>
        </p:spPr>
        <p:txBody>
          <a:bodyPr wrap="none" lIns="0" tIns="0" rIns="0" bIns="0" rtlCol="0" anchor="ctr"/>
          <a:lstStyle/>
          <a:p>
            <a:pPr algn="l" indent="0" marL="0">
              <a:buNone/>
            </a:pPr>
            <a:r>
              <a:rPr lang="en-US" sz="860" b="1" dirty="0">
                <a:solidFill>
                  <a:srgbClr val="64748B"/>
                </a:solidFill>
                <a:latin typeface="Segoe UI" pitchFamily="34" charset="0"/>
                <a:ea typeface="Segoe UI" pitchFamily="34" charset="-122"/>
                <a:cs typeface="Segoe UI" pitchFamily="34" charset="-120"/>
              </a:rPr>
              <a:t>Hàn Quốc </a:t>
            </a:r>
            <a:pPr algn="l" indent="0" marL="0">
              <a:buNone/>
            </a:pPr>
            <a:r>
              <a:rPr lang="en-US" sz="860" b="1" dirty="0">
                <a:solidFill>
                  <a:srgbClr val="0F172A"/>
                </a:solidFill>
                <a:latin typeface="Segoe UI" pitchFamily="34" charset="0"/>
                <a:ea typeface="Segoe UI" pitchFamily="34" charset="-122"/>
                <a:cs typeface="Segoe UI" pitchFamily="34" charset="-120"/>
              </a:rPr>
              <a:t>3,0 tr</a:t>
            </a:r>
            <a:pPr algn="l" indent="0" marL="0">
              <a:buNone/>
            </a:pPr>
            <a:r>
              <a:rPr lang="en-US" sz="860" b="1" dirty="0">
                <a:solidFill>
                  <a:srgbClr val="64748B"/>
                </a:solidFill>
                <a:latin typeface="Segoe UI" pitchFamily="34" charset="0"/>
                <a:ea typeface="Segoe UI" pitchFamily="34" charset="-122"/>
                <a:cs typeface="Segoe UI" pitchFamily="34" charset="-120"/>
              </a:rPr>
              <a:t> </a:t>
            </a:r>
            <a:pPr algn="l" indent="0" marL="0">
              <a:buNone/>
            </a:pPr>
            <a:r>
              <a:rPr lang="en-US" sz="860" b="1" dirty="0">
                <a:solidFill>
                  <a:srgbClr val="E11D48"/>
                </a:solidFill>
                <a:latin typeface="Segoe UI" pitchFamily="34" charset="0"/>
                <a:ea typeface="Segoe UI" pitchFamily="34" charset="-122"/>
                <a:cs typeface="Segoe UI" pitchFamily="34" charset="-120"/>
              </a:rPr>
              <a:t>−5,5%</a:t>
            </a:r>
            <a:endParaRPr lang="en-US" sz="860" dirty="0"/>
          </a:p>
        </p:txBody>
      </p:sp>
      <p:sp>
        <p:nvSpPr>
          <p:cNvPr id="25" name="Shape 22"/>
          <p:cNvSpPr/>
          <p:nvPr/>
        </p:nvSpPr>
        <p:spPr>
          <a:xfrm>
            <a:off x="4889153" y="3999458"/>
            <a:ext cx="95250" cy="95250"/>
          </a:xfrm>
          <a:prstGeom prst="roundRect">
            <a:avLst>
              <a:gd name="adj" fmla="val 30000"/>
            </a:avLst>
          </a:prstGeom>
          <a:solidFill>
            <a:srgbClr val="0284C7"/>
          </a:solidFill>
          <a:ln/>
        </p:spPr>
      </p:sp>
      <p:sp>
        <p:nvSpPr>
          <p:cNvPr id="26" name="text span"/>
          <p:cNvSpPr txBox="1"/>
          <p:nvPr/>
        </p:nvSpPr>
        <p:spPr>
          <a:xfrm>
            <a:off x="6521053" y="3967408"/>
            <a:ext cx="1108621" cy="159351"/>
          </a:xfrm>
          <a:prstGeom prst="rect">
            <a:avLst/>
          </a:prstGeom>
          <a:noFill/>
          <a:ln/>
        </p:spPr>
        <p:txBody>
          <a:bodyPr wrap="none" lIns="0" tIns="0" rIns="0" bIns="0" rtlCol="0" anchor="ctr"/>
          <a:lstStyle/>
          <a:p>
            <a:pPr algn="l" indent="0" marL="0">
              <a:buNone/>
            </a:pPr>
            <a:r>
              <a:rPr lang="en-US" sz="870" b="1" dirty="0">
                <a:solidFill>
                  <a:srgbClr val="64748B"/>
                </a:solidFill>
                <a:latin typeface="Segoe UI" pitchFamily="34" charset="0"/>
                <a:ea typeface="Segoe UI" pitchFamily="34" charset="-122"/>
                <a:cs typeface="Segoe UI" pitchFamily="34" charset="-120"/>
              </a:rPr>
              <a:t>Nga </a:t>
            </a:r>
            <a:pPr algn="l" indent="0" marL="0">
              <a:buNone/>
            </a:pPr>
            <a:r>
              <a:rPr lang="en-US" sz="870" b="1" dirty="0">
                <a:solidFill>
                  <a:srgbClr val="0F172A"/>
                </a:solidFill>
                <a:latin typeface="Segoe UI" pitchFamily="34" charset="0"/>
                <a:ea typeface="Segoe UI" pitchFamily="34" charset="-122"/>
                <a:cs typeface="Segoe UI" pitchFamily="34" charset="-120"/>
              </a:rPr>
              <a:t>1,1 tr</a:t>
            </a:r>
            <a:pPr algn="l" indent="0" marL="0">
              <a:buNone/>
            </a:pPr>
            <a:r>
              <a:rPr lang="en-US" sz="870" b="1" dirty="0">
                <a:solidFill>
                  <a:srgbClr val="64748B"/>
                </a:solidFill>
                <a:latin typeface="Segoe UI" pitchFamily="34" charset="0"/>
                <a:ea typeface="Segoe UI" pitchFamily="34" charset="-122"/>
                <a:cs typeface="Segoe UI" pitchFamily="34" charset="-120"/>
              </a:rPr>
              <a:t> </a:t>
            </a:r>
            <a:pPr algn="l" indent="0" marL="0">
              <a:buNone/>
            </a:pPr>
            <a:r>
              <a:rPr lang="en-US" sz="870" b="1" dirty="0">
                <a:solidFill>
                  <a:srgbClr val="16A34A"/>
                </a:solidFill>
                <a:latin typeface="Segoe UI" pitchFamily="34" charset="0"/>
                <a:ea typeface="Segoe UI" pitchFamily="34" charset="-122"/>
                <a:cs typeface="Segoe UI" pitchFamily="34" charset="-120"/>
              </a:rPr>
              <a:t>+160,6%</a:t>
            </a:r>
            <a:endParaRPr lang="en-US" sz="870" dirty="0"/>
          </a:p>
        </p:txBody>
      </p:sp>
      <p:sp>
        <p:nvSpPr>
          <p:cNvPr id="27" name="Shape 24"/>
          <p:cNvSpPr/>
          <p:nvPr/>
        </p:nvSpPr>
        <p:spPr>
          <a:xfrm>
            <a:off x="6378178" y="3999458"/>
            <a:ext cx="95250" cy="95250"/>
          </a:xfrm>
          <a:prstGeom prst="roundRect">
            <a:avLst>
              <a:gd name="adj" fmla="val 30000"/>
            </a:avLst>
          </a:prstGeom>
          <a:solidFill>
            <a:srgbClr val="0369A1"/>
          </a:solidFill>
          <a:ln/>
        </p:spPr>
      </p:sp>
      <p:sp>
        <p:nvSpPr>
          <p:cNvPr id="28" name="text span"/>
          <p:cNvSpPr txBox="1"/>
          <p:nvPr/>
        </p:nvSpPr>
        <p:spPr>
          <a:xfrm>
            <a:off x="3467100" y="4148557"/>
            <a:ext cx="1344513" cy="159002"/>
          </a:xfrm>
          <a:prstGeom prst="rect">
            <a:avLst/>
          </a:prstGeom>
          <a:noFill/>
          <a:ln/>
        </p:spPr>
        <p:txBody>
          <a:bodyPr wrap="none" lIns="0" tIns="0" rIns="0" bIns="0" rtlCol="0" anchor="ctr"/>
          <a:lstStyle/>
          <a:p>
            <a:pPr algn="l" indent="0" marL="0">
              <a:buNone/>
            </a:pPr>
            <a:r>
              <a:rPr lang="en-US" sz="860" b="1" dirty="0">
                <a:solidFill>
                  <a:srgbClr val="64748B"/>
                </a:solidFill>
                <a:latin typeface="Segoe UI" pitchFamily="34" charset="0"/>
                <a:ea typeface="Segoe UI" pitchFamily="34" charset="-122"/>
                <a:cs typeface="Segoe UI" pitchFamily="34" charset="-120"/>
              </a:rPr>
              <a:t>Đài Loan </a:t>
            </a:r>
            <a:pPr algn="l" indent="0" marL="0">
              <a:buNone/>
            </a:pPr>
            <a:r>
              <a:rPr lang="en-US" sz="860" b="1" dirty="0">
                <a:solidFill>
                  <a:srgbClr val="0F172A"/>
                </a:solidFill>
                <a:latin typeface="Segoe UI" pitchFamily="34" charset="0"/>
                <a:ea typeface="Segoe UI" pitchFamily="34" charset="-122"/>
                <a:cs typeface="Segoe UI" pitchFamily="34" charset="-120"/>
              </a:rPr>
              <a:t>964 ng</a:t>
            </a:r>
            <a:pPr algn="l" indent="0" marL="0">
              <a:buNone/>
            </a:pPr>
            <a:r>
              <a:rPr lang="en-US" sz="860" b="1" dirty="0">
                <a:solidFill>
                  <a:srgbClr val="64748B"/>
                </a:solidFill>
                <a:latin typeface="Segoe UI" pitchFamily="34" charset="0"/>
                <a:ea typeface="Segoe UI" pitchFamily="34" charset="-122"/>
                <a:cs typeface="Segoe UI" pitchFamily="34" charset="-120"/>
              </a:rPr>
              <a:t> +4,1%</a:t>
            </a:r>
            <a:endParaRPr lang="en-US" sz="860" dirty="0"/>
          </a:p>
        </p:txBody>
      </p:sp>
      <p:sp>
        <p:nvSpPr>
          <p:cNvPr id="29" name="Shape 26"/>
          <p:cNvSpPr/>
          <p:nvPr/>
        </p:nvSpPr>
        <p:spPr>
          <a:xfrm>
            <a:off x="3324225" y="4180433"/>
            <a:ext cx="95250" cy="95250"/>
          </a:xfrm>
          <a:prstGeom prst="roundRect">
            <a:avLst>
              <a:gd name="adj" fmla="val 30000"/>
            </a:avLst>
          </a:prstGeom>
          <a:solidFill>
            <a:srgbClr val="38BDF8"/>
          </a:solidFill>
          <a:ln/>
        </p:spPr>
      </p:sp>
      <p:sp>
        <p:nvSpPr>
          <p:cNvPr id="30" name="text span"/>
          <p:cNvSpPr txBox="1"/>
          <p:nvPr/>
        </p:nvSpPr>
        <p:spPr>
          <a:xfrm>
            <a:off x="4954488" y="4149007"/>
            <a:ext cx="682526" cy="158101"/>
          </a:xfrm>
          <a:prstGeom prst="rect">
            <a:avLst/>
          </a:prstGeom>
          <a:noFill/>
          <a:ln/>
        </p:spPr>
        <p:txBody>
          <a:bodyPr wrap="none" lIns="0" tIns="0" rIns="0" bIns="0" rtlCol="0" anchor="ctr"/>
          <a:lstStyle/>
          <a:p>
            <a:pPr algn="l" indent="0" marL="0">
              <a:buNone/>
            </a:pPr>
            <a:r>
              <a:rPr lang="en-US" sz="860" b="1" dirty="0">
                <a:solidFill>
                  <a:srgbClr val="64748B"/>
                </a:solidFill>
                <a:latin typeface="Segoe UI" pitchFamily="34" charset="0"/>
                <a:ea typeface="Segoe UI" pitchFamily="34" charset="-122"/>
                <a:cs typeface="Segoe UI" pitchFamily="34" charset="-120"/>
              </a:rPr>
              <a:t>Mỹ </a:t>
            </a:r>
            <a:pPr algn="l" indent="0" marL="0">
              <a:buNone/>
            </a:pPr>
            <a:r>
              <a:rPr lang="en-US" sz="860" b="1" dirty="0">
                <a:solidFill>
                  <a:srgbClr val="0F172A"/>
                </a:solidFill>
                <a:latin typeface="Segoe UI" pitchFamily="34" charset="0"/>
                <a:ea typeface="Segoe UI" pitchFamily="34" charset="-122"/>
                <a:cs typeface="Segoe UI" pitchFamily="34" charset="-120"/>
              </a:rPr>
              <a:t>764 ng</a:t>
            </a:r>
            <a:endParaRPr lang="en-US" sz="860" dirty="0"/>
          </a:p>
        </p:txBody>
      </p:sp>
      <p:sp>
        <p:nvSpPr>
          <p:cNvPr id="31" name="Shape 28"/>
          <p:cNvSpPr/>
          <p:nvPr/>
        </p:nvSpPr>
        <p:spPr>
          <a:xfrm>
            <a:off x="4811613" y="4180433"/>
            <a:ext cx="95250" cy="95250"/>
          </a:xfrm>
          <a:prstGeom prst="roundRect">
            <a:avLst>
              <a:gd name="adj" fmla="val 30000"/>
            </a:avLst>
          </a:prstGeom>
          <a:solidFill>
            <a:srgbClr val="075985"/>
          </a:solidFill>
          <a:ln/>
        </p:spPr>
      </p:sp>
      <p:sp>
        <p:nvSpPr>
          <p:cNvPr id="32" name="text span"/>
          <p:cNvSpPr txBox="1"/>
          <p:nvPr/>
        </p:nvSpPr>
        <p:spPr>
          <a:xfrm>
            <a:off x="5779889" y="4149000"/>
            <a:ext cx="995511" cy="158117"/>
          </a:xfrm>
          <a:prstGeom prst="rect">
            <a:avLst/>
          </a:prstGeom>
          <a:noFill/>
          <a:ln/>
        </p:spPr>
        <p:txBody>
          <a:bodyPr wrap="none" lIns="0" tIns="0" rIns="0" bIns="0" rtlCol="0" anchor="ctr"/>
          <a:lstStyle/>
          <a:p>
            <a:pPr algn="l" indent="0" marL="0">
              <a:buNone/>
            </a:pPr>
            <a:r>
              <a:rPr lang="en-US" sz="860" b="1" dirty="0">
                <a:solidFill>
                  <a:srgbClr val="64748B"/>
                </a:solidFill>
                <a:latin typeface="Segoe UI" pitchFamily="34" charset="0"/>
                <a:ea typeface="Segoe UI" pitchFamily="34" charset="-122"/>
                <a:cs typeface="Segoe UI" pitchFamily="34" charset="-120"/>
              </a:rPr>
              <a:t>Nhật Bản </a:t>
            </a:r>
            <a:pPr algn="l" indent="0" marL="0">
              <a:buNone/>
            </a:pPr>
            <a:r>
              <a:rPr lang="en-US" sz="860" b="1" dirty="0">
                <a:solidFill>
                  <a:srgbClr val="0F172A"/>
                </a:solidFill>
                <a:latin typeface="Segoe UI" pitchFamily="34" charset="0"/>
                <a:ea typeface="Segoe UI" pitchFamily="34" charset="-122"/>
                <a:cs typeface="Segoe UI" pitchFamily="34" charset="-120"/>
              </a:rPr>
              <a:t>674 ng</a:t>
            </a:r>
            <a:endParaRPr lang="en-US" sz="860" dirty="0"/>
          </a:p>
        </p:txBody>
      </p:sp>
      <p:sp>
        <p:nvSpPr>
          <p:cNvPr id="33" name="Shape 30"/>
          <p:cNvSpPr/>
          <p:nvPr/>
        </p:nvSpPr>
        <p:spPr>
          <a:xfrm>
            <a:off x="5637014" y="4180433"/>
            <a:ext cx="95250" cy="95250"/>
          </a:xfrm>
          <a:prstGeom prst="roundRect">
            <a:avLst>
              <a:gd name="adj" fmla="val 30000"/>
            </a:avLst>
          </a:prstGeom>
          <a:solidFill>
            <a:srgbClr val="7DD3FC"/>
          </a:solidFill>
          <a:ln/>
        </p:spPr>
      </p:sp>
      <p:sp>
        <p:nvSpPr>
          <p:cNvPr id="34" name="text span"/>
          <p:cNvSpPr txBox="1"/>
          <p:nvPr/>
        </p:nvSpPr>
        <p:spPr>
          <a:xfrm>
            <a:off x="6918275" y="4148610"/>
            <a:ext cx="686098" cy="158896"/>
          </a:xfrm>
          <a:prstGeom prst="rect">
            <a:avLst/>
          </a:prstGeom>
          <a:noFill/>
          <a:ln/>
        </p:spPr>
        <p:txBody>
          <a:bodyPr wrap="none" lIns="0" tIns="0" rIns="0" bIns="0" rtlCol="0" anchor="ctr"/>
          <a:lstStyle/>
          <a:p>
            <a:pPr algn="l" indent="0" marL="0">
              <a:buNone/>
            </a:pPr>
            <a:r>
              <a:rPr lang="en-US" sz="860" b="1" dirty="0">
                <a:solidFill>
                  <a:srgbClr val="64748B"/>
                </a:solidFill>
                <a:latin typeface="Segoe UI" pitchFamily="34" charset="0"/>
                <a:ea typeface="Segoe UI" pitchFamily="34" charset="-122"/>
                <a:cs typeface="Segoe UI" pitchFamily="34" charset="-120"/>
              </a:rPr>
              <a:t>Khác </a:t>
            </a:r>
            <a:pPr algn="l" indent="0" marL="0">
              <a:buNone/>
            </a:pPr>
            <a:r>
              <a:rPr lang="en-US" sz="860" b="1" dirty="0">
                <a:solidFill>
                  <a:srgbClr val="0F172A"/>
                </a:solidFill>
                <a:latin typeface="Segoe UI" pitchFamily="34" charset="0"/>
                <a:ea typeface="Segoe UI" pitchFamily="34" charset="-122"/>
                <a:cs typeface="Segoe UI" pitchFamily="34" charset="-120"/>
              </a:rPr>
              <a:t>7,3 tr</a:t>
            </a:r>
            <a:endParaRPr lang="en-US" sz="860" dirty="0"/>
          </a:p>
        </p:txBody>
      </p:sp>
      <p:sp>
        <p:nvSpPr>
          <p:cNvPr id="35" name="Shape 32"/>
          <p:cNvSpPr/>
          <p:nvPr/>
        </p:nvSpPr>
        <p:spPr>
          <a:xfrm>
            <a:off x="6775400" y="4180433"/>
            <a:ext cx="95250" cy="95250"/>
          </a:xfrm>
          <a:prstGeom prst="roundRect">
            <a:avLst>
              <a:gd name="adj" fmla="val 30000"/>
            </a:avLst>
          </a:prstGeom>
          <a:solidFill>
            <a:srgbClr val="BAE6FD"/>
          </a:solidFill>
          <a:ln/>
        </p:spPr>
      </p:sp>
      <p:sp>
        <p:nvSpPr>
          <p:cNvPr id="36" name="fast"/>
          <p:cNvSpPr/>
          <p:nvPr/>
        </p:nvSpPr>
        <p:spPr>
          <a:xfrm>
            <a:off x="3324225" y="4805363"/>
            <a:ext cx="5162550" cy="517922"/>
          </a:xfrm>
          <a:prstGeom prst="roundRect">
            <a:avLst>
              <a:gd name="adj" fmla="val 18391"/>
            </a:avLst>
          </a:prstGeom>
          <a:solidFill>
            <a:srgbClr val="F1F5F9"/>
          </a:solidFill>
          <a:ln/>
        </p:spPr>
      </p:sp>
      <p:sp>
        <p:nvSpPr>
          <p:cNvPr id="37" name="text fast"/>
          <p:cNvSpPr txBox="1"/>
          <p:nvPr/>
        </p:nvSpPr>
        <p:spPr>
          <a:xfrm>
            <a:off x="3457575" y="4890075"/>
            <a:ext cx="4933950" cy="346710"/>
          </a:xfrm>
          <a:prstGeom prst="rect">
            <a:avLst/>
          </a:prstGeom>
          <a:noFill/>
          <a:ln/>
        </p:spPr>
        <p:txBody>
          <a:bodyPr wrap="square" lIns="0" tIns="0" rIns="0" bIns="0" rtlCol="0" anchor="ctr"/>
          <a:lstStyle/>
          <a:p>
            <a:pPr algn="l" indent="0" marL="0">
              <a:lnSpc>
                <a:spcPts val="1370"/>
              </a:lnSpc>
              <a:buNone/>
            </a:pPr>
            <a:r>
              <a:rPr lang="en-US" sz="980" b="1" dirty="0">
                <a:solidFill>
                  <a:srgbClr val="334155"/>
                </a:solidFill>
                <a:latin typeface="Segoe UI" pitchFamily="34" charset="0"/>
                <a:ea typeface="Segoe UI" pitchFamily="34" charset="-122"/>
                <a:cs typeface="Segoe UI" pitchFamily="34" charset="-120"/>
              </a:rPr>
              <a:t>Tăng nhanh nhất: </a:t>
            </a:r>
            <a:pPr algn="l" indent="0" marL="0">
              <a:lnSpc>
                <a:spcPts val="1370"/>
              </a:lnSpc>
              <a:buNone/>
            </a:pPr>
            <a:r>
              <a:rPr lang="en-US" sz="980" dirty="0">
                <a:solidFill>
                  <a:srgbClr val="15803D"/>
                </a:solidFill>
                <a:latin typeface="Segoe UI Black" pitchFamily="34" charset="0"/>
                <a:ea typeface="Segoe UI Black" pitchFamily="34" charset="-122"/>
                <a:cs typeface="Segoe UI Black" pitchFamily="34" charset="-120"/>
              </a:rPr>
              <a:t>châu Âu +55%</a:t>
            </a:r>
            <a:pPr algn="l" indent="0" marL="0">
              <a:lnSpc>
                <a:spcPts val="1370"/>
              </a:lnSpc>
              <a:buNone/>
            </a:pPr>
            <a:r>
              <a:rPr lang="en-US" sz="980" b="1" dirty="0">
                <a:solidFill>
                  <a:srgbClr val="334155"/>
                </a:solidFill>
                <a:latin typeface="Segoe UI" pitchFamily="34" charset="0"/>
                <a:ea typeface="Segoe UI" pitchFamily="34" charset="-122"/>
                <a:cs typeface="Segoe UI" pitchFamily="34" charset="-120"/>
              </a:rPr>
              <a:t> · </a:t>
            </a:r>
            <a:pPr algn="l" indent="0" marL="0">
              <a:lnSpc>
                <a:spcPts val="1370"/>
              </a:lnSpc>
              <a:buNone/>
            </a:pPr>
            <a:r>
              <a:rPr lang="en-US" sz="980" dirty="0">
                <a:solidFill>
                  <a:srgbClr val="15803D"/>
                </a:solidFill>
                <a:latin typeface="Segoe UI Black" pitchFamily="34" charset="0"/>
                <a:ea typeface="Segoe UI Black" pitchFamily="34" charset="-122"/>
                <a:cs typeface="Segoe UI Black" pitchFamily="34" charset="-120"/>
              </a:rPr>
              <a:t>Ấn Độ +33%</a:t>
            </a:r>
            <a:pPr algn="l" indent="0" marL="0">
              <a:lnSpc>
                <a:spcPts val="1370"/>
              </a:lnSpc>
              <a:buNone/>
            </a:pPr>
            <a:r>
              <a:rPr lang="en-US" sz="980" b="1" dirty="0">
                <a:solidFill>
                  <a:srgbClr val="334155"/>
                </a:solidFill>
                <a:latin typeface="Segoe UI" pitchFamily="34" charset="0"/>
                <a:ea typeface="Segoe UI" pitchFamily="34" charset="-122"/>
                <a:cs typeface="Segoe UI" pitchFamily="34" charset="-120"/>
              </a:rPr>
              <a:t> · </a:t>
            </a:r>
            <a:pPr algn="l" indent="0" marL="0">
              <a:lnSpc>
                <a:spcPts val="1370"/>
              </a:lnSpc>
              <a:buNone/>
            </a:pPr>
            <a:r>
              <a:rPr lang="en-US" sz="980" dirty="0">
                <a:solidFill>
                  <a:srgbClr val="15803D"/>
                </a:solidFill>
                <a:latin typeface="Segoe UI Black" pitchFamily="34" charset="0"/>
                <a:ea typeface="Segoe UI Black" pitchFamily="34" charset="-122"/>
                <a:cs typeface="Segoe UI Black" pitchFamily="34" charset="-120"/>
              </a:rPr>
              <a:t>châu Úc +21%</a:t>
            </a:r>
            <a:pPr algn="l" indent="0" marL="0">
              <a:lnSpc>
                <a:spcPts val="1370"/>
              </a:lnSpc>
              <a:buNone/>
            </a:pPr>
            <a:r>
              <a:rPr lang="en-US" sz="980" b="1" dirty="0">
                <a:solidFill>
                  <a:srgbClr val="334155"/>
                </a:solidFill>
                <a:latin typeface="Segoe UI" pitchFamily="34" charset="0"/>
                <a:ea typeface="Segoe UI" pitchFamily="34" charset="-122"/>
                <a:cs typeface="Segoe UI" pitchFamily="34" charset="-120"/>
              </a:rPr>
              <a:t> · </a:t>
            </a:r>
            <a:pPr algn="l" indent="0" marL="0">
              <a:lnSpc>
                <a:spcPts val="1370"/>
              </a:lnSpc>
              <a:buNone/>
            </a:pPr>
            <a:r>
              <a:rPr lang="en-US" sz="980" dirty="0">
                <a:solidFill>
                  <a:srgbClr val="15803D"/>
                </a:solidFill>
                <a:latin typeface="Segoe UI Black" pitchFamily="34" charset="0"/>
                <a:ea typeface="Segoe UI Black" pitchFamily="34" charset="-122"/>
                <a:cs typeface="Segoe UI Black" pitchFamily="34" charset="-120"/>
              </a:rPr>
              <a:t>châu Mỹ +20%</a:t>
            </a:r>
            <a:endParaRPr lang="en-US" sz="980" dirty="0"/>
          </a:p>
        </p:txBody>
      </p:sp>
      <p:sp>
        <p:nvSpPr>
          <p:cNvPr id="38" name="card rose"/>
          <p:cNvSpPr/>
          <p:nvPr/>
        </p:nvSpPr>
        <p:spPr>
          <a:xfrm>
            <a:off x="8824913" y="1174552"/>
            <a:ext cx="2752725" cy="4305895"/>
          </a:xfrm>
          <a:prstGeom prst="roundRect">
            <a:avLst>
              <a:gd name="adj" fmla="val 4671"/>
            </a:avLst>
          </a:prstGeom>
          <a:solidFill>
            <a:srgbClr val="FFF1F2"/>
          </a:solidFill>
          <a:ln w="9525">
            <a:solidFill>
              <a:srgbClr val="FECDD3"/>
            </a:solidFill>
            <a:prstDash val="solid"/>
          </a:ln>
        </p:spPr>
      </p:sp>
      <p:sp>
        <p:nvSpPr>
          <p:cNvPr id="39" name="text label red"/>
          <p:cNvSpPr txBox="1"/>
          <p:nvPr/>
        </p:nvSpPr>
        <p:spPr>
          <a:xfrm>
            <a:off x="9020175" y="1320284"/>
            <a:ext cx="1549152" cy="165735"/>
          </a:xfrm>
          <a:prstGeom prst="rect">
            <a:avLst/>
          </a:prstGeom>
          <a:noFill/>
          <a:ln/>
        </p:spPr>
        <p:txBody>
          <a:bodyPr wrap="none" lIns="0" tIns="0" rIns="0" bIns="0" rtlCol="0" anchor="ctr"/>
          <a:lstStyle/>
          <a:p>
            <a:pPr algn="l" indent="0" marL="0">
              <a:buNone/>
            </a:pPr>
            <a:r>
              <a:rPr lang="en-US" sz="900" b="1" spc="40" kern="0" dirty="0">
                <a:solidFill>
                  <a:srgbClr val="E11D48"/>
                </a:solidFill>
                <a:latin typeface="Segoe UI" pitchFamily="34" charset="0"/>
                <a:ea typeface="Segoe UI" pitchFamily="34" charset="-122"/>
                <a:cs typeface="Segoe UI" pitchFamily="34" charset="-120"/>
              </a:rPr>
              <a:t>KHÁCH QUỐC TẾ NÓI GÌ</a:t>
            </a:r>
            <a:endParaRPr lang="en-US" sz="900" dirty="0"/>
          </a:p>
        </p:txBody>
      </p:sp>
      <p:sp>
        <p:nvSpPr>
          <p:cNvPr id="40" name="text t"/>
          <p:cNvSpPr txBox="1"/>
          <p:nvPr/>
        </p:nvSpPr>
        <p:spPr>
          <a:xfrm>
            <a:off x="9020175" y="1571863"/>
            <a:ext cx="2357533" cy="186452"/>
          </a:xfrm>
          <a:prstGeom prst="rect">
            <a:avLst/>
          </a:prstGeom>
          <a:noFill/>
          <a:ln/>
        </p:spPr>
        <p:txBody>
          <a:bodyPr wrap="none" lIns="0" tIns="0" rIns="0" bIns="0" rtlCol="0" anchor="ctr"/>
          <a:lstStyle/>
          <a:p>
            <a:pPr algn="l" indent="0" marL="0">
              <a:buNone/>
            </a:pPr>
            <a:r>
              <a:rPr lang="en-US" sz="1010" b="1" dirty="0">
                <a:solidFill>
                  <a:srgbClr val="0F172A"/>
                </a:solidFill>
                <a:latin typeface="Segoe UI" pitchFamily="34" charset="0"/>
                <a:ea typeface="Segoe UI" pitchFamily="34" charset="-122"/>
                <a:cs typeface="Segoe UI" pitchFamily="34" charset="-120"/>
              </a:rPr>
              <a:t>Phải xoay xở khi không trả được thẻ</a:t>
            </a:r>
            <a:endParaRPr lang="en-US" sz="1010" dirty="0"/>
          </a:p>
        </p:txBody>
      </p:sp>
      <p:pic>
        <p:nvPicPr>
          <p:cNvPr id="41" name="graphic svg" descr="svg">    </p:cNvPr>
          <p:cNvPicPr>
            <a:picLocks noChangeAspect="1"/>
          </p:cNvPicPr>
          <p:nvPr/>
        </p:nvPicPr>
        <p:blipFill>
          <a:blip r:embed="rId2"/>
          <a:stretch>
            <a:fillRect/>
          </a:stretch>
        </p:blipFill>
        <p:spPr>
          <a:xfrm>
            <a:off x="9020175" y="1813173"/>
            <a:ext cx="952500" cy="952500"/>
          </a:xfrm>
          <a:prstGeom prst="rect">
            <a:avLst/>
          </a:prstGeom>
        </p:spPr>
      </p:pic>
      <p:sp>
        <p:nvSpPr>
          <p:cNvPr id="42" name="text span"/>
          <p:cNvSpPr txBox="1"/>
          <p:nvPr/>
        </p:nvSpPr>
        <p:spPr>
          <a:xfrm>
            <a:off x="10210800" y="1949118"/>
            <a:ext cx="689074" cy="166260"/>
          </a:xfrm>
          <a:prstGeom prst="rect">
            <a:avLst/>
          </a:prstGeom>
          <a:noFill/>
          <a:ln/>
        </p:spPr>
        <p:txBody>
          <a:bodyPr wrap="none" lIns="0" tIns="0" rIns="0" bIns="0" rtlCol="0" anchor="ctr"/>
          <a:lstStyle/>
          <a:p>
            <a:pPr algn="l" indent="0" marL="0">
              <a:buNone/>
            </a:pPr>
            <a:r>
              <a:rPr lang="en-US" sz="900" dirty="0">
                <a:solidFill>
                  <a:srgbClr val="334155"/>
                </a:solidFill>
                <a:latin typeface="Segoe UI Semibold" pitchFamily="34" charset="0"/>
                <a:ea typeface="Segoe UI Semibold" pitchFamily="34" charset="-122"/>
                <a:cs typeface="Segoe UI Semibold" pitchFamily="34" charset="-120"/>
              </a:rPr>
              <a:t>Nhờ trả hộ</a:t>
            </a:r>
            <a:endParaRPr lang="en-US" sz="900" dirty="0"/>
          </a:p>
        </p:txBody>
      </p:sp>
      <p:sp>
        <p:nvSpPr>
          <p:cNvPr id="43" name="Shape 39"/>
          <p:cNvSpPr/>
          <p:nvPr/>
        </p:nvSpPr>
        <p:spPr>
          <a:xfrm>
            <a:off x="10067925" y="1989386"/>
            <a:ext cx="85725" cy="85725"/>
          </a:xfrm>
          <a:prstGeom prst="roundRect">
            <a:avLst>
              <a:gd name="adj" fmla="val 22222"/>
            </a:avLst>
          </a:prstGeom>
          <a:solidFill>
            <a:srgbClr val="E11D48"/>
          </a:solidFill>
          <a:ln/>
        </p:spPr>
      </p:sp>
      <p:sp>
        <p:nvSpPr>
          <p:cNvPr id="44" name="text b"/>
          <p:cNvSpPr txBox="1"/>
          <p:nvPr/>
        </p:nvSpPr>
        <p:spPr>
          <a:xfrm>
            <a:off x="11036796" y="1946692"/>
            <a:ext cx="397520" cy="171112"/>
          </a:xfrm>
          <a:prstGeom prst="rect">
            <a:avLst/>
          </a:prstGeom>
          <a:noFill/>
          <a:ln/>
        </p:spPr>
        <p:txBody>
          <a:bodyPr wrap="none" lIns="0" tIns="0" rIns="0" bIns="0" rtlCol="0" anchor="ctr"/>
          <a:lstStyle/>
          <a:p>
            <a:pPr algn="r" indent="0" marL="0">
              <a:buNone/>
            </a:pPr>
            <a:r>
              <a:rPr lang="en-US" sz="930" b="1" dirty="0">
                <a:solidFill>
                  <a:srgbClr val="0F172A"/>
                </a:solidFill>
                <a:latin typeface="Segoe UI" pitchFamily="34" charset="0"/>
                <a:ea typeface="Segoe UI" pitchFamily="34" charset="-122"/>
                <a:cs typeface="Segoe UI" pitchFamily="34" charset="-120"/>
              </a:rPr>
              <a:t>30%</a:t>
            </a:r>
            <a:endParaRPr lang="en-US" sz="930" dirty="0"/>
          </a:p>
        </p:txBody>
      </p:sp>
      <p:sp>
        <p:nvSpPr>
          <p:cNvPr id="45" name="text span"/>
          <p:cNvSpPr txBox="1"/>
          <p:nvPr/>
        </p:nvSpPr>
        <p:spPr>
          <a:xfrm>
            <a:off x="10210800" y="2120568"/>
            <a:ext cx="769590" cy="166260"/>
          </a:xfrm>
          <a:prstGeom prst="rect">
            <a:avLst/>
          </a:prstGeom>
          <a:noFill/>
          <a:ln/>
        </p:spPr>
        <p:txBody>
          <a:bodyPr wrap="none" lIns="0" tIns="0" rIns="0" bIns="0" rtlCol="0" anchor="ctr"/>
          <a:lstStyle/>
          <a:p>
            <a:pPr algn="l" indent="0" marL="0">
              <a:buNone/>
            </a:pPr>
            <a:r>
              <a:rPr lang="en-US" sz="900" dirty="0">
                <a:solidFill>
                  <a:srgbClr val="334155"/>
                </a:solidFill>
                <a:latin typeface="Segoe UI Semibold" pitchFamily="34" charset="0"/>
                <a:ea typeface="Segoe UI Semibold" pitchFamily="34" charset="-122"/>
                <a:cs typeface="Segoe UI Semibold" pitchFamily="34" charset="-120"/>
              </a:rPr>
              <a:t>Rút, đổi tiền</a:t>
            </a:r>
            <a:endParaRPr lang="en-US" sz="900" dirty="0"/>
          </a:p>
        </p:txBody>
      </p:sp>
      <p:sp>
        <p:nvSpPr>
          <p:cNvPr id="46" name="Shape 42"/>
          <p:cNvSpPr/>
          <p:nvPr/>
        </p:nvSpPr>
        <p:spPr>
          <a:xfrm>
            <a:off x="10067925" y="2160836"/>
            <a:ext cx="85725" cy="85725"/>
          </a:xfrm>
          <a:prstGeom prst="roundRect">
            <a:avLst>
              <a:gd name="adj" fmla="val 22222"/>
            </a:avLst>
          </a:prstGeom>
          <a:solidFill>
            <a:srgbClr val="F43F5E"/>
          </a:solidFill>
          <a:ln/>
        </p:spPr>
      </p:sp>
      <p:sp>
        <p:nvSpPr>
          <p:cNvPr id="47" name="text b"/>
          <p:cNvSpPr txBox="1"/>
          <p:nvPr/>
        </p:nvSpPr>
        <p:spPr>
          <a:xfrm>
            <a:off x="11039029" y="2118816"/>
            <a:ext cx="395287" cy="169763"/>
          </a:xfrm>
          <a:prstGeom prst="rect">
            <a:avLst/>
          </a:prstGeom>
          <a:noFill/>
          <a:ln/>
        </p:spPr>
        <p:txBody>
          <a:bodyPr wrap="none" lIns="0" tIns="0" rIns="0" bIns="0" rtlCol="0" anchor="ctr"/>
          <a:lstStyle/>
          <a:p>
            <a:pPr algn="r" indent="0" marL="0">
              <a:buNone/>
            </a:pPr>
            <a:r>
              <a:rPr lang="en-US" sz="920" b="1" dirty="0">
                <a:solidFill>
                  <a:srgbClr val="0F172A"/>
                </a:solidFill>
                <a:latin typeface="Segoe UI" pitchFamily="34" charset="0"/>
                <a:ea typeface="Segoe UI" pitchFamily="34" charset="-122"/>
                <a:cs typeface="Segoe UI" pitchFamily="34" charset="-120"/>
              </a:rPr>
              <a:t>20%</a:t>
            </a:r>
            <a:endParaRPr lang="en-US" sz="920" dirty="0"/>
          </a:p>
        </p:txBody>
      </p:sp>
      <p:sp>
        <p:nvSpPr>
          <p:cNvPr id="48" name="text span"/>
          <p:cNvSpPr txBox="1"/>
          <p:nvPr/>
        </p:nvSpPr>
        <p:spPr>
          <a:xfrm>
            <a:off x="10210800" y="2292018"/>
            <a:ext cx="997446" cy="166260"/>
          </a:xfrm>
          <a:prstGeom prst="rect">
            <a:avLst/>
          </a:prstGeom>
          <a:noFill/>
          <a:ln/>
        </p:spPr>
        <p:txBody>
          <a:bodyPr wrap="none" lIns="0" tIns="0" rIns="0" bIns="0" rtlCol="0" anchor="ctr"/>
          <a:lstStyle/>
          <a:p>
            <a:pPr algn="l" indent="0" marL="0">
              <a:buNone/>
            </a:pPr>
            <a:r>
              <a:rPr lang="en-US" sz="900" dirty="0">
                <a:solidFill>
                  <a:srgbClr val="334155"/>
                </a:solidFill>
                <a:latin typeface="Segoe UI Semibold" pitchFamily="34" charset="0"/>
                <a:ea typeface="Segoe UI Semibold" pitchFamily="34" charset="-122"/>
                <a:cs typeface="Segoe UI Semibold" pitchFamily="34" charset="-120"/>
              </a:rPr>
              <a:t>Sang quán khác</a:t>
            </a:r>
            <a:endParaRPr lang="en-US" sz="900" dirty="0"/>
          </a:p>
        </p:txBody>
      </p:sp>
      <p:sp>
        <p:nvSpPr>
          <p:cNvPr id="49" name="Shape 45"/>
          <p:cNvSpPr/>
          <p:nvPr/>
        </p:nvSpPr>
        <p:spPr>
          <a:xfrm>
            <a:off x="10067925" y="2332286"/>
            <a:ext cx="85725" cy="85725"/>
          </a:xfrm>
          <a:prstGeom prst="roundRect">
            <a:avLst>
              <a:gd name="adj" fmla="val 22222"/>
            </a:avLst>
          </a:prstGeom>
          <a:solidFill>
            <a:srgbClr val="FB7185"/>
          </a:solidFill>
          <a:ln/>
        </p:spPr>
      </p:sp>
      <p:sp>
        <p:nvSpPr>
          <p:cNvPr id="50" name="text b"/>
          <p:cNvSpPr txBox="1"/>
          <p:nvPr/>
        </p:nvSpPr>
        <p:spPr>
          <a:xfrm>
            <a:off x="11036796" y="2289592"/>
            <a:ext cx="397520" cy="171112"/>
          </a:xfrm>
          <a:prstGeom prst="rect">
            <a:avLst/>
          </a:prstGeom>
          <a:noFill/>
          <a:ln/>
        </p:spPr>
        <p:txBody>
          <a:bodyPr wrap="none" lIns="0" tIns="0" rIns="0" bIns="0" rtlCol="0" anchor="ctr"/>
          <a:lstStyle/>
          <a:p>
            <a:pPr algn="r" indent="0" marL="0">
              <a:buNone/>
            </a:pPr>
            <a:r>
              <a:rPr lang="en-US" sz="930" b="1" dirty="0">
                <a:solidFill>
                  <a:srgbClr val="0F172A"/>
                </a:solidFill>
                <a:latin typeface="Segoe UI" pitchFamily="34" charset="0"/>
                <a:ea typeface="Segoe UI" pitchFamily="34" charset="-122"/>
                <a:cs typeface="Segoe UI" pitchFamily="34" charset="-120"/>
              </a:rPr>
              <a:t>30%</a:t>
            </a:r>
            <a:endParaRPr lang="en-US" sz="930" dirty="0"/>
          </a:p>
        </p:txBody>
      </p:sp>
      <p:sp>
        <p:nvSpPr>
          <p:cNvPr id="51" name="text no"/>
          <p:cNvSpPr txBox="1"/>
          <p:nvPr/>
        </p:nvSpPr>
        <p:spPr>
          <a:xfrm>
            <a:off x="10210800" y="2463468"/>
            <a:ext cx="741462" cy="166260"/>
          </a:xfrm>
          <a:prstGeom prst="rect">
            <a:avLst/>
          </a:prstGeom>
          <a:noFill/>
          <a:ln/>
        </p:spPr>
        <p:txBody>
          <a:bodyPr wrap="none" lIns="0" tIns="0" rIns="0" bIns="0" rtlCol="0" anchor="ctr"/>
          <a:lstStyle/>
          <a:p>
            <a:pPr algn="l" indent="0" marL="0">
              <a:buNone/>
            </a:pPr>
            <a:r>
              <a:rPr lang="en-US" sz="900" dirty="0">
                <a:solidFill>
                  <a:srgbClr val="64748B"/>
                </a:solidFill>
                <a:latin typeface="Segoe UI Semibold" pitchFamily="34" charset="0"/>
                <a:ea typeface="Segoe UI Semibold" pitchFamily="34" charset="-122"/>
                <a:cs typeface="Segoe UI Semibold" pitchFamily="34" charset="-120"/>
              </a:rPr>
              <a:t>Không phải</a:t>
            </a:r>
            <a:endParaRPr lang="en-US" sz="900" dirty="0"/>
          </a:p>
        </p:txBody>
      </p:sp>
      <p:sp>
        <p:nvSpPr>
          <p:cNvPr id="52" name="Shape 48"/>
          <p:cNvSpPr/>
          <p:nvPr/>
        </p:nvSpPr>
        <p:spPr>
          <a:xfrm>
            <a:off x="10067925" y="2503736"/>
            <a:ext cx="85725" cy="85725"/>
          </a:xfrm>
          <a:prstGeom prst="roundRect">
            <a:avLst>
              <a:gd name="adj" fmla="val 22222"/>
            </a:avLst>
          </a:prstGeom>
          <a:solidFill>
            <a:srgbClr val="CBD5E1"/>
          </a:solidFill>
          <a:ln/>
        </p:spPr>
      </p:sp>
      <p:sp>
        <p:nvSpPr>
          <p:cNvPr id="53" name="text b"/>
          <p:cNvSpPr txBox="1"/>
          <p:nvPr/>
        </p:nvSpPr>
        <p:spPr>
          <a:xfrm>
            <a:off x="11039029" y="2461716"/>
            <a:ext cx="395287" cy="169763"/>
          </a:xfrm>
          <a:prstGeom prst="rect">
            <a:avLst/>
          </a:prstGeom>
          <a:noFill/>
          <a:ln/>
        </p:spPr>
        <p:txBody>
          <a:bodyPr wrap="none" lIns="0" tIns="0" rIns="0" bIns="0" rtlCol="0" anchor="ctr"/>
          <a:lstStyle/>
          <a:p>
            <a:pPr algn="r" indent="0" marL="0">
              <a:buNone/>
            </a:pPr>
            <a:r>
              <a:rPr lang="en-US" sz="920" b="1" dirty="0">
                <a:solidFill>
                  <a:srgbClr val="64748B"/>
                </a:solidFill>
                <a:latin typeface="Segoe UI" pitchFamily="34" charset="0"/>
                <a:ea typeface="Segoe UI" pitchFamily="34" charset="-122"/>
                <a:cs typeface="Segoe UI" pitchFamily="34" charset="-120"/>
              </a:rPr>
              <a:t>20%</a:t>
            </a:r>
            <a:endParaRPr lang="en-US" sz="920" dirty="0"/>
          </a:p>
        </p:txBody>
      </p:sp>
      <p:sp>
        <p:nvSpPr>
          <p:cNvPr id="54" name="text t"/>
          <p:cNvSpPr txBox="1"/>
          <p:nvPr/>
        </p:nvSpPr>
        <p:spPr>
          <a:xfrm>
            <a:off x="9020175" y="2872576"/>
            <a:ext cx="2400300" cy="334328"/>
          </a:xfrm>
          <a:prstGeom prst="rect">
            <a:avLst/>
          </a:prstGeom>
          <a:noFill/>
          <a:ln/>
        </p:spPr>
        <p:txBody>
          <a:bodyPr wrap="square" lIns="0" tIns="0" rIns="0" bIns="0" rtlCol="0" anchor="ctr"/>
          <a:lstStyle/>
          <a:p>
            <a:pPr algn="l" indent="0" marL="0">
              <a:lnSpc>
                <a:spcPts val="1320"/>
              </a:lnSpc>
              <a:buNone/>
            </a:pPr>
            <a:r>
              <a:rPr lang="en-US" sz="1010" b="1" dirty="0">
                <a:solidFill>
                  <a:srgbClr val="0F172A"/>
                </a:solidFill>
                <a:latin typeface="Segoe UI" pitchFamily="34" charset="0"/>
                <a:ea typeface="Segoe UI" pitchFamily="34" charset="-122"/>
                <a:cs typeface="Segoe UI" pitchFamily="34" charset="-120"/>
              </a:rPr>
              <a:t>Khó trả nhất ở quán ăn, cà phê, điểm tham quan</a:t>
            </a:r>
            <a:endParaRPr lang="en-US" sz="1010" dirty="0"/>
          </a:p>
        </p:txBody>
      </p:sp>
      <p:sp>
        <p:nvSpPr>
          <p:cNvPr id="55" name="bar"/>
          <p:cNvSpPr/>
          <p:nvPr/>
        </p:nvSpPr>
        <p:spPr>
          <a:xfrm>
            <a:off x="9020175" y="3299966"/>
            <a:ext cx="1847850" cy="95250"/>
          </a:xfrm>
          <a:prstGeom prst="roundRect">
            <a:avLst>
              <a:gd name="adj" fmla="val 50000"/>
            </a:avLst>
          </a:prstGeom>
          <a:solidFill>
            <a:srgbClr val="FFFFFF"/>
          </a:solidFill>
          <a:ln/>
        </p:spPr>
      </p:sp>
      <p:sp>
        <p:nvSpPr>
          <p:cNvPr id="56" name="Shape 52"/>
          <p:cNvSpPr/>
          <p:nvPr/>
        </p:nvSpPr>
        <p:spPr>
          <a:xfrm>
            <a:off x="9020175" y="3299966"/>
            <a:ext cx="1293465" cy="95250"/>
          </a:xfrm>
          <a:prstGeom prst="roundRect">
            <a:avLst>
              <a:gd name="adj" fmla="val 50000"/>
            </a:avLst>
          </a:prstGeom>
          <a:solidFill>
            <a:srgbClr val="E11D48"/>
          </a:solidFill>
          <a:ln/>
        </p:spPr>
      </p:sp>
      <p:sp>
        <p:nvSpPr>
          <p:cNvPr id="57" name="text b"/>
          <p:cNvSpPr txBox="1"/>
          <p:nvPr/>
        </p:nvSpPr>
        <p:spPr>
          <a:xfrm>
            <a:off x="10918478" y="3237101"/>
            <a:ext cx="463897" cy="220980"/>
          </a:xfrm>
          <a:prstGeom prst="rect">
            <a:avLst/>
          </a:prstGeom>
          <a:noFill/>
          <a:ln/>
        </p:spPr>
        <p:txBody>
          <a:bodyPr wrap="none" lIns="0" tIns="0" rIns="0" bIns="0" rtlCol="0" anchor="ctr"/>
          <a:lstStyle/>
          <a:p>
            <a:pPr algn="r" indent="0" marL="0">
              <a:buNone/>
            </a:pPr>
            <a:r>
              <a:rPr lang="en-US" sz="1200" b="1" dirty="0">
                <a:solidFill>
                  <a:srgbClr val="E11D48"/>
                </a:solidFill>
                <a:latin typeface="Segoe UI" pitchFamily="34" charset="0"/>
                <a:ea typeface="Segoe UI" pitchFamily="34" charset="-122"/>
                <a:cs typeface="Segoe UI" pitchFamily="34" charset="-120"/>
              </a:rPr>
              <a:t>70%</a:t>
            </a:r>
            <a:endParaRPr lang="en-US" sz="1200" dirty="0"/>
          </a:p>
        </p:txBody>
      </p:sp>
      <p:sp>
        <p:nvSpPr>
          <p:cNvPr id="58" name="text t"/>
          <p:cNvSpPr txBox="1"/>
          <p:nvPr/>
        </p:nvSpPr>
        <p:spPr>
          <a:xfrm>
            <a:off x="9020175" y="3540115"/>
            <a:ext cx="1588443" cy="186452"/>
          </a:xfrm>
          <a:prstGeom prst="rect">
            <a:avLst/>
          </a:prstGeom>
          <a:noFill/>
          <a:ln/>
        </p:spPr>
        <p:txBody>
          <a:bodyPr wrap="none" lIns="0" tIns="0" rIns="0" bIns="0" rtlCol="0" anchor="ctr"/>
          <a:lstStyle/>
          <a:p>
            <a:pPr algn="l" indent="0" marL="0">
              <a:buNone/>
            </a:pPr>
            <a:r>
              <a:rPr lang="en-US" sz="1010" b="1" dirty="0">
                <a:solidFill>
                  <a:srgbClr val="0F172A"/>
                </a:solidFill>
                <a:latin typeface="Segoe UI" pitchFamily="34" charset="0"/>
                <a:ea typeface="Segoe UI" pitchFamily="34" charset="-122"/>
                <a:cs typeface="Segoe UI" pitchFamily="34" charset="-120"/>
              </a:rPr>
              <a:t>Vẫn phải mang tiền mặt</a:t>
            </a:r>
            <a:endParaRPr lang="en-US" sz="1010" dirty="0"/>
          </a:p>
        </p:txBody>
      </p:sp>
      <p:sp>
        <p:nvSpPr>
          <p:cNvPr id="59" name="bar"/>
          <p:cNvSpPr/>
          <p:nvPr/>
        </p:nvSpPr>
        <p:spPr>
          <a:xfrm>
            <a:off x="9020175" y="3810000"/>
            <a:ext cx="1847850" cy="95250"/>
          </a:xfrm>
          <a:prstGeom prst="roundRect">
            <a:avLst>
              <a:gd name="adj" fmla="val 50000"/>
            </a:avLst>
          </a:prstGeom>
          <a:solidFill>
            <a:srgbClr val="FFFFFF"/>
          </a:solidFill>
          <a:ln/>
        </p:spPr>
      </p:sp>
      <p:sp>
        <p:nvSpPr>
          <p:cNvPr id="60" name="Shape 56"/>
          <p:cNvSpPr/>
          <p:nvPr/>
        </p:nvSpPr>
        <p:spPr>
          <a:xfrm>
            <a:off x="9020175" y="3810000"/>
            <a:ext cx="923925" cy="95250"/>
          </a:xfrm>
          <a:prstGeom prst="roundRect">
            <a:avLst>
              <a:gd name="adj" fmla="val 50000"/>
            </a:avLst>
          </a:prstGeom>
          <a:solidFill>
            <a:srgbClr val="E11D48"/>
          </a:solidFill>
          <a:ln/>
        </p:spPr>
      </p:sp>
      <p:sp>
        <p:nvSpPr>
          <p:cNvPr id="61" name="text b"/>
          <p:cNvSpPr txBox="1"/>
          <p:nvPr/>
        </p:nvSpPr>
        <p:spPr>
          <a:xfrm>
            <a:off x="10909102" y="3747135"/>
            <a:ext cx="473273" cy="220980"/>
          </a:xfrm>
          <a:prstGeom prst="rect">
            <a:avLst/>
          </a:prstGeom>
          <a:noFill/>
          <a:ln/>
        </p:spPr>
        <p:txBody>
          <a:bodyPr wrap="none" lIns="0" tIns="0" rIns="0" bIns="0" rtlCol="0" anchor="ctr"/>
          <a:lstStyle/>
          <a:p>
            <a:pPr algn="r" indent="0" marL="0">
              <a:buNone/>
            </a:pPr>
            <a:r>
              <a:rPr lang="en-US" sz="1200" b="1" dirty="0">
                <a:solidFill>
                  <a:srgbClr val="E11D48"/>
                </a:solidFill>
                <a:latin typeface="Segoe UI" pitchFamily="34" charset="0"/>
                <a:ea typeface="Segoe UI" pitchFamily="34" charset="-122"/>
                <a:cs typeface="Segoe UI" pitchFamily="34" charset="-120"/>
              </a:rPr>
              <a:t>50%</a:t>
            </a:r>
            <a:endParaRPr lang="en-US" sz="1200" dirty="0"/>
          </a:p>
        </p:txBody>
      </p:sp>
      <p:sp>
        <p:nvSpPr>
          <p:cNvPr id="62" name="text t"/>
          <p:cNvSpPr txBox="1"/>
          <p:nvPr/>
        </p:nvSpPr>
        <p:spPr>
          <a:xfrm>
            <a:off x="9020175" y="4050149"/>
            <a:ext cx="2189363" cy="186452"/>
          </a:xfrm>
          <a:prstGeom prst="rect">
            <a:avLst/>
          </a:prstGeom>
          <a:noFill/>
          <a:ln/>
        </p:spPr>
        <p:txBody>
          <a:bodyPr wrap="none" lIns="0" tIns="0" rIns="0" bIns="0" rtlCol="0" anchor="ctr"/>
          <a:lstStyle/>
          <a:p>
            <a:pPr algn="l" indent="0" marL="0">
              <a:buNone/>
            </a:pPr>
            <a:r>
              <a:rPr lang="en-US" sz="1010" b="1" dirty="0">
                <a:solidFill>
                  <a:srgbClr val="0F172A"/>
                </a:solidFill>
                <a:latin typeface="Segoe UI" pitchFamily="34" charset="0"/>
                <a:ea typeface="Segoe UI" pitchFamily="34" charset="-122"/>
                <a:cs typeface="Segoe UI" pitchFamily="34" charset="-120"/>
              </a:rPr>
              <a:t>Sẵn sàng dùng cách mới nếu tiện</a:t>
            </a:r>
            <a:endParaRPr lang="en-US" sz="1010" dirty="0"/>
          </a:p>
        </p:txBody>
      </p:sp>
      <p:sp>
        <p:nvSpPr>
          <p:cNvPr id="63" name="bar"/>
          <p:cNvSpPr/>
          <p:nvPr/>
        </p:nvSpPr>
        <p:spPr>
          <a:xfrm>
            <a:off x="9020175" y="4320034"/>
            <a:ext cx="1847850" cy="95250"/>
          </a:xfrm>
          <a:prstGeom prst="roundRect">
            <a:avLst>
              <a:gd name="adj" fmla="val 50000"/>
            </a:avLst>
          </a:prstGeom>
          <a:solidFill>
            <a:srgbClr val="FFFFFF"/>
          </a:solidFill>
          <a:ln/>
        </p:spPr>
      </p:sp>
      <p:sp>
        <p:nvSpPr>
          <p:cNvPr id="64" name="Shape 60"/>
          <p:cNvSpPr/>
          <p:nvPr/>
        </p:nvSpPr>
        <p:spPr>
          <a:xfrm>
            <a:off x="9020175" y="4320034"/>
            <a:ext cx="1293465" cy="95250"/>
          </a:xfrm>
          <a:prstGeom prst="roundRect">
            <a:avLst>
              <a:gd name="adj" fmla="val 50000"/>
            </a:avLst>
          </a:prstGeom>
          <a:solidFill>
            <a:srgbClr val="16A34A"/>
          </a:solidFill>
          <a:ln/>
        </p:spPr>
      </p:sp>
      <p:sp>
        <p:nvSpPr>
          <p:cNvPr id="65" name="text b"/>
          <p:cNvSpPr txBox="1"/>
          <p:nvPr/>
        </p:nvSpPr>
        <p:spPr>
          <a:xfrm>
            <a:off x="10918478" y="4257169"/>
            <a:ext cx="463897" cy="220980"/>
          </a:xfrm>
          <a:prstGeom prst="rect">
            <a:avLst/>
          </a:prstGeom>
          <a:noFill/>
          <a:ln/>
        </p:spPr>
        <p:txBody>
          <a:bodyPr wrap="none" lIns="0" tIns="0" rIns="0" bIns="0" rtlCol="0" anchor="ctr"/>
          <a:lstStyle/>
          <a:p>
            <a:pPr algn="r" indent="0" marL="0">
              <a:buNone/>
            </a:pPr>
            <a:r>
              <a:rPr lang="en-US" sz="1200" b="1" dirty="0">
                <a:solidFill>
                  <a:srgbClr val="16A34A"/>
                </a:solidFill>
                <a:latin typeface="Segoe UI" pitchFamily="34" charset="0"/>
                <a:ea typeface="Segoe UI" pitchFamily="34" charset="-122"/>
                <a:cs typeface="Segoe UI" pitchFamily="34" charset="-120"/>
              </a:rPr>
              <a:t>70%</a:t>
            </a:r>
            <a:endParaRPr lang="en-US" sz="1200" dirty="0"/>
          </a:p>
        </p:txBody>
      </p:sp>
      <p:sp>
        <p:nvSpPr>
          <p:cNvPr id="66" name="text cap"/>
          <p:cNvSpPr txBox="1"/>
          <p:nvPr/>
        </p:nvSpPr>
        <p:spPr>
          <a:xfrm>
            <a:off x="9020175" y="5023381"/>
            <a:ext cx="2400300" cy="293370"/>
          </a:xfrm>
          <a:prstGeom prst="rect">
            <a:avLst/>
          </a:prstGeom>
          <a:noFill/>
          <a:ln/>
        </p:spPr>
        <p:txBody>
          <a:bodyPr wrap="square" lIns="0" tIns="0" rIns="0" bIns="0" rtlCol="0" anchor="ctr"/>
          <a:lstStyle/>
          <a:p>
            <a:pPr algn="l" indent="0" marL="0">
              <a:lnSpc>
                <a:spcPts val="1160"/>
              </a:lnSpc>
              <a:buNone/>
            </a:pPr>
            <a:r>
              <a:rPr lang="en-US" sz="830" dirty="0">
                <a:solidFill>
                  <a:srgbClr val="94A3B8"/>
                </a:solidFill>
                <a:latin typeface="Segoe UI Semibold" pitchFamily="34" charset="0"/>
                <a:ea typeface="Segoe UI Semibold" pitchFamily="34" charset="-122"/>
                <a:cs typeface="Segoe UI Semibold" pitchFamily="34" charset="-120"/>
              </a:rPr>
              <a:t>Tỉ lệ người được hỏi. Khảo sát thăm dò, 16/10/2026.</a:t>
            </a:r>
            <a:endParaRPr lang="en-US" sz="830" dirty="0"/>
          </a:p>
        </p:txBody>
      </p:sp>
      <p:sp>
        <p:nvSpPr>
          <p:cNvPr id="67" name="takeaway __nops"/>
          <p:cNvSpPr/>
          <p:nvPr/>
        </p:nvSpPr>
        <p:spPr>
          <a:xfrm>
            <a:off x="614363" y="5623322"/>
            <a:ext cx="10963275" cy="525066"/>
          </a:xfrm>
          <a:prstGeom prst="roundRect">
            <a:avLst>
              <a:gd name="adj" fmla="val 24490"/>
            </a:avLst>
          </a:prstGeom>
          <a:solidFill>
            <a:srgbClr val="EEFBF3"/>
          </a:solidFill>
          <a:ln w="9525">
            <a:solidFill>
              <a:srgbClr val="86EFAC"/>
            </a:solidFill>
            <a:prstDash val="solid"/>
          </a:ln>
        </p:spPr>
      </p:sp>
      <p:sp>
        <p:nvSpPr>
          <p:cNvPr id="68" name="text takeaway __nops"/>
          <p:cNvSpPr txBox="1"/>
          <p:nvPr/>
        </p:nvSpPr>
        <p:spPr>
          <a:xfrm>
            <a:off x="1152525" y="5767864"/>
            <a:ext cx="6079513" cy="234791"/>
          </a:xfrm>
          <a:prstGeom prst="rect">
            <a:avLst/>
          </a:prstGeom>
          <a:noFill/>
          <a:ln/>
        </p:spPr>
        <p:txBody>
          <a:bodyPr wrap="none" lIns="0" tIns="0" rIns="0" bIns="0" rtlCol="0" anchor="ctr"/>
          <a:lstStyle/>
          <a:p>
            <a:pPr algn="l" indent="0" marL="0">
              <a:buNone/>
            </a:pPr>
            <a:r>
              <a:rPr lang="en-US" sz="1280" b="1" dirty="0">
                <a:solidFill>
                  <a:srgbClr val="0F172A"/>
                </a:solidFill>
                <a:latin typeface="Segoe UI" pitchFamily="34" charset="0"/>
                <a:ea typeface="Segoe UI" pitchFamily="34" charset="-122"/>
                <a:cs typeface="Segoe UI" pitchFamily="34" charset="-120"/>
              </a:rPr>
              <a:t>Khách muốn trả không tiền mặt. </a:t>
            </a:r>
            <a:pPr algn="l" indent="0" marL="0">
              <a:buNone/>
            </a:pPr>
            <a:r>
              <a:rPr lang="en-US" sz="1280" b="1" dirty="0">
                <a:solidFill>
                  <a:srgbClr val="15803D"/>
                </a:solidFill>
                <a:latin typeface="Segoe UI" pitchFamily="34" charset="0"/>
                <a:ea typeface="Segoe UI" pitchFamily="34" charset="-122"/>
                <a:cs typeface="Segoe UI" pitchFamily="34" charset="-120"/>
              </a:rPr>
              <a:t>Cửa hàng không nhận thẻ thì mất khách.</a:t>
            </a:r>
            <a:endParaRPr lang="en-US" sz="1280" dirty="0"/>
          </a:p>
        </p:txBody>
      </p:sp>
      <p:pic>
        <p:nvPicPr>
          <p:cNvPr id="69" name="graphic SPAN" descr="SPAN">    </p:cNvPr>
          <p:cNvPicPr>
            <a:picLocks noChangeAspect="1"/>
          </p:cNvPicPr>
          <p:nvPr/>
        </p:nvPicPr>
        <p:blipFill>
          <a:blip r:embed="rId3"/>
          <a:stretch>
            <a:fillRect/>
          </a:stretch>
        </p:blipFill>
        <p:spPr>
          <a:xfrm>
            <a:off x="828675" y="5790605"/>
            <a:ext cx="152400" cy="190500"/>
          </a:xfrm>
          <a:prstGeom prst="rect">
            <a:avLst/>
          </a:prstGeom>
        </p:spPr>
      </p:pic>
      <p:sp>
        <p:nvSpPr>
          <p:cNvPr id="70" name="text source"/>
          <p:cNvSpPr txBox="1"/>
          <p:nvPr/>
        </p:nvSpPr>
        <p:spPr>
          <a:xfrm>
            <a:off x="609600" y="6348546"/>
            <a:ext cx="9658350" cy="293370"/>
          </a:xfrm>
          <a:prstGeom prst="rect">
            <a:avLst/>
          </a:prstGeom>
          <a:noFill/>
          <a:ln/>
        </p:spPr>
        <p:txBody>
          <a:bodyPr wrap="square" lIns="0" tIns="0" rIns="0" bIns="0" rtlCol="0" anchor="ctr"/>
          <a:lstStyle/>
          <a:p>
            <a:pPr algn="l" indent="0" marL="0">
              <a:lnSpc>
                <a:spcPts val="1160"/>
              </a:lnSpc>
              <a:buNone/>
            </a:pPr>
            <a:r>
              <a:rPr lang="en-US" sz="830" dirty="0">
                <a:solidFill>
                  <a:srgbClr val="94A3B8"/>
                </a:solidFill>
                <a:latin typeface="Segoe UI Semibold" pitchFamily="34" charset="0"/>
                <a:ea typeface="Segoe UI Semibold" pitchFamily="34" charset="-122"/>
                <a:cs typeface="Segoe UI Semibold" pitchFamily="34" charset="-120"/>
              </a:rPr>
              <a:t>Nguồn: Cục Thống kê, Cục Du lịch Quốc gia (9 tháng 2026); Tổng cục Thống kê; Worldpay Global Payments Report 2025, 2026. Ví nội địa, tỉ lệ trả qua thẻ: thói quen trả tiền tại cửa hàng ở nước của khách.</a:t>
            </a:r>
            <a:endParaRPr lang="en-US" sz="830" dirty="0"/>
          </a:p>
        </p:txBody>
      </p:sp>
      <p:sp>
        <p:nvSpPr>
          <p:cNvPr id="71" name="mk"/>
          <p:cNvSpPr/>
          <p:nvPr/>
        </p:nvSpPr>
        <p:spPr>
          <a:xfrm>
            <a:off x="10796588" y="6343650"/>
            <a:ext cx="323850" cy="323850"/>
          </a:xfrm>
          <a:prstGeom prst="ellipse">
            <a:avLst/>
          </a:prstGeom>
          <a:solidFill>
            <a:srgbClr val="F0001E"/>
          </a:solidFill>
          <a:ln/>
        </p:spPr>
      </p:sp>
      <p:sp>
        <p:nvSpPr>
          <p:cNvPr id="72" name="Shape 67"/>
          <p:cNvSpPr/>
          <p:nvPr/>
        </p:nvSpPr>
        <p:spPr>
          <a:xfrm>
            <a:off x="10910888" y="6424613"/>
            <a:ext cx="95250" cy="161925"/>
          </a:xfrm>
          <a:prstGeom prst="roundRect">
            <a:avLst>
              <a:gd name="adj" fmla="val 25000"/>
            </a:avLst>
          </a:prstGeom>
          <a:ln w="19050">
            <a:solidFill>
              <a:srgbClr val="FFFFFF"/>
            </a:solidFill>
            <a:prstDash val="solid"/>
          </a:ln>
        </p:spPr>
      </p:sp>
      <p:sp>
        <p:nvSpPr>
          <p:cNvPr id="73"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74"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75" name="text pno"/>
          <p:cNvSpPr txBox="1"/>
          <p:nvPr/>
        </p:nvSpPr>
        <p:spPr>
          <a:xfrm>
            <a:off x="10573196" y="6418431"/>
            <a:ext cx="190054" cy="164764"/>
          </a:xfrm>
          <a:prstGeom prst="rect">
            <a:avLst/>
          </a:prstGeom>
          <a:noFill/>
          <a:ln/>
        </p:spPr>
        <p:txBody>
          <a:bodyPr wrap="none" lIns="0" tIns="0" rIns="0" bIns="0" rtlCol="0" anchor="ctr"/>
          <a:lstStyle/>
          <a:p>
            <a:pPr algn="l" indent="0" marL="0">
              <a:buNone/>
            </a:pPr>
            <a:r>
              <a:rPr lang="en-US" sz="890" b="1" dirty="0">
                <a:solidFill>
                  <a:srgbClr val="CBD5E1"/>
                </a:solidFill>
                <a:latin typeface="Segoe UI" pitchFamily="34" charset="0"/>
                <a:ea typeface="Segoe UI" pitchFamily="34" charset="-122"/>
                <a:cs typeface="Segoe UI" pitchFamily="34" charset="-120"/>
              </a:rPr>
              <a:t>6</a:t>
            </a:r>
            <a:endParaRPr lang="en-US" sz="8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5515371"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BỐI CẢNH VÀ VẤN ĐỀ · KHÁCH TRẢ TIỀN THẾ NÀO, THEO NHÓM MERCHANT</a:t>
            </a:r>
            <a:endParaRPr lang="en-US" sz="1050" dirty="0"/>
          </a:p>
        </p:txBody>
      </p:sp>
      <p:sp>
        <p:nvSpPr>
          <p:cNvPr id="3" name="text title"/>
          <p:cNvSpPr txBox="1"/>
          <p:nvPr/>
        </p:nvSpPr>
        <p:spPr>
          <a:xfrm>
            <a:off x="609600" y="581263"/>
            <a:ext cx="8194572"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Merchant càng nhỏ, </a:t>
            </a:r>
            <a:pPr algn="l" indent="0" marL="0">
              <a:buNone/>
            </a:pPr>
            <a:r>
              <a:rPr lang="en-US" sz="2330" b="1" spc="-30" kern="0" dirty="0">
                <a:solidFill>
                  <a:srgbClr val="E11D48"/>
                </a:solidFill>
                <a:latin typeface="Segoe UI" pitchFamily="34" charset="0"/>
                <a:ea typeface="Segoe UI" pitchFamily="34" charset="-122"/>
                <a:cs typeface="Segoe UI" pitchFamily="34" charset="-120"/>
              </a:rPr>
              <a:t>khách quốc tế càng ít cách trả tiền</a:t>
            </a:r>
            <a:endParaRPr lang="en-US" sz="2330" dirty="0"/>
          </a:p>
        </p:txBody>
      </p:sp>
      <p:sp>
        <p:nvSpPr>
          <p:cNvPr id="4" name="t mx"/>
          <p:cNvSpPr/>
          <p:nvPr/>
        </p:nvSpPr>
        <p:spPr>
          <a:xfrm>
            <a:off x="614363" y="1174552"/>
            <a:ext cx="10963275" cy="2913906"/>
          </a:xfrm>
          <a:prstGeom prst="roundRect">
            <a:avLst>
              <a:gd name="adj" fmla="val 3759"/>
            </a:avLst>
          </a:prstGeom>
          <a:solidFill>
            <a:srgbClr val="FFFFFF"/>
          </a:solidFill>
          <a:ln w="9525">
            <a:solidFill>
              <a:srgbClr val="E2E8F0"/>
            </a:solidFill>
            <a:prstDash val="solid"/>
          </a:ln>
        </p:spPr>
      </p:sp>
      <p:sp>
        <p:nvSpPr>
          <p:cNvPr id="5" name="Shape 3"/>
          <p:cNvSpPr/>
          <p:nvPr/>
        </p:nvSpPr>
        <p:spPr>
          <a:xfrm>
            <a:off x="619125" y="1179314"/>
            <a:ext cx="2571750" cy="563166"/>
          </a:xfrm>
          <a:prstGeom prst="rect">
            <a:avLst/>
          </a:prstGeom>
          <a:solidFill>
            <a:srgbClr val="F1F5F9"/>
          </a:solidFill>
          <a:ln/>
        </p:spPr>
      </p:sp>
      <p:sp>
        <p:nvSpPr>
          <p:cNvPr id="6" name="-border"/>
          <p:cNvSpPr/>
          <p:nvPr/>
        </p:nvSpPr>
        <p:spPr>
          <a:xfrm>
            <a:off x="619125" y="1732955"/>
            <a:ext cx="2571750" cy="9525"/>
          </a:xfrm>
          <a:prstGeom prst="rect">
            <a:avLst/>
          </a:prstGeom>
          <a:solidFill>
            <a:srgbClr val="E2E8F0"/>
          </a:solidFill>
          <a:ln/>
        </p:spPr>
      </p:sp>
      <p:sp>
        <p:nvSpPr>
          <p:cNvPr id="7" name="text th"/>
          <p:cNvSpPr txBox="1"/>
          <p:nvPr/>
        </p:nvSpPr>
        <p:spPr>
          <a:xfrm>
            <a:off x="752475" y="1268373"/>
            <a:ext cx="1117253" cy="193358"/>
          </a:xfrm>
          <a:prstGeom prst="rect">
            <a:avLst/>
          </a:prstGeom>
          <a:noFill/>
          <a:ln/>
        </p:spPr>
        <p:txBody>
          <a:bodyPr wrap="none" lIns="0" tIns="0" rIns="0" bIns="0" rtlCol="0" anchor="ctr"/>
          <a:lstStyle/>
          <a:p>
            <a:pPr algn="l" indent="0" marL="0">
              <a:buNone/>
            </a:pPr>
            <a:r>
              <a:rPr lang="en-US" sz="1050" b="1" dirty="0">
                <a:solidFill>
                  <a:srgbClr val="0F172A"/>
                </a:solidFill>
                <a:latin typeface="Segoe UI" pitchFamily="34" charset="0"/>
                <a:ea typeface="Segoe UI" pitchFamily="34" charset="-122"/>
                <a:cs typeface="Segoe UI" pitchFamily="34" charset="-120"/>
              </a:rPr>
              <a:t>Khách trả bằng</a:t>
            </a:r>
            <a:endParaRPr lang="en-US" sz="1050" dirty="0"/>
          </a:p>
        </p:txBody>
      </p:sp>
      <p:sp>
        <p:nvSpPr>
          <p:cNvPr id="8" name="focus"/>
          <p:cNvSpPr/>
          <p:nvPr/>
        </p:nvSpPr>
        <p:spPr>
          <a:xfrm>
            <a:off x="3190875" y="1179314"/>
            <a:ext cx="2793950" cy="563166"/>
          </a:xfrm>
          <a:prstGeom prst="rect">
            <a:avLst/>
          </a:prstGeom>
          <a:solidFill>
            <a:srgbClr val="FFE4E6"/>
          </a:solidFill>
          <a:ln/>
        </p:spPr>
      </p:sp>
      <p:sp>
        <p:nvSpPr>
          <p:cNvPr id="9" name="focus-border"/>
          <p:cNvSpPr/>
          <p:nvPr/>
        </p:nvSpPr>
        <p:spPr>
          <a:xfrm>
            <a:off x="3190875" y="1732955"/>
            <a:ext cx="2793950" cy="9525"/>
          </a:xfrm>
          <a:prstGeom prst="rect">
            <a:avLst/>
          </a:prstGeom>
          <a:solidFill>
            <a:srgbClr val="E2E8F0"/>
          </a:solidFill>
          <a:ln/>
        </p:spPr>
      </p:sp>
      <p:sp>
        <p:nvSpPr>
          <p:cNvPr id="10" name="text focus"/>
          <p:cNvSpPr txBox="1"/>
          <p:nvPr/>
        </p:nvSpPr>
        <p:spPr>
          <a:xfrm>
            <a:off x="3324225" y="1268265"/>
            <a:ext cx="854869" cy="193574"/>
          </a:xfrm>
          <a:prstGeom prst="rect">
            <a:avLst/>
          </a:prstGeom>
          <a:noFill/>
          <a:ln/>
        </p:spPr>
        <p:txBody>
          <a:bodyPr wrap="none" lIns="0" tIns="0" rIns="0" bIns="0" rtlCol="0" anchor="ctr"/>
          <a:lstStyle/>
          <a:p>
            <a:pPr algn="l" indent="0" marL="0">
              <a:buNone/>
            </a:pPr>
            <a:r>
              <a:rPr lang="en-US" sz="1050" b="1" dirty="0">
                <a:solidFill>
                  <a:srgbClr val="E11D48"/>
                </a:solidFill>
                <a:latin typeface="Segoe UI" pitchFamily="34" charset="0"/>
                <a:ea typeface="Segoe UI" pitchFamily="34" charset="-122"/>
                <a:cs typeface="Segoe UI" pitchFamily="34" charset="-120"/>
              </a:rPr>
              <a:t>Vừa và nhỏ</a:t>
            </a:r>
            <a:endParaRPr lang="en-US" sz="1050" dirty="0"/>
          </a:p>
        </p:txBody>
      </p:sp>
      <p:sp>
        <p:nvSpPr>
          <p:cNvPr id="11" name="text small"/>
          <p:cNvSpPr txBox="1"/>
          <p:nvPr/>
        </p:nvSpPr>
        <p:spPr>
          <a:xfrm>
            <a:off x="3324225" y="1473062"/>
            <a:ext cx="2012156" cy="159026"/>
          </a:xfrm>
          <a:prstGeom prst="rect">
            <a:avLst/>
          </a:prstGeom>
          <a:noFill/>
          <a:ln/>
        </p:spPr>
        <p:txBody>
          <a:bodyPr wrap="none" lIns="0" tIns="0" rIns="0" bIns="0" rtlCol="0" anchor="ctr"/>
          <a:lstStyle/>
          <a:p>
            <a:pPr algn="l" indent="0" marL="0">
              <a:buNone/>
            </a:pPr>
            <a:r>
              <a:rPr lang="en-US" sz="860" i="1" dirty="0">
                <a:solidFill>
                  <a:srgbClr val="64748B"/>
                </a:solidFill>
                <a:latin typeface="Segoe UI Semibold" pitchFamily="34" charset="0"/>
                <a:ea typeface="Segoe UI Semibold" pitchFamily="34" charset="-122"/>
                <a:cs typeface="Segoe UI Semibold" pitchFamily="34" charset="-120"/>
              </a:rPr>
              <a:t>quán ăn, cà phê, sạp chợ, homestay</a:t>
            </a:r>
            <a:endParaRPr lang="en-US" sz="860" dirty="0"/>
          </a:p>
        </p:txBody>
      </p:sp>
      <p:sp>
        <p:nvSpPr>
          <p:cNvPr id="12" name="Shape 10"/>
          <p:cNvSpPr/>
          <p:nvPr/>
        </p:nvSpPr>
        <p:spPr>
          <a:xfrm>
            <a:off x="5984825" y="1179314"/>
            <a:ext cx="2793950" cy="563166"/>
          </a:xfrm>
          <a:prstGeom prst="rect">
            <a:avLst/>
          </a:prstGeom>
          <a:solidFill>
            <a:srgbClr val="F1F5F9"/>
          </a:solidFill>
          <a:ln/>
        </p:spPr>
      </p:sp>
      <p:sp>
        <p:nvSpPr>
          <p:cNvPr id="13" name="-border"/>
          <p:cNvSpPr/>
          <p:nvPr/>
        </p:nvSpPr>
        <p:spPr>
          <a:xfrm>
            <a:off x="5984825" y="1732955"/>
            <a:ext cx="2793950" cy="9525"/>
          </a:xfrm>
          <a:prstGeom prst="rect">
            <a:avLst/>
          </a:prstGeom>
          <a:solidFill>
            <a:srgbClr val="E2E8F0"/>
          </a:solidFill>
          <a:ln/>
        </p:spPr>
      </p:sp>
      <p:sp>
        <p:nvSpPr>
          <p:cNvPr id="14" name="text th"/>
          <p:cNvSpPr txBox="1"/>
          <p:nvPr/>
        </p:nvSpPr>
        <p:spPr>
          <a:xfrm>
            <a:off x="6118175" y="1268265"/>
            <a:ext cx="829121" cy="193574"/>
          </a:xfrm>
          <a:prstGeom prst="rect">
            <a:avLst/>
          </a:prstGeom>
          <a:noFill/>
          <a:ln/>
        </p:spPr>
        <p:txBody>
          <a:bodyPr wrap="none" lIns="0" tIns="0" rIns="0" bIns="0" rtlCol="0" anchor="ctr"/>
          <a:lstStyle/>
          <a:p>
            <a:pPr algn="l" indent="0" marL="0">
              <a:buNone/>
            </a:pPr>
            <a:r>
              <a:rPr lang="en-US" sz="1050" b="1" dirty="0">
                <a:solidFill>
                  <a:srgbClr val="0F172A"/>
                </a:solidFill>
                <a:latin typeface="Segoe UI" pitchFamily="34" charset="0"/>
                <a:ea typeface="Segoe UI" pitchFamily="34" charset="-122"/>
                <a:cs typeface="Segoe UI" pitchFamily="34" charset="-120"/>
              </a:rPr>
              <a:t>Trung bình</a:t>
            </a:r>
            <a:endParaRPr lang="en-US" sz="1050" dirty="0"/>
          </a:p>
        </p:txBody>
      </p:sp>
      <p:sp>
        <p:nvSpPr>
          <p:cNvPr id="15" name="text small"/>
          <p:cNvSpPr txBox="1"/>
          <p:nvPr/>
        </p:nvSpPr>
        <p:spPr>
          <a:xfrm>
            <a:off x="6118175" y="1473062"/>
            <a:ext cx="1686818" cy="159026"/>
          </a:xfrm>
          <a:prstGeom prst="rect">
            <a:avLst/>
          </a:prstGeom>
          <a:noFill/>
          <a:ln/>
        </p:spPr>
        <p:txBody>
          <a:bodyPr wrap="none" lIns="0" tIns="0" rIns="0" bIns="0" rtlCol="0" anchor="ctr"/>
          <a:lstStyle/>
          <a:p>
            <a:pPr algn="l" indent="0" marL="0">
              <a:buNone/>
            </a:pPr>
            <a:r>
              <a:rPr lang="en-US" sz="860" i="1" dirty="0">
                <a:solidFill>
                  <a:srgbClr val="64748B"/>
                </a:solidFill>
                <a:latin typeface="Segoe UI Semibold" pitchFamily="34" charset="0"/>
                <a:ea typeface="Segoe UI Semibold" pitchFamily="34" charset="-122"/>
                <a:cs typeface="Segoe UI Semibold" pitchFamily="34" charset="-120"/>
              </a:rPr>
              <a:t>nhà hàng, spa, khách sạn nhỏ</a:t>
            </a:r>
            <a:endParaRPr lang="en-US" sz="860" dirty="0"/>
          </a:p>
        </p:txBody>
      </p:sp>
      <p:sp>
        <p:nvSpPr>
          <p:cNvPr id="16" name="Shape 14"/>
          <p:cNvSpPr/>
          <p:nvPr/>
        </p:nvSpPr>
        <p:spPr>
          <a:xfrm>
            <a:off x="8778776" y="1179314"/>
            <a:ext cx="2794099" cy="563166"/>
          </a:xfrm>
          <a:prstGeom prst="rect">
            <a:avLst/>
          </a:prstGeom>
          <a:solidFill>
            <a:srgbClr val="F1F5F9"/>
          </a:solidFill>
          <a:ln/>
        </p:spPr>
      </p:sp>
      <p:sp>
        <p:nvSpPr>
          <p:cNvPr id="17" name="-border"/>
          <p:cNvSpPr/>
          <p:nvPr/>
        </p:nvSpPr>
        <p:spPr>
          <a:xfrm>
            <a:off x="8778776" y="1732955"/>
            <a:ext cx="2794099" cy="9525"/>
          </a:xfrm>
          <a:prstGeom prst="rect">
            <a:avLst/>
          </a:prstGeom>
          <a:solidFill>
            <a:srgbClr val="E2E8F0"/>
          </a:solidFill>
          <a:ln/>
        </p:spPr>
      </p:sp>
      <p:sp>
        <p:nvSpPr>
          <p:cNvPr id="18" name="text th"/>
          <p:cNvSpPr txBox="1"/>
          <p:nvPr/>
        </p:nvSpPr>
        <p:spPr>
          <a:xfrm>
            <a:off x="8912126" y="1268259"/>
            <a:ext cx="856804" cy="193584"/>
          </a:xfrm>
          <a:prstGeom prst="rect">
            <a:avLst/>
          </a:prstGeom>
          <a:noFill/>
          <a:ln/>
        </p:spPr>
        <p:txBody>
          <a:bodyPr wrap="none" lIns="0" tIns="0" rIns="0" bIns="0" rtlCol="0" anchor="ctr"/>
          <a:lstStyle/>
          <a:p>
            <a:pPr algn="l" indent="0" marL="0">
              <a:buNone/>
            </a:pPr>
            <a:r>
              <a:rPr lang="en-US" sz="1050" b="1" dirty="0">
                <a:solidFill>
                  <a:srgbClr val="0F172A"/>
                </a:solidFill>
                <a:latin typeface="Segoe UI" pitchFamily="34" charset="0"/>
                <a:ea typeface="Segoe UI" pitchFamily="34" charset="-122"/>
                <a:cs typeface="Segoe UI" pitchFamily="34" charset="-120"/>
              </a:rPr>
              <a:t>Lớn (chuỗi)</a:t>
            </a:r>
            <a:endParaRPr lang="en-US" sz="1050" dirty="0"/>
          </a:p>
        </p:txBody>
      </p:sp>
      <p:sp>
        <p:nvSpPr>
          <p:cNvPr id="19" name="text small"/>
          <p:cNvSpPr txBox="1"/>
          <p:nvPr/>
        </p:nvSpPr>
        <p:spPr>
          <a:xfrm>
            <a:off x="8912126" y="1473057"/>
            <a:ext cx="2058266" cy="159035"/>
          </a:xfrm>
          <a:prstGeom prst="rect">
            <a:avLst/>
          </a:prstGeom>
          <a:noFill/>
          <a:ln/>
        </p:spPr>
        <p:txBody>
          <a:bodyPr wrap="none" lIns="0" tIns="0" rIns="0" bIns="0" rtlCol="0" anchor="ctr"/>
          <a:lstStyle/>
          <a:p>
            <a:pPr algn="l" indent="0" marL="0">
              <a:buNone/>
            </a:pPr>
            <a:r>
              <a:rPr lang="en-US" sz="860" i="1" dirty="0">
                <a:solidFill>
                  <a:srgbClr val="64748B"/>
                </a:solidFill>
                <a:latin typeface="Segoe UI Semibold" pitchFamily="34" charset="0"/>
                <a:ea typeface="Segoe UI Semibold" pitchFamily="34" charset="-122"/>
                <a:cs typeface="Segoe UI Semibold" pitchFamily="34" charset="-120"/>
              </a:rPr>
              <a:t>khách sạn chuỗi, TTTM, chuỗi bán lẻ</a:t>
            </a:r>
            <a:endParaRPr lang="en-US" sz="860" dirty="0"/>
          </a:p>
        </p:txBody>
      </p:sp>
      <p:sp>
        <p:nvSpPr>
          <p:cNvPr id="20" name="-border"/>
          <p:cNvSpPr/>
          <p:nvPr/>
        </p:nvSpPr>
        <p:spPr>
          <a:xfrm>
            <a:off x="619125" y="2203103"/>
            <a:ext cx="2571750" cy="9525"/>
          </a:xfrm>
          <a:prstGeom prst="rect">
            <a:avLst/>
          </a:prstGeom>
          <a:solidFill>
            <a:srgbClr val="E2E8F0"/>
          </a:solidFill>
          <a:ln/>
        </p:spPr>
      </p:sp>
      <p:sp>
        <p:nvSpPr>
          <p:cNvPr id="21" name="text td"/>
          <p:cNvSpPr txBox="1"/>
          <p:nvPr/>
        </p:nvSpPr>
        <p:spPr>
          <a:xfrm>
            <a:off x="752475" y="1877854"/>
            <a:ext cx="1472952" cy="186452"/>
          </a:xfrm>
          <a:prstGeom prst="rect">
            <a:avLst/>
          </a:prstGeom>
          <a:noFill/>
          <a:ln/>
        </p:spPr>
        <p:txBody>
          <a:bodyPr wrap="none" lIns="0" tIns="0" rIns="0" bIns="0" rtlCol="0" anchor="ctr"/>
          <a:lstStyle/>
          <a:p>
            <a:pPr algn="l" indent="0" marL="0">
              <a:buNone/>
            </a:pPr>
            <a:r>
              <a:rPr lang="en-US" sz="1010" b="1" dirty="0">
                <a:solidFill>
                  <a:srgbClr val="0F172A"/>
                </a:solidFill>
                <a:latin typeface="Segoe UI" pitchFamily="34" charset="0"/>
                <a:ea typeface="Segoe UI" pitchFamily="34" charset="-122"/>
                <a:cs typeface="Segoe UI" pitchFamily="34" charset="-120"/>
              </a:rPr>
              <a:t>Tiền mặt, đổi ngoại tệ</a:t>
            </a:r>
            <a:endParaRPr lang="en-US" sz="1010" dirty="0"/>
          </a:p>
        </p:txBody>
      </p:sp>
      <p:sp>
        <p:nvSpPr>
          <p:cNvPr id="22" name="focus"/>
          <p:cNvSpPr/>
          <p:nvPr/>
        </p:nvSpPr>
        <p:spPr>
          <a:xfrm>
            <a:off x="3190875" y="1742480"/>
            <a:ext cx="2793950" cy="470148"/>
          </a:xfrm>
          <a:prstGeom prst="rect">
            <a:avLst/>
          </a:prstGeom>
          <a:solidFill>
            <a:srgbClr val="FFF5F6"/>
          </a:solidFill>
          <a:ln/>
        </p:spPr>
      </p:sp>
      <p:sp>
        <p:nvSpPr>
          <p:cNvPr id="23" name="focus-border"/>
          <p:cNvSpPr/>
          <p:nvPr/>
        </p:nvSpPr>
        <p:spPr>
          <a:xfrm>
            <a:off x="3190875" y="2203103"/>
            <a:ext cx="2793950" cy="9525"/>
          </a:xfrm>
          <a:prstGeom prst="rect">
            <a:avLst/>
          </a:prstGeom>
          <a:solidFill>
            <a:srgbClr val="E2E8F0"/>
          </a:solidFill>
          <a:ln/>
        </p:spPr>
      </p:sp>
      <p:sp>
        <p:nvSpPr>
          <p:cNvPr id="24" name="text focus"/>
          <p:cNvSpPr txBox="1"/>
          <p:nvPr/>
        </p:nvSpPr>
        <p:spPr>
          <a:xfrm>
            <a:off x="3533775" y="1874955"/>
            <a:ext cx="1156246" cy="179747"/>
          </a:xfrm>
          <a:prstGeom prst="rect">
            <a:avLst/>
          </a:prstGeom>
          <a:noFill/>
          <a:ln/>
        </p:spPr>
        <p:txBody>
          <a:bodyPr wrap="none" lIns="0" tIns="0" rIns="0" bIns="0" rtlCol="0" anchor="ctr"/>
          <a:lstStyle/>
          <a:p>
            <a:pPr algn="l" indent="0" marL="0">
              <a:buNone/>
            </a:pPr>
            <a:r>
              <a:rPr lang="en-US" sz="980" dirty="0">
                <a:solidFill>
                  <a:srgbClr val="334155"/>
                </a:solidFill>
                <a:latin typeface="Segoe UI Semibold" pitchFamily="34" charset="0"/>
                <a:ea typeface="Segoe UI Semibold" pitchFamily="34" charset="-122"/>
                <a:cs typeface="Segoe UI Semibold" pitchFamily="34" charset="-120"/>
              </a:rPr>
              <a:t>gần như duy nhất</a:t>
            </a:r>
            <a:endParaRPr lang="en-US" sz="980" dirty="0"/>
          </a:p>
        </p:txBody>
      </p:sp>
      <p:sp>
        <p:nvSpPr>
          <p:cNvPr id="25" name="sy f"/>
          <p:cNvSpPr/>
          <p:nvPr/>
        </p:nvSpPr>
        <p:spPr>
          <a:xfrm>
            <a:off x="3324225" y="1902470"/>
            <a:ext cx="133350" cy="133350"/>
          </a:xfrm>
          <a:prstGeom prst="ellipse">
            <a:avLst/>
          </a:prstGeom>
          <a:solidFill>
            <a:srgbClr val="16A34A"/>
          </a:solidFill>
          <a:ln/>
        </p:spPr>
      </p:sp>
      <p:sp>
        <p:nvSpPr>
          <p:cNvPr id="26" name="-border"/>
          <p:cNvSpPr/>
          <p:nvPr/>
        </p:nvSpPr>
        <p:spPr>
          <a:xfrm>
            <a:off x="5984825" y="2203103"/>
            <a:ext cx="2793950" cy="9525"/>
          </a:xfrm>
          <a:prstGeom prst="rect">
            <a:avLst/>
          </a:prstGeom>
          <a:solidFill>
            <a:srgbClr val="E2E8F0"/>
          </a:solidFill>
          <a:ln/>
        </p:spPr>
      </p:sp>
      <p:sp>
        <p:nvSpPr>
          <p:cNvPr id="27" name="sy f"/>
          <p:cNvSpPr/>
          <p:nvPr/>
        </p:nvSpPr>
        <p:spPr>
          <a:xfrm>
            <a:off x="6118175" y="1902470"/>
            <a:ext cx="133350" cy="133350"/>
          </a:xfrm>
          <a:prstGeom prst="ellipse">
            <a:avLst/>
          </a:prstGeom>
          <a:solidFill>
            <a:srgbClr val="16A34A"/>
          </a:solidFill>
          <a:ln/>
        </p:spPr>
      </p:sp>
      <p:sp>
        <p:nvSpPr>
          <p:cNvPr id="28" name="-border"/>
          <p:cNvSpPr/>
          <p:nvPr/>
        </p:nvSpPr>
        <p:spPr>
          <a:xfrm>
            <a:off x="8778776" y="2203103"/>
            <a:ext cx="2794099" cy="9525"/>
          </a:xfrm>
          <a:prstGeom prst="rect">
            <a:avLst/>
          </a:prstGeom>
          <a:solidFill>
            <a:srgbClr val="E2E8F0"/>
          </a:solidFill>
          <a:ln/>
        </p:spPr>
      </p:sp>
      <p:sp>
        <p:nvSpPr>
          <p:cNvPr id="29" name="sy h"/>
          <p:cNvSpPr/>
          <p:nvPr/>
        </p:nvSpPr>
        <p:spPr>
          <a:xfrm>
            <a:off x="8912126" y="1902470"/>
            <a:ext cx="133350" cy="133350"/>
          </a:xfrm>
          <a:prstGeom prst="ellipse">
            <a:avLst/>
          </a:prstGeom>
          <a:solidFill>
            <a:srgbClr val="EAB308"/>
          </a:solidFill>
          <a:ln/>
        </p:spPr>
      </p:sp>
      <p:sp>
        <p:nvSpPr>
          <p:cNvPr id="30" name="-border"/>
          <p:cNvSpPr/>
          <p:nvPr/>
        </p:nvSpPr>
        <p:spPr>
          <a:xfrm>
            <a:off x="619125" y="2673251"/>
            <a:ext cx="2571750" cy="9525"/>
          </a:xfrm>
          <a:prstGeom prst="rect">
            <a:avLst/>
          </a:prstGeom>
          <a:solidFill>
            <a:srgbClr val="E2E8F0"/>
          </a:solidFill>
          <a:ln/>
        </p:spPr>
      </p:sp>
      <p:sp>
        <p:nvSpPr>
          <p:cNvPr id="31" name="text td"/>
          <p:cNvSpPr txBox="1"/>
          <p:nvPr/>
        </p:nvSpPr>
        <p:spPr>
          <a:xfrm>
            <a:off x="752475" y="2348002"/>
            <a:ext cx="1224111" cy="186452"/>
          </a:xfrm>
          <a:prstGeom prst="rect">
            <a:avLst/>
          </a:prstGeom>
          <a:noFill/>
          <a:ln/>
        </p:spPr>
        <p:txBody>
          <a:bodyPr wrap="none" lIns="0" tIns="0" rIns="0" bIns="0" rtlCol="0" anchor="ctr"/>
          <a:lstStyle/>
          <a:p>
            <a:pPr algn="l" indent="0" marL="0">
              <a:buNone/>
            </a:pPr>
            <a:r>
              <a:rPr lang="en-US" sz="1010" b="1" dirty="0">
                <a:solidFill>
                  <a:srgbClr val="0F172A"/>
                </a:solidFill>
                <a:latin typeface="Segoe UI" pitchFamily="34" charset="0"/>
                <a:ea typeface="Segoe UI" pitchFamily="34" charset="-122"/>
                <a:cs typeface="Segoe UI" pitchFamily="34" charset="-120"/>
              </a:rPr>
              <a:t>Thẻ qua máy POS</a:t>
            </a:r>
            <a:endParaRPr lang="en-US" sz="1010" dirty="0"/>
          </a:p>
        </p:txBody>
      </p:sp>
      <p:sp>
        <p:nvSpPr>
          <p:cNvPr id="32" name="focus"/>
          <p:cNvSpPr/>
          <p:nvPr/>
        </p:nvSpPr>
        <p:spPr>
          <a:xfrm>
            <a:off x="3190875" y="2212628"/>
            <a:ext cx="2793950" cy="470148"/>
          </a:xfrm>
          <a:prstGeom prst="rect">
            <a:avLst/>
          </a:prstGeom>
          <a:solidFill>
            <a:srgbClr val="FFF5F6"/>
          </a:solidFill>
          <a:ln/>
        </p:spPr>
      </p:sp>
      <p:sp>
        <p:nvSpPr>
          <p:cNvPr id="33" name="focus-border"/>
          <p:cNvSpPr/>
          <p:nvPr/>
        </p:nvSpPr>
        <p:spPr>
          <a:xfrm>
            <a:off x="3190875" y="2673251"/>
            <a:ext cx="2793950" cy="9525"/>
          </a:xfrm>
          <a:prstGeom prst="rect">
            <a:avLst/>
          </a:prstGeom>
          <a:solidFill>
            <a:srgbClr val="E2E8F0"/>
          </a:solidFill>
          <a:ln/>
        </p:spPr>
      </p:sp>
      <p:sp>
        <p:nvSpPr>
          <p:cNvPr id="34" name="text focus"/>
          <p:cNvSpPr txBox="1"/>
          <p:nvPr/>
        </p:nvSpPr>
        <p:spPr>
          <a:xfrm>
            <a:off x="3533775" y="2345103"/>
            <a:ext cx="952649" cy="179747"/>
          </a:xfrm>
          <a:prstGeom prst="rect">
            <a:avLst/>
          </a:prstGeom>
          <a:noFill/>
          <a:ln/>
        </p:spPr>
        <p:txBody>
          <a:bodyPr wrap="none" lIns="0" tIns="0" rIns="0" bIns="0" rtlCol="0" anchor="ctr"/>
          <a:lstStyle/>
          <a:p>
            <a:pPr algn="l" indent="0" marL="0">
              <a:buNone/>
            </a:pPr>
            <a:r>
              <a:rPr lang="en-US" sz="980" dirty="0">
                <a:solidFill>
                  <a:srgbClr val="334155"/>
                </a:solidFill>
                <a:latin typeface="Segoe UI Semibold" pitchFamily="34" charset="0"/>
                <a:ea typeface="Segoe UI Semibold" pitchFamily="34" charset="-122"/>
                <a:cs typeface="Segoe UI Semibold" pitchFamily="34" charset="-120"/>
              </a:rPr>
              <a:t>không có máy</a:t>
            </a:r>
            <a:endParaRPr lang="en-US" sz="980" dirty="0"/>
          </a:p>
        </p:txBody>
      </p:sp>
      <p:sp>
        <p:nvSpPr>
          <p:cNvPr id="35" name="sy e"/>
          <p:cNvSpPr/>
          <p:nvPr/>
        </p:nvSpPr>
        <p:spPr>
          <a:xfrm>
            <a:off x="3324225" y="2372618"/>
            <a:ext cx="133350" cy="133350"/>
          </a:xfrm>
          <a:prstGeom prst="ellipse">
            <a:avLst/>
          </a:prstGeom>
          <a:solidFill>
            <a:srgbClr val="DC2626"/>
          </a:solidFill>
          <a:ln/>
        </p:spPr>
      </p:sp>
      <p:sp>
        <p:nvSpPr>
          <p:cNvPr id="36" name="-border"/>
          <p:cNvSpPr/>
          <p:nvPr/>
        </p:nvSpPr>
        <p:spPr>
          <a:xfrm>
            <a:off x="5984825" y="2673251"/>
            <a:ext cx="2793950" cy="9525"/>
          </a:xfrm>
          <a:prstGeom prst="rect">
            <a:avLst/>
          </a:prstGeom>
          <a:solidFill>
            <a:srgbClr val="E2E8F0"/>
          </a:solidFill>
          <a:ln/>
        </p:spPr>
      </p:sp>
      <p:sp>
        <p:nvSpPr>
          <p:cNvPr id="37" name="text td"/>
          <p:cNvSpPr txBox="1"/>
          <p:nvPr/>
        </p:nvSpPr>
        <p:spPr>
          <a:xfrm>
            <a:off x="6327725" y="2345103"/>
            <a:ext cx="1351211" cy="179747"/>
          </a:xfrm>
          <a:prstGeom prst="rect">
            <a:avLst/>
          </a:prstGeom>
          <a:noFill/>
          <a:ln/>
        </p:spPr>
        <p:txBody>
          <a:bodyPr wrap="none" lIns="0" tIns="0" rIns="0" bIns="0" rtlCol="0" anchor="ctr"/>
          <a:lstStyle/>
          <a:p>
            <a:pPr algn="l" indent="0" marL="0">
              <a:buNone/>
            </a:pPr>
            <a:r>
              <a:rPr lang="en-US" sz="980" dirty="0">
                <a:solidFill>
                  <a:srgbClr val="334155"/>
                </a:solidFill>
                <a:latin typeface="Segoe UI Semibold" pitchFamily="34" charset="0"/>
                <a:ea typeface="Segoe UI Semibold" pitchFamily="34" charset="-122"/>
                <a:cs typeface="Segoe UI Semibold" pitchFamily="34" charset="-120"/>
              </a:rPr>
              <a:t>thường cộng phụ phí</a:t>
            </a:r>
            <a:endParaRPr lang="en-US" sz="980" dirty="0"/>
          </a:p>
        </p:txBody>
      </p:sp>
      <p:sp>
        <p:nvSpPr>
          <p:cNvPr id="38" name="sy h"/>
          <p:cNvSpPr/>
          <p:nvPr/>
        </p:nvSpPr>
        <p:spPr>
          <a:xfrm>
            <a:off x="6118175" y="2372618"/>
            <a:ext cx="133350" cy="133350"/>
          </a:xfrm>
          <a:prstGeom prst="ellipse">
            <a:avLst/>
          </a:prstGeom>
          <a:solidFill>
            <a:srgbClr val="EAB308"/>
          </a:solidFill>
          <a:ln/>
        </p:spPr>
      </p:sp>
      <p:sp>
        <p:nvSpPr>
          <p:cNvPr id="39" name="-border"/>
          <p:cNvSpPr/>
          <p:nvPr/>
        </p:nvSpPr>
        <p:spPr>
          <a:xfrm>
            <a:off x="8778776" y="2673251"/>
            <a:ext cx="2794099" cy="9525"/>
          </a:xfrm>
          <a:prstGeom prst="rect">
            <a:avLst/>
          </a:prstGeom>
          <a:solidFill>
            <a:srgbClr val="E2E8F0"/>
          </a:solidFill>
          <a:ln/>
        </p:spPr>
      </p:sp>
      <p:sp>
        <p:nvSpPr>
          <p:cNvPr id="40" name="sy f"/>
          <p:cNvSpPr/>
          <p:nvPr/>
        </p:nvSpPr>
        <p:spPr>
          <a:xfrm>
            <a:off x="8912126" y="2372618"/>
            <a:ext cx="133350" cy="133350"/>
          </a:xfrm>
          <a:prstGeom prst="ellipse">
            <a:avLst/>
          </a:prstGeom>
          <a:solidFill>
            <a:srgbClr val="16A34A"/>
          </a:solidFill>
          <a:ln/>
        </p:spPr>
      </p:sp>
      <p:sp>
        <p:nvSpPr>
          <p:cNvPr id="41" name="-border"/>
          <p:cNvSpPr/>
          <p:nvPr/>
        </p:nvSpPr>
        <p:spPr>
          <a:xfrm>
            <a:off x="619125" y="3143399"/>
            <a:ext cx="2571750" cy="9525"/>
          </a:xfrm>
          <a:prstGeom prst="rect">
            <a:avLst/>
          </a:prstGeom>
          <a:solidFill>
            <a:srgbClr val="E2E8F0"/>
          </a:solidFill>
          <a:ln/>
        </p:spPr>
      </p:sp>
      <p:sp>
        <p:nvSpPr>
          <p:cNvPr id="42" name="text td"/>
          <p:cNvSpPr txBox="1"/>
          <p:nvPr/>
        </p:nvSpPr>
        <p:spPr>
          <a:xfrm>
            <a:off x="752475" y="2818150"/>
            <a:ext cx="802481" cy="186452"/>
          </a:xfrm>
          <a:prstGeom prst="rect">
            <a:avLst/>
          </a:prstGeom>
          <a:noFill/>
          <a:ln/>
        </p:spPr>
        <p:txBody>
          <a:bodyPr wrap="none" lIns="0" tIns="0" rIns="0" bIns="0" rtlCol="0" anchor="ctr"/>
          <a:lstStyle/>
          <a:p>
            <a:pPr algn="l" indent="0" marL="0">
              <a:buNone/>
            </a:pPr>
            <a:r>
              <a:rPr lang="en-US" sz="1010" b="1" dirty="0">
                <a:solidFill>
                  <a:srgbClr val="0F172A"/>
                </a:solidFill>
                <a:latin typeface="Segoe UI" pitchFamily="34" charset="0"/>
                <a:ea typeface="Segoe UI" pitchFamily="34" charset="-122"/>
                <a:cs typeface="Segoe UI" pitchFamily="34" charset="-120"/>
              </a:rPr>
              <a:t>QR quốc tế</a:t>
            </a:r>
            <a:endParaRPr lang="en-US" sz="1010" dirty="0"/>
          </a:p>
        </p:txBody>
      </p:sp>
      <p:sp>
        <p:nvSpPr>
          <p:cNvPr id="43" name="focus"/>
          <p:cNvSpPr/>
          <p:nvPr/>
        </p:nvSpPr>
        <p:spPr>
          <a:xfrm>
            <a:off x="3190875" y="2682776"/>
            <a:ext cx="2793950" cy="470148"/>
          </a:xfrm>
          <a:prstGeom prst="rect">
            <a:avLst/>
          </a:prstGeom>
          <a:solidFill>
            <a:srgbClr val="FFF5F6"/>
          </a:solidFill>
          <a:ln/>
        </p:spPr>
      </p:sp>
      <p:sp>
        <p:nvSpPr>
          <p:cNvPr id="44" name="focus-border"/>
          <p:cNvSpPr/>
          <p:nvPr/>
        </p:nvSpPr>
        <p:spPr>
          <a:xfrm>
            <a:off x="3190875" y="3143399"/>
            <a:ext cx="2793950" cy="9525"/>
          </a:xfrm>
          <a:prstGeom prst="rect">
            <a:avLst/>
          </a:prstGeom>
          <a:solidFill>
            <a:srgbClr val="E2E8F0"/>
          </a:solidFill>
          <a:ln/>
        </p:spPr>
      </p:sp>
      <p:sp>
        <p:nvSpPr>
          <p:cNvPr id="45" name="sy e"/>
          <p:cNvSpPr/>
          <p:nvPr/>
        </p:nvSpPr>
        <p:spPr>
          <a:xfrm>
            <a:off x="3324225" y="2842766"/>
            <a:ext cx="133350" cy="133350"/>
          </a:xfrm>
          <a:prstGeom prst="ellipse">
            <a:avLst/>
          </a:prstGeom>
          <a:solidFill>
            <a:srgbClr val="DC2626"/>
          </a:solidFill>
          <a:ln/>
        </p:spPr>
      </p:sp>
      <p:sp>
        <p:nvSpPr>
          <p:cNvPr id="46" name="-border"/>
          <p:cNvSpPr/>
          <p:nvPr/>
        </p:nvSpPr>
        <p:spPr>
          <a:xfrm>
            <a:off x="5984825" y="3143399"/>
            <a:ext cx="2793950" cy="9525"/>
          </a:xfrm>
          <a:prstGeom prst="rect">
            <a:avLst/>
          </a:prstGeom>
          <a:solidFill>
            <a:srgbClr val="E2E8F0"/>
          </a:solidFill>
          <a:ln/>
        </p:spPr>
      </p:sp>
      <p:sp>
        <p:nvSpPr>
          <p:cNvPr id="47" name="sy e"/>
          <p:cNvSpPr/>
          <p:nvPr/>
        </p:nvSpPr>
        <p:spPr>
          <a:xfrm>
            <a:off x="6118175" y="2842766"/>
            <a:ext cx="133350" cy="133350"/>
          </a:xfrm>
          <a:prstGeom prst="ellipse">
            <a:avLst/>
          </a:prstGeom>
          <a:solidFill>
            <a:srgbClr val="DC2626"/>
          </a:solidFill>
          <a:ln/>
        </p:spPr>
      </p:sp>
      <p:sp>
        <p:nvSpPr>
          <p:cNvPr id="48" name="-border"/>
          <p:cNvSpPr/>
          <p:nvPr/>
        </p:nvSpPr>
        <p:spPr>
          <a:xfrm>
            <a:off x="8778776" y="3143399"/>
            <a:ext cx="2794099" cy="9525"/>
          </a:xfrm>
          <a:prstGeom prst="rect">
            <a:avLst/>
          </a:prstGeom>
          <a:solidFill>
            <a:srgbClr val="E2E8F0"/>
          </a:solidFill>
          <a:ln/>
        </p:spPr>
      </p:sp>
      <p:sp>
        <p:nvSpPr>
          <p:cNvPr id="49" name="text td"/>
          <p:cNvSpPr txBox="1"/>
          <p:nvPr/>
        </p:nvSpPr>
        <p:spPr>
          <a:xfrm>
            <a:off x="9121676" y="2815247"/>
            <a:ext cx="871984" cy="179757"/>
          </a:xfrm>
          <a:prstGeom prst="rect">
            <a:avLst/>
          </a:prstGeom>
          <a:noFill/>
          <a:ln/>
        </p:spPr>
        <p:txBody>
          <a:bodyPr wrap="none" lIns="0" tIns="0" rIns="0" bIns="0" rtlCol="0" anchor="ctr"/>
          <a:lstStyle/>
          <a:p>
            <a:pPr algn="l" indent="0" marL="0">
              <a:buNone/>
            </a:pPr>
            <a:r>
              <a:rPr lang="en-US" sz="980" dirty="0">
                <a:solidFill>
                  <a:srgbClr val="334155"/>
                </a:solidFill>
                <a:latin typeface="Segoe UI Semibold" pitchFamily="34" charset="0"/>
                <a:ea typeface="Segoe UI Semibold" pitchFamily="34" charset="-122"/>
                <a:cs typeface="Segoe UI Semibold" pitchFamily="34" charset="-120"/>
              </a:rPr>
              <a:t>chỉ chuỗi lớn</a:t>
            </a:r>
            <a:endParaRPr lang="en-US" sz="980" dirty="0"/>
          </a:p>
        </p:txBody>
      </p:sp>
      <p:sp>
        <p:nvSpPr>
          <p:cNvPr id="50" name="sy h"/>
          <p:cNvSpPr/>
          <p:nvPr/>
        </p:nvSpPr>
        <p:spPr>
          <a:xfrm>
            <a:off x="8912126" y="2842766"/>
            <a:ext cx="133350" cy="133350"/>
          </a:xfrm>
          <a:prstGeom prst="ellipse">
            <a:avLst/>
          </a:prstGeom>
          <a:solidFill>
            <a:srgbClr val="EAB308"/>
          </a:solidFill>
          <a:ln/>
        </p:spPr>
      </p:sp>
      <p:sp>
        <p:nvSpPr>
          <p:cNvPr id="51" name="-border"/>
          <p:cNvSpPr/>
          <p:nvPr/>
        </p:nvSpPr>
        <p:spPr>
          <a:xfrm>
            <a:off x="619125" y="3613547"/>
            <a:ext cx="2571750" cy="9525"/>
          </a:xfrm>
          <a:prstGeom prst="rect">
            <a:avLst/>
          </a:prstGeom>
          <a:solidFill>
            <a:srgbClr val="E2E8F0"/>
          </a:solidFill>
          <a:ln/>
        </p:spPr>
      </p:sp>
      <p:sp>
        <p:nvSpPr>
          <p:cNvPr id="52" name="text td"/>
          <p:cNvSpPr txBox="1"/>
          <p:nvPr/>
        </p:nvSpPr>
        <p:spPr>
          <a:xfrm>
            <a:off x="752475" y="3288298"/>
            <a:ext cx="1715839" cy="186452"/>
          </a:xfrm>
          <a:prstGeom prst="rect">
            <a:avLst/>
          </a:prstGeom>
          <a:noFill/>
          <a:ln/>
        </p:spPr>
        <p:txBody>
          <a:bodyPr wrap="none" lIns="0" tIns="0" rIns="0" bIns="0" rtlCol="0" anchor="ctr"/>
          <a:lstStyle/>
          <a:p>
            <a:pPr algn="l" indent="0" marL="0">
              <a:buNone/>
            </a:pPr>
            <a:r>
              <a:rPr lang="en-US" sz="1010" b="1" dirty="0">
                <a:solidFill>
                  <a:srgbClr val="0F172A"/>
                </a:solidFill>
                <a:latin typeface="Segoe UI" pitchFamily="34" charset="0"/>
                <a:ea typeface="Segoe UI" pitchFamily="34" charset="-122"/>
                <a:cs typeface="Segoe UI" pitchFamily="34" charset="-120"/>
              </a:rPr>
              <a:t>App Việt Nam liên kết thẻ</a:t>
            </a:r>
            <a:endParaRPr lang="en-US" sz="1010" dirty="0"/>
          </a:p>
        </p:txBody>
      </p:sp>
      <p:sp>
        <p:nvSpPr>
          <p:cNvPr id="53" name="focus"/>
          <p:cNvSpPr/>
          <p:nvPr/>
        </p:nvSpPr>
        <p:spPr>
          <a:xfrm>
            <a:off x="3190875" y="3152924"/>
            <a:ext cx="2793950" cy="470148"/>
          </a:xfrm>
          <a:prstGeom prst="rect">
            <a:avLst/>
          </a:prstGeom>
          <a:solidFill>
            <a:srgbClr val="FFF5F6"/>
          </a:solidFill>
          <a:ln/>
        </p:spPr>
      </p:sp>
      <p:sp>
        <p:nvSpPr>
          <p:cNvPr id="54" name="focus-border"/>
          <p:cNvSpPr/>
          <p:nvPr/>
        </p:nvSpPr>
        <p:spPr>
          <a:xfrm>
            <a:off x="3190875" y="3613547"/>
            <a:ext cx="2793950" cy="9525"/>
          </a:xfrm>
          <a:prstGeom prst="rect">
            <a:avLst/>
          </a:prstGeom>
          <a:solidFill>
            <a:srgbClr val="E2E8F0"/>
          </a:solidFill>
          <a:ln/>
        </p:spPr>
      </p:sp>
      <p:sp>
        <p:nvSpPr>
          <p:cNvPr id="55" name="text focus"/>
          <p:cNvSpPr txBox="1"/>
          <p:nvPr/>
        </p:nvSpPr>
        <p:spPr>
          <a:xfrm>
            <a:off x="3533775" y="3285399"/>
            <a:ext cx="924520" cy="179747"/>
          </a:xfrm>
          <a:prstGeom prst="rect">
            <a:avLst/>
          </a:prstGeom>
          <a:noFill/>
          <a:ln/>
        </p:spPr>
        <p:txBody>
          <a:bodyPr wrap="none" lIns="0" tIns="0" rIns="0" bIns="0" rtlCol="0" anchor="ctr"/>
          <a:lstStyle/>
          <a:p>
            <a:pPr algn="l" indent="0" marL="0">
              <a:buNone/>
            </a:pPr>
            <a:r>
              <a:rPr lang="en-US" sz="980" dirty="0">
                <a:solidFill>
                  <a:srgbClr val="334155"/>
                </a:solidFill>
                <a:latin typeface="Segoe UI Semibold" pitchFamily="34" charset="0"/>
                <a:ea typeface="Segoe UI Semibold" pitchFamily="34" charset="-122"/>
                <a:cs typeface="Segoe UI Semibold" pitchFamily="34" charset="-120"/>
              </a:rPr>
              <a:t>khách ít dùng</a:t>
            </a:r>
            <a:endParaRPr lang="en-US" sz="980" dirty="0"/>
          </a:p>
        </p:txBody>
      </p:sp>
      <p:sp>
        <p:nvSpPr>
          <p:cNvPr id="56" name="sy h"/>
          <p:cNvSpPr/>
          <p:nvPr/>
        </p:nvSpPr>
        <p:spPr>
          <a:xfrm>
            <a:off x="3324225" y="3312914"/>
            <a:ext cx="133350" cy="133350"/>
          </a:xfrm>
          <a:prstGeom prst="ellipse">
            <a:avLst/>
          </a:prstGeom>
          <a:solidFill>
            <a:srgbClr val="EAB308"/>
          </a:solidFill>
          <a:ln/>
        </p:spPr>
      </p:sp>
      <p:sp>
        <p:nvSpPr>
          <p:cNvPr id="57" name="-border"/>
          <p:cNvSpPr/>
          <p:nvPr/>
        </p:nvSpPr>
        <p:spPr>
          <a:xfrm>
            <a:off x="5984825" y="3613547"/>
            <a:ext cx="2793950" cy="9525"/>
          </a:xfrm>
          <a:prstGeom prst="rect">
            <a:avLst/>
          </a:prstGeom>
          <a:solidFill>
            <a:srgbClr val="E2E8F0"/>
          </a:solidFill>
          <a:ln/>
        </p:spPr>
      </p:sp>
      <p:sp>
        <p:nvSpPr>
          <p:cNvPr id="58" name="sy h"/>
          <p:cNvSpPr/>
          <p:nvPr/>
        </p:nvSpPr>
        <p:spPr>
          <a:xfrm>
            <a:off x="6118175" y="3312914"/>
            <a:ext cx="133350" cy="133350"/>
          </a:xfrm>
          <a:prstGeom prst="ellipse">
            <a:avLst/>
          </a:prstGeom>
          <a:solidFill>
            <a:srgbClr val="EAB308"/>
          </a:solidFill>
          <a:ln/>
        </p:spPr>
      </p:sp>
      <p:sp>
        <p:nvSpPr>
          <p:cNvPr id="59" name="-border"/>
          <p:cNvSpPr/>
          <p:nvPr/>
        </p:nvSpPr>
        <p:spPr>
          <a:xfrm>
            <a:off x="8778776" y="3613547"/>
            <a:ext cx="2794099" cy="9525"/>
          </a:xfrm>
          <a:prstGeom prst="rect">
            <a:avLst/>
          </a:prstGeom>
          <a:solidFill>
            <a:srgbClr val="E2E8F0"/>
          </a:solidFill>
          <a:ln/>
        </p:spPr>
      </p:sp>
      <p:sp>
        <p:nvSpPr>
          <p:cNvPr id="60" name="sy h"/>
          <p:cNvSpPr/>
          <p:nvPr/>
        </p:nvSpPr>
        <p:spPr>
          <a:xfrm>
            <a:off x="8912126" y="3312914"/>
            <a:ext cx="133350" cy="133350"/>
          </a:xfrm>
          <a:prstGeom prst="ellipse">
            <a:avLst/>
          </a:prstGeom>
          <a:solidFill>
            <a:srgbClr val="EAB308"/>
          </a:solidFill>
          <a:ln/>
        </p:spPr>
      </p:sp>
      <p:sp>
        <p:nvSpPr>
          <p:cNvPr id="61" name="text td"/>
          <p:cNvSpPr txBox="1"/>
          <p:nvPr/>
        </p:nvSpPr>
        <p:spPr>
          <a:xfrm>
            <a:off x="752475" y="3758446"/>
            <a:ext cx="937320" cy="186452"/>
          </a:xfrm>
          <a:prstGeom prst="rect">
            <a:avLst/>
          </a:prstGeom>
          <a:noFill/>
          <a:ln/>
        </p:spPr>
        <p:txBody>
          <a:bodyPr wrap="none" lIns="0" tIns="0" rIns="0" bIns="0" rtlCol="0" anchor="ctr"/>
          <a:lstStyle/>
          <a:p>
            <a:pPr algn="l" indent="0" marL="0">
              <a:buNone/>
            </a:pPr>
            <a:r>
              <a:rPr lang="en-US" sz="1010" b="1" dirty="0">
                <a:solidFill>
                  <a:srgbClr val="0F172A"/>
                </a:solidFill>
                <a:latin typeface="Segoe UI" pitchFamily="34" charset="0"/>
                <a:ea typeface="Segoe UI" pitchFamily="34" charset="-122"/>
                <a:cs typeface="Segoe UI" pitchFamily="34" charset="-120"/>
              </a:rPr>
              <a:t>Tap to Phone</a:t>
            </a:r>
            <a:endParaRPr lang="en-US" sz="1010" dirty="0"/>
          </a:p>
        </p:txBody>
      </p:sp>
      <p:sp>
        <p:nvSpPr>
          <p:cNvPr id="62" name="focus"/>
          <p:cNvSpPr/>
          <p:nvPr/>
        </p:nvSpPr>
        <p:spPr>
          <a:xfrm>
            <a:off x="3190875" y="3623072"/>
            <a:ext cx="2793950" cy="460623"/>
          </a:xfrm>
          <a:prstGeom prst="rect">
            <a:avLst/>
          </a:prstGeom>
          <a:solidFill>
            <a:srgbClr val="FFF5F6"/>
          </a:solidFill>
          <a:ln/>
        </p:spPr>
      </p:sp>
      <p:sp>
        <p:nvSpPr>
          <p:cNvPr id="63" name="sy e"/>
          <p:cNvSpPr/>
          <p:nvPr/>
        </p:nvSpPr>
        <p:spPr>
          <a:xfrm>
            <a:off x="3324225" y="3783062"/>
            <a:ext cx="133350" cy="133350"/>
          </a:xfrm>
          <a:prstGeom prst="ellipse">
            <a:avLst/>
          </a:prstGeom>
          <a:solidFill>
            <a:srgbClr val="DC2626"/>
          </a:solidFill>
          <a:ln/>
        </p:spPr>
      </p:sp>
      <p:sp>
        <p:nvSpPr>
          <p:cNvPr id="64" name="text td"/>
          <p:cNvSpPr txBox="1"/>
          <p:nvPr/>
        </p:nvSpPr>
        <p:spPr>
          <a:xfrm>
            <a:off x="6327725" y="3755547"/>
            <a:ext cx="1258044" cy="179747"/>
          </a:xfrm>
          <a:prstGeom prst="rect">
            <a:avLst/>
          </a:prstGeom>
          <a:noFill/>
          <a:ln/>
        </p:spPr>
        <p:txBody>
          <a:bodyPr wrap="none" lIns="0" tIns="0" rIns="0" bIns="0" rtlCol="0" anchor="ctr"/>
          <a:lstStyle/>
          <a:p>
            <a:pPr algn="l" indent="0" marL="0">
              <a:buNone/>
            </a:pPr>
            <a:r>
              <a:rPr lang="en-US" sz="980" dirty="0">
                <a:solidFill>
                  <a:srgbClr val="334155"/>
                </a:solidFill>
                <a:latin typeface="Segoe UI Semibold" pitchFamily="34" charset="0"/>
                <a:ea typeface="Segoe UI Semibold" pitchFamily="34" charset="-122"/>
                <a:cs typeface="Segoe UI Semibold" pitchFamily="34" charset="-120"/>
              </a:rPr>
              <a:t>qua app ngân hàng</a:t>
            </a:r>
            <a:endParaRPr lang="en-US" sz="980" dirty="0"/>
          </a:p>
        </p:txBody>
      </p:sp>
      <p:sp>
        <p:nvSpPr>
          <p:cNvPr id="65" name="sy h"/>
          <p:cNvSpPr/>
          <p:nvPr/>
        </p:nvSpPr>
        <p:spPr>
          <a:xfrm>
            <a:off x="6118175" y="3783062"/>
            <a:ext cx="133350" cy="133350"/>
          </a:xfrm>
          <a:prstGeom prst="ellipse">
            <a:avLst/>
          </a:prstGeom>
          <a:solidFill>
            <a:srgbClr val="EAB308"/>
          </a:solidFill>
          <a:ln/>
        </p:spPr>
      </p:sp>
      <p:sp>
        <p:nvSpPr>
          <p:cNvPr id="66" name="text td"/>
          <p:cNvSpPr txBox="1"/>
          <p:nvPr/>
        </p:nvSpPr>
        <p:spPr>
          <a:xfrm>
            <a:off x="9121676" y="3755543"/>
            <a:ext cx="1258044" cy="179757"/>
          </a:xfrm>
          <a:prstGeom prst="rect">
            <a:avLst/>
          </a:prstGeom>
          <a:noFill/>
          <a:ln/>
        </p:spPr>
        <p:txBody>
          <a:bodyPr wrap="none" lIns="0" tIns="0" rIns="0" bIns="0" rtlCol="0" anchor="ctr"/>
          <a:lstStyle/>
          <a:p>
            <a:pPr algn="l" indent="0" marL="0">
              <a:buNone/>
            </a:pPr>
            <a:r>
              <a:rPr lang="en-US" sz="980" dirty="0">
                <a:solidFill>
                  <a:srgbClr val="334155"/>
                </a:solidFill>
                <a:latin typeface="Segoe UI Semibold" pitchFamily="34" charset="0"/>
                <a:ea typeface="Segoe UI Semibold" pitchFamily="34" charset="-122"/>
                <a:cs typeface="Segoe UI Semibold" pitchFamily="34" charset="-120"/>
              </a:rPr>
              <a:t>qua app ngân hàng</a:t>
            </a:r>
            <a:endParaRPr lang="en-US" sz="980" dirty="0"/>
          </a:p>
        </p:txBody>
      </p:sp>
      <p:sp>
        <p:nvSpPr>
          <p:cNvPr id="67" name="sy h"/>
          <p:cNvSpPr/>
          <p:nvPr/>
        </p:nvSpPr>
        <p:spPr>
          <a:xfrm>
            <a:off x="8912126" y="3783062"/>
            <a:ext cx="133350" cy="133350"/>
          </a:xfrm>
          <a:prstGeom prst="ellipse">
            <a:avLst/>
          </a:prstGeom>
          <a:solidFill>
            <a:srgbClr val="EAB308"/>
          </a:solidFill>
          <a:ln/>
        </p:spPr>
      </p:sp>
      <p:sp>
        <p:nvSpPr>
          <p:cNvPr id="68" name="text span"/>
          <p:cNvSpPr txBox="1"/>
          <p:nvPr/>
        </p:nvSpPr>
        <p:spPr>
          <a:xfrm>
            <a:off x="819150" y="4211669"/>
            <a:ext cx="619274" cy="172677"/>
          </a:xfrm>
          <a:prstGeom prst="rect">
            <a:avLst/>
          </a:prstGeom>
          <a:noFill/>
          <a:ln/>
        </p:spPr>
        <p:txBody>
          <a:bodyPr wrap="none" lIns="0" tIns="0" rIns="0" bIns="0" rtlCol="0" anchor="ctr"/>
          <a:lstStyle/>
          <a:p>
            <a:pPr algn="l" indent="0" marL="0">
              <a:buNone/>
            </a:pPr>
            <a:r>
              <a:rPr lang="en-US" sz="940" b="1" dirty="0">
                <a:solidFill>
                  <a:srgbClr val="64748B"/>
                </a:solidFill>
                <a:latin typeface="Segoe UI" pitchFamily="34" charset="0"/>
                <a:ea typeface="Segoe UI" pitchFamily="34" charset="-122"/>
                <a:cs typeface="Segoe UI" pitchFamily="34" charset="-120"/>
              </a:rPr>
              <a:t>Phổ biến</a:t>
            </a:r>
            <a:endParaRPr lang="en-US" sz="940" dirty="0"/>
          </a:p>
        </p:txBody>
      </p:sp>
      <p:sp>
        <p:nvSpPr>
          <p:cNvPr id="69" name="sy f"/>
          <p:cNvSpPr/>
          <p:nvPr/>
        </p:nvSpPr>
        <p:spPr>
          <a:xfrm>
            <a:off x="609600" y="4231332"/>
            <a:ext cx="133350" cy="133350"/>
          </a:xfrm>
          <a:prstGeom prst="ellipse">
            <a:avLst/>
          </a:prstGeom>
          <a:solidFill>
            <a:srgbClr val="16A34A"/>
          </a:solidFill>
          <a:ln/>
        </p:spPr>
      </p:sp>
      <p:sp>
        <p:nvSpPr>
          <p:cNvPr id="70" name="text span"/>
          <p:cNvSpPr txBox="1"/>
          <p:nvPr/>
        </p:nvSpPr>
        <p:spPr>
          <a:xfrm>
            <a:off x="1724174" y="4211890"/>
            <a:ext cx="1168598" cy="172235"/>
          </a:xfrm>
          <a:prstGeom prst="rect">
            <a:avLst/>
          </a:prstGeom>
          <a:noFill/>
          <a:ln/>
        </p:spPr>
        <p:txBody>
          <a:bodyPr wrap="none" lIns="0" tIns="0" rIns="0" bIns="0" rtlCol="0" anchor="ctr"/>
          <a:lstStyle/>
          <a:p>
            <a:pPr algn="l" indent="0" marL="0">
              <a:buNone/>
            </a:pPr>
            <a:r>
              <a:rPr lang="en-US" sz="940" b="1" dirty="0">
                <a:solidFill>
                  <a:srgbClr val="64748B"/>
                </a:solidFill>
                <a:latin typeface="Segoe UI" pitchFamily="34" charset="0"/>
                <a:ea typeface="Segoe UI" pitchFamily="34" charset="-122"/>
                <a:cs typeface="Segoe UI" pitchFamily="34" charset="-120"/>
              </a:rPr>
              <a:t>Có nhưng hạn chế</a:t>
            </a:r>
            <a:endParaRPr lang="en-US" sz="940" dirty="0"/>
          </a:p>
        </p:txBody>
      </p:sp>
      <p:sp>
        <p:nvSpPr>
          <p:cNvPr id="71" name="sy h"/>
          <p:cNvSpPr/>
          <p:nvPr/>
        </p:nvSpPr>
        <p:spPr>
          <a:xfrm>
            <a:off x="1514624" y="4231332"/>
            <a:ext cx="133350" cy="133350"/>
          </a:xfrm>
          <a:prstGeom prst="ellipse">
            <a:avLst/>
          </a:prstGeom>
          <a:solidFill>
            <a:srgbClr val="EAB308"/>
          </a:solidFill>
          <a:ln/>
        </p:spPr>
      </p:sp>
      <p:sp>
        <p:nvSpPr>
          <p:cNvPr id="72" name="text span"/>
          <p:cNvSpPr txBox="1"/>
          <p:nvPr/>
        </p:nvSpPr>
        <p:spPr>
          <a:xfrm>
            <a:off x="3178522" y="4212001"/>
            <a:ext cx="1166961" cy="172012"/>
          </a:xfrm>
          <a:prstGeom prst="rect">
            <a:avLst/>
          </a:prstGeom>
          <a:noFill/>
          <a:ln/>
        </p:spPr>
        <p:txBody>
          <a:bodyPr wrap="none" lIns="0" tIns="0" rIns="0" bIns="0" rtlCol="0" anchor="ctr"/>
          <a:lstStyle/>
          <a:p>
            <a:pPr algn="l" indent="0" marL="0">
              <a:buNone/>
            </a:pPr>
            <a:r>
              <a:rPr lang="en-US" sz="930" b="1" dirty="0">
                <a:solidFill>
                  <a:srgbClr val="64748B"/>
                </a:solidFill>
                <a:latin typeface="Segoe UI" pitchFamily="34" charset="0"/>
                <a:ea typeface="Segoe UI" pitchFamily="34" charset="-122"/>
                <a:cs typeface="Segoe UI" pitchFamily="34" charset="-120"/>
              </a:rPr>
              <a:t>Gần như không có</a:t>
            </a:r>
            <a:endParaRPr lang="en-US" sz="930" dirty="0"/>
          </a:p>
        </p:txBody>
      </p:sp>
      <p:sp>
        <p:nvSpPr>
          <p:cNvPr id="73" name="sy e"/>
          <p:cNvSpPr/>
          <p:nvPr/>
        </p:nvSpPr>
        <p:spPr>
          <a:xfrm>
            <a:off x="2968972" y="4231332"/>
            <a:ext cx="133350" cy="133350"/>
          </a:xfrm>
          <a:prstGeom prst="ellipse">
            <a:avLst/>
          </a:prstGeom>
          <a:solidFill>
            <a:srgbClr val="DC2626"/>
          </a:solidFill>
          <a:ln/>
        </p:spPr>
      </p:sp>
      <p:sp>
        <p:nvSpPr>
          <p:cNvPr id="74" name="takeaway __nops"/>
          <p:cNvSpPr/>
          <p:nvPr/>
        </p:nvSpPr>
        <p:spPr>
          <a:xfrm>
            <a:off x="614363" y="5623322"/>
            <a:ext cx="10963275" cy="525066"/>
          </a:xfrm>
          <a:prstGeom prst="roundRect">
            <a:avLst>
              <a:gd name="adj" fmla="val 24490"/>
            </a:avLst>
          </a:prstGeom>
          <a:solidFill>
            <a:srgbClr val="EEFBF3"/>
          </a:solidFill>
          <a:ln w="9525">
            <a:solidFill>
              <a:srgbClr val="86EFAC"/>
            </a:solidFill>
            <a:prstDash val="solid"/>
          </a:ln>
        </p:spPr>
      </p:sp>
      <p:sp>
        <p:nvSpPr>
          <p:cNvPr id="75" name="text takeaway __nops"/>
          <p:cNvSpPr txBox="1"/>
          <p:nvPr/>
        </p:nvSpPr>
        <p:spPr>
          <a:xfrm>
            <a:off x="1152525" y="5767864"/>
            <a:ext cx="7125132" cy="234791"/>
          </a:xfrm>
          <a:prstGeom prst="rect">
            <a:avLst/>
          </a:prstGeom>
          <a:noFill/>
          <a:ln/>
        </p:spPr>
        <p:txBody>
          <a:bodyPr wrap="none" lIns="0" tIns="0" rIns="0" bIns="0" rtlCol="0" anchor="ctr"/>
          <a:lstStyle/>
          <a:p>
            <a:pPr algn="l" indent="0" marL="0">
              <a:buNone/>
            </a:pPr>
            <a:r>
              <a:rPr lang="en-US" sz="1280" b="1" dirty="0">
                <a:solidFill>
                  <a:srgbClr val="0F172A"/>
                </a:solidFill>
                <a:latin typeface="Segoe UI" pitchFamily="34" charset="0"/>
                <a:ea typeface="Segoe UI" pitchFamily="34" charset="-122"/>
                <a:cs typeface="Segoe UI" pitchFamily="34" charset="-120"/>
              </a:rPr>
              <a:t>Nhóm lớn đã nhận được thẻ. </a:t>
            </a:r>
            <a:pPr algn="l" indent="0" marL="0">
              <a:buNone/>
            </a:pPr>
            <a:r>
              <a:rPr lang="en-US" sz="1280" b="1" dirty="0">
                <a:solidFill>
                  <a:srgbClr val="E11D48"/>
                </a:solidFill>
                <a:latin typeface="Segoe UI" pitchFamily="34" charset="0"/>
                <a:ea typeface="Segoe UI" pitchFamily="34" charset="-122"/>
                <a:cs typeface="Segoe UI" pitchFamily="34" charset="-120"/>
              </a:rPr>
              <a:t>Nhóm vừa và nhỏ, đông nhất, vẫn chủ yếu nhận tiền mặt.</a:t>
            </a:r>
            <a:endParaRPr lang="en-US" sz="1280" dirty="0"/>
          </a:p>
        </p:txBody>
      </p:sp>
      <p:pic>
        <p:nvPicPr>
          <p:cNvPr id="76" name="graphic SPAN" descr="SPAN">    </p:cNvPr>
          <p:cNvPicPr>
            <a:picLocks noChangeAspect="1"/>
          </p:cNvPicPr>
          <p:nvPr/>
        </p:nvPicPr>
        <p:blipFill>
          <a:blip r:embed="rId1"/>
          <a:stretch>
            <a:fillRect/>
          </a:stretch>
        </p:blipFill>
        <p:spPr>
          <a:xfrm>
            <a:off x="828675" y="5790605"/>
            <a:ext cx="152400" cy="190500"/>
          </a:xfrm>
          <a:prstGeom prst="rect">
            <a:avLst/>
          </a:prstGeom>
        </p:spPr>
      </p:pic>
      <p:sp>
        <p:nvSpPr>
          <p:cNvPr id="77" name="text source"/>
          <p:cNvSpPr txBox="1"/>
          <p:nvPr/>
        </p:nvSpPr>
        <p:spPr>
          <a:xfrm>
            <a:off x="609600" y="6492536"/>
            <a:ext cx="5727082" cy="151987"/>
          </a:xfrm>
          <a:prstGeom prst="rect">
            <a:avLst/>
          </a:prstGeom>
          <a:noFill/>
          <a:ln/>
        </p:spPr>
        <p:txBody>
          <a:bodyPr wrap="none" lIns="0" tIns="0" rIns="0" bIns="0" rtlCol="0" anchor="ctr"/>
          <a:lstStyle/>
          <a:p>
            <a:pPr algn="l" indent="0" marL="0">
              <a:buNone/>
            </a:pPr>
            <a:r>
              <a:rPr lang="en-US" sz="830" dirty="0">
                <a:solidFill>
                  <a:srgbClr val="94A3B8"/>
                </a:solidFill>
                <a:latin typeface="Segoe UI Semibold" pitchFamily="34" charset="0"/>
                <a:ea typeface="Segoe UI Semibold" pitchFamily="34" charset="-122"/>
                <a:cs typeface="Segoe UI Semibold" pitchFamily="34" charset="-120"/>
              </a:rPr>
              <a:t>Đánh giá của VDF dựa trên khảo sát 132 merchant (7/2026) và thông tin công khai về các giải pháp hiện có.</a:t>
            </a:r>
            <a:endParaRPr lang="en-US" sz="830" dirty="0"/>
          </a:p>
        </p:txBody>
      </p:sp>
      <p:sp>
        <p:nvSpPr>
          <p:cNvPr id="78" name="mk"/>
          <p:cNvSpPr/>
          <p:nvPr/>
        </p:nvSpPr>
        <p:spPr>
          <a:xfrm>
            <a:off x="10796588" y="6343650"/>
            <a:ext cx="323850" cy="323850"/>
          </a:xfrm>
          <a:prstGeom prst="ellipse">
            <a:avLst/>
          </a:prstGeom>
          <a:solidFill>
            <a:srgbClr val="F0001E"/>
          </a:solidFill>
          <a:ln/>
        </p:spPr>
      </p:sp>
      <p:sp>
        <p:nvSpPr>
          <p:cNvPr id="79" name="Shape 76"/>
          <p:cNvSpPr/>
          <p:nvPr/>
        </p:nvSpPr>
        <p:spPr>
          <a:xfrm>
            <a:off x="10910888" y="6424613"/>
            <a:ext cx="95250" cy="161925"/>
          </a:xfrm>
          <a:prstGeom prst="roundRect">
            <a:avLst>
              <a:gd name="adj" fmla="val 25000"/>
            </a:avLst>
          </a:prstGeom>
          <a:ln w="19050">
            <a:solidFill>
              <a:srgbClr val="FFFFFF"/>
            </a:solidFill>
            <a:prstDash val="solid"/>
          </a:ln>
        </p:spPr>
      </p:sp>
      <p:sp>
        <p:nvSpPr>
          <p:cNvPr id="80"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81"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82" name="text pno"/>
          <p:cNvSpPr txBox="1"/>
          <p:nvPr/>
        </p:nvSpPr>
        <p:spPr>
          <a:xfrm>
            <a:off x="10581680" y="6417205"/>
            <a:ext cx="181570" cy="167215"/>
          </a:xfrm>
          <a:prstGeom prst="rect">
            <a:avLst/>
          </a:prstGeom>
          <a:noFill/>
          <a:ln/>
        </p:spPr>
        <p:txBody>
          <a:bodyPr wrap="none" lIns="0" tIns="0" rIns="0" bIns="0" rtlCol="0" anchor="ctr"/>
          <a:lstStyle/>
          <a:p>
            <a:pPr algn="l" indent="0" marL="0">
              <a:buNone/>
            </a:pPr>
            <a:r>
              <a:rPr lang="en-US" sz="910" b="1" dirty="0">
                <a:solidFill>
                  <a:srgbClr val="CBD5E1"/>
                </a:solidFill>
                <a:latin typeface="Segoe UI" pitchFamily="34" charset="0"/>
                <a:ea typeface="Segoe UI" pitchFamily="34" charset="-122"/>
                <a:cs typeface="Segoe UI" pitchFamily="34" charset="-120"/>
              </a:rPr>
              <a:t>7</a:t>
            </a:r>
            <a:endParaRPr lang="en-US" sz="9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3433914"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BỐI CẢNH VÀ VẤN ĐỀ · CÁC GIẢI PHÁP HIỆN CÓ</a:t>
            </a:r>
            <a:endParaRPr lang="en-US" sz="1050" dirty="0"/>
          </a:p>
        </p:txBody>
      </p:sp>
      <p:sp>
        <p:nvSpPr>
          <p:cNvPr id="3" name="text title"/>
          <p:cNvSpPr txBox="1"/>
          <p:nvPr/>
        </p:nvSpPr>
        <p:spPr>
          <a:xfrm>
            <a:off x="609600" y="581263"/>
            <a:ext cx="8489263"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Ba giải pháp hiện có </a:t>
            </a:r>
            <a:pPr algn="l" indent="0" marL="0">
              <a:buNone/>
            </a:pPr>
            <a:r>
              <a:rPr lang="en-US" sz="2330" b="1" spc="-30" kern="0" dirty="0">
                <a:solidFill>
                  <a:srgbClr val="E11D48"/>
                </a:solidFill>
                <a:latin typeface="Segoe UI" pitchFamily="34" charset="0"/>
                <a:ea typeface="Segoe UI" pitchFamily="34" charset="-122"/>
                <a:cs typeface="Segoe UI" pitchFamily="34" charset="-120"/>
              </a:rPr>
              <a:t>chưa đến được merchant vừa và nhỏ</a:t>
            </a:r>
            <a:endParaRPr lang="en-US" sz="2330" dirty="0"/>
          </a:p>
        </p:txBody>
      </p:sp>
      <p:sp>
        <p:nvSpPr>
          <p:cNvPr id="4" name="card sol"/>
          <p:cNvSpPr/>
          <p:nvPr/>
        </p:nvSpPr>
        <p:spPr>
          <a:xfrm>
            <a:off x="614363" y="1174552"/>
            <a:ext cx="3559076" cy="4305895"/>
          </a:xfrm>
          <a:prstGeom prst="roundRect">
            <a:avLst>
              <a:gd name="adj" fmla="val 3613"/>
            </a:avLst>
          </a:prstGeom>
          <a:solidFill>
            <a:srgbClr val="FFFFFF"/>
          </a:solidFill>
          <a:ln w="9525">
            <a:solidFill>
              <a:srgbClr val="E2E8F0"/>
            </a:solidFill>
            <a:prstDash val="solid"/>
          </a:ln>
        </p:spPr>
      </p:sp>
      <p:sp>
        <p:nvSpPr>
          <p:cNvPr id="5" name="sh"/>
          <p:cNvSpPr/>
          <p:nvPr/>
        </p:nvSpPr>
        <p:spPr>
          <a:xfrm>
            <a:off x="619125" y="1179314"/>
            <a:ext cx="3549551" cy="619125"/>
          </a:xfrm>
          <a:prstGeom prst="roundRect">
            <a:avLst>
              <a:gd name="adj" fmla="val 20000"/>
            </a:avLst>
          </a:prstGeom>
          <a:solidFill>
            <a:srgbClr val="FFFFFF"/>
          </a:solidFill>
          <a:ln/>
        </p:spPr>
      </p:sp>
      <p:sp>
        <p:nvSpPr>
          <p:cNvPr id="6" name="sh"/>
          <p:cNvSpPr/>
          <p:nvPr/>
        </p:nvSpPr>
        <p:spPr>
          <a:xfrm>
            <a:off x="619125" y="1303139"/>
            <a:ext cx="3549551" cy="495300"/>
          </a:xfrm>
          <a:prstGeom prst="rect">
            <a:avLst/>
          </a:prstGeom>
          <a:solidFill>
            <a:srgbClr val="FFFFFF"/>
          </a:solidFill>
          <a:ln/>
        </p:spPr>
      </p:sp>
      <p:sp>
        <p:nvSpPr>
          <p:cNvPr id="7" name="sh-border"/>
          <p:cNvSpPr/>
          <p:nvPr/>
        </p:nvSpPr>
        <p:spPr>
          <a:xfrm>
            <a:off x="619125" y="1788914"/>
            <a:ext cx="3549551" cy="9525"/>
          </a:xfrm>
          <a:prstGeom prst="rect">
            <a:avLst/>
          </a:prstGeom>
          <a:solidFill>
            <a:srgbClr val="E2E8F0"/>
          </a:solidFill>
          <a:ln/>
        </p:spPr>
      </p:sp>
      <p:sp>
        <p:nvSpPr>
          <p:cNvPr id="8" name="opp-n"/>
          <p:cNvSpPr/>
          <p:nvPr/>
        </p:nvSpPr>
        <p:spPr>
          <a:xfrm>
            <a:off x="809625" y="1312664"/>
            <a:ext cx="342900" cy="342900"/>
          </a:xfrm>
          <a:prstGeom prst="roundRect">
            <a:avLst>
              <a:gd name="adj" fmla="val 27778"/>
            </a:avLst>
          </a:prstGeom>
          <a:solidFill>
            <a:srgbClr val="0F172A"/>
          </a:solidFill>
          <a:ln/>
        </p:spPr>
      </p:sp>
      <p:sp>
        <p:nvSpPr>
          <p:cNvPr id="9" name="text opp-n"/>
          <p:cNvSpPr txBox="1"/>
          <p:nvPr/>
        </p:nvSpPr>
        <p:spPr>
          <a:xfrm>
            <a:off x="942231" y="1359813"/>
            <a:ext cx="191839" cy="248602"/>
          </a:xfrm>
          <a:prstGeom prst="rect">
            <a:avLst/>
          </a:prstGeom>
          <a:noFill/>
          <a:ln/>
        </p:spPr>
        <p:txBody>
          <a:bodyPr wrap="none" lIns="0" tIns="0" rIns="0" bIns="0" rtlCol="0" anchor="ctr"/>
          <a:lstStyle/>
          <a:p>
            <a:pPr algn="l" indent="0" marL="0">
              <a:buNone/>
            </a:pPr>
            <a:r>
              <a:rPr lang="en-US" sz="1350" dirty="0">
                <a:solidFill>
                  <a:srgbClr val="FFFFFF"/>
                </a:solidFill>
                <a:latin typeface="Segoe UI Black" pitchFamily="34" charset="0"/>
                <a:ea typeface="Segoe UI Black" pitchFamily="34" charset="-122"/>
                <a:cs typeface="Segoe UI Black" pitchFamily="34" charset="-120"/>
              </a:rPr>
              <a:t>1</a:t>
            </a:r>
            <a:endParaRPr lang="en-US" sz="1350" dirty="0"/>
          </a:p>
        </p:txBody>
      </p:sp>
      <p:sp>
        <p:nvSpPr>
          <p:cNvPr id="10" name="text h3"/>
          <p:cNvSpPr txBox="1"/>
          <p:nvPr/>
        </p:nvSpPr>
        <p:spPr>
          <a:xfrm>
            <a:off x="1266825" y="1347078"/>
            <a:ext cx="1082725" cy="261570"/>
          </a:xfrm>
          <a:prstGeom prst="rect">
            <a:avLst/>
          </a:prstGeom>
          <a:noFill/>
          <a:ln/>
        </p:spPr>
        <p:txBody>
          <a:bodyPr wrap="none" lIns="0" tIns="0" rIns="0" bIns="0" rtlCol="0" anchor="ctr"/>
          <a:lstStyle/>
          <a:p>
            <a:pPr algn="l" indent="0" marL="0">
              <a:buNone/>
            </a:pPr>
            <a:r>
              <a:rPr lang="en-US" sz="1420" b="1" dirty="0">
                <a:solidFill>
                  <a:srgbClr val="0F172A"/>
                </a:solidFill>
                <a:latin typeface="Segoe UI" pitchFamily="34" charset="0"/>
                <a:ea typeface="Segoe UI" pitchFamily="34" charset="-122"/>
                <a:cs typeface="Segoe UI" pitchFamily="34" charset="-120"/>
              </a:rPr>
              <a:t>QR quốc tế</a:t>
            </a:r>
            <a:endParaRPr lang="en-US" sz="1420" dirty="0"/>
          </a:p>
        </p:txBody>
      </p:sp>
      <p:sp>
        <p:nvSpPr>
          <p:cNvPr id="11" name="text p lg"/>
          <p:cNvSpPr txBox="1"/>
          <p:nvPr/>
        </p:nvSpPr>
        <p:spPr>
          <a:xfrm>
            <a:off x="828675" y="1945730"/>
            <a:ext cx="2989668" cy="248343"/>
          </a:xfrm>
          <a:prstGeom prst="rect">
            <a:avLst/>
          </a:prstGeom>
          <a:noFill/>
          <a:ln/>
        </p:spPr>
        <p:txBody>
          <a:bodyPr wrap="none" lIns="0" tIns="0" rIns="0" bIns="0" rtlCol="0" anchor="ctr"/>
          <a:lstStyle/>
          <a:p>
            <a:pPr algn="l" indent="0" marL="0">
              <a:buNone/>
            </a:pPr>
            <a:r>
              <a:rPr lang="en-US" sz="1350" b="1" dirty="0">
                <a:solidFill>
                  <a:srgbClr val="0F172A"/>
                </a:solidFill>
                <a:latin typeface="Segoe UI" pitchFamily="34" charset="0"/>
                <a:ea typeface="Segoe UI" pitchFamily="34" charset="-122"/>
                <a:cs typeface="Segoe UI" pitchFamily="34" charset="-120"/>
              </a:rPr>
              <a:t>Khách quét QR bằng ví nước mình</a:t>
            </a:r>
            <a:endParaRPr lang="en-US" sz="1350" dirty="0"/>
          </a:p>
        </p:txBody>
      </p:sp>
      <p:sp>
        <p:nvSpPr>
          <p:cNvPr id="12" name="text __nops"/>
          <p:cNvSpPr txBox="1"/>
          <p:nvPr/>
        </p:nvSpPr>
        <p:spPr>
          <a:xfrm>
            <a:off x="1076325" y="2353230"/>
            <a:ext cx="2110011" cy="206952"/>
          </a:xfrm>
          <a:prstGeom prst="rect">
            <a:avLst/>
          </a:prstGeom>
          <a:noFill/>
          <a:ln/>
        </p:spPr>
        <p:txBody>
          <a:bodyPr wrap="none" lIns="0" tIns="0" rIns="0" bIns="0" rtlCol="0" anchor="ctr"/>
          <a:lstStyle/>
          <a:p>
            <a:pPr algn="l" indent="0" marL="0">
              <a:buNone/>
            </a:pPr>
            <a:r>
              <a:rPr lang="en-US" sz="1120" dirty="0">
                <a:solidFill>
                  <a:srgbClr val="334155"/>
                </a:solidFill>
                <a:latin typeface="Segoe UI Semibold" pitchFamily="34" charset="0"/>
                <a:ea typeface="Segoe UI Semibold" pitchFamily="34" charset="-122"/>
                <a:cs typeface="Segoe UI Semibold" pitchFamily="34" charset="-120"/>
              </a:rPr>
              <a:t>Cửa hàng đặt mã QR tại quầy</a:t>
            </a:r>
            <a:endParaRPr lang="en-US" sz="1120" dirty="0"/>
          </a:p>
        </p:txBody>
      </p:sp>
      <p:sp>
        <p:nvSpPr>
          <p:cNvPr id="13" name="Shape 11"/>
          <p:cNvSpPr/>
          <p:nvPr/>
        </p:nvSpPr>
        <p:spPr>
          <a:xfrm>
            <a:off x="833438" y="2380506"/>
            <a:ext cx="180975" cy="180975"/>
          </a:xfrm>
          <a:prstGeom prst="ellipse">
            <a:avLst/>
          </a:prstGeom>
          <a:solidFill>
            <a:srgbClr val="F1F5F9"/>
          </a:solidFill>
          <a:ln w="9525">
            <a:solidFill>
              <a:srgbClr val="E2E8F0"/>
            </a:solidFill>
            <a:prstDash val="solid"/>
          </a:ln>
        </p:spPr>
      </p:sp>
      <p:sp>
        <p:nvSpPr>
          <p:cNvPr id="14" name="text span"/>
          <p:cNvSpPr txBox="1"/>
          <p:nvPr/>
        </p:nvSpPr>
        <p:spPr>
          <a:xfrm>
            <a:off x="900708" y="2388334"/>
            <a:ext cx="160586" cy="151924"/>
          </a:xfrm>
          <a:prstGeom prst="rect">
            <a:avLst/>
          </a:prstGeom>
          <a:noFill/>
          <a:ln/>
        </p:spPr>
        <p:txBody>
          <a:bodyPr wrap="none" lIns="0" tIns="0" rIns="0" bIns="0" rtlCol="0" anchor="ctr"/>
          <a:lstStyle/>
          <a:p>
            <a:pPr algn="l" indent="0" marL="0">
              <a:buNone/>
            </a:pPr>
            <a:r>
              <a:rPr lang="en-US" sz="830" b="1" dirty="0">
                <a:solidFill>
                  <a:srgbClr val="0F172A"/>
                </a:solidFill>
                <a:latin typeface="Segoe UI" pitchFamily="34" charset="0"/>
                <a:ea typeface="Segoe UI" pitchFamily="34" charset="-122"/>
                <a:cs typeface="Segoe UI" pitchFamily="34" charset="-120"/>
              </a:rPr>
              <a:t>1</a:t>
            </a:r>
            <a:endParaRPr lang="en-US" sz="830" dirty="0"/>
          </a:p>
        </p:txBody>
      </p:sp>
      <p:sp>
        <p:nvSpPr>
          <p:cNvPr id="15" name="text __nops"/>
          <p:cNvSpPr txBox="1"/>
          <p:nvPr/>
        </p:nvSpPr>
        <p:spPr>
          <a:xfrm>
            <a:off x="1076325" y="2623707"/>
            <a:ext cx="2920901" cy="599448"/>
          </a:xfrm>
          <a:prstGeom prst="rect">
            <a:avLst/>
          </a:prstGeom>
          <a:noFill/>
          <a:ln/>
        </p:spPr>
        <p:txBody>
          <a:bodyPr wrap="square" lIns="0" tIns="0" rIns="0" bIns="0" rtlCol="0" anchor="ctr"/>
          <a:lstStyle/>
          <a:p>
            <a:pPr algn="l" indent="0" marL="0">
              <a:lnSpc>
                <a:spcPts val="1570"/>
              </a:lnSpc>
              <a:buNone/>
            </a:pPr>
            <a:r>
              <a:rPr lang="en-US" sz="1120" dirty="0">
                <a:solidFill>
                  <a:srgbClr val="334155"/>
                </a:solidFill>
                <a:latin typeface="Segoe UI Semibold" pitchFamily="34" charset="0"/>
                <a:ea typeface="Segoe UI Semibold" pitchFamily="34" charset="-122"/>
                <a:cs typeface="Segoe UI Semibold" pitchFamily="34" charset="-120"/>
              </a:rPr>
              <a:t>Khách quét bằng Alipay, WeChat Pay, Toss Pay… hoặc app ngân hàng nước mình</a:t>
            </a:r>
            <a:endParaRPr lang="en-US" sz="1120" dirty="0"/>
          </a:p>
        </p:txBody>
      </p:sp>
      <p:sp>
        <p:nvSpPr>
          <p:cNvPr id="16" name="Shape 14"/>
          <p:cNvSpPr/>
          <p:nvPr/>
        </p:nvSpPr>
        <p:spPr>
          <a:xfrm>
            <a:off x="833438" y="2647206"/>
            <a:ext cx="180975" cy="180975"/>
          </a:xfrm>
          <a:prstGeom prst="ellipse">
            <a:avLst/>
          </a:prstGeom>
          <a:solidFill>
            <a:srgbClr val="F1F5F9"/>
          </a:solidFill>
          <a:ln w="9525">
            <a:solidFill>
              <a:srgbClr val="E2E8F0"/>
            </a:solidFill>
            <a:prstDash val="solid"/>
          </a:ln>
        </p:spPr>
      </p:sp>
      <p:sp>
        <p:nvSpPr>
          <p:cNvPr id="17" name="text span"/>
          <p:cNvSpPr txBox="1"/>
          <p:nvPr/>
        </p:nvSpPr>
        <p:spPr>
          <a:xfrm>
            <a:off x="890439" y="2655034"/>
            <a:ext cx="181124" cy="151924"/>
          </a:xfrm>
          <a:prstGeom prst="rect">
            <a:avLst/>
          </a:prstGeom>
          <a:noFill/>
          <a:ln/>
        </p:spPr>
        <p:txBody>
          <a:bodyPr wrap="none" lIns="0" tIns="0" rIns="0" bIns="0" rtlCol="0" anchor="ctr"/>
          <a:lstStyle/>
          <a:p>
            <a:pPr algn="l" indent="0" marL="0">
              <a:buNone/>
            </a:pPr>
            <a:r>
              <a:rPr lang="en-US" sz="830" b="1" dirty="0">
                <a:solidFill>
                  <a:srgbClr val="0F172A"/>
                </a:solidFill>
                <a:latin typeface="Segoe UI" pitchFamily="34" charset="0"/>
                <a:ea typeface="Segoe UI" pitchFamily="34" charset="-122"/>
                <a:cs typeface="Segoe UI" pitchFamily="34" charset="-120"/>
              </a:rPr>
              <a:t>2</a:t>
            </a:r>
            <a:endParaRPr lang="en-US" sz="830" dirty="0"/>
          </a:p>
        </p:txBody>
      </p:sp>
      <p:sp>
        <p:nvSpPr>
          <p:cNvPr id="18" name="text __nops"/>
          <p:cNvSpPr txBox="1"/>
          <p:nvPr/>
        </p:nvSpPr>
        <p:spPr>
          <a:xfrm>
            <a:off x="1076325" y="3286680"/>
            <a:ext cx="1803946" cy="206952"/>
          </a:xfrm>
          <a:prstGeom prst="rect">
            <a:avLst/>
          </a:prstGeom>
          <a:noFill/>
          <a:ln/>
        </p:spPr>
        <p:txBody>
          <a:bodyPr wrap="none" lIns="0" tIns="0" rIns="0" bIns="0" rtlCol="0" anchor="ctr"/>
          <a:lstStyle/>
          <a:p>
            <a:pPr algn="l" indent="0" marL="0">
              <a:buNone/>
            </a:pPr>
            <a:r>
              <a:rPr lang="en-US" sz="1120" dirty="0">
                <a:solidFill>
                  <a:srgbClr val="334155"/>
                </a:solidFill>
                <a:latin typeface="Segoe UI Semibold" pitchFamily="34" charset="0"/>
                <a:ea typeface="Segoe UI Semibold" pitchFamily="34" charset="-122"/>
                <a:cs typeface="Segoe UI Semibold" pitchFamily="34" charset="-120"/>
              </a:rPr>
              <a:t>Cửa hàng nhận tiền VND</a:t>
            </a:r>
            <a:endParaRPr lang="en-US" sz="1120" dirty="0"/>
          </a:p>
        </p:txBody>
      </p:sp>
      <p:sp>
        <p:nvSpPr>
          <p:cNvPr id="19" name="Shape 17"/>
          <p:cNvSpPr/>
          <p:nvPr/>
        </p:nvSpPr>
        <p:spPr>
          <a:xfrm>
            <a:off x="833438" y="3313956"/>
            <a:ext cx="180975" cy="180975"/>
          </a:xfrm>
          <a:prstGeom prst="ellipse">
            <a:avLst/>
          </a:prstGeom>
          <a:solidFill>
            <a:srgbClr val="F1F5F9"/>
          </a:solidFill>
          <a:ln w="9525">
            <a:solidFill>
              <a:srgbClr val="E2E8F0"/>
            </a:solidFill>
            <a:prstDash val="solid"/>
          </a:ln>
        </p:spPr>
      </p:sp>
      <p:sp>
        <p:nvSpPr>
          <p:cNvPr id="20" name="text span"/>
          <p:cNvSpPr txBox="1"/>
          <p:nvPr/>
        </p:nvSpPr>
        <p:spPr>
          <a:xfrm>
            <a:off x="889397" y="3321784"/>
            <a:ext cx="183207" cy="151924"/>
          </a:xfrm>
          <a:prstGeom prst="rect">
            <a:avLst/>
          </a:prstGeom>
          <a:noFill/>
          <a:ln/>
        </p:spPr>
        <p:txBody>
          <a:bodyPr wrap="none" lIns="0" tIns="0" rIns="0" bIns="0" rtlCol="0" anchor="ctr"/>
          <a:lstStyle/>
          <a:p>
            <a:pPr algn="l" indent="0" marL="0">
              <a:buNone/>
            </a:pPr>
            <a:r>
              <a:rPr lang="en-US" sz="830" b="1" dirty="0">
                <a:solidFill>
                  <a:srgbClr val="0F172A"/>
                </a:solidFill>
                <a:latin typeface="Segoe UI" pitchFamily="34" charset="0"/>
                <a:ea typeface="Segoe UI" pitchFamily="34" charset="-122"/>
                <a:cs typeface="Segoe UI" pitchFamily="34" charset="-120"/>
              </a:rPr>
              <a:t>3</a:t>
            </a:r>
            <a:endParaRPr lang="en-US" sz="830" dirty="0"/>
          </a:p>
        </p:txBody>
      </p:sp>
      <p:sp>
        <p:nvSpPr>
          <p:cNvPr id="21" name="text ex2"/>
          <p:cNvSpPr txBox="1"/>
          <p:nvPr/>
        </p:nvSpPr>
        <p:spPr>
          <a:xfrm>
            <a:off x="828675" y="3612070"/>
            <a:ext cx="2284333" cy="193155"/>
          </a:xfrm>
          <a:prstGeom prst="rect">
            <a:avLst/>
          </a:prstGeom>
          <a:noFill/>
          <a:ln/>
        </p:spPr>
        <p:txBody>
          <a:bodyPr wrap="none" lIns="0" tIns="0" rIns="0" bIns="0" rtlCol="0" anchor="ctr"/>
          <a:lstStyle/>
          <a:p>
            <a:pPr algn="l" indent="0" marL="0">
              <a:buNone/>
            </a:pPr>
            <a:r>
              <a:rPr lang="en-US" sz="1050" dirty="0">
                <a:solidFill>
                  <a:srgbClr val="64748B"/>
                </a:solidFill>
                <a:latin typeface="Segoe UI Semibold" pitchFamily="34" charset="0"/>
                <a:ea typeface="Segoe UI Semibold" pitchFamily="34" charset="-122"/>
                <a:cs typeface="Segoe UI Semibold" pitchFamily="34" charset="-120"/>
              </a:rPr>
              <a:t>NAPAS VietQR Global, VNPAY-QR</a:t>
            </a:r>
            <a:endParaRPr lang="en-US" sz="1050" dirty="0"/>
          </a:p>
        </p:txBody>
      </p:sp>
      <p:sp>
        <p:nvSpPr>
          <p:cNvPr id="22" name="lims"/>
          <p:cNvSpPr/>
          <p:nvPr/>
        </p:nvSpPr>
        <p:spPr>
          <a:xfrm>
            <a:off x="833438" y="3975497"/>
            <a:ext cx="3120926" cy="1343025"/>
          </a:xfrm>
          <a:prstGeom prst="roundRect">
            <a:avLst>
              <a:gd name="adj" fmla="val 6738"/>
            </a:avLst>
          </a:prstGeom>
          <a:solidFill>
            <a:srgbClr val="FFF1F2"/>
          </a:solidFill>
          <a:ln w="9525">
            <a:solidFill>
              <a:srgbClr val="FECDD3"/>
            </a:solidFill>
            <a:prstDash val="solid"/>
          </a:ln>
        </p:spPr>
      </p:sp>
      <p:sp>
        <p:nvSpPr>
          <p:cNvPr id="23" name="text label red"/>
          <p:cNvSpPr txBox="1"/>
          <p:nvPr/>
        </p:nvSpPr>
        <p:spPr>
          <a:xfrm>
            <a:off x="990600" y="4081091"/>
            <a:ext cx="719137" cy="179337"/>
          </a:xfrm>
          <a:prstGeom prst="rect">
            <a:avLst/>
          </a:prstGeom>
          <a:noFill/>
          <a:ln/>
        </p:spPr>
        <p:txBody>
          <a:bodyPr wrap="none" lIns="0" tIns="0" rIns="0" bIns="0" rtlCol="0" anchor="ctr"/>
          <a:lstStyle/>
          <a:p>
            <a:pPr algn="l" indent="0" marL="0">
              <a:buNone/>
            </a:pPr>
            <a:r>
              <a:rPr lang="en-US" sz="970" b="1" spc="40" kern="0" dirty="0">
                <a:solidFill>
                  <a:srgbClr val="E11D48"/>
                </a:solidFill>
                <a:latin typeface="Segoe UI" pitchFamily="34" charset="0"/>
                <a:ea typeface="Segoe UI" pitchFamily="34" charset="-122"/>
                <a:cs typeface="Segoe UI" pitchFamily="34" charset="-120"/>
              </a:rPr>
              <a:t>HẠN CHẾ</a:t>
            </a:r>
            <a:endParaRPr lang="en-US" sz="970" dirty="0"/>
          </a:p>
        </p:txBody>
      </p:sp>
      <p:sp>
        <p:nvSpPr>
          <p:cNvPr id="24" name="text __nops"/>
          <p:cNvSpPr txBox="1"/>
          <p:nvPr/>
        </p:nvSpPr>
        <p:spPr>
          <a:xfrm>
            <a:off x="1143000" y="4299570"/>
            <a:ext cx="2692301" cy="628203"/>
          </a:xfrm>
          <a:prstGeom prst="rect">
            <a:avLst/>
          </a:prstGeom>
          <a:noFill/>
          <a:ln/>
        </p:spPr>
        <p:txBody>
          <a:bodyPr wrap="square" lIns="0" tIns="0" rIns="0" bIns="0" rtlCol="0" anchor="ctr"/>
          <a:lstStyle/>
          <a:p>
            <a:pPr algn="l" indent="0" marL="0">
              <a:lnSpc>
                <a:spcPts val="1650"/>
              </a:lnSpc>
              <a:buNone/>
            </a:pPr>
            <a:r>
              <a:rPr lang="en-US" sz="1160" dirty="0">
                <a:solidFill>
                  <a:srgbClr val="334155"/>
                </a:solidFill>
                <a:latin typeface="Segoe UI Semibold" pitchFamily="34" charset="0"/>
                <a:ea typeface="Segoe UI Semibold" pitchFamily="34" charset="-122"/>
                <a:cs typeface="Segoe UI Semibold" pitchFamily="34" charset="-120"/>
              </a:rPr>
              <a:t>Chỉ khách từ 6 nước đã kết nối: Thái Lan, Lào, Campuchia, Trung Quốc, Hàn Quốc, Singapore</a:t>
            </a:r>
            <a:endParaRPr lang="en-US" sz="1160" dirty="0"/>
          </a:p>
        </p:txBody>
      </p:sp>
      <p:sp>
        <p:nvSpPr>
          <p:cNvPr id="25" name="Shape 23"/>
          <p:cNvSpPr/>
          <p:nvPr/>
        </p:nvSpPr>
        <p:spPr>
          <a:xfrm>
            <a:off x="1000125" y="4380309"/>
            <a:ext cx="57150" cy="57150"/>
          </a:xfrm>
          <a:prstGeom prst="ellipse">
            <a:avLst/>
          </a:prstGeom>
          <a:solidFill>
            <a:srgbClr val="E11D48"/>
          </a:solidFill>
          <a:ln/>
        </p:spPr>
      </p:sp>
      <p:sp>
        <p:nvSpPr>
          <p:cNvPr id="26" name="text __nops"/>
          <p:cNvSpPr txBox="1"/>
          <p:nvPr/>
        </p:nvSpPr>
        <p:spPr>
          <a:xfrm>
            <a:off x="1143000" y="4983009"/>
            <a:ext cx="1845171" cy="213825"/>
          </a:xfrm>
          <a:prstGeom prst="rect">
            <a:avLst/>
          </a:prstGeom>
          <a:noFill/>
          <a:ln/>
        </p:spPr>
        <p:txBody>
          <a:bodyPr wrap="none" lIns="0" tIns="0" rIns="0" bIns="0" rtlCol="0" anchor="ctr"/>
          <a:lstStyle/>
          <a:p>
            <a:pPr algn="l" indent="0" marL="0">
              <a:buNone/>
            </a:pPr>
            <a:r>
              <a:rPr lang="en-US" sz="1160" dirty="0">
                <a:solidFill>
                  <a:srgbClr val="334155"/>
                </a:solidFill>
                <a:latin typeface="Segoe UI Semibold" pitchFamily="34" charset="0"/>
                <a:ea typeface="Segoe UI Semibold" pitchFamily="34" charset="-122"/>
                <a:cs typeface="Segoe UI Semibold" pitchFamily="34" charset="-120"/>
              </a:rPr>
              <a:t>Mới ~6% điểm bán nhận</a:t>
            </a:r>
            <a:endParaRPr lang="en-US" sz="1160" dirty="0"/>
          </a:p>
        </p:txBody>
      </p:sp>
      <p:sp>
        <p:nvSpPr>
          <p:cNvPr id="27" name="Shape 25"/>
          <p:cNvSpPr/>
          <p:nvPr/>
        </p:nvSpPr>
        <p:spPr>
          <a:xfrm>
            <a:off x="1000125" y="5066109"/>
            <a:ext cx="57150" cy="57150"/>
          </a:xfrm>
          <a:prstGeom prst="ellipse">
            <a:avLst/>
          </a:prstGeom>
          <a:solidFill>
            <a:srgbClr val="E11D48"/>
          </a:solidFill>
          <a:ln/>
        </p:spPr>
      </p:sp>
      <p:sp>
        <p:nvSpPr>
          <p:cNvPr id="28" name="card sol"/>
          <p:cNvSpPr/>
          <p:nvPr/>
        </p:nvSpPr>
        <p:spPr>
          <a:xfrm>
            <a:off x="4316313" y="1174552"/>
            <a:ext cx="3559225" cy="4305895"/>
          </a:xfrm>
          <a:prstGeom prst="roundRect">
            <a:avLst>
              <a:gd name="adj" fmla="val 3613"/>
            </a:avLst>
          </a:prstGeom>
          <a:solidFill>
            <a:srgbClr val="FFFFFF"/>
          </a:solidFill>
          <a:ln w="9525">
            <a:solidFill>
              <a:srgbClr val="E2E8F0"/>
            </a:solidFill>
            <a:prstDash val="solid"/>
          </a:ln>
        </p:spPr>
      </p:sp>
      <p:sp>
        <p:nvSpPr>
          <p:cNvPr id="29" name="sh"/>
          <p:cNvSpPr/>
          <p:nvPr/>
        </p:nvSpPr>
        <p:spPr>
          <a:xfrm>
            <a:off x="4321076" y="1179314"/>
            <a:ext cx="3549700" cy="619125"/>
          </a:xfrm>
          <a:prstGeom prst="roundRect">
            <a:avLst>
              <a:gd name="adj" fmla="val 20000"/>
            </a:avLst>
          </a:prstGeom>
          <a:solidFill>
            <a:srgbClr val="FFFFFF"/>
          </a:solidFill>
          <a:ln/>
        </p:spPr>
      </p:sp>
      <p:sp>
        <p:nvSpPr>
          <p:cNvPr id="30" name="sh"/>
          <p:cNvSpPr/>
          <p:nvPr/>
        </p:nvSpPr>
        <p:spPr>
          <a:xfrm>
            <a:off x="4321076" y="1303139"/>
            <a:ext cx="3549700" cy="495300"/>
          </a:xfrm>
          <a:prstGeom prst="rect">
            <a:avLst/>
          </a:prstGeom>
          <a:solidFill>
            <a:srgbClr val="FFFFFF"/>
          </a:solidFill>
          <a:ln/>
        </p:spPr>
      </p:sp>
      <p:sp>
        <p:nvSpPr>
          <p:cNvPr id="31" name="sh-border"/>
          <p:cNvSpPr/>
          <p:nvPr/>
        </p:nvSpPr>
        <p:spPr>
          <a:xfrm>
            <a:off x="4321076" y="1788914"/>
            <a:ext cx="3549700" cy="9525"/>
          </a:xfrm>
          <a:prstGeom prst="rect">
            <a:avLst/>
          </a:prstGeom>
          <a:solidFill>
            <a:srgbClr val="E2E8F0"/>
          </a:solidFill>
          <a:ln/>
        </p:spPr>
      </p:sp>
      <p:sp>
        <p:nvSpPr>
          <p:cNvPr id="32" name="opp-n"/>
          <p:cNvSpPr/>
          <p:nvPr/>
        </p:nvSpPr>
        <p:spPr>
          <a:xfrm>
            <a:off x="4511576" y="1312664"/>
            <a:ext cx="342900" cy="342900"/>
          </a:xfrm>
          <a:prstGeom prst="roundRect">
            <a:avLst>
              <a:gd name="adj" fmla="val 27778"/>
            </a:avLst>
          </a:prstGeom>
          <a:solidFill>
            <a:srgbClr val="0F172A"/>
          </a:solidFill>
          <a:ln/>
        </p:spPr>
      </p:sp>
      <p:sp>
        <p:nvSpPr>
          <p:cNvPr id="33" name="text opp-n"/>
          <p:cNvSpPr txBox="1"/>
          <p:nvPr/>
        </p:nvSpPr>
        <p:spPr>
          <a:xfrm>
            <a:off x="4627513" y="1359813"/>
            <a:ext cx="225177" cy="248602"/>
          </a:xfrm>
          <a:prstGeom prst="rect">
            <a:avLst/>
          </a:prstGeom>
          <a:noFill/>
          <a:ln/>
        </p:spPr>
        <p:txBody>
          <a:bodyPr wrap="none" lIns="0" tIns="0" rIns="0" bIns="0" rtlCol="0" anchor="ctr"/>
          <a:lstStyle/>
          <a:p>
            <a:pPr algn="l" indent="0" marL="0">
              <a:buNone/>
            </a:pPr>
            <a:r>
              <a:rPr lang="en-US" sz="1350" dirty="0">
                <a:solidFill>
                  <a:srgbClr val="FFFFFF"/>
                </a:solidFill>
                <a:latin typeface="Segoe UI Black" pitchFamily="34" charset="0"/>
                <a:ea typeface="Segoe UI Black" pitchFamily="34" charset="-122"/>
                <a:cs typeface="Segoe UI Black" pitchFamily="34" charset="-120"/>
              </a:rPr>
              <a:t>2</a:t>
            </a:r>
            <a:endParaRPr lang="en-US" sz="1350" dirty="0"/>
          </a:p>
        </p:txBody>
      </p:sp>
      <p:sp>
        <p:nvSpPr>
          <p:cNvPr id="34" name="text h3"/>
          <p:cNvSpPr txBox="1"/>
          <p:nvPr/>
        </p:nvSpPr>
        <p:spPr>
          <a:xfrm>
            <a:off x="4968776" y="1346864"/>
            <a:ext cx="2389084" cy="261999"/>
          </a:xfrm>
          <a:prstGeom prst="rect">
            <a:avLst/>
          </a:prstGeom>
          <a:noFill/>
          <a:ln/>
        </p:spPr>
        <p:txBody>
          <a:bodyPr wrap="none" lIns="0" tIns="0" rIns="0" bIns="0" rtlCol="0" anchor="ctr"/>
          <a:lstStyle/>
          <a:p>
            <a:pPr algn="l" indent="0" marL="0">
              <a:buNone/>
            </a:pPr>
            <a:r>
              <a:rPr lang="en-US" sz="1420" b="1" dirty="0">
                <a:solidFill>
                  <a:srgbClr val="0F172A"/>
                </a:solidFill>
                <a:latin typeface="Segoe UI" pitchFamily="34" charset="0"/>
                <a:ea typeface="Segoe UI" pitchFamily="34" charset="-122"/>
                <a:cs typeface="Segoe UI" pitchFamily="34" charset="-120"/>
              </a:rPr>
              <a:t>App Việt Nam liên kết thẻ</a:t>
            </a:r>
            <a:endParaRPr lang="en-US" sz="1420" dirty="0"/>
          </a:p>
        </p:txBody>
      </p:sp>
      <p:sp>
        <p:nvSpPr>
          <p:cNvPr id="35" name="text p lg"/>
          <p:cNvSpPr txBox="1"/>
          <p:nvPr/>
        </p:nvSpPr>
        <p:spPr>
          <a:xfrm>
            <a:off x="4530626" y="1950066"/>
            <a:ext cx="3168700" cy="479581"/>
          </a:xfrm>
          <a:prstGeom prst="rect">
            <a:avLst/>
          </a:prstGeom>
          <a:noFill/>
          <a:ln/>
        </p:spPr>
        <p:txBody>
          <a:bodyPr wrap="square" lIns="0" tIns="0" rIns="0" bIns="0" rtlCol="0" anchor="ctr"/>
          <a:lstStyle/>
          <a:p>
            <a:pPr algn="l" indent="0" marL="0">
              <a:lnSpc>
                <a:spcPts val="1890"/>
              </a:lnSpc>
              <a:buNone/>
            </a:pPr>
            <a:r>
              <a:rPr lang="en-US" sz="1350" b="1" dirty="0">
                <a:solidFill>
                  <a:srgbClr val="0F172A"/>
                </a:solidFill>
                <a:latin typeface="Segoe UI" pitchFamily="34" charset="0"/>
                <a:ea typeface="Segoe UI" pitchFamily="34" charset="-122"/>
                <a:cs typeface="Segoe UI" pitchFamily="34" charset="-120"/>
              </a:rPr>
              <a:t>Khách dùng app Việt Nam để quét QR nội địa</a:t>
            </a:r>
            <a:endParaRPr lang="en-US" sz="1350" dirty="0"/>
          </a:p>
        </p:txBody>
      </p:sp>
      <p:sp>
        <p:nvSpPr>
          <p:cNvPr id="36" name="text __nops"/>
          <p:cNvSpPr txBox="1"/>
          <p:nvPr/>
        </p:nvSpPr>
        <p:spPr>
          <a:xfrm>
            <a:off x="4778276" y="2589958"/>
            <a:ext cx="2921050" cy="399651"/>
          </a:xfrm>
          <a:prstGeom prst="rect">
            <a:avLst/>
          </a:prstGeom>
          <a:noFill/>
          <a:ln/>
        </p:spPr>
        <p:txBody>
          <a:bodyPr wrap="square" lIns="0" tIns="0" rIns="0" bIns="0" rtlCol="0" anchor="ctr"/>
          <a:lstStyle/>
          <a:p>
            <a:pPr algn="l" indent="0" marL="0">
              <a:lnSpc>
                <a:spcPts val="1570"/>
              </a:lnSpc>
              <a:buNone/>
            </a:pPr>
            <a:r>
              <a:rPr lang="en-US" sz="1120" dirty="0">
                <a:solidFill>
                  <a:srgbClr val="334155"/>
                </a:solidFill>
                <a:latin typeface="Segoe UI Semibold" pitchFamily="34" charset="0"/>
                <a:ea typeface="Segoe UI Semibold" pitchFamily="34" charset="-122"/>
                <a:cs typeface="Segoe UI Semibold" pitchFamily="34" charset="-120"/>
              </a:rPr>
              <a:t>Khách tải app thanh toán Việt Nam, đăng ký tài khoản</a:t>
            </a:r>
            <a:endParaRPr lang="en-US" sz="1120" dirty="0"/>
          </a:p>
        </p:txBody>
      </p:sp>
      <p:sp>
        <p:nvSpPr>
          <p:cNvPr id="37" name="Shape 35"/>
          <p:cNvSpPr/>
          <p:nvPr/>
        </p:nvSpPr>
        <p:spPr>
          <a:xfrm>
            <a:off x="4535388" y="2613571"/>
            <a:ext cx="180975" cy="180975"/>
          </a:xfrm>
          <a:prstGeom prst="ellipse">
            <a:avLst/>
          </a:prstGeom>
          <a:solidFill>
            <a:srgbClr val="F1F5F9"/>
          </a:solidFill>
          <a:ln w="9525">
            <a:solidFill>
              <a:srgbClr val="E2E8F0"/>
            </a:solidFill>
            <a:prstDash val="solid"/>
          </a:ln>
        </p:spPr>
      </p:sp>
      <p:sp>
        <p:nvSpPr>
          <p:cNvPr id="38" name="text span"/>
          <p:cNvSpPr txBox="1"/>
          <p:nvPr/>
        </p:nvSpPr>
        <p:spPr>
          <a:xfrm>
            <a:off x="4602659" y="2621399"/>
            <a:ext cx="160586" cy="151924"/>
          </a:xfrm>
          <a:prstGeom prst="rect">
            <a:avLst/>
          </a:prstGeom>
          <a:noFill/>
          <a:ln/>
        </p:spPr>
        <p:txBody>
          <a:bodyPr wrap="none" lIns="0" tIns="0" rIns="0" bIns="0" rtlCol="0" anchor="ctr"/>
          <a:lstStyle/>
          <a:p>
            <a:pPr algn="l" indent="0" marL="0">
              <a:buNone/>
            </a:pPr>
            <a:r>
              <a:rPr lang="en-US" sz="830" b="1" dirty="0">
                <a:solidFill>
                  <a:srgbClr val="0F172A"/>
                </a:solidFill>
                <a:latin typeface="Segoe UI" pitchFamily="34" charset="0"/>
                <a:ea typeface="Segoe UI" pitchFamily="34" charset="-122"/>
                <a:cs typeface="Segoe UI" pitchFamily="34" charset="-120"/>
              </a:rPr>
              <a:t>1</a:t>
            </a:r>
            <a:endParaRPr lang="en-US" sz="830" dirty="0"/>
          </a:p>
        </p:txBody>
      </p:sp>
      <p:sp>
        <p:nvSpPr>
          <p:cNvPr id="39" name="text __nops"/>
          <p:cNvSpPr txBox="1"/>
          <p:nvPr/>
        </p:nvSpPr>
        <p:spPr>
          <a:xfrm>
            <a:off x="4778276" y="3056683"/>
            <a:ext cx="2921050" cy="399651"/>
          </a:xfrm>
          <a:prstGeom prst="rect">
            <a:avLst/>
          </a:prstGeom>
          <a:noFill/>
          <a:ln/>
        </p:spPr>
        <p:txBody>
          <a:bodyPr wrap="square" lIns="0" tIns="0" rIns="0" bIns="0" rtlCol="0" anchor="ctr"/>
          <a:lstStyle/>
          <a:p>
            <a:pPr algn="l" indent="0" marL="0">
              <a:lnSpc>
                <a:spcPts val="1570"/>
              </a:lnSpc>
              <a:buNone/>
            </a:pPr>
            <a:r>
              <a:rPr lang="en-US" sz="1120" dirty="0">
                <a:solidFill>
                  <a:srgbClr val="334155"/>
                </a:solidFill>
                <a:latin typeface="Segoe UI Semibold" pitchFamily="34" charset="0"/>
                <a:ea typeface="Segoe UI Semibold" pitchFamily="34" charset="-122"/>
                <a:cs typeface="Segoe UI Semibold" pitchFamily="34" charset="-120"/>
              </a:rPr>
              <a:t>Liên kết thẻ quốc tế (Visa, Mastercard) vào app</a:t>
            </a:r>
            <a:endParaRPr lang="en-US" sz="1120" dirty="0"/>
          </a:p>
        </p:txBody>
      </p:sp>
      <p:sp>
        <p:nvSpPr>
          <p:cNvPr id="40" name="Shape 38"/>
          <p:cNvSpPr/>
          <p:nvPr/>
        </p:nvSpPr>
        <p:spPr>
          <a:xfrm>
            <a:off x="4535388" y="3080296"/>
            <a:ext cx="180975" cy="180975"/>
          </a:xfrm>
          <a:prstGeom prst="ellipse">
            <a:avLst/>
          </a:prstGeom>
          <a:solidFill>
            <a:srgbClr val="F1F5F9"/>
          </a:solidFill>
          <a:ln w="9525">
            <a:solidFill>
              <a:srgbClr val="E2E8F0"/>
            </a:solidFill>
            <a:prstDash val="solid"/>
          </a:ln>
        </p:spPr>
      </p:sp>
      <p:sp>
        <p:nvSpPr>
          <p:cNvPr id="41" name="text span"/>
          <p:cNvSpPr txBox="1"/>
          <p:nvPr/>
        </p:nvSpPr>
        <p:spPr>
          <a:xfrm>
            <a:off x="4592389" y="3088124"/>
            <a:ext cx="181124" cy="151924"/>
          </a:xfrm>
          <a:prstGeom prst="rect">
            <a:avLst/>
          </a:prstGeom>
          <a:noFill/>
          <a:ln/>
        </p:spPr>
        <p:txBody>
          <a:bodyPr wrap="none" lIns="0" tIns="0" rIns="0" bIns="0" rtlCol="0" anchor="ctr"/>
          <a:lstStyle/>
          <a:p>
            <a:pPr algn="l" indent="0" marL="0">
              <a:buNone/>
            </a:pPr>
            <a:r>
              <a:rPr lang="en-US" sz="830" b="1" dirty="0">
                <a:solidFill>
                  <a:srgbClr val="0F172A"/>
                </a:solidFill>
                <a:latin typeface="Segoe UI" pitchFamily="34" charset="0"/>
                <a:ea typeface="Segoe UI" pitchFamily="34" charset="-122"/>
                <a:cs typeface="Segoe UI" pitchFamily="34" charset="-120"/>
              </a:rPr>
              <a:t>2</a:t>
            </a:r>
            <a:endParaRPr lang="en-US" sz="830" dirty="0"/>
          </a:p>
        </p:txBody>
      </p:sp>
      <p:sp>
        <p:nvSpPr>
          <p:cNvPr id="42" name="text __nops"/>
          <p:cNvSpPr txBox="1"/>
          <p:nvPr/>
        </p:nvSpPr>
        <p:spPr>
          <a:xfrm>
            <a:off x="4778276" y="3523408"/>
            <a:ext cx="2921050" cy="399651"/>
          </a:xfrm>
          <a:prstGeom prst="rect">
            <a:avLst/>
          </a:prstGeom>
          <a:noFill/>
          <a:ln/>
        </p:spPr>
        <p:txBody>
          <a:bodyPr wrap="square" lIns="0" tIns="0" rIns="0" bIns="0" rtlCol="0" anchor="ctr"/>
          <a:lstStyle/>
          <a:p>
            <a:pPr algn="l" indent="0" marL="0">
              <a:lnSpc>
                <a:spcPts val="1570"/>
              </a:lnSpc>
              <a:buNone/>
            </a:pPr>
            <a:r>
              <a:rPr lang="en-US" sz="1120" dirty="0">
                <a:solidFill>
                  <a:srgbClr val="334155"/>
                </a:solidFill>
                <a:latin typeface="Segoe UI Semibold" pitchFamily="34" charset="0"/>
                <a:ea typeface="Segoe UI Semibold" pitchFamily="34" charset="-122"/>
                <a:cs typeface="Segoe UI Semibold" pitchFamily="34" charset="-120"/>
              </a:rPr>
              <a:t>Quét QR nội địa của cửa hàng như khách Việt</a:t>
            </a:r>
            <a:endParaRPr lang="en-US" sz="1120" dirty="0"/>
          </a:p>
        </p:txBody>
      </p:sp>
      <p:sp>
        <p:nvSpPr>
          <p:cNvPr id="43" name="Shape 41"/>
          <p:cNvSpPr/>
          <p:nvPr/>
        </p:nvSpPr>
        <p:spPr>
          <a:xfrm>
            <a:off x="4535388" y="3547021"/>
            <a:ext cx="180975" cy="180975"/>
          </a:xfrm>
          <a:prstGeom prst="ellipse">
            <a:avLst/>
          </a:prstGeom>
          <a:solidFill>
            <a:srgbClr val="F1F5F9"/>
          </a:solidFill>
          <a:ln w="9525">
            <a:solidFill>
              <a:srgbClr val="E2E8F0"/>
            </a:solidFill>
            <a:prstDash val="solid"/>
          </a:ln>
        </p:spPr>
      </p:sp>
      <p:sp>
        <p:nvSpPr>
          <p:cNvPr id="44" name="text span"/>
          <p:cNvSpPr txBox="1"/>
          <p:nvPr/>
        </p:nvSpPr>
        <p:spPr>
          <a:xfrm>
            <a:off x="4591348" y="3554849"/>
            <a:ext cx="183207" cy="151924"/>
          </a:xfrm>
          <a:prstGeom prst="rect">
            <a:avLst/>
          </a:prstGeom>
          <a:noFill/>
          <a:ln/>
        </p:spPr>
        <p:txBody>
          <a:bodyPr wrap="none" lIns="0" tIns="0" rIns="0" bIns="0" rtlCol="0" anchor="ctr"/>
          <a:lstStyle/>
          <a:p>
            <a:pPr algn="l" indent="0" marL="0">
              <a:buNone/>
            </a:pPr>
            <a:r>
              <a:rPr lang="en-US" sz="830" b="1" dirty="0">
                <a:solidFill>
                  <a:srgbClr val="0F172A"/>
                </a:solidFill>
                <a:latin typeface="Segoe UI" pitchFamily="34" charset="0"/>
                <a:ea typeface="Segoe UI" pitchFamily="34" charset="-122"/>
                <a:cs typeface="Segoe UI" pitchFamily="34" charset="-120"/>
              </a:rPr>
              <a:t>3</a:t>
            </a:r>
            <a:endParaRPr lang="en-US" sz="830" dirty="0"/>
          </a:p>
        </p:txBody>
      </p:sp>
      <p:sp>
        <p:nvSpPr>
          <p:cNvPr id="45" name="text ex2"/>
          <p:cNvSpPr txBox="1"/>
          <p:nvPr/>
        </p:nvSpPr>
        <p:spPr>
          <a:xfrm>
            <a:off x="4530626" y="4038012"/>
            <a:ext cx="1854696" cy="193165"/>
          </a:xfrm>
          <a:prstGeom prst="rect">
            <a:avLst/>
          </a:prstGeom>
          <a:noFill/>
          <a:ln/>
        </p:spPr>
        <p:txBody>
          <a:bodyPr wrap="none" lIns="0" tIns="0" rIns="0" bIns="0" rtlCol="0" anchor="ctr"/>
          <a:lstStyle/>
          <a:p>
            <a:pPr algn="l" indent="0" marL="0">
              <a:buNone/>
            </a:pPr>
            <a:r>
              <a:rPr lang="en-US" sz="1050" dirty="0">
                <a:solidFill>
                  <a:srgbClr val="64748B"/>
                </a:solidFill>
                <a:latin typeface="Segoe UI Semibold" pitchFamily="34" charset="0"/>
                <a:ea typeface="Segoe UI Semibold" pitchFamily="34" charset="-122"/>
                <a:cs typeface="Segoe UI Semibold" pitchFamily="34" charset="-120"/>
              </a:rPr>
              <a:t>VNPAY hợp tác Mastercard</a:t>
            </a:r>
            <a:endParaRPr lang="en-US" sz="1050" dirty="0"/>
          </a:p>
        </p:txBody>
      </p:sp>
      <p:sp>
        <p:nvSpPr>
          <p:cNvPr id="46" name="lims"/>
          <p:cNvSpPr/>
          <p:nvPr/>
        </p:nvSpPr>
        <p:spPr>
          <a:xfrm>
            <a:off x="4535388" y="4394597"/>
            <a:ext cx="3121075" cy="923925"/>
          </a:xfrm>
          <a:prstGeom prst="roundRect">
            <a:avLst>
              <a:gd name="adj" fmla="val 9794"/>
            </a:avLst>
          </a:prstGeom>
          <a:solidFill>
            <a:srgbClr val="FFF1F2"/>
          </a:solidFill>
          <a:ln w="9525">
            <a:solidFill>
              <a:srgbClr val="FECDD3"/>
            </a:solidFill>
            <a:prstDash val="solid"/>
          </a:ln>
        </p:spPr>
      </p:sp>
      <p:sp>
        <p:nvSpPr>
          <p:cNvPr id="47" name="text label red"/>
          <p:cNvSpPr txBox="1"/>
          <p:nvPr/>
        </p:nvSpPr>
        <p:spPr>
          <a:xfrm>
            <a:off x="4692551" y="4500186"/>
            <a:ext cx="719137" cy="179347"/>
          </a:xfrm>
          <a:prstGeom prst="rect">
            <a:avLst/>
          </a:prstGeom>
          <a:noFill/>
          <a:ln/>
        </p:spPr>
        <p:txBody>
          <a:bodyPr wrap="none" lIns="0" tIns="0" rIns="0" bIns="0" rtlCol="0" anchor="ctr"/>
          <a:lstStyle/>
          <a:p>
            <a:pPr algn="l" indent="0" marL="0">
              <a:buNone/>
            </a:pPr>
            <a:r>
              <a:rPr lang="en-US" sz="970" b="1" spc="40" kern="0" dirty="0">
                <a:solidFill>
                  <a:srgbClr val="E11D48"/>
                </a:solidFill>
                <a:latin typeface="Segoe UI" pitchFamily="34" charset="0"/>
                <a:ea typeface="Segoe UI" pitchFamily="34" charset="-122"/>
                <a:cs typeface="Segoe UI" pitchFamily="34" charset="-120"/>
              </a:rPr>
              <a:t>HẠN CHẾ</a:t>
            </a:r>
            <a:endParaRPr lang="en-US" sz="970" dirty="0"/>
          </a:p>
        </p:txBody>
      </p:sp>
      <p:sp>
        <p:nvSpPr>
          <p:cNvPr id="48" name="text __nops"/>
          <p:cNvSpPr txBox="1"/>
          <p:nvPr/>
        </p:nvSpPr>
        <p:spPr>
          <a:xfrm>
            <a:off x="4844951" y="4716304"/>
            <a:ext cx="2656642" cy="213836"/>
          </a:xfrm>
          <a:prstGeom prst="rect">
            <a:avLst/>
          </a:prstGeom>
          <a:noFill/>
          <a:ln/>
        </p:spPr>
        <p:txBody>
          <a:bodyPr wrap="none" lIns="0" tIns="0" rIns="0" bIns="0" rtlCol="0" anchor="ctr"/>
          <a:lstStyle/>
          <a:p>
            <a:pPr algn="l" indent="0" marL="0">
              <a:buNone/>
            </a:pPr>
            <a:r>
              <a:rPr lang="en-US" sz="1160" dirty="0">
                <a:solidFill>
                  <a:srgbClr val="334155"/>
                </a:solidFill>
                <a:latin typeface="Segoe UI Semibold" pitchFamily="34" charset="0"/>
                <a:ea typeface="Segoe UI Semibold" pitchFamily="34" charset="-122"/>
                <a:cs typeface="Segoe UI Semibold" pitchFamily="34" charset="-120"/>
              </a:rPr>
              <a:t>Phải cài app, đăng ký ngay tại quầy</a:t>
            </a:r>
            <a:endParaRPr lang="en-US" sz="1160" dirty="0"/>
          </a:p>
        </p:txBody>
      </p:sp>
      <p:sp>
        <p:nvSpPr>
          <p:cNvPr id="49" name="Shape 47"/>
          <p:cNvSpPr/>
          <p:nvPr/>
        </p:nvSpPr>
        <p:spPr>
          <a:xfrm>
            <a:off x="4702076" y="4799409"/>
            <a:ext cx="57150" cy="57150"/>
          </a:xfrm>
          <a:prstGeom prst="ellipse">
            <a:avLst/>
          </a:prstGeom>
          <a:solidFill>
            <a:srgbClr val="E11D48"/>
          </a:solidFill>
          <a:ln/>
        </p:spPr>
      </p:sp>
      <p:sp>
        <p:nvSpPr>
          <p:cNvPr id="50" name="text __nops"/>
          <p:cNvSpPr txBox="1"/>
          <p:nvPr/>
        </p:nvSpPr>
        <p:spPr>
          <a:xfrm>
            <a:off x="4844951" y="4983004"/>
            <a:ext cx="2431679" cy="213836"/>
          </a:xfrm>
          <a:prstGeom prst="rect">
            <a:avLst/>
          </a:prstGeom>
          <a:noFill/>
          <a:ln/>
        </p:spPr>
        <p:txBody>
          <a:bodyPr wrap="none" lIns="0" tIns="0" rIns="0" bIns="0" rtlCol="0" anchor="ctr"/>
          <a:lstStyle/>
          <a:p>
            <a:pPr algn="l" indent="0" marL="0">
              <a:buNone/>
            </a:pPr>
            <a:r>
              <a:rPr lang="en-US" sz="1160" dirty="0">
                <a:solidFill>
                  <a:srgbClr val="334155"/>
                </a:solidFill>
                <a:latin typeface="Segoe UI Semibold" pitchFamily="34" charset="0"/>
                <a:ea typeface="Segoe UI Semibold" pitchFamily="34" charset="-122"/>
                <a:cs typeface="Segoe UI Semibold" pitchFamily="34" charset="-120"/>
              </a:rPr>
              <a:t>Khách thường bỏ cuộc ở lần đầu</a:t>
            </a:r>
            <a:endParaRPr lang="en-US" sz="1160" dirty="0"/>
          </a:p>
        </p:txBody>
      </p:sp>
      <p:sp>
        <p:nvSpPr>
          <p:cNvPr id="51" name="Shape 49"/>
          <p:cNvSpPr/>
          <p:nvPr/>
        </p:nvSpPr>
        <p:spPr>
          <a:xfrm>
            <a:off x="4702076" y="5066109"/>
            <a:ext cx="57150" cy="57150"/>
          </a:xfrm>
          <a:prstGeom prst="ellipse">
            <a:avLst/>
          </a:prstGeom>
          <a:solidFill>
            <a:srgbClr val="E11D48"/>
          </a:solidFill>
          <a:ln/>
        </p:spPr>
      </p:sp>
      <p:sp>
        <p:nvSpPr>
          <p:cNvPr id="52" name="card sol"/>
          <p:cNvSpPr/>
          <p:nvPr/>
        </p:nvSpPr>
        <p:spPr>
          <a:xfrm>
            <a:off x="8018413" y="1174552"/>
            <a:ext cx="3559076" cy="4305895"/>
          </a:xfrm>
          <a:prstGeom prst="roundRect">
            <a:avLst>
              <a:gd name="adj" fmla="val 3613"/>
            </a:avLst>
          </a:prstGeom>
          <a:solidFill>
            <a:srgbClr val="FFFFFF"/>
          </a:solidFill>
          <a:ln w="9525">
            <a:solidFill>
              <a:srgbClr val="E2E8F0"/>
            </a:solidFill>
            <a:prstDash val="solid"/>
          </a:ln>
        </p:spPr>
      </p:sp>
      <p:sp>
        <p:nvSpPr>
          <p:cNvPr id="53" name="sh"/>
          <p:cNvSpPr/>
          <p:nvPr/>
        </p:nvSpPr>
        <p:spPr>
          <a:xfrm>
            <a:off x="8023175" y="1179314"/>
            <a:ext cx="3549551" cy="619125"/>
          </a:xfrm>
          <a:prstGeom prst="roundRect">
            <a:avLst>
              <a:gd name="adj" fmla="val 20000"/>
            </a:avLst>
          </a:prstGeom>
          <a:solidFill>
            <a:srgbClr val="FFFFFF"/>
          </a:solidFill>
          <a:ln/>
        </p:spPr>
      </p:sp>
      <p:sp>
        <p:nvSpPr>
          <p:cNvPr id="54" name="sh"/>
          <p:cNvSpPr/>
          <p:nvPr/>
        </p:nvSpPr>
        <p:spPr>
          <a:xfrm>
            <a:off x="8023175" y="1303139"/>
            <a:ext cx="3549551" cy="495300"/>
          </a:xfrm>
          <a:prstGeom prst="rect">
            <a:avLst/>
          </a:prstGeom>
          <a:solidFill>
            <a:srgbClr val="FFFFFF"/>
          </a:solidFill>
          <a:ln/>
        </p:spPr>
      </p:sp>
      <p:sp>
        <p:nvSpPr>
          <p:cNvPr id="55" name="sh-border"/>
          <p:cNvSpPr/>
          <p:nvPr/>
        </p:nvSpPr>
        <p:spPr>
          <a:xfrm>
            <a:off x="8023175" y="1788914"/>
            <a:ext cx="3549551" cy="9525"/>
          </a:xfrm>
          <a:prstGeom prst="rect">
            <a:avLst/>
          </a:prstGeom>
          <a:solidFill>
            <a:srgbClr val="E2E8F0"/>
          </a:solidFill>
          <a:ln/>
        </p:spPr>
      </p:sp>
      <p:sp>
        <p:nvSpPr>
          <p:cNvPr id="56" name="opp-n"/>
          <p:cNvSpPr/>
          <p:nvPr/>
        </p:nvSpPr>
        <p:spPr>
          <a:xfrm>
            <a:off x="8213675" y="1312664"/>
            <a:ext cx="342900" cy="342900"/>
          </a:xfrm>
          <a:prstGeom prst="roundRect">
            <a:avLst>
              <a:gd name="adj" fmla="val 27778"/>
            </a:avLst>
          </a:prstGeom>
          <a:solidFill>
            <a:srgbClr val="0F172A"/>
          </a:solidFill>
          <a:ln/>
        </p:spPr>
      </p:sp>
      <p:sp>
        <p:nvSpPr>
          <p:cNvPr id="57" name="text opp-n"/>
          <p:cNvSpPr txBox="1"/>
          <p:nvPr/>
        </p:nvSpPr>
        <p:spPr>
          <a:xfrm>
            <a:off x="8327678" y="1359813"/>
            <a:ext cx="229046" cy="248602"/>
          </a:xfrm>
          <a:prstGeom prst="rect">
            <a:avLst/>
          </a:prstGeom>
          <a:noFill/>
          <a:ln/>
        </p:spPr>
        <p:txBody>
          <a:bodyPr wrap="none" lIns="0" tIns="0" rIns="0" bIns="0" rtlCol="0" anchor="ctr"/>
          <a:lstStyle/>
          <a:p>
            <a:pPr algn="l" indent="0" marL="0">
              <a:buNone/>
            </a:pPr>
            <a:r>
              <a:rPr lang="en-US" sz="1350" dirty="0">
                <a:solidFill>
                  <a:srgbClr val="FFFFFF"/>
                </a:solidFill>
                <a:latin typeface="Segoe UI Black" pitchFamily="34" charset="0"/>
                <a:ea typeface="Segoe UI Black" pitchFamily="34" charset="-122"/>
                <a:cs typeface="Segoe UI Black" pitchFamily="34" charset="-120"/>
              </a:rPr>
              <a:t>3</a:t>
            </a:r>
            <a:endParaRPr lang="en-US" sz="1350" dirty="0"/>
          </a:p>
        </p:txBody>
      </p:sp>
      <p:sp>
        <p:nvSpPr>
          <p:cNvPr id="58" name="text h3"/>
          <p:cNvSpPr txBox="1"/>
          <p:nvPr/>
        </p:nvSpPr>
        <p:spPr>
          <a:xfrm>
            <a:off x="8670875" y="1346874"/>
            <a:ext cx="2661059" cy="261979"/>
          </a:xfrm>
          <a:prstGeom prst="rect">
            <a:avLst/>
          </a:prstGeom>
          <a:noFill/>
          <a:ln/>
        </p:spPr>
        <p:txBody>
          <a:bodyPr wrap="none" lIns="0" tIns="0" rIns="0" bIns="0" rtlCol="0" anchor="ctr"/>
          <a:lstStyle/>
          <a:p>
            <a:pPr algn="l" indent="0" marL="0">
              <a:buNone/>
            </a:pPr>
            <a:r>
              <a:rPr lang="en-US" sz="1420" b="1" dirty="0">
                <a:solidFill>
                  <a:srgbClr val="0F172A"/>
                </a:solidFill>
                <a:latin typeface="Segoe UI" pitchFamily="34" charset="0"/>
                <a:ea typeface="Segoe UI" pitchFamily="34" charset="-122"/>
                <a:cs typeface="Segoe UI" pitchFamily="34" charset="-120"/>
              </a:rPr>
              <a:t>Tap to Phone của ngân hàng</a:t>
            </a:r>
            <a:endParaRPr lang="en-US" sz="1420" dirty="0"/>
          </a:p>
        </p:txBody>
      </p:sp>
      <p:sp>
        <p:nvSpPr>
          <p:cNvPr id="59" name="text p lg"/>
          <p:cNvSpPr txBox="1"/>
          <p:nvPr/>
        </p:nvSpPr>
        <p:spPr>
          <a:xfrm>
            <a:off x="8232725" y="1950078"/>
            <a:ext cx="3168551" cy="479558"/>
          </a:xfrm>
          <a:prstGeom prst="rect">
            <a:avLst/>
          </a:prstGeom>
          <a:noFill/>
          <a:ln/>
        </p:spPr>
        <p:txBody>
          <a:bodyPr wrap="square" lIns="0" tIns="0" rIns="0" bIns="0" rtlCol="0" anchor="ctr"/>
          <a:lstStyle/>
          <a:p>
            <a:pPr algn="l" indent="0" marL="0">
              <a:lnSpc>
                <a:spcPts val="1890"/>
              </a:lnSpc>
              <a:buNone/>
            </a:pPr>
            <a:r>
              <a:rPr lang="en-US" sz="1350" b="1" dirty="0">
                <a:solidFill>
                  <a:srgbClr val="0F172A"/>
                </a:solidFill>
                <a:latin typeface="Segoe UI" pitchFamily="34" charset="0"/>
                <a:ea typeface="Segoe UI" pitchFamily="34" charset="-122"/>
                <a:cs typeface="Segoe UI" pitchFamily="34" charset="-120"/>
              </a:rPr>
              <a:t>Điện thoại Android thành máy nhận thẻ</a:t>
            </a:r>
            <a:endParaRPr lang="en-US" sz="1350" dirty="0"/>
          </a:p>
        </p:txBody>
      </p:sp>
      <p:sp>
        <p:nvSpPr>
          <p:cNvPr id="60" name="text __nops"/>
          <p:cNvSpPr txBox="1"/>
          <p:nvPr/>
        </p:nvSpPr>
        <p:spPr>
          <a:xfrm>
            <a:off x="8480375" y="2656642"/>
            <a:ext cx="2920901" cy="399632"/>
          </a:xfrm>
          <a:prstGeom prst="rect">
            <a:avLst/>
          </a:prstGeom>
          <a:noFill/>
          <a:ln/>
        </p:spPr>
        <p:txBody>
          <a:bodyPr wrap="square" lIns="0" tIns="0" rIns="0" bIns="0" rtlCol="0" anchor="ctr"/>
          <a:lstStyle/>
          <a:p>
            <a:pPr algn="l" indent="0" marL="0">
              <a:lnSpc>
                <a:spcPts val="1570"/>
              </a:lnSpc>
              <a:buNone/>
            </a:pPr>
            <a:r>
              <a:rPr lang="en-US" sz="1120" dirty="0">
                <a:solidFill>
                  <a:srgbClr val="334155"/>
                </a:solidFill>
                <a:latin typeface="Segoe UI Semibold" pitchFamily="34" charset="0"/>
                <a:ea typeface="Segoe UI Semibold" pitchFamily="34" charset="-122"/>
                <a:cs typeface="Segoe UI Semibold" pitchFamily="34" charset="-120"/>
              </a:rPr>
              <a:t>Cửa hàng bật tính năng nhận thẻ trong app ngân hàng</a:t>
            </a:r>
            <a:endParaRPr lang="en-US" sz="1120" dirty="0"/>
          </a:p>
        </p:txBody>
      </p:sp>
      <p:sp>
        <p:nvSpPr>
          <p:cNvPr id="61" name="Shape 59"/>
          <p:cNvSpPr/>
          <p:nvPr/>
        </p:nvSpPr>
        <p:spPr>
          <a:xfrm>
            <a:off x="8237488" y="2680246"/>
            <a:ext cx="180975" cy="180975"/>
          </a:xfrm>
          <a:prstGeom prst="ellipse">
            <a:avLst/>
          </a:prstGeom>
          <a:solidFill>
            <a:srgbClr val="F1F5F9"/>
          </a:solidFill>
          <a:ln w="9525">
            <a:solidFill>
              <a:srgbClr val="E2E8F0"/>
            </a:solidFill>
            <a:prstDash val="solid"/>
          </a:ln>
        </p:spPr>
      </p:sp>
      <p:sp>
        <p:nvSpPr>
          <p:cNvPr id="62" name="text span"/>
          <p:cNvSpPr txBox="1"/>
          <p:nvPr/>
        </p:nvSpPr>
        <p:spPr>
          <a:xfrm>
            <a:off x="8304758" y="2688074"/>
            <a:ext cx="160586" cy="151924"/>
          </a:xfrm>
          <a:prstGeom prst="rect">
            <a:avLst/>
          </a:prstGeom>
          <a:noFill/>
          <a:ln/>
        </p:spPr>
        <p:txBody>
          <a:bodyPr wrap="none" lIns="0" tIns="0" rIns="0" bIns="0" rtlCol="0" anchor="ctr"/>
          <a:lstStyle/>
          <a:p>
            <a:pPr algn="l" indent="0" marL="0">
              <a:buNone/>
            </a:pPr>
            <a:r>
              <a:rPr lang="en-US" sz="830" b="1" dirty="0">
                <a:solidFill>
                  <a:srgbClr val="0F172A"/>
                </a:solidFill>
                <a:latin typeface="Segoe UI" pitchFamily="34" charset="0"/>
                <a:ea typeface="Segoe UI" pitchFamily="34" charset="-122"/>
                <a:cs typeface="Segoe UI" pitchFamily="34" charset="-120"/>
              </a:rPr>
              <a:t>1</a:t>
            </a:r>
            <a:endParaRPr lang="en-US" sz="830" dirty="0"/>
          </a:p>
        </p:txBody>
      </p:sp>
      <p:sp>
        <p:nvSpPr>
          <p:cNvPr id="63" name="text __nops"/>
          <p:cNvSpPr txBox="1"/>
          <p:nvPr/>
        </p:nvSpPr>
        <p:spPr>
          <a:xfrm>
            <a:off x="8480375" y="3123367"/>
            <a:ext cx="2920901" cy="399632"/>
          </a:xfrm>
          <a:prstGeom prst="rect">
            <a:avLst/>
          </a:prstGeom>
          <a:noFill/>
          <a:ln/>
        </p:spPr>
        <p:txBody>
          <a:bodyPr wrap="square" lIns="0" tIns="0" rIns="0" bIns="0" rtlCol="0" anchor="ctr"/>
          <a:lstStyle/>
          <a:p>
            <a:pPr algn="l" indent="0" marL="0">
              <a:lnSpc>
                <a:spcPts val="1570"/>
              </a:lnSpc>
              <a:buNone/>
            </a:pPr>
            <a:r>
              <a:rPr lang="en-US" sz="1120" dirty="0">
                <a:solidFill>
                  <a:srgbClr val="334155"/>
                </a:solidFill>
                <a:latin typeface="Segoe UI Semibold" pitchFamily="34" charset="0"/>
                <a:ea typeface="Segoe UI Semibold" pitchFamily="34" charset="-122"/>
                <a:cs typeface="Segoe UI Semibold" pitchFamily="34" charset="-120"/>
              </a:rPr>
              <a:t>Khách chạm thẻ vào điện thoại của cửa hàng</a:t>
            </a:r>
            <a:endParaRPr lang="en-US" sz="1120" dirty="0"/>
          </a:p>
        </p:txBody>
      </p:sp>
      <p:sp>
        <p:nvSpPr>
          <p:cNvPr id="64" name="Shape 62"/>
          <p:cNvSpPr/>
          <p:nvPr/>
        </p:nvSpPr>
        <p:spPr>
          <a:xfrm>
            <a:off x="8237488" y="3146971"/>
            <a:ext cx="180975" cy="180975"/>
          </a:xfrm>
          <a:prstGeom prst="ellipse">
            <a:avLst/>
          </a:prstGeom>
          <a:solidFill>
            <a:srgbClr val="F1F5F9"/>
          </a:solidFill>
          <a:ln w="9525">
            <a:solidFill>
              <a:srgbClr val="E2E8F0"/>
            </a:solidFill>
            <a:prstDash val="solid"/>
          </a:ln>
        </p:spPr>
      </p:sp>
      <p:sp>
        <p:nvSpPr>
          <p:cNvPr id="65" name="text span"/>
          <p:cNvSpPr txBox="1"/>
          <p:nvPr/>
        </p:nvSpPr>
        <p:spPr>
          <a:xfrm>
            <a:off x="8294489" y="3154799"/>
            <a:ext cx="181124" cy="151924"/>
          </a:xfrm>
          <a:prstGeom prst="rect">
            <a:avLst/>
          </a:prstGeom>
          <a:noFill/>
          <a:ln/>
        </p:spPr>
        <p:txBody>
          <a:bodyPr wrap="none" lIns="0" tIns="0" rIns="0" bIns="0" rtlCol="0" anchor="ctr"/>
          <a:lstStyle/>
          <a:p>
            <a:pPr algn="l" indent="0" marL="0">
              <a:buNone/>
            </a:pPr>
            <a:r>
              <a:rPr lang="en-US" sz="830" b="1" dirty="0">
                <a:solidFill>
                  <a:srgbClr val="0F172A"/>
                </a:solidFill>
                <a:latin typeface="Segoe UI" pitchFamily="34" charset="0"/>
                <a:ea typeface="Segoe UI" pitchFamily="34" charset="-122"/>
                <a:cs typeface="Segoe UI" pitchFamily="34" charset="-120"/>
              </a:rPr>
              <a:t>2</a:t>
            </a:r>
            <a:endParaRPr lang="en-US" sz="830" dirty="0"/>
          </a:p>
        </p:txBody>
      </p:sp>
      <p:sp>
        <p:nvSpPr>
          <p:cNvPr id="66" name="text __nops"/>
          <p:cNvSpPr txBox="1"/>
          <p:nvPr/>
        </p:nvSpPr>
        <p:spPr>
          <a:xfrm>
            <a:off x="8480375" y="3586420"/>
            <a:ext cx="1906339" cy="206952"/>
          </a:xfrm>
          <a:prstGeom prst="rect">
            <a:avLst/>
          </a:prstGeom>
          <a:noFill/>
          <a:ln/>
        </p:spPr>
        <p:txBody>
          <a:bodyPr wrap="none" lIns="0" tIns="0" rIns="0" bIns="0" rtlCol="0" anchor="ctr"/>
          <a:lstStyle/>
          <a:p>
            <a:pPr algn="l" indent="0" marL="0">
              <a:buNone/>
            </a:pPr>
            <a:r>
              <a:rPr lang="en-US" sz="1120" dirty="0">
                <a:solidFill>
                  <a:srgbClr val="334155"/>
                </a:solidFill>
                <a:latin typeface="Segoe UI Semibold" pitchFamily="34" charset="0"/>
                <a:ea typeface="Segoe UI Semibold" pitchFamily="34" charset="-122"/>
                <a:cs typeface="Segoe UI Semibold" pitchFamily="34" charset="-120"/>
              </a:rPr>
              <a:t>Không cần máy POS riêng</a:t>
            </a:r>
            <a:endParaRPr lang="en-US" sz="1120" dirty="0"/>
          </a:p>
        </p:txBody>
      </p:sp>
      <p:sp>
        <p:nvSpPr>
          <p:cNvPr id="67" name="Shape 65"/>
          <p:cNvSpPr/>
          <p:nvPr/>
        </p:nvSpPr>
        <p:spPr>
          <a:xfrm>
            <a:off x="8237488" y="3613696"/>
            <a:ext cx="180975" cy="180975"/>
          </a:xfrm>
          <a:prstGeom prst="ellipse">
            <a:avLst/>
          </a:prstGeom>
          <a:solidFill>
            <a:srgbClr val="F1F5F9"/>
          </a:solidFill>
          <a:ln w="9525">
            <a:solidFill>
              <a:srgbClr val="E2E8F0"/>
            </a:solidFill>
            <a:prstDash val="solid"/>
          </a:ln>
        </p:spPr>
      </p:sp>
      <p:sp>
        <p:nvSpPr>
          <p:cNvPr id="68" name="text span"/>
          <p:cNvSpPr txBox="1"/>
          <p:nvPr/>
        </p:nvSpPr>
        <p:spPr>
          <a:xfrm>
            <a:off x="8293447" y="3621524"/>
            <a:ext cx="183207" cy="151924"/>
          </a:xfrm>
          <a:prstGeom prst="rect">
            <a:avLst/>
          </a:prstGeom>
          <a:noFill/>
          <a:ln/>
        </p:spPr>
        <p:txBody>
          <a:bodyPr wrap="none" lIns="0" tIns="0" rIns="0" bIns="0" rtlCol="0" anchor="ctr"/>
          <a:lstStyle/>
          <a:p>
            <a:pPr algn="l" indent="0" marL="0">
              <a:buNone/>
            </a:pPr>
            <a:r>
              <a:rPr lang="en-US" sz="830" b="1" dirty="0">
                <a:solidFill>
                  <a:srgbClr val="0F172A"/>
                </a:solidFill>
                <a:latin typeface="Segoe UI" pitchFamily="34" charset="0"/>
                <a:ea typeface="Segoe UI" pitchFamily="34" charset="-122"/>
                <a:cs typeface="Segoe UI" pitchFamily="34" charset="-120"/>
              </a:rPr>
              <a:t>3</a:t>
            </a:r>
            <a:endParaRPr lang="en-US" sz="830" dirty="0"/>
          </a:p>
        </p:txBody>
      </p:sp>
      <p:sp>
        <p:nvSpPr>
          <p:cNvPr id="69" name="text ex2"/>
          <p:cNvSpPr txBox="1"/>
          <p:nvPr/>
        </p:nvSpPr>
        <p:spPr>
          <a:xfrm>
            <a:off x="8232725" y="3971341"/>
            <a:ext cx="3279627" cy="193155"/>
          </a:xfrm>
          <a:prstGeom prst="rect">
            <a:avLst/>
          </a:prstGeom>
          <a:noFill/>
          <a:ln/>
        </p:spPr>
        <p:txBody>
          <a:bodyPr wrap="none" lIns="0" tIns="0" rIns="0" bIns="0" rtlCol="0" anchor="ctr"/>
          <a:lstStyle/>
          <a:p>
            <a:pPr algn="l" indent="0" marL="0">
              <a:buNone/>
            </a:pPr>
            <a:r>
              <a:rPr lang="en-US" sz="1050" dirty="0">
                <a:solidFill>
                  <a:srgbClr val="64748B"/>
                </a:solidFill>
                <a:latin typeface="Segoe UI Semibold" pitchFamily="34" charset="0"/>
                <a:ea typeface="Segoe UI Semibold" pitchFamily="34" charset="-122"/>
                <a:cs typeface="Segoe UI Semibold" pitchFamily="34" charset="-120"/>
              </a:rPr>
              <a:t>VPBank, Sacombank, VIB; VNPAY SoftPOS; VCB</a:t>
            </a:r>
            <a:endParaRPr lang="en-US" sz="1050" dirty="0"/>
          </a:p>
        </p:txBody>
      </p:sp>
      <p:sp>
        <p:nvSpPr>
          <p:cNvPr id="70" name="lims"/>
          <p:cNvSpPr/>
          <p:nvPr/>
        </p:nvSpPr>
        <p:spPr>
          <a:xfrm>
            <a:off x="8237488" y="4394597"/>
            <a:ext cx="3120926" cy="923925"/>
          </a:xfrm>
          <a:prstGeom prst="roundRect">
            <a:avLst>
              <a:gd name="adj" fmla="val 9794"/>
            </a:avLst>
          </a:prstGeom>
          <a:solidFill>
            <a:srgbClr val="FFF1F2"/>
          </a:solidFill>
          <a:ln w="9525">
            <a:solidFill>
              <a:srgbClr val="FECDD3"/>
            </a:solidFill>
            <a:prstDash val="solid"/>
          </a:ln>
        </p:spPr>
      </p:sp>
      <p:sp>
        <p:nvSpPr>
          <p:cNvPr id="71" name="text label red"/>
          <p:cNvSpPr txBox="1"/>
          <p:nvPr/>
        </p:nvSpPr>
        <p:spPr>
          <a:xfrm>
            <a:off x="8394650" y="4500191"/>
            <a:ext cx="719137" cy="179337"/>
          </a:xfrm>
          <a:prstGeom prst="rect">
            <a:avLst/>
          </a:prstGeom>
          <a:noFill/>
          <a:ln/>
        </p:spPr>
        <p:txBody>
          <a:bodyPr wrap="none" lIns="0" tIns="0" rIns="0" bIns="0" rtlCol="0" anchor="ctr"/>
          <a:lstStyle/>
          <a:p>
            <a:pPr algn="l" indent="0" marL="0">
              <a:buNone/>
            </a:pPr>
            <a:r>
              <a:rPr lang="en-US" sz="970" b="1" spc="40" kern="0" dirty="0">
                <a:solidFill>
                  <a:srgbClr val="E11D48"/>
                </a:solidFill>
                <a:latin typeface="Segoe UI" pitchFamily="34" charset="0"/>
                <a:ea typeface="Segoe UI" pitchFamily="34" charset="-122"/>
                <a:cs typeface="Segoe UI" pitchFamily="34" charset="-120"/>
              </a:rPr>
              <a:t>HẠN CHẾ</a:t>
            </a:r>
            <a:endParaRPr lang="en-US" sz="970" dirty="0"/>
          </a:p>
        </p:txBody>
      </p:sp>
      <p:sp>
        <p:nvSpPr>
          <p:cNvPr id="72" name="text __nops"/>
          <p:cNvSpPr txBox="1"/>
          <p:nvPr/>
        </p:nvSpPr>
        <p:spPr>
          <a:xfrm>
            <a:off x="8547050" y="4716309"/>
            <a:ext cx="2785214" cy="213825"/>
          </a:xfrm>
          <a:prstGeom prst="rect">
            <a:avLst/>
          </a:prstGeom>
          <a:noFill/>
          <a:ln/>
        </p:spPr>
        <p:txBody>
          <a:bodyPr wrap="none" lIns="0" tIns="0" rIns="0" bIns="0" rtlCol="0" anchor="ctr"/>
          <a:lstStyle/>
          <a:p>
            <a:pPr algn="l" indent="0" marL="0">
              <a:buNone/>
            </a:pPr>
            <a:r>
              <a:rPr lang="en-US" sz="1160" dirty="0">
                <a:solidFill>
                  <a:srgbClr val="334155"/>
                </a:solidFill>
                <a:latin typeface="Segoe UI Semibold" pitchFamily="34" charset="0"/>
                <a:ea typeface="Segoe UI Semibold" pitchFamily="34" charset="-122"/>
                <a:cs typeface="Segoe UI Semibold" pitchFamily="34" charset="-120"/>
              </a:rPr>
              <a:t>Phí </a:t>
            </a:r>
            <a:pPr algn="l" indent="0" marL="0">
              <a:buNone/>
            </a:pPr>
            <a:r>
              <a:rPr lang="en-US" sz="1160" dirty="0">
                <a:solidFill>
                  <a:srgbClr val="334155"/>
                </a:solidFill>
                <a:latin typeface="Segoe UI Black" pitchFamily="34" charset="0"/>
                <a:ea typeface="Segoe UI Black" pitchFamily="34" charset="-122"/>
                <a:cs typeface="Segoe UI Black" pitchFamily="34" charset="-120"/>
              </a:rPr>
              <a:t>2,5–3,9%</a:t>
            </a:r>
            <a:pPr algn="l" indent="0" marL="0">
              <a:buNone/>
            </a:pPr>
            <a:r>
              <a:rPr lang="en-US" sz="1160" dirty="0">
                <a:solidFill>
                  <a:srgbClr val="334155"/>
                </a:solidFill>
                <a:latin typeface="Segoe UI Semibold" pitchFamily="34" charset="0"/>
                <a:ea typeface="Segoe UI Semibold" pitchFamily="34" charset="-122"/>
                <a:cs typeface="Segoe UI Semibold" pitchFamily="34" charset="-120"/>
              </a:rPr>
              <a:t> với thẻ khách quốc tế*</a:t>
            </a:r>
            <a:endParaRPr lang="en-US" sz="1160" dirty="0"/>
          </a:p>
        </p:txBody>
      </p:sp>
      <p:sp>
        <p:nvSpPr>
          <p:cNvPr id="73" name="Shape 71"/>
          <p:cNvSpPr/>
          <p:nvPr/>
        </p:nvSpPr>
        <p:spPr>
          <a:xfrm>
            <a:off x="8404175" y="4799409"/>
            <a:ext cx="57150" cy="57150"/>
          </a:xfrm>
          <a:prstGeom prst="ellipse">
            <a:avLst/>
          </a:prstGeom>
          <a:solidFill>
            <a:srgbClr val="E11D48"/>
          </a:solidFill>
          <a:ln/>
        </p:spPr>
      </p:sp>
      <p:sp>
        <p:nvSpPr>
          <p:cNvPr id="74" name="text __nops"/>
          <p:cNvSpPr txBox="1"/>
          <p:nvPr/>
        </p:nvSpPr>
        <p:spPr>
          <a:xfrm>
            <a:off x="8547050" y="4983009"/>
            <a:ext cx="2709175" cy="213825"/>
          </a:xfrm>
          <a:prstGeom prst="rect">
            <a:avLst/>
          </a:prstGeom>
          <a:noFill/>
          <a:ln/>
        </p:spPr>
        <p:txBody>
          <a:bodyPr wrap="none" lIns="0" tIns="0" rIns="0" bIns="0" rtlCol="0" anchor="ctr"/>
          <a:lstStyle/>
          <a:p>
            <a:pPr algn="l" indent="0" marL="0">
              <a:buNone/>
            </a:pPr>
            <a:r>
              <a:rPr lang="en-US" sz="1160" dirty="0">
                <a:solidFill>
                  <a:srgbClr val="334155"/>
                </a:solidFill>
                <a:latin typeface="Segoe UI Semibold" pitchFamily="34" charset="0"/>
                <a:ea typeface="Segoe UI Semibold" pitchFamily="34" charset="-122"/>
                <a:cs typeface="Segoe UI Semibold" pitchFamily="34" charset="-120"/>
              </a:rPr>
              <a:t>Tách khỏi bán hàng, ghi sổ bằng tay</a:t>
            </a:r>
            <a:endParaRPr lang="en-US" sz="1160" dirty="0"/>
          </a:p>
        </p:txBody>
      </p:sp>
      <p:sp>
        <p:nvSpPr>
          <p:cNvPr id="75" name="Shape 73"/>
          <p:cNvSpPr/>
          <p:nvPr/>
        </p:nvSpPr>
        <p:spPr>
          <a:xfrm>
            <a:off x="8404175" y="5066109"/>
            <a:ext cx="57150" cy="57150"/>
          </a:xfrm>
          <a:prstGeom prst="ellipse">
            <a:avLst/>
          </a:prstGeom>
          <a:solidFill>
            <a:srgbClr val="E11D48"/>
          </a:solidFill>
          <a:ln/>
        </p:spPr>
      </p:sp>
      <p:sp>
        <p:nvSpPr>
          <p:cNvPr id="76" name="takeaway __nops"/>
          <p:cNvSpPr/>
          <p:nvPr/>
        </p:nvSpPr>
        <p:spPr>
          <a:xfrm>
            <a:off x="614363" y="5623322"/>
            <a:ext cx="10963275" cy="525066"/>
          </a:xfrm>
          <a:prstGeom prst="roundRect">
            <a:avLst>
              <a:gd name="adj" fmla="val 24490"/>
            </a:avLst>
          </a:prstGeom>
          <a:solidFill>
            <a:srgbClr val="EEFBF3"/>
          </a:solidFill>
          <a:ln w="9525">
            <a:solidFill>
              <a:srgbClr val="86EFAC"/>
            </a:solidFill>
            <a:prstDash val="solid"/>
          </a:ln>
        </p:spPr>
      </p:sp>
      <p:sp>
        <p:nvSpPr>
          <p:cNvPr id="77" name="text takeaway __nops"/>
          <p:cNvSpPr txBox="1"/>
          <p:nvPr/>
        </p:nvSpPr>
        <p:spPr>
          <a:xfrm>
            <a:off x="1152525" y="5767864"/>
            <a:ext cx="5733865" cy="234791"/>
          </a:xfrm>
          <a:prstGeom prst="rect">
            <a:avLst/>
          </a:prstGeom>
          <a:noFill/>
          <a:ln/>
        </p:spPr>
        <p:txBody>
          <a:bodyPr wrap="none" lIns="0" tIns="0" rIns="0" bIns="0" rtlCol="0" anchor="ctr"/>
          <a:lstStyle/>
          <a:p>
            <a:pPr algn="l" indent="0" marL="0">
              <a:buNone/>
            </a:pPr>
            <a:r>
              <a:rPr lang="en-US" sz="1280" b="1" dirty="0">
                <a:solidFill>
                  <a:srgbClr val="0F172A"/>
                </a:solidFill>
                <a:latin typeface="Segoe UI" pitchFamily="34" charset="0"/>
                <a:ea typeface="Segoe UI" pitchFamily="34" charset="-122"/>
                <a:cs typeface="Segoe UI" pitchFamily="34" charset="-120"/>
              </a:rPr>
              <a:t>Thiếu một giải pháp </a:t>
            </a:r>
            <a:pPr algn="l" indent="0" marL="0">
              <a:buNone/>
            </a:pPr>
            <a:r>
              <a:rPr lang="en-US" sz="1280" b="1" dirty="0">
                <a:solidFill>
                  <a:srgbClr val="15803D"/>
                </a:solidFill>
                <a:latin typeface="Segoe UI" pitchFamily="34" charset="0"/>
                <a:ea typeface="Segoe UI" pitchFamily="34" charset="-122"/>
                <a:cs typeface="Segoe UI" pitchFamily="34" charset="-120"/>
              </a:rPr>
              <a:t>đến được hộ nhỏ, gắn với bán hàng, chi phí thấp.</a:t>
            </a:r>
            <a:endParaRPr lang="en-US" sz="1280" dirty="0"/>
          </a:p>
        </p:txBody>
      </p:sp>
      <p:pic>
        <p:nvPicPr>
          <p:cNvPr id="78" name="graphic SPAN" descr="SPAN">    </p:cNvPr>
          <p:cNvPicPr>
            <a:picLocks noChangeAspect="1"/>
          </p:cNvPicPr>
          <p:nvPr/>
        </p:nvPicPr>
        <p:blipFill>
          <a:blip r:embed="rId1"/>
          <a:stretch>
            <a:fillRect/>
          </a:stretch>
        </p:blipFill>
        <p:spPr>
          <a:xfrm>
            <a:off x="828675" y="5790605"/>
            <a:ext cx="152400" cy="190500"/>
          </a:xfrm>
          <a:prstGeom prst="rect">
            <a:avLst/>
          </a:prstGeom>
        </p:spPr>
      </p:pic>
      <p:sp>
        <p:nvSpPr>
          <p:cNvPr id="79" name="text source"/>
          <p:cNvSpPr txBox="1"/>
          <p:nvPr/>
        </p:nvSpPr>
        <p:spPr>
          <a:xfrm>
            <a:off x="609600" y="6492544"/>
            <a:ext cx="9392585" cy="151970"/>
          </a:xfrm>
          <a:prstGeom prst="rect">
            <a:avLst/>
          </a:prstGeom>
          <a:noFill/>
          <a:ln/>
        </p:spPr>
        <p:txBody>
          <a:bodyPr wrap="none" lIns="0" tIns="0" rIns="0" bIns="0" rtlCol="0" anchor="ctr"/>
          <a:lstStyle/>
          <a:p>
            <a:pPr algn="l" indent="0" marL="0">
              <a:buNone/>
            </a:pPr>
            <a:r>
              <a:rPr lang="en-US" sz="830" dirty="0">
                <a:solidFill>
                  <a:srgbClr val="94A3B8"/>
                </a:solidFill>
                <a:latin typeface="Segoe UI Semibold" pitchFamily="34" charset="0"/>
                <a:ea typeface="Segoe UI Semibold" pitchFamily="34" charset="-122"/>
                <a:cs typeface="Segoe UI Semibold" pitchFamily="34" charset="-120"/>
              </a:rPr>
              <a:t>* Tap to Phone/SoftPOS thông thường của ngân hàng (biểu phí VPBank, Techcombank), không phải phí Visa Accept. Nguồn: NAPAS; NHNN, Cục Du lịch (9/2026); VNPAY; Visa.</a:t>
            </a:r>
            <a:endParaRPr lang="en-US" sz="830" dirty="0"/>
          </a:p>
        </p:txBody>
      </p:sp>
      <p:sp>
        <p:nvSpPr>
          <p:cNvPr id="80" name="mk"/>
          <p:cNvSpPr/>
          <p:nvPr/>
        </p:nvSpPr>
        <p:spPr>
          <a:xfrm>
            <a:off x="10796588" y="6343650"/>
            <a:ext cx="323850" cy="323850"/>
          </a:xfrm>
          <a:prstGeom prst="ellipse">
            <a:avLst/>
          </a:prstGeom>
          <a:solidFill>
            <a:srgbClr val="F0001E"/>
          </a:solidFill>
          <a:ln/>
        </p:spPr>
      </p:sp>
      <p:sp>
        <p:nvSpPr>
          <p:cNvPr id="81" name="Shape 78"/>
          <p:cNvSpPr/>
          <p:nvPr/>
        </p:nvSpPr>
        <p:spPr>
          <a:xfrm>
            <a:off x="10910888" y="6424613"/>
            <a:ext cx="95250" cy="161925"/>
          </a:xfrm>
          <a:prstGeom prst="roundRect">
            <a:avLst>
              <a:gd name="adj" fmla="val 25000"/>
            </a:avLst>
          </a:prstGeom>
          <a:ln w="19050">
            <a:solidFill>
              <a:srgbClr val="FFFFFF"/>
            </a:solidFill>
            <a:prstDash val="solid"/>
          </a:ln>
        </p:spPr>
      </p:sp>
      <p:sp>
        <p:nvSpPr>
          <p:cNvPr id="82"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83"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84" name="text pno"/>
          <p:cNvSpPr txBox="1"/>
          <p:nvPr/>
        </p:nvSpPr>
        <p:spPr>
          <a:xfrm>
            <a:off x="10573048" y="6418269"/>
            <a:ext cx="190202" cy="165088"/>
          </a:xfrm>
          <a:prstGeom prst="rect">
            <a:avLst/>
          </a:prstGeom>
          <a:noFill/>
          <a:ln/>
        </p:spPr>
        <p:txBody>
          <a:bodyPr wrap="none" lIns="0" tIns="0" rIns="0" bIns="0" rtlCol="0" anchor="ctr"/>
          <a:lstStyle/>
          <a:p>
            <a:pPr algn="l" indent="0" marL="0">
              <a:buNone/>
            </a:pPr>
            <a:r>
              <a:rPr lang="en-US" sz="900" b="1" dirty="0">
                <a:solidFill>
                  <a:srgbClr val="CBD5E1"/>
                </a:solidFill>
                <a:latin typeface="Segoe UI" pitchFamily="34" charset="0"/>
                <a:ea typeface="Segoe UI" pitchFamily="34" charset="-122"/>
                <a:cs typeface="Segoe U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4197147"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BỐI CẢNH VÀ VẤN ĐỀ · KHÁCH TÌM VÀ ĐẶT CHỖ THẾ NÀO</a:t>
            </a:r>
            <a:endParaRPr lang="en-US" sz="1050" dirty="0"/>
          </a:p>
        </p:txBody>
      </p:sp>
      <p:sp>
        <p:nvSpPr>
          <p:cNvPr id="3" name="text title"/>
          <p:cNvSpPr txBox="1"/>
          <p:nvPr/>
        </p:nvSpPr>
        <p:spPr>
          <a:xfrm>
            <a:off x="609600" y="581263"/>
            <a:ext cx="9344942"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Khách hỏi AI và đặt chỗ online, </a:t>
            </a:r>
            <a:pPr algn="l" indent="0" marL="0">
              <a:buNone/>
            </a:pPr>
            <a:r>
              <a:rPr lang="en-US" sz="2330" b="1" spc="-30" kern="0" dirty="0">
                <a:solidFill>
                  <a:srgbClr val="E11D48"/>
                </a:solidFill>
                <a:latin typeface="Segoe UI" pitchFamily="34" charset="0"/>
                <a:ea typeface="Segoe UI" pitchFamily="34" charset="-122"/>
                <a:cs typeface="Segoe UI" pitchFamily="34" charset="-120"/>
              </a:rPr>
              <a:t>merchant nhỏ chưa có mặt ở đó</a:t>
            </a:r>
            <a:endParaRPr lang="en-US" sz="2330" dirty="0"/>
          </a:p>
        </p:txBody>
      </p:sp>
      <p:sp>
        <p:nvSpPr>
          <p:cNvPr id="4" name="card lean2 tight"/>
          <p:cNvSpPr/>
          <p:nvPr/>
        </p:nvSpPr>
        <p:spPr>
          <a:xfrm>
            <a:off x="614363" y="1174552"/>
            <a:ext cx="3559076" cy="4305895"/>
          </a:xfrm>
          <a:prstGeom prst="roundRect">
            <a:avLst>
              <a:gd name="adj" fmla="val 3613"/>
            </a:avLst>
          </a:prstGeom>
          <a:solidFill>
            <a:srgbClr val="FFFFFF"/>
          </a:solidFill>
          <a:ln w="9525">
            <a:solidFill>
              <a:srgbClr val="E2E8F0"/>
            </a:solidFill>
            <a:prstDash val="solid"/>
          </a:ln>
        </p:spPr>
      </p:sp>
      <p:sp>
        <p:nvSpPr>
          <p:cNvPr id="5" name="text label red"/>
          <p:cNvSpPr txBox="1"/>
          <p:nvPr/>
        </p:nvSpPr>
        <p:spPr>
          <a:xfrm>
            <a:off x="809625" y="1320370"/>
            <a:ext cx="2335289" cy="165564"/>
          </a:xfrm>
          <a:prstGeom prst="rect">
            <a:avLst/>
          </a:prstGeom>
          <a:noFill/>
          <a:ln/>
        </p:spPr>
        <p:txBody>
          <a:bodyPr wrap="none" lIns="0" tIns="0" rIns="0" bIns="0" rtlCol="0" anchor="ctr"/>
          <a:lstStyle/>
          <a:p>
            <a:pPr algn="l" indent="0" marL="0">
              <a:buNone/>
            </a:pPr>
            <a:r>
              <a:rPr lang="en-US" sz="900" b="1" spc="40" kern="0" dirty="0">
                <a:solidFill>
                  <a:srgbClr val="E11D48"/>
                </a:solidFill>
                <a:latin typeface="Segoe UI" pitchFamily="34" charset="0"/>
                <a:ea typeface="Segoe UI" pitchFamily="34" charset="-122"/>
                <a:cs typeface="Segoe UI" pitchFamily="34" charset="-120"/>
              </a:rPr>
              <a:t>1 · KHÁCH HỎI AI KHI LÊN KẾ HOẠCH</a:t>
            </a:r>
            <a:endParaRPr lang="en-US" sz="900" dirty="0"/>
          </a:p>
        </p:txBody>
      </p:sp>
      <p:sp>
        <p:nvSpPr>
          <p:cNvPr id="6" name="sx-border"/>
          <p:cNvSpPr/>
          <p:nvPr/>
        </p:nvSpPr>
        <p:spPr>
          <a:xfrm>
            <a:off x="809625" y="1474589"/>
            <a:ext cx="3168551" cy="9525"/>
          </a:xfrm>
          <a:prstGeom prst="rect">
            <a:avLst/>
          </a:prstGeom>
          <a:solidFill>
            <a:srgbClr val="E2E8F0"/>
          </a:solidFill>
          <a:ln/>
        </p:spPr>
      </p:sp>
      <p:sp>
        <p:nvSpPr>
          <p:cNvPr id="7" name="text num"/>
          <p:cNvSpPr txBox="1"/>
          <p:nvPr/>
        </p:nvSpPr>
        <p:spPr>
          <a:xfrm>
            <a:off x="809625" y="1782428"/>
            <a:ext cx="1063526" cy="605606"/>
          </a:xfrm>
          <a:prstGeom prst="rect">
            <a:avLst/>
          </a:prstGeom>
          <a:noFill/>
          <a:ln/>
        </p:spPr>
        <p:txBody>
          <a:bodyPr wrap="none" lIns="0" tIns="0" rIns="0" bIns="0" rtlCol="0" anchor="ctr"/>
          <a:lstStyle/>
          <a:p>
            <a:pPr algn="l" indent="0" marL="0">
              <a:buNone/>
            </a:pPr>
            <a:r>
              <a:rPr lang="en-US" sz="3290" b="1" spc="-70" kern="0" dirty="0">
                <a:solidFill>
                  <a:srgbClr val="1E3A8A"/>
                </a:solidFill>
                <a:latin typeface="Segoe UI" pitchFamily="34" charset="0"/>
                <a:ea typeface="Segoe UI" pitchFamily="34" charset="-122"/>
                <a:cs typeface="Segoe UI" pitchFamily="34" charset="-120"/>
              </a:rPr>
              <a:t>56%</a:t>
            </a:r>
            <a:endParaRPr lang="en-US" sz="3290" dirty="0"/>
          </a:p>
        </p:txBody>
      </p:sp>
      <p:sp>
        <p:nvSpPr>
          <p:cNvPr id="8" name="text sl"/>
          <p:cNvSpPr txBox="1"/>
          <p:nvPr/>
        </p:nvSpPr>
        <p:spPr>
          <a:xfrm>
            <a:off x="809625" y="2351885"/>
            <a:ext cx="3206651" cy="659401"/>
          </a:xfrm>
          <a:prstGeom prst="rect">
            <a:avLst/>
          </a:prstGeom>
          <a:noFill/>
          <a:ln/>
        </p:spPr>
        <p:txBody>
          <a:bodyPr wrap="square" lIns="0" tIns="0" rIns="0" bIns="0" rtlCol="0" anchor="ctr"/>
          <a:lstStyle/>
          <a:p>
            <a:pPr algn="l" indent="0" marL="0">
              <a:lnSpc>
                <a:spcPts val="1730"/>
              </a:lnSpc>
              <a:buNone/>
            </a:pPr>
            <a:r>
              <a:rPr lang="en-US" sz="1240" dirty="0">
                <a:solidFill>
                  <a:srgbClr val="334155"/>
                </a:solidFill>
                <a:latin typeface="Segoe UI Semibold" pitchFamily="34" charset="0"/>
                <a:ea typeface="Segoe UI Semibold" pitchFamily="34" charset="-122"/>
                <a:cs typeface="Segoe UI Semibold" pitchFamily="34" charset="-120"/>
              </a:rPr>
              <a:t>khách Mỹ đã dùng AI cho chuyến đi trong 12 tháng qua, để lên kế hoạch hoặc đặt chỗ</a:t>
            </a:r>
            <a:endParaRPr lang="en-US" sz="1240" dirty="0"/>
          </a:p>
        </p:txBody>
      </p:sp>
      <p:sp>
        <p:nvSpPr>
          <p:cNvPr id="9" name="sx-border"/>
          <p:cNvSpPr/>
          <p:nvPr/>
        </p:nvSpPr>
        <p:spPr>
          <a:xfrm>
            <a:off x="809625" y="3398937"/>
            <a:ext cx="3168551" cy="9525"/>
          </a:xfrm>
          <a:prstGeom prst="rect">
            <a:avLst/>
          </a:prstGeom>
          <a:solidFill>
            <a:srgbClr val="E2E8F0"/>
          </a:solidFill>
          <a:ln/>
        </p:spPr>
      </p:sp>
      <p:sp>
        <p:nvSpPr>
          <p:cNvPr id="10" name="text num"/>
          <p:cNvSpPr txBox="1"/>
          <p:nvPr/>
        </p:nvSpPr>
        <p:spPr>
          <a:xfrm>
            <a:off x="809625" y="3814724"/>
            <a:ext cx="983903" cy="609678"/>
          </a:xfrm>
          <a:prstGeom prst="rect">
            <a:avLst/>
          </a:prstGeom>
          <a:noFill/>
          <a:ln/>
        </p:spPr>
        <p:txBody>
          <a:bodyPr wrap="none" lIns="0" tIns="0" rIns="0" bIns="0" rtlCol="0" anchor="ctr"/>
          <a:lstStyle/>
          <a:p>
            <a:pPr algn="l" indent="0" marL="0">
              <a:buNone/>
            </a:pPr>
            <a:r>
              <a:rPr lang="en-US" sz="3310" b="1" spc="-70" kern="0" dirty="0">
                <a:solidFill>
                  <a:srgbClr val="1E3A8A"/>
                </a:solidFill>
                <a:latin typeface="Segoe UI" pitchFamily="34" charset="0"/>
                <a:ea typeface="Segoe UI" pitchFamily="34" charset="-122"/>
                <a:cs typeface="Segoe UI" pitchFamily="34" charset="-120"/>
              </a:rPr>
              <a:t>81%</a:t>
            </a:r>
            <a:endParaRPr lang="en-US" sz="3310" dirty="0"/>
          </a:p>
        </p:txBody>
      </p:sp>
      <p:sp>
        <p:nvSpPr>
          <p:cNvPr id="11" name="text sl"/>
          <p:cNvSpPr txBox="1"/>
          <p:nvPr/>
        </p:nvSpPr>
        <p:spPr>
          <a:xfrm>
            <a:off x="809625" y="4386132"/>
            <a:ext cx="3206651" cy="439601"/>
          </a:xfrm>
          <a:prstGeom prst="rect">
            <a:avLst/>
          </a:prstGeom>
          <a:noFill/>
          <a:ln/>
        </p:spPr>
        <p:txBody>
          <a:bodyPr wrap="square" lIns="0" tIns="0" rIns="0" bIns="0" rtlCol="0" anchor="ctr"/>
          <a:lstStyle/>
          <a:p>
            <a:pPr algn="l" indent="0" marL="0">
              <a:lnSpc>
                <a:spcPts val="1730"/>
              </a:lnSpc>
              <a:buNone/>
            </a:pPr>
            <a:r>
              <a:rPr lang="en-US" sz="1240" dirty="0">
                <a:solidFill>
                  <a:srgbClr val="334155"/>
                </a:solidFill>
                <a:latin typeface="Segoe UI Semibold" pitchFamily="34" charset="0"/>
                <a:ea typeface="Segoe UI Semibold" pitchFamily="34" charset="-122"/>
                <a:cs typeface="Segoe UI Semibold" pitchFamily="34" charset="-120"/>
              </a:rPr>
              <a:t>khách Việt dự định dùng AI cho chuyến tới, cao nhất châu Á (trung bình 63%)</a:t>
            </a:r>
            <a:endParaRPr lang="en-US" sz="1240" dirty="0"/>
          </a:p>
        </p:txBody>
      </p:sp>
      <p:sp>
        <p:nvSpPr>
          <p:cNvPr id="12" name="card lean2 tight"/>
          <p:cNvSpPr/>
          <p:nvPr/>
        </p:nvSpPr>
        <p:spPr>
          <a:xfrm>
            <a:off x="4316313" y="1174552"/>
            <a:ext cx="3559225" cy="4305895"/>
          </a:xfrm>
          <a:prstGeom prst="roundRect">
            <a:avLst>
              <a:gd name="adj" fmla="val 3613"/>
            </a:avLst>
          </a:prstGeom>
          <a:solidFill>
            <a:srgbClr val="FFFFFF"/>
          </a:solidFill>
          <a:ln w="9525">
            <a:solidFill>
              <a:srgbClr val="E2E8F0"/>
            </a:solidFill>
            <a:prstDash val="solid"/>
          </a:ln>
        </p:spPr>
      </p:sp>
      <p:sp>
        <p:nvSpPr>
          <p:cNvPr id="13" name="text label red"/>
          <p:cNvSpPr txBox="1"/>
          <p:nvPr/>
        </p:nvSpPr>
        <p:spPr>
          <a:xfrm>
            <a:off x="4511576" y="1320366"/>
            <a:ext cx="1762125" cy="165572"/>
          </a:xfrm>
          <a:prstGeom prst="rect">
            <a:avLst/>
          </a:prstGeom>
          <a:noFill/>
          <a:ln/>
        </p:spPr>
        <p:txBody>
          <a:bodyPr wrap="none" lIns="0" tIns="0" rIns="0" bIns="0" rtlCol="0" anchor="ctr"/>
          <a:lstStyle/>
          <a:p>
            <a:pPr algn="l" indent="0" marL="0">
              <a:buNone/>
            </a:pPr>
            <a:r>
              <a:rPr lang="en-US" sz="900" b="1" spc="40" kern="0" dirty="0">
                <a:solidFill>
                  <a:srgbClr val="E11D48"/>
                </a:solidFill>
                <a:latin typeface="Segoe UI" pitchFamily="34" charset="0"/>
                <a:ea typeface="Segoe UI" pitchFamily="34" charset="-122"/>
                <a:cs typeface="Segoe UI" pitchFamily="34" charset="-120"/>
              </a:rPr>
              <a:t>2 · ĐẶT CHỖ ĐÃ LÊN MẠNG</a:t>
            </a:r>
            <a:endParaRPr lang="en-US" sz="900" dirty="0"/>
          </a:p>
        </p:txBody>
      </p:sp>
      <p:sp>
        <p:nvSpPr>
          <p:cNvPr id="14" name="sx-border"/>
          <p:cNvSpPr/>
          <p:nvPr/>
        </p:nvSpPr>
        <p:spPr>
          <a:xfrm>
            <a:off x="4511576" y="1474589"/>
            <a:ext cx="3168700" cy="9525"/>
          </a:xfrm>
          <a:prstGeom prst="rect">
            <a:avLst/>
          </a:prstGeom>
          <a:solidFill>
            <a:srgbClr val="E2E8F0"/>
          </a:solidFill>
          <a:ln/>
        </p:spPr>
      </p:sp>
      <p:sp>
        <p:nvSpPr>
          <p:cNvPr id="15" name="text num c-ink"/>
          <p:cNvSpPr txBox="1"/>
          <p:nvPr/>
        </p:nvSpPr>
        <p:spPr>
          <a:xfrm>
            <a:off x="4511576" y="1781929"/>
            <a:ext cx="2106382" cy="606605"/>
          </a:xfrm>
          <a:prstGeom prst="rect">
            <a:avLst/>
          </a:prstGeom>
          <a:noFill/>
          <a:ln/>
        </p:spPr>
        <p:txBody>
          <a:bodyPr wrap="none" lIns="0" tIns="0" rIns="0" bIns="0" rtlCol="0" anchor="ctr"/>
          <a:lstStyle/>
          <a:p>
            <a:pPr algn="l" indent="0" marL="0">
              <a:buNone/>
            </a:pPr>
            <a:r>
              <a:rPr lang="en-US" sz="3290" b="1" spc="-70" kern="0" dirty="0">
                <a:solidFill>
                  <a:srgbClr val="0F172A"/>
                </a:solidFill>
                <a:latin typeface="Segoe UI" pitchFamily="34" charset="0"/>
                <a:ea typeface="Segoe UI" pitchFamily="34" charset="-122"/>
                <a:cs typeface="Segoe UI" pitchFamily="34" charset="-120"/>
              </a:rPr>
              <a:t>~4 tỷ USD</a:t>
            </a:r>
            <a:endParaRPr lang="en-US" sz="3290" dirty="0"/>
          </a:p>
        </p:txBody>
      </p:sp>
      <p:sp>
        <p:nvSpPr>
          <p:cNvPr id="16" name="text sl"/>
          <p:cNvSpPr txBox="1"/>
          <p:nvPr/>
        </p:nvSpPr>
        <p:spPr>
          <a:xfrm>
            <a:off x="4511576" y="2351869"/>
            <a:ext cx="3206800" cy="659432"/>
          </a:xfrm>
          <a:prstGeom prst="rect">
            <a:avLst/>
          </a:prstGeom>
          <a:noFill/>
          <a:ln/>
        </p:spPr>
        <p:txBody>
          <a:bodyPr wrap="square" lIns="0" tIns="0" rIns="0" bIns="0" rtlCol="0" anchor="ctr"/>
          <a:lstStyle/>
          <a:p>
            <a:pPr algn="l" indent="0" marL="0">
              <a:lnSpc>
                <a:spcPts val="1730"/>
              </a:lnSpc>
              <a:buNone/>
            </a:pPr>
            <a:r>
              <a:rPr lang="en-US" sz="1240" dirty="0">
                <a:solidFill>
                  <a:srgbClr val="334155"/>
                </a:solidFill>
                <a:latin typeface="Segoe UI Semibold" pitchFamily="34" charset="0"/>
                <a:ea typeface="Segoe UI Semibold" pitchFamily="34" charset="-122"/>
                <a:cs typeface="Segoe UI Semibold" pitchFamily="34" charset="-120"/>
              </a:rPr>
              <a:t>thị trường du lịch trực tuyến Việt Nam 2025, tăng 16%, gồm khách nội địa và quốc tế</a:t>
            </a:r>
            <a:endParaRPr lang="en-US" sz="1240" dirty="0"/>
          </a:p>
        </p:txBody>
      </p:sp>
      <p:sp>
        <p:nvSpPr>
          <p:cNvPr id="17" name="sx-border"/>
          <p:cNvSpPr/>
          <p:nvPr/>
        </p:nvSpPr>
        <p:spPr>
          <a:xfrm>
            <a:off x="4511576" y="3398937"/>
            <a:ext cx="3168700" cy="9525"/>
          </a:xfrm>
          <a:prstGeom prst="rect">
            <a:avLst/>
          </a:prstGeom>
          <a:solidFill>
            <a:srgbClr val="E2E8F0"/>
          </a:solidFill>
          <a:ln/>
        </p:spPr>
      </p:sp>
      <p:sp>
        <p:nvSpPr>
          <p:cNvPr id="18" name="text num c-red"/>
          <p:cNvSpPr txBox="1"/>
          <p:nvPr/>
        </p:nvSpPr>
        <p:spPr>
          <a:xfrm>
            <a:off x="4511576" y="3815226"/>
            <a:ext cx="1688455" cy="608673"/>
          </a:xfrm>
          <a:prstGeom prst="rect">
            <a:avLst/>
          </a:prstGeom>
          <a:noFill/>
          <a:ln/>
        </p:spPr>
        <p:txBody>
          <a:bodyPr wrap="none" lIns="0" tIns="0" rIns="0" bIns="0" rtlCol="0" anchor="ctr"/>
          <a:lstStyle/>
          <a:p>
            <a:pPr algn="l" indent="0" marL="0">
              <a:buNone/>
            </a:pPr>
            <a:r>
              <a:rPr lang="en-US" sz="3310" b="1" spc="-70" kern="0" dirty="0">
                <a:solidFill>
                  <a:srgbClr val="E11D48"/>
                </a:solidFill>
                <a:latin typeface="Segoe UI" pitchFamily="34" charset="0"/>
                <a:ea typeface="Segoe UI" pitchFamily="34" charset="-122"/>
                <a:cs typeface="Segoe UI" pitchFamily="34" charset="-120"/>
              </a:rPr>
              <a:t>15–25%</a:t>
            </a:r>
            <a:endParaRPr lang="en-US" sz="3310" dirty="0"/>
          </a:p>
        </p:txBody>
      </p:sp>
      <p:sp>
        <p:nvSpPr>
          <p:cNvPr id="19" name="text sl"/>
          <p:cNvSpPr txBox="1"/>
          <p:nvPr/>
        </p:nvSpPr>
        <p:spPr>
          <a:xfrm>
            <a:off x="4511576" y="4386122"/>
            <a:ext cx="3206800" cy="439621"/>
          </a:xfrm>
          <a:prstGeom prst="rect">
            <a:avLst/>
          </a:prstGeom>
          <a:noFill/>
          <a:ln/>
        </p:spPr>
        <p:txBody>
          <a:bodyPr wrap="square" lIns="0" tIns="0" rIns="0" bIns="0" rtlCol="0" anchor="ctr"/>
          <a:lstStyle/>
          <a:p>
            <a:pPr algn="l" indent="0" marL="0">
              <a:lnSpc>
                <a:spcPts val="1730"/>
              </a:lnSpc>
              <a:buNone/>
            </a:pPr>
            <a:r>
              <a:rPr lang="en-US" sz="1240" dirty="0">
                <a:solidFill>
                  <a:srgbClr val="334155"/>
                </a:solidFill>
                <a:latin typeface="Segoe UI Semibold" pitchFamily="34" charset="0"/>
                <a:ea typeface="Segoe UI Semibold" pitchFamily="34" charset="-122"/>
                <a:cs typeface="Segoe UI Semibold" pitchFamily="34" charset="-120"/>
              </a:rPr>
              <a:t>hoa hồng khách sạn trả OTA mỗi lượt đặt; OTA chiếm khoảng 59% lượt đặt phòng</a:t>
            </a:r>
            <a:endParaRPr lang="en-US" sz="1240" dirty="0"/>
          </a:p>
        </p:txBody>
      </p:sp>
      <p:sp>
        <p:nvSpPr>
          <p:cNvPr id="20" name="card rose lean2"/>
          <p:cNvSpPr/>
          <p:nvPr/>
        </p:nvSpPr>
        <p:spPr>
          <a:xfrm>
            <a:off x="8018413" y="1174552"/>
            <a:ext cx="3559076" cy="4305895"/>
          </a:xfrm>
          <a:prstGeom prst="roundRect">
            <a:avLst>
              <a:gd name="adj" fmla="val 3613"/>
            </a:avLst>
          </a:prstGeom>
          <a:solidFill>
            <a:srgbClr val="FFF1F2"/>
          </a:solidFill>
          <a:ln w="9525">
            <a:solidFill>
              <a:srgbClr val="FECDD3"/>
            </a:solidFill>
            <a:prstDash val="solid"/>
          </a:ln>
        </p:spPr>
      </p:sp>
      <p:sp>
        <p:nvSpPr>
          <p:cNvPr id="21" name="text label red"/>
          <p:cNvSpPr txBox="1"/>
          <p:nvPr/>
        </p:nvSpPr>
        <p:spPr>
          <a:xfrm>
            <a:off x="8213675" y="1331714"/>
            <a:ext cx="3206651" cy="285750"/>
          </a:xfrm>
          <a:prstGeom prst="rect">
            <a:avLst/>
          </a:prstGeom>
          <a:noFill/>
          <a:ln/>
        </p:spPr>
        <p:txBody>
          <a:bodyPr wrap="square" lIns="0" tIns="0" rIns="0" bIns="0" rtlCol="0" anchor="ctr"/>
          <a:lstStyle/>
          <a:p>
            <a:pPr algn="l" indent="0" marL="0">
              <a:lnSpc>
                <a:spcPts val="1120"/>
              </a:lnSpc>
              <a:buNone/>
            </a:pPr>
            <a:r>
              <a:rPr lang="en-US" sz="900" b="1" spc="40" kern="0" dirty="0">
                <a:solidFill>
                  <a:srgbClr val="E11D48"/>
                </a:solidFill>
                <a:latin typeface="Segoe UI" pitchFamily="34" charset="0"/>
                <a:ea typeface="Segoe UI" pitchFamily="34" charset="-122"/>
                <a:cs typeface="Segoe UI" pitchFamily="34" charset="-120"/>
              </a:rPr>
              <a:t>3 · AI CỦA NỀN TẢNG LỚN CHỈ GIỚI THIỆU MERCHANT CỦA MÌNH</a:t>
            </a:r>
            <a:endParaRPr lang="en-US" sz="900" dirty="0"/>
          </a:p>
        </p:txBody>
      </p:sp>
      <p:sp>
        <p:nvSpPr>
          <p:cNvPr id="22" name="text __nops"/>
          <p:cNvSpPr txBox="1"/>
          <p:nvPr/>
        </p:nvSpPr>
        <p:spPr>
          <a:xfrm>
            <a:off x="8366075" y="2660283"/>
            <a:ext cx="3054251" cy="479564"/>
          </a:xfrm>
          <a:prstGeom prst="rect">
            <a:avLst/>
          </a:prstGeom>
          <a:noFill/>
          <a:ln/>
        </p:spPr>
        <p:txBody>
          <a:bodyPr wrap="square" lIns="0" tIns="0" rIns="0" bIns="0" rtlCol="0" anchor="ctr"/>
          <a:lstStyle/>
          <a:p>
            <a:pPr algn="l" indent="0" marL="0">
              <a:lnSpc>
                <a:spcPts val="1890"/>
              </a:lnSpc>
              <a:buNone/>
            </a:pPr>
            <a:r>
              <a:rPr lang="en-US" sz="1350" dirty="0">
                <a:solidFill>
                  <a:srgbClr val="334155"/>
                </a:solidFill>
                <a:latin typeface="Segoe UI Semibold" pitchFamily="34" charset="0"/>
                <a:ea typeface="Segoe UI Semibold" pitchFamily="34" charset="-122"/>
                <a:cs typeface="Segoe UI Semibold" pitchFamily="34" charset="-120"/>
              </a:rPr>
              <a:t>Booking.com, Expedia đã có app trong ChatGPT (10/2025)</a:t>
            </a:r>
            <a:endParaRPr lang="en-US" sz="1350" dirty="0"/>
          </a:p>
        </p:txBody>
      </p:sp>
      <p:sp>
        <p:nvSpPr>
          <p:cNvPr id="23" name="Shape 21"/>
          <p:cNvSpPr/>
          <p:nvPr/>
        </p:nvSpPr>
        <p:spPr>
          <a:xfrm>
            <a:off x="8223200" y="2737247"/>
            <a:ext cx="57150" cy="57150"/>
          </a:xfrm>
          <a:prstGeom prst="ellipse">
            <a:avLst/>
          </a:prstGeom>
          <a:solidFill>
            <a:srgbClr val="334155"/>
          </a:solidFill>
          <a:ln/>
        </p:spPr>
      </p:sp>
      <p:sp>
        <p:nvSpPr>
          <p:cNvPr id="24" name="text __nops"/>
          <p:cNvSpPr txBox="1"/>
          <p:nvPr/>
        </p:nvSpPr>
        <p:spPr>
          <a:xfrm>
            <a:off x="8366075" y="3345308"/>
            <a:ext cx="3118714" cy="248346"/>
          </a:xfrm>
          <a:prstGeom prst="rect">
            <a:avLst/>
          </a:prstGeom>
          <a:noFill/>
          <a:ln/>
        </p:spPr>
        <p:txBody>
          <a:bodyPr wrap="none" lIns="0" tIns="0" rIns="0" bIns="0" rtlCol="0" anchor="ctr"/>
          <a:lstStyle/>
          <a:p>
            <a:pPr algn="l" indent="0" marL="0">
              <a:buNone/>
            </a:pPr>
            <a:r>
              <a:rPr lang="en-US" sz="1350" dirty="0">
                <a:solidFill>
                  <a:srgbClr val="334155"/>
                </a:solidFill>
                <a:latin typeface="Segoe UI Semibold" pitchFamily="34" charset="0"/>
                <a:ea typeface="Segoe UI Semibold" pitchFamily="34" charset="-122"/>
                <a:cs typeface="Segoe UI Semibold" pitchFamily="34" charset="-120"/>
              </a:rPr>
              <a:t>Chỉ gợi ý merchant có trên nền tảng</a:t>
            </a:r>
            <a:endParaRPr lang="en-US" sz="1350" dirty="0"/>
          </a:p>
        </p:txBody>
      </p:sp>
      <p:sp>
        <p:nvSpPr>
          <p:cNvPr id="25" name="Shape 23"/>
          <p:cNvSpPr/>
          <p:nvPr/>
        </p:nvSpPr>
        <p:spPr>
          <a:xfrm>
            <a:off x="8223200" y="3426619"/>
            <a:ext cx="57150" cy="57150"/>
          </a:xfrm>
          <a:prstGeom prst="ellipse">
            <a:avLst/>
          </a:prstGeom>
          <a:solidFill>
            <a:srgbClr val="334155"/>
          </a:solidFill>
          <a:ln/>
        </p:spPr>
      </p:sp>
      <p:sp>
        <p:nvSpPr>
          <p:cNvPr id="26" name="text __nops"/>
          <p:cNvSpPr txBox="1"/>
          <p:nvPr/>
        </p:nvSpPr>
        <p:spPr>
          <a:xfrm>
            <a:off x="8366075" y="3799115"/>
            <a:ext cx="3054251" cy="479564"/>
          </a:xfrm>
          <a:prstGeom prst="rect">
            <a:avLst/>
          </a:prstGeom>
          <a:noFill/>
          <a:ln/>
        </p:spPr>
        <p:txBody>
          <a:bodyPr wrap="square" lIns="0" tIns="0" rIns="0" bIns="0" rtlCol="0" anchor="ctr"/>
          <a:lstStyle/>
          <a:p>
            <a:pPr algn="l" indent="0" marL="0">
              <a:lnSpc>
                <a:spcPts val="1890"/>
              </a:lnSpc>
              <a:buNone/>
            </a:pPr>
            <a:r>
              <a:rPr lang="en-US" sz="1350" dirty="0">
                <a:solidFill>
                  <a:srgbClr val="334155"/>
                </a:solidFill>
                <a:latin typeface="Segoe UI Semibold" pitchFamily="34" charset="0"/>
                <a:ea typeface="Segoe UI Semibold" pitchFamily="34" charset="-122"/>
                <a:cs typeface="Segoe UI Semibold" pitchFamily="34" charset="-120"/>
              </a:rPr>
              <a:t>Quán nhỏ không có mặt, nên </a:t>
            </a:r>
            <a:pPr algn="l" indent="0" marL="0">
              <a:lnSpc>
                <a:spcPts val="1890"/>
              </a:lnSpc>
              <a:buNone/>
            </a:pPr>
            <a:r>
              <a:rPr lang="en-US" sz="1350" dirty="0">
                <a:solidFill>
                  <a:srgbClr val="334155"/>
                </a:solidFill>
                <a:latin typeface="Segoe UI Black" pitchFamily="34" charset="0"/>
                <a:ea typeface="Segoe UI Black" pitchFamily="34" charset="-122"/>
                <a:cs typeface="Segoe UI Black" pitchFamily="34" charset="-120"/>
              </a:rPr>
              <a:t>không được AI giới thiệu</a:t>
            </a:r>
            <a:endParaRPr lang="en-US" sz="1350" dirty="0"/>
          </a:p>
        </p:txBody>
      </p:sp>
      <p:sp>
        <p:nvSpPr>
          <p:cNvPr id="27" name="Shape 25"/>
          <p:cNvSpPr/>
          <p:nvPr/>
        </p:nvSpPr>
        <p:spPr>
          <a:xfrm>
            <a:off x="8223200" y="3876080"/>
            <a:ext cx="57150" cy="57150"/>
          </a:xfrm>
          <a:prstGeom prst="ellipse">
            <a:avLst/>
          </a:prstGeom>
          <a:solidFill>
            <a:srgbClr val="334155"/>
          </a:solidFill>
          <a:ln/>
        </p:spPr>
      </p:sp>
      <p:sp>
        <p:nvSpPr>
          <p:cNvPr id="28" name="takeaway __nops"/>
          <p:cNvSpPr/>
          <p:nvPr/>
        </p:nvSpPr>
        <p:spPr>
          <a:xfrm>
            <a:off x="614363" y="5623322"/>
            <a:ext cx="10963275" cy="525066"/>
          </a:xfrm>
          <a:prstGeom prst="roundRect">
            <a:avLst>
              <a:gd name="adj" fmla="val 24490"/>
            </a:avLst>
          </a:prstGeom>
          <a:solidFill>
            <a:srgbClr val="EEFBF3"/>
          </a:solidFill>
          <a:ln w="9525">
            <a:solidFill>
              <a:srgbClr val="86EFAC"/>
            </a:solidFill>
            <a:prstDash val="solid"/>
          </a:ln>
        </p:spPr>
      </p:sp>
      <p:sp>
        <p:nvSpPr>
          <p:cNvPr id="29" name="text takeaway __nops"/>
          <p:cNvSpPr txBox="1"/>
          <p:nvPr/>
        </p:nvSpPr>
        <p:spPr>
          <a:xfrm>
            <a:off x="1152525" y="5767864"/>
            <a:ext cx="6283178" cy="234791"/>
          </a:xfrm>
          <a:prstGeom prst="rect">
            <a:avLst/>
          </a:prstGeom>
          <a:noFill/>
          <a:ln/>
        </p:spPr>
        <p:txBody>
          <a:bodyPr wrap="none" lIns="0" tIns="0" rIns="0" bIns="0" rtlCol="0" anchor="ctr"/>
          <a:lstStyle/>
          <a:p>
            <a:pPr algn="l" indent="0" marL="0">
              <a:buNone/>
            </a:pPr>
            <a:r>
              <a:rPr lang="en-US" sz="1280" b="1" dirty="0">
                <a:solidFill>
                  <a:srgbClr val="0F172A"/>
                </a:solidFill>
                <a:latin typeface="Segoe UI" pitchFamily="34" charset="0"/>
                <a:ea typeface="Segoe UI" pitchFamily="34" charset="-122"/>
                <a:cs typeface="Segoe UI" pitchFamily="34" charset="-120"/>
              </a:rPr>
              <a:t>Khách đã hỏi AI và đặt online. </a:t>
            </a:r>
            <a:pPr algn="l" indent="0" marL="0">
              <a:buNone/>
            </a:pPr>
            <a:r>
              <a:rPr lang="en-US" sz="1280" b="1" dirty="0">
                <a:solidFill>
                  <a:srgbClr val="15803D"/>
                </a:solidFill>
                <a:latin typeface="Segoe UI" pitchFamily="34" charset="0"/>
                <a:ea typeface="Segoe UI" pitchFamily="34" charset="-122"/>
                <a:cs typeface="Segoe UI" pitchFamily="34" charset="-120"/>
              </a:rPr>
              <a:t>Merchant vừa và nhỏ chưa được AI giới thiệu.</a:t>
            </a:r>
            <a:endParaRPr lang="en-US" sz="1280" dirty="0"/>
          </a:p>
        </p:txBody>
      </p:sp>
      <p:pic>
        <p:nvPicPr>
          <p:cNvPr id="30" name="graphic SPAN" descr="SPAN">    </p:cNvPr>
          <p:cNvPicPr>
            <a:picLocks noChangeAspect="1"/>
          </p:cNvPicPr>
          <p:nvPr/>
        </p:nvPicPr>
        <p:blipFill>
          <a:blip r:embed="rId1"/>
          <a:stretch>
            <a:fillRect/>
          </a:stretch>
        </p:blipFill>
        <p:spPr>
          <a:xfrm>
            <a:off x="828675" y="5790605"/>
            <a:ext cx="152400" cy="190500"/>
          </a:xfrm>
          <a:prstGeom prst="rect">
            <a:avLst/>
          </a:prstGeom>
        </p:spPr>
      </p:pic>
      <p:sp>
        <p:nvSpPr>
          <p:cNvPr id="31" name="text source"/>
          <p:cNvSpPr txBox="1"/>
          <p:nvPr/>
        </p:nvSpPr>
        <p:spPr>
          <a:xfrm>
            <a:off x="609600" y="6492511"/>
            <a:ext cx="6638291" cy="152036"/>
          </a:xfrm>
          <a:prstGeom prst="rect">
            <a:avLst/>
          </a:prstGeom>
          <a:noFill/>
          <a:ln/>
        </p:spPr>
        <p:txBody>
          <a:bodyPr wrap="none" lIns="0" tIns="0" rIns="0" bIns="0" rtlCol="0" anchor="ctr"/>
          <a:lstStyle/>
          <a:p>
            <a:pPr algn="l" indent="0" marL="0">
              <a:buNone/>
            </a:pPr>
            <a:r>
              <a:rPr lang="en-US" sz="830" dirty="0">
                <a:solidFill>
                  <a:srgbClr val="94A3B8"/>
                </a:solidFill>
                <a:latin typeface="Segoe UI Semibold" pitchFamily="34" charset="0"/>
                <a:ea typeface="Segoe UI Semibold" pitchFamily="34" charset="-122"/>
                <a:cs typeface="Segoe UI Semibold" pitchFamily="34" charset="-120"/>
              </a:rPr>
              <a:t>Nguồn: Phocuswright (3/2026); Agoda (3/2026); e-Conomy SEA 2025; Tạp chí Kinh tế – Tài chính (5/2026); Skift (10/2025).</a:t>
            </a:r>
            <a:endParaRPr lang="en-US" sz="830" dirty="0"/>
          </a:p>
        </p:txBody>
      </p:sp>
      <p:sp>
        <p:nvSpPr>
          <p:cNvPr id="32" name="mk"/>
          <p:cNvSpPr/>
          <p:nvPr/>
        </p:nvSpPr>
        <p:spPr>
          <a:xfrm>
            <a:off x="10796588" y="6343650"/>
            <a:ext cx="323850" cy="323850"/>
          </a:xfrm>
          <a:prstGeom prst="ellipse">
            <a:avLst/>
          </a:prstGeom>
          <a:solidFill>
            <a:srgbClr val="F0001E"/>
          </a:solidFill>
          <a:ln/>
        </p:spPr>
      </p:sp>
      <p:sp>
        <p:nvSpPr>
          <p:cNvPr id="33" name="Shape 30"/>
          <p:cNvSpPr/>
          <p:nvPr/>
        </p:nvSpPr>
        <p:spPr>
          <a:xfrm>
            <a:off x="10910888" y="6424613"/>
            <a:ext cx="95250" cy="161925"/>
          </a:xfrm>
          <a:prstGeom prst="roundRect">
            <a:avLst>
              <a:gd name="adj" fmla="val 25000"/>
            </a:avLst>
          </a:prstGeom>
          <a:ln w="19050">
            <a:solidFill>
              <a:srgbClr val="FFFFFF"/>
            </a:solidFill>
            <a:prstDash val="solid"/>
          </a:ln>
        </p:spPr>
      </p:sp>
      <p:sp>
        <p:nvSpPr>
          <p:cNvPr id="34"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35"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36" name="text pno"/>
          <p:cNvSpPr txBox="1"/>
          <p:nvPr/>
        </p:nvSpPr>
        <p:spPr>
          <a:xfrm>
            <a:off x="10573196" y="6418431"/>
            <a:ext cx="190054" cy="164764"/>
          </a:xfrm>
          <a:prstGeom prst="rect">
            <a:avLst/>
          </a:prstGeom>
          <a:noFill/>
          <a:ln/>
        </p:spPr>
        <p:txBody>
          <a:bodyPr wrap="none" lIns="0" tIns="0" rIns="0" bIns="0" rtlCol="0" anchor="ctr"/>
          <a:lstStyle/>
          <a:p>
            <a:pPr algn="l" indent="0" marL="0">
              <a:buNone/>
            </a:pPr>
            <a:r>
              <a:rPr lang="en-US" sz="890" b="1" dirty="0">
                <a:solidFill>
                  <a:srgbClr val="CBD5E1"/>
                </a:solidFill>
                <a:latin typeface="Segoe UI" pitchFamily="34" charset="0"/>
                <a:ea typeface="Segoe UI" pitchFamily="34" charset="-122"/>
                <a:cs typeface="Segoe UI" pitchFamily="34" charset="-120"/>
              </a:rPr>
              <a:t>9</a:t>
            </a:r>
            <a:endParaRPr lang="en-US" sz="89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3754951"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BỐI CẢNH VÀ VẤN ĐỀ · VẤN ĐỀ VÀ CƠ HỘI CỦA VDF</a:t>
            </a:r>
            <a:endParaRPr lang="en-US" sz="1050" dirty="0"/>
          </a:p>
        </p:txBody>
      </p:sp>
      <p:sp>
        <p:nvSpPr>
          <p:cNvPr id="3" name="text title"/>
          <p:cNvSpPr txBox="1"/>
          <p:nvPr/>
        </p:nvSpPr>
        <p:spPr>
          <a:xfrm>
            <a:off x="609600" y="581263"/>
            <a:ext cx="10487108"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Merchant nhỏ </a:t>
            </a:r>
            <a:pPr algn="l" indent="0" marL="0">
              <a:buNone/>
            </a:pPr>
            <a:r>
              <a:rPr lang="en-US" sz="2330" b="1" spc="-30" kern="0" dirty="0">
                <a:solidFill>
                  <a:srgbClr val="E11D48"/>
                </a:solidFill>
                <a:latin typeface="Segoe UI" pitchFamily="34" charset="0"/>
                <a:ea typeface="Segoe UI" pitchFamily="34" charset="-122"/>
                <a:cs typeface="Segoe UI" pitchFamily="34" charset="-120"/>
              </a:rPr>
              <a:t>mất khách ở cả hai đầu</a:t>
            </a:r>
            <a:pPr algn="l" indent="0" marL="0">
              <a:buNone/>
            </a:pPr>
            <a:r>
              <a:rPr lang="en-US" sz="2330" b="1" spc="-30" kern="0" dirty="0">
                <a:solidFill>
                  <a:srgbClr val="0F172A"/>
                </a:solidFill>
                <a:latin typeface="Segoe UI" pitchFamily="34" charset="0"/>
                <a:ea typeface="Segoe UI" pitchFamily="34" charset="-122"/>
                <a:cs typeface="Segoe UI" pitchFamily="34" charset="-120"/>
              </a:rPr>
              <a:t>: hai khoảng trống VDF có thể lấp</a:t>
            </a:r>
            <a:endParaRPr lang="en-US" sz="2330" dirty="0"/>
          </a:p>
        </p:txBody>
      </p:sp>
      <p:sp>
        <p:nvSpPr>
          <p:cNvPr id="4" name="ch off"/>
          <p:cNvSpPr/>
          <p:nvPr/>
        </p:nvSpPr>
        <p:spPr>
          <a:xfrm>
            <a:off x="2286000" y="1169789"/>
            <a:ext cx="4610100" cy="428625"/>
          </a:xfrm>
          <a:prstGeom prst="roundRect">
            <a:avLst>
              <a:gd name="adj" fmla="val 26667"/>
            </a:avLst>
          </a:prstGeom>
          <a:solidFill>
            <a:srgbClr val="E11D48"/>
          </a:solidFill>
          <a:ln/>
        </p:spPr>
      </p:sp>
      <p:sp>
        <p:nvSpPr>
          <p:cNvPr id="5" name="text b"/>
          <p:cNvSpPr txBox="1"/>
          <p:nvPr/>
        </p:nvSpPr>
        <p:spPr>
          <a:xfrm>
            <a:off x="2457450" y="1252796"/>
            <a:ext cx="1496467" cy="262612"/>
          </a:xfrm>
          <a:prstGeom prst="rect">
            <a:avLst/>
          </a:prstGeom>
          <a:noFill/>
          <a:ln/>
        </p:spPr>
        <p:txBody>
          <a:bodyPr wrap="none" lIns="0" tIns="0" rIns="0" bIns="0" rtlCol="0" anchor="ctr"/>
          <a:lstStyle/>
          <a:p>
            <a:pPr algn="l" indent="0" marL="0">
              <a:buNone/>
            </a:pPr>
            <a:r>
              <a:rPr lang="en-US" sz="1430" dirty="0">
                <a:solidFill>
                  <a:srgbClr val="FFFFFF"/>
                </a:solidFill>
                <a:latin typeface="Segoe UI Black" pitchFamily="34" charset="0"/>
                <a:ea typeface="Segoe UI Black" pitchFamily="34" charset="-122"/>
                <a:cs typeface="Segoe UI Black" pitchFamily="34" charset="-120"/>
              </a:rPr>
              <a:t>1 · Tại cửa hàng</a:t>
            </a:r>
            <a:endParaRPr lang="en-US" sz="1430" dirty="0"/>
          </a:p>
        </p:txBody>
      </p:sp>
      <p:sp>
        <p:nvSpPr>
          <p:cNvPr id="6" name="ch on"/>
          <p:cNvSpPr/>
          <p:nvPr/>
        </p:nvSpPr>
        <p:spPr>
          <a:xfrm>
            <a:off x="6972300" y="1169789"/>
            <a:ext cx="4610100" cy="428625"/>
          </a:xfrm>
          <a:prstGeom prst="roundRect">
            <a:avLst>
              <a:gd name="adj" fmla="val 26667"/>
            </a:avLst>
          </a:prstGeom>
          <a:solidFill>
            <a:srgbClr val="1E3A8A"/>
          </a:solidFill>
          <a:ln/>
        </p:spPr>
      </p:sp>
      <p:sp>
        <p:nvSpPr>
          <p:cNvPr id="7" name="text b"/>
          <p:cNvSpPr txBox="1"/>
          <p:nvPr/>
        </p:nvSpPr>
        <p:spPr>
          <a:xfrm>
            <a:off x="7143750" y="1253118"/>
            <a:ext cx="2217444" cy="261966"/>
          </a:xfrm>
          <a:prstGeom prst="rect">
            <a:avLst/>
          </a:prstGeom>
          <a:noFill/>
          <a:ln/>
        </p:spPr>
        <p:txBody>
          <a:bodyPr wrap="none" lIns="0" tIns="0" rIns="0" bIns="0" rtlCol="0" anchor="ctr"/>
          <a:lstStyle/>
          <a:p>
            <a:pPr algn="l" indent="0" marL="0">
              <a:buNone/>
            </a:pPr>
            <a:r>
              <a:rPr lang="en-US" sz="1420" dirty="0">
                <a:solidFill>
                  <a:srgbClr val="FFFFFF"/>
                </a:solidFill>
                <a:latin typeface="Segoe UI Black" pitchFamily="34" charset="0"/>
                <a:ea typeface="Segoe UI Black" pitchFamily="34" charset="-122"/>
                <a:cs typeface="Segoe UI Black" pitchFamily="34" charset="-120"/>
              </a:rPr>
              <a:t>2 · Trước khi khách đến</a:t>
            </a:r>
            <a:endParaRPr lang="en-US" sz="1420" dirty="0"/>
          </a:p>
        </p:txBody>
      </p:sp>
      <p:sp>
        <p:nvSpPr>
          <p:cNvPr id="8" name="rl2"/>
          <p:cNvSpPr/>
          <p:nvPr/>
        </p:nvSpPr>
        <p:spPr>
          <a:xfrm>
            <a:off x="609600" y="1674614"/>
            <a:ext cx="1600200" cy="1381125"/>
          </a:xfrm>
          <a:prstGeom prst="roundRect">
            <a:avLst>
              <a:gd name="adj" fmla="val 8276"/>
            </a:avLst>
          </a:prstGeom>
          <a:solidFill>
            <a:srgbClr val="F1F5F9"/>
          </a:solidFill>
          <a:ln/>
        </p:spPr>
      </p:sp>
      <p:sp>
        <p:nvSpPr>
          <p:cNvPr id="9" name="text rl2"/>
          <p:cNvSpPr txBox="1"/>
          <p:nvPr/>
        </p:nvSpPr>
        <p:spPr>
          <a:xfrm>
            <a:off x="762000" y="2256264"/>
            <a:ext cx="590848" cy="200263"/>
          </a:xfrm>
          <a:prstGeom prst="rect">
            <a:avLst/>
          </a:prstGeom>
          <a:noFill/>
          <a:ln/>
        </p:spPr>
        <p:txBody>
          <a:bodyPr wrap="none" lIns="0" tIns="0" rIns="0" bIns="0" rtlCol="0" anchor="ctr"/>
          <a:lstStyle/>
          <a:p>
            <a:pPr algn="l" indent="0" marL="0">
              <a:buNone/>
            </a:pPr>
            <a:r>
              <a:rPr lang="en-US" sz="1090" b="1" dirty="0">
                <a:solidFill>
                  <a:srgbClr val="0F172A"/>
                </a:solidFill>
                <a:latin typeface="Segoe UI" pitchFamily="34" charset="0"/>
                <a:ea typeface="Segoe UI" pitchFamily="34" charset="-122"/>
                <a:cs typeface="Segoe UI" pitchFamily="34" charset="-120"/>
              </a:rPr>
              <a:t>Vấn đề</a:t>
            </a:r>
            <a:endParaRPr lang="en-US" sz="1090" dirty="0"/>
          </a:p>
        </p:txBody>
      </p:sp>
      <p:sp>
        <p:nvSpPr>
          <p:cNvPr id="10" name="cl"/>
          <p:cNvSpPr/>
          <p:nvPr/>
        </p:nvSpPr>
        <p:spPr>
          <a:xfrm>
            <a:off x="2290763" y="1679377"/>
            <a:ext cx="4600575" cy="1371600"/>
          </a:xfrm>
          <a:prstGeom prst="roundRect">
            <a:avLst>
              <a:gd name="adj" fmla="val 7986"/>
            </a:avLst>
          </a:prstGeom>
          <a:solidFill>
            <a:srgbClr val="FFFFFF"/>
          </a:solidFill>
          <a:ln w="9525">
            <a:solidFill>
              <a:srgbClr val="E2E8F0"/>
            </a:solidFill>
            <a:prstDash val="solid"/>
          </a:ln>
        </p:spPr>
      </p:sp>
      <p:sp>
        <p:nvSpPr>
          <p:cNvPr id="11" name="text cl"/>
          <p:cNvSpPr txBox="1"/>
          <p:nvPr/>
        </p:nvSpPr>
        <p:spPr>
          <a:xfrm>
            <a:off x="2466975" y="2306836"/>
            <a:ext cx="4286250" cy="621506"/>
          </a:xfrm>
          <a:prstGeom prst="rect">
            <a:avLst/>
          </a:prstGeom>
          <a:noFill/>
          <a:ln/>
        </p:spPr>
        <p:txBody>
          <a:bodyPr wrap="square" lIns="0" tIns="0" rIns="0" bIns="0" rtlCol="0" anchor="ctr"/>
          <a:lstStyle/>
          <a:p>
            <a:pPr algn="l" indent="0" marL="0">
              <a:lnSpc>
                <a:spcPts val="1630"/>
              </a:lnSpc>
              <a:buNone/>
            </a:pPr>
            <a:r>
              <a:rPr lang="en-US" sz="1130" dirty="0">
                <a:solidFill>
                  <a:srgbClr val="334155"/>
                </a:solidFill>
                <a:latin typeface="Segoe UI Semibold" pitchFamily="34" charset="0"/>
                <a:ea typeface="Segoe UI Semibold" pitchFamily="34" charset="-122"/>
                <a:cs typeface="Segoe UI Semibold" pitchFamily="34" charset="-120"/>
              </a:rPr>
              <a:t>Chủ yếu nhận tiền mặt: không có máy POS, chỉ ~6% điểm bán nhận QR quốc tế. Khách phải đi rút tiền hoặc sang quán khác.</a:t>
            </a:r>
            <a:endParaRPr lang="en-US" sz="1130" dirty="0"/>
          </a:p>
        </p:txBody>
      </p:sp>
      <p:sp>
        <p:nvSpPr>
          <p:cNvPr id="12" name="text k"/>
          <p:cNvSpPr txBox="1"/>
          <p:nvPr/>
        </p:nvSpPr>
        <p:spPr>
          <a:xfrm>
            <a:off x="2466975" y="1796653"/>
            <a:ext cx="4286250" cy="483394"/>
          </a:xfrm>
          <a:prstGeom prst="rect">
            <a:avLst/>
          </a:prstGeom>
          <a:noFill/>
          <a:ln/>
        </p:spPr>
        <p:txBody>
          <a:bodyPr wrap="square" lIns="0" tIns="0" rIns="0" bIns="0" rtlCol="0" anchor="ctr"/>
          <a:lstStyle/>
          <a:p>
            <a:pPr algn="l" indent="0" marL="0">
              <a:lnSpc>
                <a:spcPts val="1900"/>
              </a:lnSpc>
              <a:buNone/>
            </a:pPr>
            <a:r>
              <a:rPr lang="en-US" sz="1310" b="1" dirty="0">
                <a:solidFill>
                  <a:srgbClr val="0F172A"/>
                </a:solidFill>
                <a:latin typeface="Segoe UI" pitchFamily="34" charset="0"/>
                <a:ea typeface="Segoe UI" pitchFamily="34" charset="-122"/>
                <a:cs typeface="Segoe UI" pitchFamily="34" charset="-120"/>
              </a:rPr>
              <a:t>Khách muốn trả thẻ, quét QR, cửa hàng không nhận được</a:t>
            </a:r>
            <a:endParaRPr lang="en-US" sz="1310" dirty="0"/>
          </a:p>
        </p:txBody>
      </p:sp>
      <p:sp>
        <p:nvSpPr>
          <p:cNvPr id="13" name="cl"/>
          <p:cNvSpPr/>
          <p:nvPr/>
        </p:nvSpPr>
        <p:spPr>
          <a:xfrm>
            <a:off x="6977063" y="1679377"/>
            <a:ext cx="4600575" cy="1371600"/>
          </a:xfrm>
          <a:prstGeom prst="roundRect">
            <a:avLst>
              <a:gd name="adj" fmla="val 7986"/>
            </a:avLst>
          </a:prstGeom>
          <a:solidFill>
            <a:srgbClr val="FFFFFF"/>
          </a:solidFill>
          <a:ln w="9525">
            <a:solidFill>
              <a:srgbClr val="E2E8F0"/>
            </a:solidFill>
            <a:prstDash val="solid"/>
          </a:ln>
        </p:spPr>
      </p:sp>
      <p:sp>
        <p:nvSpPr>
          <p:cNvPr id="14" name="text cl"/>
          <p:cNvSpPr txBox="1"/>
          <p:nvPr/>
        </p:nvSpPr>
        <p:spPr>
          <a:xfrm>
            <a:off x="7153275" y="2306836"/>
            <a:ext cx="4286250" cy="621506"/>
          </a:xfrm>
          <a:prstGeom prst="rect">
            <a:avLst/>
          </a:prstGeom>
          <a:noFill/>
          <a:ln/>
        </p:spPr>
        <p:txBody>
          <a:bodyPr wrap="square" lIns="0" tIns="0" rIns="0" bIns="0" rtlCol="0" anchor="ctr"/>
          <a:lstStyle/>
          <a:p>
            <a:pPr algn="l" indent="0" marL="0">
              <a:lnSpc>
                <a:spcPts val="1630"/>
              </a:lnSpc>
              <a:buNone/>
            </a:pPr>
            <a:r>
              <a:rPr lang="en-US" sz="1130" dirty="0">
                <a:solidFill>
                  <a:srgbClr val="334155"/>
                </a:solidFill>
                <a:latin typeface="Segoe UI Semibold" pitchFamily="34" charset="0"/>
                <a:ea typeface="Segoe UI Semibold" pitchFamily="34" charset="-122"/>
                <a:cs typeface="Segoe UI Semibold" pitchFamily="34" charset="-120"/>
              </a:rPr>
              <a:t>AI của Booking.com, Expedia chỉ gợi ý merchant có trên nền tảng của mình. Merchant nhỏ không có mặt nên mất khách ngay từ khi khách lên kế hoạch.</a:t>
            </a:r>
            <a:endParaRPr lang="en-US" sz="1130" dirty="0"/>
          </a:p>
        </p:txBody>
      </p:sp>
      <p:sp>
        <p:nvSpPr>
          <p:cNvPr id="15" name="text k"/>
          <p:cNvSpPr txBox="1"/>
          <p:nvPr/>
        </p:nvSpPr>
        <p:spPr>
          <a:xfrm>
            <a:off x="7153275" y="1796653"/>
            <a:ext cx="4286250" cy="483394"/>
          </a:xfrm>
          <a:prstGeom prst="rect">
            <a:avLst/>
          </a:prstGeom>
          <a:noFill/>
          <a:ln/>
        </p:spPr>
        <p:txBody>
          <a:bodyPr wrap="square" lIns="0" tIns="0" rIns="0" bIns="0" rtlCol="0" anchor="ctr"/>
          <a:lstStyle/>
          <a:p>
            <a:pPr algn="l" indent="0" marL="0">
              <a:lnSpc>
                <a:spcPts val="1900"/>
              </a:lnSpc>
              <a:buNone/>
            </a:pPr>
            <a:r>
              <a:rPr lang="en-US" sz="1310" b="1" dirty="0">
                <a:solidFill>
                  <a:srgbClr val="0F172A"/>
                </a:solidFill>
                <a:latin typeface="Segoe UI" pitchFamily="34" charset="0"/>
                <a:ea typeface="Segoe UI" pitchFamily="34" charset="-122"/>
                <a:cs typeface="Segoe UI" pitchFamily="34" charset="-120"/>
              </a:rPr>
              <a:t>Khách hỏi AI để chọn quán, cửa hàng không xuất hiện</a:t>
            </a:r>
            <a:endParaRPr lang="en-US" sz="1310" dirty="0"/>
          </a:p>
        </p:txBody>
      </p:sp>
      <p:sp>
        <p:nvSpPr>
          <p:cNvPr id="16" name="rl2"/>
          <p:cNvSpPr/>
          <p:nvPr/>
        </p:nvSpPr>
        <p:spPr>
          <a:xfrm>
            <a:off x="609600" y="3131939"/>
            <a:ext cx="1600200" cy="1187946"/>
          </a:xfrm>
          <a:prstGeom prst="roundRect">
            <a:avLst>
              <a:gd name="adj" fmla="val 9622"/>
            </a:avLst>
          </a:prstGeom>
          <a:solidFill>
            <a:srgbClr val="F1F5F9"/>
          </a:solidFill>
          <a:ln/>
        </p:spPr>
      </p:sp>
      <p:sp>
        <p:nvSpPr>
          <p:cNvPr id="17" name="text rl2"/>
          <p:cNvSpPr txBox="1"/>
          <p:nvPr/>
        </p:nvSpPr>
        <p:spPr>
          <a:xfrm>
            <a:off x="762000" y="3617000"/>
            <a:ext cx="1327100" cy="200263"/>
          </a:xfrm>
          <a:prstGeom prst="rect">
            <a:avLst/>
          </a:prstGeom>
          <a:noFill/>
          <a:ln/>
        </p:spPr>
        <p:txBody>
          <a:bodyPr wrap="none" lIns="0" tIns="0" rIns="0" bIns="0" rtlCol="0" anchor="ctr"/>
          <a:lstStyle/>
          <a:p>
            <a:pPr algn="l" indent="0" marL="0">
              <a:buNone/>
            </a:pPr>
            <a:r>
              <a:rPr lang="en-US" sz="1090" b="1" dirty="0">
                <a:solidFill>
                  <a:srgbClr val="0F172A"/>
                </a:solidFill>
                <a:latin typeface="Segoe UI" pitchFamily="34" charset="0"/>
                <a:ea typeface="Segoe UI" pitchFamily="34" charset="-122"/>
                <a:cs typeface="Segoe UI" pitchFamily="34" charset="-120"/>
              </a:rPr>
              <a:t>Quy mô, sẵn sàng</a:t>
            </a:r>
            <a:endParaRPr lang="en-US" sz="1090" dirty="0"/>
          </a:p>
        </p:txBody>
      </p:sp>
      <p:sp>
        <p:nvSpPr>
          <p:cNvPr id="18" name="cl nums"/>
          <p:cNvSpPr/>
          <p:nvPr/>
        </p:nvSpPr>
        <p:spPr>
          <a:xfrm>
            <a:off x="2290763" y="3136702"/>
            <a:ext cx="4600575" cy="1178421"/>
          </a:xfrm>
          <a:prstGeom prst="roundRect">
            <a:avLst>
              <a:gd name="adj" fmla="val 9295"/>
            </a:avLst>
          </a:prstGeom>
          <a:solidFill>
            <a:srgbClr val="FFFFFF"/>
          </a:solidFill>
          <a:ln w="9525">
            <a:solidFill>
              <a:srgbClr val="E2E8F0"/>
            </a:solidFill>
            <a:prstDash val="solid"/>
          </a:ln>
        </p:spPr>
      </p:sp>
      <p:sp>
        <p:nvSpPr>
          <p:cNvPr id="19" name="text span"/>
          <p:cNvSpPr txBox="1"/>
          <p:nvPr/>
        </p:nvSpPr>
        <p:spPr>
          <a:xfrm>
            <a:off x="2466975" y="3861615"/>
            <a:ext cx="965746" cy="310809"/>
          </a:xfrm>
          <a:prstGeom prst="rect">
            <a:avLst/>
          </a:prstGeom>
          <a:noFill/>
          <a:ln/>
        </p:spPr>
        <p:txBody>
          <a:bodyPr wrap="square" lIns="0" tIns="0" rIns="0" bIns="0" rtlCol="0" anchor="ctr"/>
          <a:lstStyle/>
          <a:p>
            <a:pPr algn="l" indent="0" marL="0">
              <a:lnSpc>
                <a:spcPts val="1220"/>
              </a:lnSpc>
              <a:buNone/>
            </a:pPr>
            <a:r>
              <a:rPr lang="en-US" sz="940" b="1" dirty="0">
                <a:solidFill>
                  <a:srgbClr val="64748B"/>
                </a:solidFill>
                <a:latin typeface="Segoe UI" pitchFamily="34" charset="0"/>
                <a:ea typeface="Segoe UI" pitchFamily="34" charset="-122"/>
                <a:cs typeface="Segoe UI" pitchFamily="34" charset="-120"/>
              </a:rPr>
              <a:t>hộ quanh điểm du lịch</a:t>
            </a:r>
            <a:endParaRPr lang="en-US" sz="940" dirty="0"/>
          </a:p>
        </p:txBody>
      </p:sp>
      <p:sp>
        <p:nvSpPr>
          <p:cNvPr id="20" name="text b"/>
          <p:cNvSpPr txBox="1"/>
          <p:nvPr/>
        </p:nvSpPr>
        <p:spPr>
          <a:xfrm>
            <a:off x="2466975" y="3271861"/>
            <a:ext cx="965746" cy="596754"/>
          </a:xfrm>
          <a:prstGeom prst="rect">
            <a:avLst/>
          </a:prstGeom>
          <a:noFill/>
          <a:ln/>
        </p:spPr>
        <p:txBody>
          <a:bodyPr wrap="square" lIns="0" tIns="0" rIns="0" bIns="0" rtlCol="0" anchor="ctr"/>
          <a:lstStyle/>
          <a:p>
            <a:pPr algn="l" indent="0" marL="0">
              <a:lnSpc>
                <a:spcPts val="2350"/>
              </a:lnSpc>
              <a:buNone/>
            </a:pPr>
            <a:r>
              <a:rPr lang="en-US" sz="1810" spc="-40" kern="0" dirty="0">
                <a:solidFill>
                  <a:srgbClr val="0F172A"/>
                </a:solidFill>
                <a:latin typeface="Segoe UI Black" pitchFamily="34" charset="0"/>
                <a:ea typeface="Segoe UI Black" pitchFamily="34" charset="-122"/>
                <a:cs typeface="Segoe UI Black" pitchFamily="34" charset="-120"/>
              </a:rPr>
              <a:t>~500 nghìn</a:t>
            </a:r>
            <a:endParaRPr lang="en-US" sz="1810" dirty="0"/>
          </a:p>
        </p:txBody>
      </p:sp>
      <p:sp>
        <p:nvSpPr>
          <p:cNvPr id="21" name="text span"/>
          <p:cNvSpPr txBox="1"/>
          <p:nvPr/>
        </p:nvSpPr>
        <p:spPr>
          <a:xfrm>
            <a:off x="3508921" y="3713334"/>
            <a:ext cx="1766292" cy="310311"/>
          </a:xfrm>
          <a:prstGeom prst="rect">
            <a:avLst/>
          </a:prstGeom>
          <a:noFill/>
          <a:ln/>
        </p:spPr>
        <p:txBody>
          <a:bodyPr wrap="square" lIns="0" tIns="0" rIns="0" bIns="0" rtlCol="0" anchor="ctr"/>
          <a:lstStyle/>
          <a:p>
            <a:pPr algn="l" indent="0" marL="0">
              <a:lnSpc>
                <a:spcPts val="1220"/>
              </a:lnSpc>
              <a:buNone/>
            </a:pPr>
            <a:r>
              <a:rPr lang="en-US" sz="940" b="1" dirty="0">
                <a:solidFill>
                  <a:srgbClr val="64748B"/>
                </a:solidFill>
                <a:latin typeface="Segoe UI" pitchFamily="34" charset="0"/>
                <a:ea typeface="Segoe UI" pitchFamily="34" charset="-122"/>
                <a:cs typeface="Segoe UI" pitchFamily="34" charset="-120"/>
              </a:rPr>
              <a:t>khách quốc tế chi ăn uống, mua sắm/năm</a:t>
            </a:r>
            <a:endParaRPr lang="en-US" sz="940" dirty="0"/>
          </a:p>
        </p:txBody>
      </p:sp>
      <p:sp>
        <p:nvSpPr>
          <p:cNvPr id="22" name="text b"/>
          <p:cNvSpPr txBox="1"/>
          <p:nvPr/>
        </p:nvSpPr>
        <p:spPr>
          <a:xfrm>
            <a:off x="3508921" y="3404102"/>
            <a:ext cx="1295995" cy="332271"/>
          </a:xfrm>
          <a:prstGeom prst="rect">
            <a:avLst/>
          </a:prstGeom>
          <a:noFill/>
          <a:ln/>
        </p:spPr>
        <p:txBody>
          <a:bodyPr wrap="none" lIns="0" tIns="0" rIns="0" bIns="0" rtlCol="0" anchor="ctr"/>
          <a:lstStyle/>
          <a:p>
            <a:pPr algn="l" indent="0" marL="0">
              <a:buNone/>
            </a:pPr>
            <a:r>
              <a:rPr lang="en-US" sz="1800" spc="-40" kern="0" dirty="0">
                <a:solidFill>
                  <a:srgbClr val="0F172A"/>
                </a:solidFill>
                <a:latin typeface="Segoe UI Black" pitchFamily="34" charset="0"/>
                <a:ea typeface="Segoe UI Black" pitchFamily="34" charset="-122"/>
                <a:cs typeface="Segoe UI Black" pitchFamily="34" charset="-120"/>
              </a:rPr>
              <a:t>5–8 tỷ USD</a:t>
            </a:r>
            <a:endParaRPr lang="en-US" sz="1800" dirty="0"/>
          </a:p>
        </p:txBody>
      </p:sp>
      <p:sp>
        <p:nvSpPr>
          <p:cNvPr id="23" name="text span"/>
          <p:cNvSpPr txBox="1"/>
          <p:nvPr/>
        </p:nvSpPr>
        <p:spPr>
          <a:xfrm>
            <a:off x="5351413" y="3713522"/>
            <a:ext cx="1401812" cy="309935"/>
          </a:xfrm>
          <a:prstGeom prst="rect">
            <a:avLst/>
          </a:prstGeom>
          <a:noFill/>
          <a:ln/>
        </p:spPr>
        <p:txBody>
          <a:bodyPr wrap="square" lIns="0" tIns="0" rIns="0" bIns="0" rtlCol="0" anchor="ctr"/>
          <a:lstStyle/>
          <a:p>
            <a:pPr algn="l" indent="0" marL="0">
              <a:lnSpc>
                <a:spcPts val="1220"/>
              </a:lnSpc>
              <a:buNone/>
            </a:pPr>
            <a:r>
              <a:rPr lang="en-US" sz="940" b="1" dirty="0">
                <a:solidFill>
                  <a:srgbClr val="64748B"/>
                </a:solidFill>
                <a:latin typeface="Segoe UI" pitchFamily="34" charset="0"/>
                <a:ea typeface="Segoe UI" pitchFamily="34" charset="-122"/>
                <a:cs typeface="Segoe UI" pitchFamily="34" charset="-120"/>
              </a:rPr>
              <a:t>merchant sẵn sàng nếu phí 1–2%</a:t>
            </a:r>
            <a:endParaRPr lang="en-US" sz="940" dirty="0"/>
          </a:p>
        </p:txBody>
      </p:sp>
      <p:sp>
        <p:nvSpPr>
          <p:cNvPr id="24" name="text b"/>
          <p:cNvSpPr txBox="1"/>
          <p:nvPr/>
        </p:nvSpPr>
        <p:spPr>
          <a:xfrm>
            <a:off x="5351413" y="3404304"/>
            <a:ext cx="821680" cy="331868"/>
          </a:xfrm>
          <a:prstGeom prst="rect">
            <a:avLst/>
          </a:prstGeom>
          <a:noFill/>
          <a:ln/>
        </p:spPr>
        <p:txBody>
          <a:bodyPr wrap="none" lIns="0" tIns="0" rIns="0" bIns="0" rtlCol="0" anchor="ctr"/>
          <a:lstStyle/>
          <a:p>
            <a:pPr algn="l" indent="0" marL="0">
              <a:buNone/>
            </a:pPr>
            <a:r>
              <a:rPr lang="en-US" sz="1800" spc="-40" kern="0" dirty="0">
                <a:solidFill>
                  <a:srgbClr val="0F172A"/>
                </a:solidFill>
                <a:latin typeface="Segoe UI Black" pitchFamily="34" charset="0"/>
                <a:ea typeface="Segoe UI Black" pitchFamily="34" charset="-122"/>
                <a:cs typeface="Segoe UI Black" pitchFamily="34" charset="-120"/>
              </a:rPr>
              <a:t>81,5%</a:t>
            </a:r>
            <a:endParaRPr lang="en-US" sz="1800" dirty="0"/>
          </a:p>
        </p:txBody>
      </p:sp>
      <p:sp>
        <p:nvSpPr>
          <p:cNvPr id="25" name="cl nums"/>
          <p:cNvSpPr/>
          <p:nvPr/>
        </p:nvSpPr>
        <p:spPr>
          <a:xfrm>
            <a:off x="6977063" y="3136702"/>
            <a:ext cx="4600575" cy="1178421"/>
          </a:xfrm>
          <a:prstGeom prst="roundRect">
            <a:avLst>
              <a:gd name="adj" fmla="val 9295"/>
            </a:avLst>
          </a:prstGeom>
          <a:solidFill>
            <a:srgbClr val="FFFFFF"/>
          </a:solidFill>
          <a:ln w="9525">
            <a:solidFill>
              <a:srgbClr val="E2E8F0"/>
            </a:solidFill>
            <a:prstDash val="solid"/>
          </a:ln>
        </p:spPr>
      </p:sp>
      <p:sp>
        <p:nvSpPr>
          <p:cNvPr id="26" name="text span"/>
          <p:cNvSpPr txBox="1"/>
          <p:nvPr/>
        </p:nvSpPr>
        <p:spPr>
          <a:xfrm>
            <a:off x="7153275" y="3713945"/>
            <a:ext cx="1302990" cy="309090"/>
          </a:xfrm>
          <a:prstGeom prst="rect">
            <a:avLst/>
          </a:prstGeom>
          <a:noFill/>
          <a:ln/>
        </p:spPr>
        <p:txBody>
          <a:bodyPr wrap="square" lIns="0" tIns="0" rIns="0" bIns="0" rtlCol="0" anchor="ctr"/>
          <a:lstStyle/>
          <a:p>
            <a:pPr algn="l" indent="0" marL="0">
              <a:lnSpc>
                <a:spcPts val="1220"/>
              </a:lnSpc>
              <a:buNone/>
            </a:pPr>
            <a:r>
              <a:rPr lang="en-US" sz="940" b="1" dirty="0">
                <a:solidFill>
                  <a:srgbClr val="64748B"/>
                </a:solidFill>
                <a:latin typeface="Segoe UI" pitchFamily="34" charset="0"/>
                <a:ea typeface="Segoe UI" pitchFamily="34" charset="-122"/>
                <a:cs typeface="Segoe UI" pitchFamily="34" charset="-120"/>
              </a:rPr>
              <a:t>du lịch online Việt Nam 2025</a:t>
            </a:r>
            <a:endParaRPr lang="en-US" sz="940" dirty="0"/>
          </a:p>
        </p:txBody>
      </p:sp>
      <p:sp>
        <p:nvSpPr>
          <p:cNvPr id="27" name="text b"/>
          <p:cNvSpPr txBox="1"/>
          <p:nvPr/>
        </p:nvSpPr>
        <p:spPr>
          <a:xfrm>
            <a:off x="7153275" y="3404756"/>
            <a:ext cx="1202382" cy="330964"/>
          </a:xfrm>
          <a:prstGeom prst="rect">
            <a:avLst/>
          </a:prstGeom>
          <a:noFill/>
          <a:ln/>
        </p:spPr>
        <p:txBody>
          <a:bodyPr wrap="none" lIns="0" tIns="0" rIns="0" bIns="0" rtlCol="0" anchor="ctr"/>
          <a:lstStyle/>
          <a:p>
            <a:pPr algn="l" indent="0" marL="0">
              <a:buNone/>
            </a:pPr>
            <a:r>
              <a:rPr lang="en-US" sz="1800" spc="-40" kern="0" dirty="0">
                <a:solidFill>
                  <a:srgbClr val="0F172A"/>
                </a:solidFill>
                <a:latin typeface="Segoe UI Black" pitchFamily="34" charset="0"/>
                <a:ea typeface="Segoe UI Black" pitchFamily="34" charset="-122"/>
                <a:cs typeface="Segoe UI Black" pitchFamily="34" charset="-120"/>
              </a:rPr>
              <a:t>~4 tỷ USD</a:t>
            </a:r>
            <a:endParaRPr lang="en-US" sz="1800" dirty="0"/>
          </a:p>
        </p:txBody>
      </p:sp>
      <p:sp>
        <p:nvSpPr>
          <p:cNvPr id="28" name="text span"/>
          <p:cNvSpPr txBox="1"/>
          <p:nvPr/>
        </p:nvSpPr>
        <p:spPr>
          <a:xfrm>
            <a:off x="8532465" y="3713266"/>
            <a:ext cx="1604665" cy="310447"/>
          </a:xfrm>
          <a:prstGeom prst="rect">
            <a:avLst/>
          </a:prstGeom>
          <a:noFill/>
          <a:ln/>
        </p:spPr>
        <p:txBody>
          <a:bodyPr wrap="square" lIns="0" tIns="0" rIns="0" bIns="0" rtlCol="0" anchor="ctr"/>
          <a:lstStyle/>
          <a:p>
            <a:pPr algn="l" indent="0" marL="0">
              <a:lnSpc>
                <a:spcPts val="1220"/>
              </a:lnSpc>
              <a:buNone/>
            </a:pPr>
            <a:r>
              <a:rPr lang="en-US" sz="940" b="1" dirty="0">
                <a:solidFill>
                  <a:srgbClr val="64748B"/>
                </a:solidFill>
                <a:latin typeface="Segoe UI" pitchFamily="34" charset="0"/>
                <a:ea typeface="Segoe UI" pitchFamily="34" charset="-122"/>
                <a:cs typeface="Segoe UI" pitchFamily="34" charset="-120"/>
              </a:rPr>
              <a:t>khách Mỹ đã dùng AI cho chuyến đi</a:t>
            </a:r>
            <a:endParaRPr lang="en-US" sz="940" dirty="0"/>
          </a:p>
        </p:txBody>
      </p:sp>
      <p:sp>
        <p:nvSpPr>
          <p:cNvPr id="29" name="text b"/>
          <p:cNvSpPr txBox="1"/>
          <p:nvPr/>
        </p:nvSpPr>
        <p:spPr>
          <a:xfrm>
            <a:off x="8532465" y="3404029"/>
            <a:ext cx="641300" cy="332417"/>
          </a:xfrm>
          <a:prstGeom prst="rect">
            <a:avLst/>
          </a:prstGeom>
          <a:noFill/>
          <a:ln/>
        </p:spPr>
        <p:txBody>
          <a:bodyPr wrap="none" lIns="0" tIns="0" rIns="0" bIns="0" rtlCol="0" anchor="ctr"/>
          <a:lstStyle/>
          <a:p>
            <a:pPr algn="l" indent="0" marL="0">
              <a:buNone/>
            </a:pPr>
            <a:r>
              <a:rPr lang="en-US" sz="1810" spc="-40" kern="0" dirty="0">
                <a:solidFill>
                  <a:srgbClr val="0F172A"/>
                </a:solidFill>
                <a:latin typeface="Segoe UI Black" pitchFamily="34" charset="0"/>
                <a:ea typeface="Segoe UI Black" pitchFamily="34" charset="-122"/>
                <a:cs typeface="Segoe UI Black" pitchFamily="34" charset="-120"/>
              </a:rPr>
              <a:t>56%</a:t>
            </a:r>
            <a:endParaRPr lang="en-US" sz="1810" dirty="0"/>
          </a:p>
        </p:txBody>
      </p:sp>
      <p:sp>
        <p:nvSpPr>
          <p:cNvPr id="30" name="text span"/>
          <p:cNvSpPr txBox="1"/>
          <p:nvPr/>
        </p:nvSpPr>
        <p:spPr>
          <a:xfrm>
            <a:off x="10213330" y="3714037"/>
            <a:ext cx="1226195" cy="308905"/>
          </a:xfrm>
          <a:prstGeom prst="rect">
            <a:avLst/>
          </a:prstGeom>
          <a:noFill/>
          <a:ln/>
        </p:spPr>
        <p:txBody>
          <a:bodyPr wrap="square" lIns="0" tIns="0" rIns="0" bIns="0" rtlCol="0" anchor="ctr"/>
          <a:lstStyle/>
          <a:p>
            <a:pPr algn="l" indent="0" marL="0">
              <a:lnSpc>
                <a:spcPts val="1220"/>
              </a:lnSpc>
              <a:buNone/>
            </a:pPr>
            <a:r>
              <a:rPr lang="en-US" sz="940" b="1" dirty="0">
                <a:solidFill>
                  <a:srgbClr val="64748B"/>
                </a:solidFill>
                <a:latin typeface="Segoe UI" pitchFamily="34" charset="0"/>
                <a:ea typeface="Segoe UI" pitchFamily="34" charset="-122"/>
                <a:cs typeface="Segoe UI" pitchFamily="34" charset="-120"/>
              </a:rPr>
              <a:t>khách Việt dự định dùng AI</a:t>
            </a:r>
            <a:endParaRPr lang="en-US" sz="940" dirty="0"/>
          </a:p>
        </p:txBody>
      </p:sp>
      <p:sp>
        <p:nvSpPr>
          <p:cNvPr id="31" name="text b"/>
          <p:cNvSpPr txBox="1"/>
          <p:nvPr/>
        </p:nvSpPr>
        <p:spPr>
          <a:xfrm>
            <a:off x="10213330" y="3404855"/>
            <a:ext cx="597843" cy="330766"/>
          </a:xfrm>
          <a:prstGeom prst="rect">
            <a:avLst/>
          </a:prstGeom>
          <a:noFill/>
          <a:ln/>
        </p:spPr>
        <p:txBody>
          <a:bodyPr wrap="none" lIns="0" tIns="0" rIns="0" bIns="0" rtlCol="0" anchor="ctr"/>
          <a:lstStyle/>
          <a:p>
            <a:pPr algn="l" indent="0" marL="0">
              <a:buNone/>
            </a:pPr>
            <a:r>
              <a:rPr lang="en-US" sz="1800" spc="-40" kern="0" dirty="0">
                <a:solidFill>
                  <a:srgbClr val="0F172A"/>
                </a:solidFill>
                <a:latin typeface="Segoe UI Black" pitchFamily="34" charset="0"/>
                <a:ea typeface="Segoe UI Black" pitchFamily="34" charset="-122"/>
                <a:cs typeface="Segoe UI Black" pitchFamily="34" charset="-120"/>
              </a:rPr>
              <a:t>81%</a:t>
            </a:r>
            <a:endParaRPr lang="en-US" sz="1800" dirty="0"/>
          </a:p>
        </p:txBody>
      </p:sp>
      <p:sp>
        <p:nvSpPr>
          <p:cNvPr id="32" name="rl2"/>
          <p:cNvSpPr/>
          <p:nvPr/>
        </p:nvSpPr>
        <p:spPr>
          <a:xfrm>
            <a:off x="609600" y="4396085"/>
            <a:ext cx="1600200" cy="1187946"/>
          </a:xfrm>
          <a:prstGeom prst="roundRect">
            <a:avLst>
              <a:gd name="adj" fmla="val 9622"/>
            </a:avLst>
          </a:prstGeom>
          <a:solidFill>
            <a:srgbClr val="EEFBF3"/>
          </a:solidFill>
          <a:ln/>
        </p:spPr>
      </p:sp>
      <p:sp>
        <p:nvSpPr>
          <p:cNvPr id="33" name="text rl2"/>
          <p:cNvSpPr txBox="1"/>
          <p:nvPr/>
        </p:nvSpPr>
        <p:spPr>
          <a:xfrm>
            <a:off x="762000" y="4881146"/>
            <a:ext cx="1147911" cy="200263"/>
          </a:xfrm>
          <a:prstGeom prst="rect">
            <a:avLst/>
          </a:prstGeom>
          <a:noFill/>
          <a:ln/>
        </p:spPr>
        <p:txBody>
          <a:bodyPr wrap="none" lIns="0" tIns="0" rIns="0" bIns="0" rtlCol="0" anchor="ctr"/>
          <a:lstStyle/>
          <a:p>
            <a:pPr algn="l" indent="0" marL="0">
              <a:buNone/>
            </a:pPr>
            <a:r>
              <a:rPr lang="en-US" sz="1090" b="1" dirty="0">
                <a:solidFill>
                  <a:srgbClr val="15803D"/>
                </a:solidFill>
                <a:latin typeface="Segoe UI" pitchFamily="34" charset="0"/>
                <a:ea typeface="Segoe UI" pitchFamily="34" charset="-122"/>
                <a:cs typeface="Segoe UI" pitchFamily="34" charset="-120"/>
              </a:rPr>
              <a:t>Cơ hội cho VDF</a:t>
            </a:r>
            <a:endParaRPr lang="en-US" sz="1090" dirty="0"/>
          </a:p>
        </p:txBody>
      </p:sp>
      <p:sp>
        <p:nvSpPr>
          <p:cNvPr id="34" name="cl opp2"/>
          <p:cNvSpPr/>
          <p:nvPr/>
        </p:nvSpPr>
        <p:spPr>
          <a:xfrm>
            <a:off x="2290763" y="4400848"/>
            <a:ext cx="4600575" cy="1178421"/>
          </a:xfrm>
          <a:prstGeom prst="roundRect">
            <a:avLst>
              <a:gd name="adj" fmla="val 9295"/>
            </a:avLst>
          </a:prstGeom>
          <a:solidFill>
            <a:srgbClr val="EEFBF3"/>
          </a:solidFill>
          <a:ln w="9525">
            <a:solidFill>
              <a:srgbClr val="86EFAC"/>
            </a:solidFill>
            <a:prstDash val="solid"/>
          </a:ln>
        </p:spPr>
      </p:sp>
      <p:sp>
        <p:nvSpPr>
          <p:cNvPr id="35" name="text cl opp2"/>
          <p:cNvSpPr txBox="1"/>
          <p:nvPr/>
        </p:nvSpPr>
        <p:spPr>
          <a:xfrm>
            <a:off x="2466975" y="4753020"/>
            <a:ext cx="4286250" cy="455771"/>
          </a:xfrm>
          <a:prstGeom prst="rect">
            <a:avLst/>
          </a:prstGeom>
          <a:noFill/>
          <a:ln/>
        </p:spPr>
        <p:txBody>
          <a:bodyPr wrap="square" lIns="0" tIns="0" rIns="0" bIns="0" rtlCol="0" anchor="ctr"/>
          <a:lstStyle/>
          <a:p>
            <a:pPr algn="l" indent="0" marL="0">
              <a:lnSpc>
                <a:spcPts val="1790"/>
              </a:lnSpc>
              <a:buNone/>
            </a:pPr>
            <a:r>
              <a:rPr lang="en-US" sz="1240" b="1" dirty="0">
                <a:solidFill>
                  <a:srgbClr val="0F172A"/>
                </a:solidFill>
                <a:latin typeface="Segoe UI" pitchFamily="34" charset="0"/>
                <a:ea typeface="Segoe UI" pitchFamily="34" charset="-122"/>
                <a:cs typeface="Segoe UI" pitchFamily="34" charset="-120"/>
              </a:rPr>
              <a:t>Cách nhận thẻ và QR quốc tế cho hộ nhỏ, gắn bán hàng, chi phí thấp</a:t>
            </a:r>
            <a:endParaRPr lang="en-US" sz="1240" dirty="0"/>
          </a:p>
        </p:txBody>
      </p:sp>
      <p:sp>
        <p:nvSpPr>
          <p:cNvPr id="36" name="cl opp2"/>
          <p:cNvSpPr/>
          <p:nvPr/>
        </p:nvSpPr>
        <p:spPr>
          <a:xfrm>
            <a:off x="6977063" y="4400848"/>
            <a:ext cx="4600575" cy="1178421"/>
          </a:xfrm>
          <a:prstGeom prst="roundRect">
            <a:avLst>
              <a:gd name="adj" fmla="val 9295"/>
            </a:avLst>
          </a:prstGeom>
          <a:solidFill>
            <a:srgbClr val="EEFBF3"/>
          </a:solidFill>
          <a:ln w="9525">
            <a:solidFill>
              <a:srgbClr val="86EFAC"/>
            </a:solidFill>
            <a:prstDash val="solid"/>
          </a:ln>
        </p:spPr>
      </p:sp>
      <p:sp>
        <p:nvSpPr>
          <p:cNvPr id="37" name="text cl opp2"/>
          <p:cNvSpPr txBox="1"/>
          <p:nvPr/>
        </p:nvSpPr>
        <p:spPr>
          <a:xfrm>
            <a:off x="7153275" y="4753020"/>
            <a:ext cx="4286250" cy="455771"/>
          </a:xfrm>
          <a:prstGeom prst="rect">
            <a:avLst/>
          </a:prstGeom>
          <a:noFill/>
          <a:ln/>
        </p:spPr>
        <p:txBody>
          <a:bodyPr wrap="square" lIns="0" tIns="0" rIns="0" bIns="0" rtlCol="0" anchor="ctr"/>
          <a:lstStyle/>
          <a:p>
            <a:pPr algn="l" indent="0" marL="0">
              <a:lnSpc>
                <a:spcPts val="1790"/>
              </a:lnSpc>
              <a:buNone/>
            </a:pPr>
            <a:r>
              <a:rPr lang="en-US" sz="1240" b="1" dirty="0">
                <a:solidFill>
                  <a:srgbClr val="0F172A"/>
                </a:solidFill>
                <a:latin typeface="Segoe UI" pitchFamily="34" charset="0"/>
                <a:ea typeface="Segoe UI" pitchFamily="34" charset="-122"/>
                <a:cs typeface="Segoe UI" pitchFamily="34" charset="-120"/>
              </a:rPr>
              <a:t>Kênh AI giới thiệu merchant nhỏ, cho khách đặt chỗ ngay</a:t>
            </a:r>
            <a:endParaRPr lang="en-US" sz="1240" dirty="0"/>
          </a:p>
        </p:txBody>
      </p:sp>
      <p:sp>
        <p:nvSpPr>
          <p:cNvPr id="38" name="band"/>
          <p:cNvSpPr/>
          <p:nvPr/>
        </p:nvSpPr>
        <p:spPr>
          <a:xfrm>
            <a:off x="609600" y="5717381"/>
            <a:ext cx="10972800" cy="435769"/>
          </a:xfrm>
          <a:prstGeom prst="roundRect">
            <a:avLst>
              <a:gd name="adj" fmla="val 26229"/>
            </a:avLst>
          </a:prstGeom>
          <a:solidFill>
            <a:srgbClr val="0F172A"/>
          </a:solidFill>
          <a:ln/>
        </p:spPr>
      </p:sp>
      <p:sp>
        <p:nvSpPr>
          <p:cNvPr id="39" name="text label"/>
          <p:cNvSpPr txBox="1"/>
          <p:nvPr/>
        </p:nvSpPr>
        <p:spPr>
          <a:xfrm>
            <a:off x="819150" y="5850474"/>
            <a:ext cx="1266676" cy="165714"/>
          </a:xfrm>
          <a:prstGeom prst="rect">
            <a:avLst/>
          </a:prstGeom>
          <a:noFill/>
          <a:ln/>
        </p:spPr>
        <p:txBody>
          <a:bodyPr wrap="none" lIns="0" tIns="0" rIns="0" bIns="0" rtlCol="0" anchor="ctr"/>
          <a:lstStyle/>
          <a:p>
            <a:pPr algn="l" indent="0" marL="0">
              <a:buNone/>
            </a:pPr>
            <a:r>
              <a:rPr lang="en-US" sz="900" b="1" spc="40" kern="0" dirty="0">
                <a:solidFill>
                  <a:srgbClr val="FDA4AF"/>
                </a:solidFill>
                <a:latin typeface="Segoe UI" pitchFamily="34" charset="0"/>
                <a:ea typeface="Segoe UI" pitchFamily="34" charset="-122"/>
                <a:cs typeface="Segoe UI" pitchFamily="34" charset="-120"/>
              </a:rPr>
              <a:t>LỢI THẾ CÙNG VTT</a:t>
            </a:r>
            <a:endParaRPr lang="en-US" sz="900" dirty="0"/>
          </a:p>
        </p:txBody>
      </p:sp>
      <p:sp>
        <p:nvSpPr>
          <p:cNvPr id="40" name="text span"/>
          <p:cNvSpPr txBox="1"/>
          <p:nvPr/>
        </p:nvSpPr>
        <p:spPr>
          <a:xfrm>
            <a:off x="2142976" y="5828084"/>
            <a:ext cx="5847293" cy="207219"/>
          </a:xfrm>
          <a:prstGeom prst="rect">
            <a:avLst/>
          </a:prstGeom>
          <a:noFill/>
          <a:ln/>
        </p:spPr>
        <p:txBody>
          <a:bodyPr wrap="none" lIns="0" tIns="0" rIns="0" bIns="0" rtlCol="0" anchor="ctr"/>
          <a:lstStyle/>
          <a:p>
            <a:pPr algn="l" indent="0" marL="0">
              <a:buNone/>
            </a:pPr>
            <a:r>
              <a:rPr lang="en-US" sz="1130" dirty="0">
                <a:solidFill>
                  <a:srgbClr val="E2E8F0"/>
                </a:solidFill>
                <a:latin typeface="Segoe UI Semibold" pitchFamily="34" charset="0"/>
                <a:ea typeface="Segoe UI Semibold" pitchFamily="34" charset="-122"/>
                <a:cs typeface="Segoe UI Semibold" pitchFamily="34" charset="-120"/>
              </a:rPr>
              <a:t>Có sẵn kênh đến merchant: </a:t>
            </a:r>
            <a:pPr algn="l" indent="0" marL="0">
              <a:buNone/>
            </a:pPr>
            <a:r>
              <a:rPr lang="en-US" sz="1130" dirty="0">
                <a:solidFill>
                  <a:srgbClr val="FFFFFF"/>
                </a:solidFill>
                <a:latin typeface="Segoe UI Black" pitchFamily="34" charset="0"/>
                <a:ea typeface="Segoe UI Black" pitchFamily="34" charset="-122"/>
                <a:cs typeface="Segoe UI Black" pitchFamily="34" charset="-120"/>
              </a:rPr>
              <a:t>tệp hộ kinh doanh Tendoo</a:t>
            </a:r>
            <a:pPr algn="l" indent="0" marL="0">
              <a:buNone/>
            </a:pPr>
            <a:r>
              <a:rPr lang="en-US" sz="1130" dirty="0">
                <a:solidFill>
                  <a:srgbClr val="E2E8F0"/>
                </a:solidFill>
                <a:latin typeface="Segoe UI Semibold" pitchFamily="34" charset="0"/>
                <a:ea typeface="Segoe UI Semibold" pitchFamily="34" charset="-122"/>
                <a:cs typeface="Segoe UI Semibold" pitchFamily="34" charset="-120"/>
              </a:rPr>
              <a:t> và </a:t>
            </a:r>
            <a:pPr algn="l" indent="0" marL="0">
              <a:buNone/>
            </a:pPr>
            <a:r>
              <a:rPr lang="en-US" sz="1130" dirty="0">
                <a:solidFill>
                  <a:srgbClr val="FFFFFF"/>
                </a:solidFill>
                <a:latin typeface="Segoe UI Black" pitchFamily="34" charset="0"/>
                <a:ea typeface="Segoe UI Black" pitchFamily="34" charset="-122"/>
                <a:cs typeface="Segoe UI Black" pitchFamily="34" charset="-120"/>
              </a:rPr>
              <a:t>đội kênh bán thực địa</a:t>
            </a:r>
            <a:endParaRPr lang="en-US" sz="1130" dirty="0"/>
          </a:p>
        </p:txBody>
      </p:sp>
      <p:sp>
        <p:nvSpPr>
          <p:cNvPr id="41" name="text source"/>
          <p:cNvSpPr txBox="1"/>
          <p:nvPr/>
        </p:nvSpPr>
        <p:spPr>
          <a:xfrm>
            <a:off x="609600" y="6492653"/>
            <a:ext cx="4185315" cy="151752"/>
          </a:xfrm>
          <a:prstGeom prst="rect">
            <a:avLst/>
          </a:prstGeom>
          <a:noFill/>
          <a:ln/>
        </p:spPr>
        <p:txBody>
          <a:bodyPr wrap="none" lIns="0" tIns="0" rIns="0" bIns="0" rtlCol="0" anchor="ctr"/>
          <a:lstStyle/>
          <a:p>
            <a:pPr algn="l" indent="0" marL="0">
              <a:buNone/>
            </a:pPr>
            <a:r>
              <a:rPr lang="en-US" sz="820" dirty="0">
                <a:solidFill>
                  <a:srgbClr val="94A3B8"/>
                </a:solidFill>
                <a:latin typeface="Segoe UI Semibold" pitchFamily="34" charset="0"/>
                <a:ea typeface="Segoe UI Semibold" pitchFamily="34" charset="-122"/>
                <a:cs typeface="Segoe UI Semibold" pitchFamily="34" charset="-120"/>
              </a:rPr>
              <a:t>Số liệu dẫn từ slide trước; mức phí kỳ vọng từ khảo sát 132 merchant (7/2026).</a:t>
            </a:r>
            <a:endParaRPr lang="en-US" sz="820" dirty="0"/>
          </a:p>
        </p:txBody>
      </p:sp>
      <p:sp>
        <p:nvSpPr>
          <p:cNvPr id="42" name="mk"/>
          <p:cNvSpPr/>
          <p:nvPr/>
        </p:nvSpPr>
        <p:spPr>
          <a:xfrm>
            <a:off x="10796588" y="6343650"/>
            <a:ext cx="323850" cy="323850"/>
          </a:xfrm>
          <a:prstGeom prst="ellipse">
            <a:avLst/>
          </a:prstGeom>
          <a:solidFill>
            <a:srgbClr val="F0001E"/>
          </a:solidFill>
          <a:ln/>
        </p:spPr>
      </p:sp>
      <p:sp>
        <p:nvSpPr>
          <p:cNvPr id="43" name="Shape 41"/>
          <p:cNvSpPr/>
          <p:nvPr/>
        </p:nvSpPr>
        <p:spPr>
          <a:xfrm>
            <a:off x="10910888" y="6424613"/>
            <a:ext cx="95250" cy="161925"/>
          </a:xfrm>
          <a:prstGeom prst="roundRect">
            <a:avLst>
              <a:gd name="adj" fmla="val 25000"/>
            </a:avLst>
          </a:prstGeom>
          <a:ln w="19050">
            <a:solidFill>
              <a:srgbClr val="FFFFFF"/>
            </a:solidFill>
            <a:prstDash val="solid"/>
          </a:ln>
        </p:spPr>
      </p:sp>
      <p:sp>
        <p:nvSpPr>
          <p:cNvPr id="44"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45"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46" name="text pno"/>
          <p:cNvSpPr txBox="1"/>
          <p:nvPr/>
        </p:nvSpPr>
        <p:spPr>
          <a:xfrm>
            <a:off x="10519321" y="6420257"/>
            <a:ext cx="243929" cy="161111"/>
          </a:xfrm>
          <a:prstGeom prst="rect">
            <a:avLst/>
          </a:prstGeom>
          <a:noFill/>
          <a:ln/>
        </p:spPr>
        <p:txBody>
          <a:bodyPr wrap="none" lIns="0" tIns="0" rIns="0" bIns="0" rtlCol="0" anchor="ctr"/>
          <a:lstStyle/>
          <a:p>
            <a:pPr algn="l" indent="0" marL="0">
              <a:buNone/>
            </a:pPr>
            <a:r>
              <a:rPr lang="en-US" sz="870" b="1" dirty="0">
                <a:solidFill>
                  <a:srgbClr val="CBD5E1"/>
                </a:solidFill>
                <a:latin typeface="Segoe UI" pitchFamily="34" charset="0"/>
                <a:ea typeface="Segoe UI" pitchFamily="34" charset="-122"/>
                <a:cs typeface="Segoe UI" pitchFamily="34" charset="-120"/>
              </a:rPr>
              <a:t>10</a:t>
            </a:r>
            <a:endParaRPr lang="en-US" sz="87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graphic svg" descr="svg">    </p:cNvPr>
          <p:cNvPicPr>
            <a:picLocks noChangeAspect="1"/>
          </p:cNvPicPr>
          <p:nvPr/>
        </p:nvPicPr>
        <p:blipFill>
          <a:blip r:embed="rId2"/>
          <a:stretch>
            <a:fillRect/>
          </a:stretch>
        </p:blipFill>
        <p:spPr>
          <a:xfrm>
            <a:off x="0" y="0"/>
            <a:ext cx="12192000" cy="6858000"/>
          </a:xfrm>
          <a:prstGeom prst="rect">
            <a:avLst/>
          </a:prstGeom>
        </p:spPr>
      </p:pic>
      <p:sp>
        <p:nvSpPr>
          <p:cNvPr id="3" name="text dnum"/>
          <p:cNvSpPr txBox="1"/>
          <p:nvPr/>
        </p:nvSpPr>
        <p:spPr>
          <a:xfrm>
            <a:off x="742950" y="3369140"/>
            <a:ext cx="2484528" cy="2072345"/>
          </a:xfrm>
          <a:prstGeom prst="rect">
            <a:avLst/>
          </a:prstGeom>
          <a:noFill/>
          <a:ln/>
        </p:spPr>
        <p:txBody>
          <a:bodyPr wrap="none" lIns="0" tIns="0" rIns="0" bIns="0" rtlCol="0" anchor="ctr"/>
          <a:lstStyle/>
          <a:p>
            <a:pPr algn="l" indent="0" marL="0">
              <a:buNone/>
            </a:pPr>
            <a:r>
              <a:rPr lang="en-US" sz="11250" spc="-340" kern="0" dirty="0">
                <a:solidFill>
                  <a:srgbClr val="F0001E"/>
                </a:solidFill>
                <a:latin typeface="Segoe UI Black" pitchFamily="34" charset="0"/>
                <a:ea typeface="Segoe UI Black" pitchFamily="34" charset="-122"/>
                <a:cs typeface="Segoe UI Black" pitchFamily="34" charset="-120"/>
              </a:rPr>
              <a:t>02.</a:t>
            </a:r>
            <a:endParaRPr lang="en-US" sz="11250" dirty="0"/>
          </a:p>
        </p:txBody>
      </p:sp>
      <p:sp>
        <p:nvSpPr>
          <p:cNvPr id="4" name="text dtitle"/>
          <p:cNvSpPr txBox="1"/>
          <p:nvPr/>
        </p:nvSpPr>
        <p:spPr>
          <a:xfrm>
            <a:off x="781050" y="5263669"/>
            <a:ext cx="2782532" cy="855037"/>
          </a:xfrm>
          <a:prstGeom prst="rect">
            <a:avLst/>
          </a:prstGeom>
          <a:noFill/>
          <a:ln/>
        </p:spPr>
        <p:txBody>
          <a:bodyPr wrap="none" lIns="0" tIns="0" rIns="0" bIns="0" rtlCol="0" anchor="ctr"/>
          <a:lstStyle/>
          <a:p>
            <a:pPr algn="l" indent="0" marL="0">
              <a:buNone/>
            </a:pPr>
            <a:r>
              <a:rPr lang="en-US" sz="4640" b="1" spc="-90" kern="0" dirty="0">
                <a:solidFill>
                  <a:srgbClr val="0F172A"/>
                </a:solidFill>
                <a:latin typeface="Segoe UI" pitchFamily="34" charset="0"/>
                <a:ea typeface="Segoe UI" pitchFamily="34" charset="-122"/>
                <a:cs typeface="Segoe UI" pitchFamily="34" charset="-120"/>
              </a:rPr>
              <a:t>Giải pháp</a:t>
            </a:r>
            <a:endParaRPr lang="en-US" sz="4640" dirty="0"/>
          </a:p>
        </p:txBody>
      </p:sp>
      <p:sp>
        <p:nvSpPr>
          <p:cNvPr id="5" name="mk"/>
          <p:cNvSpPr/>
          <p:nvPr/>
        </p:nvSpPr>
        <p:spPr>
          <a:xfrm>
            <a:off x="10796588" y="6343650"/>
            <a:ext cx="323850" cy="323850"/>
          </a:xfrm>
          <a:prstGeom prst="ellipse">
            <a:avLst/>
          </a:prstGeom>
          <a:solidFill>
            <a:srgbClr val="F0001E"/>
          </a:solidFill>
          <a:ln/>
        </p:spPr>
      </p:sp>
      <p:sp>
        <p:nvSpPr>
          <p:cNvPr id="6" name="Shape 3"/>
          <p:cNvSpPr/>
          <p:nvPr/>
        </p:nvSpPr>
        <p:spPr>
          <a:xfrm>
            <a:off x="10910888" y="6424613"/>
            <a:ext cx="95250" cy="161925"/>
          </a:xfrm>
          <a:prstGeom prst="roundRect">
            <a:avLst>
              <a:gd name="adj" fmla="val 25000"/>
            </a:avLst>
          </a:prstGeom>
          <a:ln w="19050">
            <a:solidFill>
              <a:srgbClr val="FFFFFF"/>
            </a:solidFill>
            <a:prstDash val="solid"/>
          </a:ln>
        </p:spPr>
      </p:sp>
      <p:sp>
        <p:nvSpPr>
          <p:cNvPr id="7"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8"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412909"/>
            <a:ext cx="1685776"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GIẢI PHÁP · TỔNG THỂ</a:t>
            </a:r>
            <a:endParaRPr lang="en-US" sz="1050" dirty="0"/>
          </a:p>
        </p:txBody>
      </p:sp>
      <p:sp>
        <p:nvSpPr>
          <p:cNvPr id="3" name="cpill"/>
          <p:cNvSpPr/>
          <p:nvPr/>
        </p:nvSpPr>
        <p:spPr>
          <a:xfrm>
            <a:off x="2281089" y="404813"/>
            <a:ext cx="1229171" cy="180975"/>
          </a:xfrm>
          <a:prstGeom prst="roundRect">
            <a:avLst>
              <a:gd name="adj" fmla="val 50000"/>
            </a:avLst>
          </a:prstGeom>
          <a:solidFill>
            <a:srgbClr val="F1F5F9"/>
          </a:solidFill>
          <a:ln w="9525">
            <a:solidFill>
              <a:srgbClr val="E2E8F0"/>
            </a:solidFill>
            <a:prstDash val="solid"/>
          </a:ln>
        </p:spPr>
      </p:sp>
      <p:sp>
        <p:nvSpPr>
          <p:cNvPr id="4" name="text cpill"/>
          <p:cNvSpPr txBox="1"/>
          <p:nvPr/>
        </p:nvSpPr>
        <p:spPr>
          <a:xfrm>
            <a:off x="2371576" y="419311"/>
            <a:ext cx="1162496" cy="151979"/>
          </a:xfrm>
          <a:prstGeom prst="rect">
            <a:avLst/>
          </a:prstGeom>
          <a:noFill/>
          <a:ln/>
        </p:spPr>
        <p:txBody>
          <a:bodyPr wrap="none" lIns="0" tIns="0" rIns="0" bIns="0" rtlCol="0" anchor="ctr"/>
          <a:lstStyle/>
          <a:p>
            <a:pPr algn="l" indent="0" marL="0">
              <a:buNone/>
            </a:pPr>
            <a:r>
              <a:rPr lang="en-US" sz="830" b="1" spc="20" kern="0" dirty="0">
                <a:solidFill>
                  <a:srgbClr val="475569"/>
                </a:solidFill>
                <a:latin typeface="Segoe UI" pitchFamily="34" charset="0"/>
                <a:ea typeface="Segoe UI" pitchFamily="34" charset="-122"/>
                <a:cs typeface="Segoe UI" pitchFamily="34" charset="-120"/>
              </a:rPr>
              <a:t>HAI KÊNH ĐỘC LẬP</a:t>
            </a:r>
            <a:endParaRPr lang="en-US" sz="830" dirty="0"/>
          </a:p>
        </p:txBody>
      </p:sp>
      <p:sp>
        <p:nvSpPr>
          <p:cNvPr id="5" name="text title"/>
          <p:cNvSpPr txBox="1"/>
          <p:nvPr/>
        </p:nvSpPr>
        <p:spPr>
          <a:xfrm>
            <a:off x="609600" y="609838"/>
            <a:ext cx="9648626"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Merchant thế hệ mới: </a:t>
            </a:r>
            <a:pPr algn="l" indent="0" marL="0">
              <a:buNone/>
            </a:pPr>
            <a:r>
              <a:rPr lang="en-US" sz="2330" b="1" spc="-30" kern="0" dirty="0">
                <a:solidFill>
                  <a:srgbClr val="E11D48"/>
                </a:solidFill>
                <a:latin typeface="Segoe UI" pitchFamily="34" charset="0"/>
                <a:ea typeface="Segoe UI" pitchFamily="34" charset="-122"/>
                <a:cs typeface="Segoe UI" pitchFamily="34" charset="-120"/>
              </a:rPr>
              <a:t>thanh toán tại cửa hàng</a:t>
            </a:r>
            <a:pPr algn="l" indent="0" marL="0">
              <a:buNone/>
            </a:pPr>
            <a:r>
              <a:rPr lang="en-US" sz="2330" b="1" spc="-30" kern="0" dirty="0">
                <a:solidFill>
                  <a:srgbClr val="0F172A"/>
                </a:solidFill>
                <a:latin typeface="Segoe UI" pitchFamily="34" charset="0"/>
                <a:ea typeface="Segoe UI" pitchFamily="34" charset="-122"/>
                <a:cs typeface="Segoe UI" pitchFamily="34" charset="-120"/>
              </a:rPr>
              <a:t> và </a:t>
            </a:r>
            <a:pPr algn="l" indent="0" marL="0">
              <a:buNone/>
            </a:pPr>
            <a:r>
              <a:rPr lang="en-US" sz="2330" b="1" spc="-30" kern="0" dirty="0">
                <a:solidFill>
                  <a:srgbClr val="E11D48"/>
                </a:solidFill>
                <a:latin typeface="Segoe UI" pitchFamily="34" charset="0"/>
                <a:ea typeface="Segoe UI" pitchFamily="34" charset="-122"/>
                <a:cs typeface="Segoe UI" pitchFamily="34" charset="-120"/>
              </a:rPr>
              <a:t>AI tư vấn du lịch</a:t>
            </a:r>
            <a:endParaRPr lang="en-US" sz="2330" dirty="0"/>
          </a:p>
        </p:txBody>
      </p:sp>
      <p:sp>
        <p:nvSpPr>
          <p:cNvPr id="6" name="chcard off"/>
          <p:cNvSpPr/>
          <p:nvPr/>
        </p:nvSpPr>
        <p:spPr>
          <a:xfrm>
            <a:off x="614363" y="1203127"/>
            <a:ext cx="5410200" cy="4376142"/>
          </a:xfrm>
          <a:prstGeom prst="roundRect">
            <a:avLst>
              <a:gd name="adj" fmla="val 2938"/>
            </a:avLst>
          </a:prstGeom>
          <a:solidFill>
            <a:srgbClr val="FFFFFF"/>
          </a:solidFill>
          <a:ln w="9525">
            <a:solidFill>
              <a:srgbClr val="E2E8F0"/>
            </a:solidFill>
            <a:prstDash val="solid"/>
          </a:ln>
        </p:spPr>
      </p:sp>
      <p:sp>
        <p:nvSpPr>
          <p:cNvPr id="7" name="hd"/>
          <p:cNvSpPr/>
          <p:nvPr/>
        </p:nvSpPr>
        <p:spPr>
          <a:xfrm>
            <a:off x="619125" y="1207889"/>
            <a:ext cx="5400675" cy="495300"/>
          </a:xfrm>
          <a:prstGeom prst="roundRect">
            <a:avLst>
              <a:gd name="adj" fmla="val 25000"/>
            </a:avLst>
          </a:prstGeom>
          <a:solidFill>
            <a:srgbClr val="E11D48"/>
          </a:solidFill>
          <a:ln/>
        </p:spPr>
      </p:sp>
      <p:sp>
        <p:nvSpPr>
          <p:cNvPr id="8" name="hd"/>
          <p:cNvSpPr/>
          <p:nvPr/>
        </p:nvSpPr>
        <p:spPr>
          <a:xfrm>
            <a:off x="619125" y="1331714"/>
            <a:ext cx="5400675" cy="371475"/>
          </a:xfrm>
          <a:prstGeom prst="rect">
            <a:avLst/>
          </a:prstGeom>
          <a:solidFill>
            <a:srgbClr val="E11D48"/>
          </a:solidFill>
          <a:ln/>
        </p:spPr>
      </p:sp>
      <p:sp>
        <p:nvSpPr>
          <p:cNvPr id="9" name="text b"/>
          <p:cNvSpPr txBox="1"/>
          <p:nvPr/>
        </p:nvSpPr>
        <p:spPr>
          <a:xfrm>
            <a:off x="828675" y="1303266"/>
            <a:ext cx="1088082" cy="304546"/>
          </a:xfrm>
          <a:prstGeom prst="rect">
            <a:avLst/>
          </a:prstGeom>
          <a:noFill/>
          <a:ln/>
        </p:spPr>
        <p:txBody>
          <a:bodyPr wrap="none" lIns="0" tIns="0" rIns="0" bIns="0" rtlCol="0" anchor="ctr"/>
          <a:lstStyle/>
          <a:p>
            <a:pPr algn="l" indent="0" marL="0">
              <a:buNone/>
            </a:pPr>
            <a:r>
              <a:rPr lang="en-US" sz="1650" dirty="0">
                <a:solidFill>
                  <a:srgbClr val="FFFFFF"/>
                </a:solidFill>
                <a:latin typeface="Segoe UI Black" pitchFamily="34" charset="0"/>
                <a:ea typeface="Segoe UI Black" pitchFamily="34" charset="-122"/>
                <a:cs typeface="Segoe UI Black" pitchFamily="34" charset="-120"/>
              </a:rPr>
              <a:t>1 · Offline</a:t>
            </a:r>
            <a:endParaRPr lang="en-US" sz="1650" dirty="0"/>
          </a:p>
        </p:txBody>
      </p:sp>
      <p:sp>
        <p:nvSpPr>
          <p:cNvPr id="10" name="text span"/>
          <p:cNvSpPr txBox="1"/>
          <p:nvPr/>
        </p:nvSpPr>
        <p:spPr>
          <a:xfrm>
            <a:off x="1916757" y="1382966"/>
            <a:ext cx="1681162" cy="192772"/>
          </a:xfrm>
          <a:prstGeom prst="rect">
            <a:avLst/>
          </a:prstGeom>
          <a:noFill/>
          <a:ln/>
        </p:spPr>
        <p:txBody>
          <a:bodyPr wrap="none" lIns="0" tIns="0" rIns="0" bIns="0" rtlCol="0" anchor="ctr"/>
          <a:lstStyle/>
          <a:p>
            <a:pPr algn="l" indent="0" marL="0">
              <a:buNone/>
            </a:pPr>
            <a:r>
              <a:rPr lang="en-US" sz="1050" b="1" dirty="0">
                <a:solidFill>
                  <a:srgbClr val="FFFFFF">
                    <a:alpha val="72000"/>
                  </a:srgbClr>
                </a:solidFill>
                <a:latin typeface="Segoe UI" pitchFamily="34" charset="0"/>
                <a:ea typeface="Segoe UI" pitchFamily="34" charset="-122"/>
                <a:cs typeface="Segoe UI" pitchFamily="34" charset="-120"/>
              </a:rPr>
              <a:t>Thanh toán tại cửa hàng</a:t>
            </a:r>
            <a:endParaRPr lang="en-US" sz="1050" dirty="0"/>
          </a:p>
        </p:txBody>
      </p:sp>
      <p:sp>
        <p:nvSpPr>
          <p:cNvPr id="11" name="text span"/>
          <p:cNvSpPr txBox="1"/>
          <p:nvPr/>
        </p:nvSpPr>
        <p:spPr>
          <a:xfrm>
            <a:off x="828675" y="2023378"/>
            <a:ext cx="784324" cy="158829"/>
          </a:xfrm>
          <a:prstGeom prst="rect">
            <a:avLst/>
          </a:prstGeom>
          <a:noFill/>
          <a:ln/>
        </p:spPr>
        <p:txBody>
          <a:bodyPr wrap="none" lIns="0" tIns="0" rIns="0" bIns="0" rtlCol="0" anchor="ctr"/>
          <a:lstStyle/>
          <a:p>
            <a:pPr algn="l" indent="0" marL="0">
              <a:buNone/>
            </a:pPr>
            <a:r>
              <a:rPr lang="en-US" sz="860" b="1" spc="30" kern="0" dirty="0">
                <a:solidFill>
                  <a:srgbClr val="64748B"/>
                </a:solidFill>
                <a:latin typeface="Segoe UI" pitchFamily="34" charset="0"/>
                <a:ea typeface="Segoe UI" pitchFamily="34" charset="-122"/>
                <a:cs typeface="Segoe UI" pitchFamily="34" charset="-120"/>
              </a:rPr>
              <a:t>ĐỐI TƯỢNG</a:t>
            </a:r>
            <a:endParaRPr lang="en-US" sz="860" dirty="0"/>
          </a:p>
        </p:txBody>
      </p:sp>
      <p:sp>
        <p:nvSpPr>
          <p:cNvPr id="12" name="text i"/>
          <p:cNvSpPr txBox="1"/>
          <p:nvPr/>
        </p:nvSpPr>
        <p:spPr>
          <a:xfrm>
            <a:off x="1857375" y="1901934"/>
            <a:ext cx="789087" cy="158829"/>
          </a:xfrm>
          <a:prstGeom prst="rect">
            <a:avLst/>
          </a:prstGeom>
          <a:noFill/>
          <a:ln/>
        </p:spPr>
        <p:txBody>
          <a:bodyPr wrap="none" lIns="0" tIns="0" rIns="0" bIns="0" rtlCol="0" anchor="ctr"/>
          <a:lstStyle/>
          <a:p>
            <a:pPr algn="l" indent="0" marL="0">
              <a:buNone/>
            </a:pPr>
            <a:r>
              <a:rPr lang="en-US" sz="860" b="1" spc="30" kern="0" dirty="0">
                <a:solidFill>
                  <a:srgbClr val="94A3B8"/>
                </a:solidFill>
                <a:latin typeface="Segoe UI" pitchFamily="34" charset="0"/>
                <a:ea typeface="Segoe UI" pitchFamily="34" charset="-122"/>
                <a:cs typeface="Segoe UI" pitchFamily="34" charset="-120"/>
              </a:rPr>
              <a:t>MERCHANT</a:t>
            </a:r>
            <a:endParaRPr lang="en-US" sz="860" dirty="0"/>
          </a:p>
        </p:txBody>
      </p:sp>
      <p:sp>
        <p:nvSpPr>
          <p:cNvPr id="13" name="text div"/>
          <p:cNvSpPr txBox="1"/>
          <p:nvPr/>
        </p:nvSpPr>
        <p:spPr>
          <a:xfrm>
            <a:off x="2638425" y="1876455"/>
            <a:ext cx="865436" cy="200263"/>
          </a:xfrm>
          <a:prstGeom prst="rect">
            <a:avLst/>
          </a:prstGeom>
          <a:noFill/>
          <a:ln/>
        </p:spPr>
        <p:txBody>
          <a:bodyPr wrap="none" lIns="0" tIns="0" rIns="0" bIns="0" rtlCol="0" anchor="ctr"/>
          <a:lstStyle/>
          <a:p>
            <a:pPr algn="l" indent="0" marL="0">
              <a:buNone/>
            </a:pPr>
            <a:r>
              <a:rPr lang="en-US" sz="1090" dirty="0">
                <a:solidFill>
                  <a:srgbClr val="334155"/>
                </a:solidFill>
                <a:latin typeface="Segoe UI Semibold" pitchFamily="34" charset="0"/>
                <a:ea typeface="Segoe UI Semibold" pitchFamily="34" charset="-122"/>
                <a:cs typeface="Segoe UI Semibold" pitchFamily="34" charset="-120"/>
              </a:rPr>
              <a:t>Vừa và nhỏ</a:t>
            </a:r>
            <a:endParaRPr lang="en-US" sz="1090" dirty="0"/>
          </a:p>
        </p:txBody>
      </p:sp>
      <p:sp>
        <p:nvSpPr>
          <p:cNvPr id="14" name="text i"/>
          <p:cNvSpPr txBox="1"/>
          <p:nvPr/>
        </p:nvSpPr>
        <p:spPr>
          <a:xfrm>
            <a:off x="1857375" y="2142887"/>
            <a:ext cx="536377" cy="158829"/>
          </a:xfrm>
          <a:prstGeom prst="rect">
            <a:avLst/>
          </a:prstGeom>
          <a:noFill/>
          <a:ln/>
        </p:spPr>
        <p:txBody>
          <a:bodyPr wrap="none" lIns="0" tIns="0" rIns="0" bIns="0" rtlCol="0" anchor="ctr"/>
          <a:lstStyle/>
          <a:p>
            <a:pPr algn="l" indent="0" marL="0">
              <a:buNone/>
            </a:pPr>
            <a:r>
              <a:rPr lang="en-US" sz="860" b="1" spc="30" kern="0" dirty="0">
                <a:solidFill>
                  <a:srgbClr val="94A3B8"/>
                </a:solidFill>
                <a:latin typeface="Segoe UI" pitchFamily="34" charset="0"/>
                <a:ea typeface="Segoe UI" pitchFamily="34" charset="-122"/>
                <a:cs typeface="Segoe UI" pitchFamily="34" charset="-120"/>
              </a:rPr>
              <a:t>KHÁCH</a:t>
            </a:r>
            <a:endParaRPr lang="en-US" sz="860" dirty="0"/>
          </a:p>
        </p:txBody>
      </p:sp>
      <p:sp>
        <p:nvSpPr>
          <p:cNvPr id="15" name="text div"/>
          <p:cNvSpPr txBox="1"/>
          <p:nvPr/>
        </p:nvSpPr>
        <p:spPr>
          <a:xfrm>
            <a:off x="2638425" y="2117408"/>
            <a:ext cx="1928068" cy="200263"/>
          </a:xfrm>
          <a:prstGeom prst="rect">
            <a:avLst/>
          </a:prstGeom>
          <a:noFill/>
          <a:ln/>
        </p:spPr>
        <p:txBody>
          <a:bodyPr wrap="none" lIns="0" tIns="0" rIns="0" bIns="0" rtlCol="0" anchor="ctr"/>
          <a:lstStyle/>
          <a:p>
            <a:pPr algn="l" indent="0" marL="0">
              <a:buNone/>
            </a:pPr>
            <a:r>
              <a:rPr lang="en-US" sz="1090" dirty="0">
                <a:solidFill>
                  <a:srgbClr val="334155"/>
                </a:solidFill>
                <a:latin typeface="Segoe UI Semibold" pitchFamily="34" charset="0"/>
                <a:ea typeface="Segoe UI Semibold" pitchFamily="34" charset="-122"/>
                <a:cs typeface="Segoe UI Semibold" pitchFamily="34" charset="-120"/>
              </a:rPr>
              <a:t>Khách quốc tế tại cửa hàng</a:t>
            </a:r>
            <a:endParaRPr lang="en-US" sz="1090" dirty="0"/>
          </a:p>
        </p:txBody>
      </p:sp>
      <p:sp>
        <p:nvSpPr>
          <p:cNvPr id="16" name="csol"/>
          <p:cNvSpPr/>
          <p:nvPr/>
        </p:nvSpPr>
        <p:spPr>
          <a:xfrm>
            <a:off x="776288" y="2508052"/>
            <a:ext cx="5086350" cy="2988766"/>
          </a:xfrm>
          <a:prstGeom prst="roundRect">
            <a:avLst>
              <a:gd name="adj" fmla="val 3665"/>
            </a:avLst>
          </a:prstGeom>
          <a:solidFill>
            <a:srgbClr val="FFF1F2"/>
          </a:solidFill>
          <a:ln w="9525">
            <a:solidFill>
              <a:srgbClr val="FECDD3"/>
            </a:solidFill>
            <a:prstDash val="solid"/>
          </a:ln>
        </p:spPr>
      </p:sp>
      <p:sp>
        <p:nvSpPr>
          <p:cNvPr id="17" name="text ck"/>
          <p:cNvSpPr txBox="1"/>
          <p:nvPr/>
        </p:nvSpPr>
        <p:spPr>
          <a:xfrm>
            <a:off x="990600" y="2652474"/>
            <a:ext cx="716161" cy="158829"/>
          </a:xfrm>
          <a:prstGeom prst="rect">
            <a:avLst/>
          </a:prstGeom>
          <a:noFill/>
          <a:ln/>
        </p:spPr>
        <p:txBody>
          <a:bodyPr wrap="none" lIns="0" tIns="0" rIns="0" bIns="0" rtlCol="0" anchor="ctr"/>
          <a:lstStyle/>
          <a:p>
            <a:pPr algn="l" indent="0" marL="0">
              <a:buNone/>
            </a:pPr>
            <a:r>
              <a:rPr lang="en-US" sz="860" b="1" spc="30" kern="0" dirty="0">
                <a:solidFill>
                  <a:srgbClr val="E11D48"/>
                </a:solidFill>
                <a:latin typeface="Segoe UI" pitchFamily="34" charset="0"/>
                <a:ea typeface="Segoe UI" pitchFamily="34" charset="-122"/>
                <a:cs typeface="Segoe UI" pitchFamily="34" charset="-120"/>
              </a:rPr>
              <a:t>GIẢI PHÁP</a:t>
            </a:r>
            <a:endParaRPr lang="en-US" sz="860" dirty="0"/>
          </a:p>
        </p:txBody>
      </p:sp>
      <p:sp>
        <p:nvSpPr>
          <p:cNvPr id="18" name="text ct"/>
          <p:cNvSpPr txBox="1"/>
          <p:nvPr/>
        </p:nvSpPr>
        <p:spPr>
          <a:xfrm>
            <a:off x="990600" y="2865239"/>
            <a:ext cx="4695825" cy="550515"/>
          </a:xfrm>
          <a:prstGeom prst="rect">
            <a:avLst/>
          </a:prstGeom>
          <a:noFill/>
          <a:ln/>
        </p:spPr>
        <p:txBody>
          <a:bodyPr wrap="square" lIns="0" tIns="0" rIns="0" bIns="0" rtlCol="0" anchor="ctr"/>
          <a:lstStyle/>
          <a:p>
            <a:pPr algn="l" indent="0" marL="0">
              <a:lnSpc>
                <a:spcPts val="2160"/>
              </a:lnSpc>
              <a:buNone/>
            </a:pPr>
            <a:r>
              <a:rPr lang="en-US" sz="1800" dirty="0">
                <a:solidFill>
                  <a:srgbClr val="0F172A"/>
                </a:solidFill>
                <a:latin typeface="Segoe UI Black" pitchFamily="34" charset="0"/>
                <a:ea typeface="Segoe UI Black" pitchFamily="34" charset="-122"/>
                <a:cs typeface="Segoe UI Black" pitchFamily="34" charset="-120"/>
              </a:rPr>
              <a:t>Visa Accept và VietQR Global trong app Tendoo</a:t>
            </a:r>
            <a:endParaRPr lang="en-US" sz="1800" dirty="0"/>
          </a:p>
        </p:txBody>
      </p:sp>
      <p:sp>
        <p:nvSpPr>
          <p:cNvPr id="19" name="text cd"/>
          <p:cNvSpPr txBox="1"/>
          <p:nvPr/>
        </p:nvSpPr>
        <p:spPr>
          <a:xfrm>
            <a:off x="990600" y="3496151"/>
            <a:ext cx="4695825" cy="413385"/>
          </a:xfrm>
          <a:prstGeom prst="rect">
            <a:avLst/>
          </a:prstGeom>
          <a:noFill/>
          <a:ln/>
        </p:spPr>
        <p:txBody>
          <a:bodyPr wrap="square" lIns="0" tIns="0" rIns="0" bIns="0" rtlCol="0" anchor="ctr"/>
          <a:lstStyle/>
          <a:p>
            <a:pPr algn="l" indent="0" marL="0">
              <a:lnSpc>
                <a:spcPts val="1630"/>
              </a:lnSpc>
              <a:buNone/>
            </a:pPr>
            <a:r>
              <a:rPr lang="en-US" sz="1160" b="1" dirty="0">
                <a:solidFill>
                  <a:srgbClr val="334155"/>
                </a:solidFill>
                <a:latin typeface="Segoe UI" pitchFamily="34" charset="0"/>
                <a:ea typeface="Segoe UI" pitchFamily="34" charset="-122"/>
                <a:cs typeface="Segoe UI" pitchFamily="34" charset="-120"/>
              </a:rPr>
              <a:t>Điện thoại của merchant nhận cả thẻ và QR quốc tế, không cần POS</a:t>
            </a:r>
            <a:endParaRPr lang="en-US" sz="1160" dirty="0"/>
          </a:p>
        </p:txBody>
      </p:sp>
      <p:sp>
        <p:nvSpPr>
          <p:cNvPr id="20" name="Shape 18"/>
          <p:cNvSpPr/>
          <p:nvPr/>
        </p:nvSpPr>
        <p:spPr>
          <a:xfrm>
            <a:off x="990600" y="4051995"/>
            <a:ext cx="247650" cy="247650"/>
          </a:xfrm>
          <a:prstGeom prst="ellipse">
            <a:avLst/>
          </a:prstGeom>
          <a:solidFill>
            <a:srgbClr val="E11D48"/>
          </a:solidFill>
          <a:ln/>
        </p:spPr>
      </p:sp>
      <p:sp>
        <p:nvSpPr>
          <p:cNvPr id="21" name="text span"/>
          <p:cNvSpPr txBox="1"/>
          <p:nvPr/>
        </p:nvSpPr>
        <p:spPr>
          <a:xfrm>
            <a:off x="1086296" y="4083814"/>
            <a:ext cx="170408" cy="179546"/>
          </a:xfrm>
          <a:prstGeom prst="rect">
            <a:avLst/>
          </a:prstGeom>
          <a:noFill/>
          <a:ln/>
        </p:spPr>
        <p:txBody>
          <a:bodyPr wrap="none" lIns="0" tIns="0" rIns="0" bIns="0" rtlCol="0" anchor="ctr"/>
          <a:lstStyle/>
          <a:p>
            <a:pPr algn="l" indent="0" marL="0">
              <a:buNone/>
            </a:pPr>
            <a:r>
              <a:rPr lang="en-US" sz="980" dirty="0">
                <a:solidFill>
                  <a:srgbClr val="FFFFFF"/>
                </a:solidFill>
                <a:latin typeface="Segoe UI Black" pitchFamily="34" charset="0"/>
                <a:ea typeface="Segoe UI Black" pitchFamily="34" charset="-122"/>
                <a:cs typeface="Segoe UI Black" pitchFamily="34" charset="-120"/>
              </a:rPr>
              <a:t>1</a:t>
            </a:r>
            <a:endParaRPr lang="en-US" sz="980" dirty="0"/>
          </a:p>
        </p:txBody>
      </p:sp>
      <p:sp>
        <p:nvSpPr>
          <p:cNvPr id="22" name="text span"/>
          <p:cNvSpPr txBox="1"/>
          <p:nvPr/>
        </p:nvSpPr>
        <p:spPr>
          <a:xfrm>
            <a:off x="1352550" y="4050551"/>
            <a:ext cx="4333875" cy="405765"/>
          </a:xfrm>
          <a:prstGeom prst="rect">
            <a:avLst/>
          </a:prstGeom>
          <a:noFill/>
          <a:ln/>
        </p:spPr>
        <p:txBody>
          <a:bodyPr wrap="square" lIns="0" tIns="0" rIns="0" bIns="0" rtlCol="0" anchor="ctr"/>
          <a:lstStyle/>
          <a:p>
            <a:pPr algn="l" indent="0" marL="0">
              <a:lnSpc>
                <a:spcPts val="1600"/>
              </a:lnSpc>
              <a:buNone/>
            </a:pPr>
            <a:r>
              <a:rPr lang="en-US" sz="1130" dirty="0">
                <a:solidFill>
                  <a:srgbClr val="334155"/>
                </a:solidFill>
                <a:latin typeface="Segoe UI Semibold" pitchFamily="34" charset="0"/>
                <a:ea typeface="Segoe UI Semibold" pitchFamily="34" charset="-122"/>
                <a:cs typeface="Segoe UI Semibold" pitchFamily="34" charset="-120"/>
              </a:rPr>
              <a:t>Merchant </a:t>
            </a:r>
            <a:pPr algn="l" indent="0" marL="0">
              <a:lnSpc>
                <a:spcPts val="1600"/>
              </a:lnSpc>
              <a:buNone/>
            </a:pPr>
            <a:r>
              <a:rPr lang="en-US" sz="1130" dirty="0">
                <a:solidFill>
                  <a:srgbClr val="0F172A"/>
                </a:solidFill>
                <a:latin typeface="Segoe UI Black" pitchFamily="34" charset="0"/>
                <a:ea typeface="Segoe UI Black" pitchFamily="34" charset="-122"/>
                <a:cs typeface="Segoe UI Black" pitchFamily="34" charset="-120"/>
              </a:rPr>
              <a:t>bật nhận thanh toán ngay trong app Tendoo</a:t>
            </a:r>
            <a:pPr algn="l" indent="0" marL="0">
              <a:lnSpc>
                <a:spcPts val="1600"/>
              </a:lnSpc>
              <a:buNone/>
            </a:pPr>
            <a:r>
              <a:rPr lang="en-US" sz="1130" dirty="0">
                <a:solidFill>
                  <a:srgbClr val="334155"/>
                </a:solidFill>
                <a:latin typeface="Segoe UI Semibold" pitchFamily="34" charset="0"/>
                <a:ea typeface="Segoe UI Semibold" pitchFamily="34" charset="-122"/>
                <a:cs typeface="Segoe UI Semibold" pitchFamily="34" charset="-120"/>
              </a:rPr>
              <a:t> đang dùng để bán hàng</a:t>
            </a:r>
            <a:endParaRPr lang="en-US" sz="1130" dirty="0"/>
          </a:p>
        </p:txBody>
      </p:sp>
      <p:sp>
        <p:nvSpPr>
          <p:cNvPr id="23" name="Shape 21"/>
          <p:cNvSpPr/>
          <p:nvPr/>
        </p:nvSpPr>
        <p:spPr>
          <a:xfrm>
            <a:off x="990600" y="4572000"/>
            <a:ext cx="247650" cy="247650"/>
          </a:xfrm>
          <a:prstGeom prst="ellipse">
            <a:avLst/>
          </a:prstGeom>
          <a:solidFill>
            <a:srgbClr val="E11D48"/>
          </a:solidFill>
          <a:ln/>
        </p:spPr>
      </p:sp>
      <p:sp>
        <p:nvSpPr>
          <p:cNvPr id="24" name="text span"/>
          <p:cNvSpPr txBox="1"/>
          <p:nvPr/>
        </p:nvSpPr>
        <p:spPr>
          <a:xfrm>
            <a:off x="1074390" y="4603819"/>
            <a:ext cx="194370" cy="179546"/>
          </a:xfrm>
          <a:prstGeom prst="rect">
            <a:avLst/>
          </a:prstGeom>
          <a:noFill/>
          <a:ln/>
        </p:spPr>
        <p:txBody>
          <a:bodyPr wrap="none" lIns="0" tIns="0" rIns="0" bIns="0" rtlCol="0" anchor="ctr"/>
          <a:lstStyle/>
          <a:p>
            <a:pPr algn="l" indent="0" marL="0">
              <a:buNone/>
            </a:pPr>
            <a:r>
              <a:rPr lang="en-US" sz="980" dirty="0">
                <a:solidFill>
                  <a:srgbClr val="FFFFFF"/>
                </a:solidFill>
                <a:latin typeface="Segoe UI Black" pitchFamily="34" charset="0"/>
                <a:ea typeface="Segoe UI Black" pitchFamily="34" charset="-122"/>
                <a:cs typeface="Segoe UI Black" pitchFamily="34" charset="-120"/>
              </a:rPr>
              <a:t>2</a:t>
            </a:r>
            <a:endParaRPr lang="en-US" sz="980" dirty="0"/>
          </a:p>
        </p:txBody>
      </p:sp>
      <p:sp>
        <p:nvSpPr>
          <p:cNvPr id="25" name="text span"/>
          <p:cNvSpPr txBox="1"/>
          <p:nvPr/>
        </p:nvSpPr>
        <p:spPr>
          <a:xfrm>
            <a:off x="1352550" y="4570556"/>
            <a:ext cx="4333875" cy="405765"/>
          </a:xfrm>
          <a:prstGeom prst="rect">
            <a:avLst/>
          </a:prstGeom>
          <a:noFill/>
          <a:ln/>
        </p:spPr>
        <p:txBody>
          <a:bodyPr wrap="square" lIns="0" tIns="0" rIns="0" bIns="0" rtlCol="0" anchor="ctr"/>
          <a:lstStyle/>
          <a:p>
            <a:pPr algn="l" indent="0" marL="0">
              <a:lnSpc>
                <a:spcPts val="1600"/>
              </a:lnSpc>
              <a:buNone/>
            </a:pPr>
            <a:r>
              <a:rPr lang="en-US" sz="1130" dirty="0">
                <a:solidFill>
                  <a:srgbClr val="334155"/>
                </a:solidFill>
                <a:latin typeface="Segoe UI Semibold" pitchFamily="34" charset="0"/>
                <a:ea typeface="Segoe UI Semibold" pitchFamily="34" charset="-122"/>
                <a:cs typeface="Segoe UI Semibold" pitchFamily="34" charset="-120"/>
              </a:rPr>
              <a:t>Khách </a:t>
            </a:r>
            <a:pPr algn="l" indent="0" marL="0">
              <a:lnSpc>
                <a:spcPts val="1600"/>
              </a:lnSpc>
              <a:buNone/>
            </a:pPr>
            <a:r>
              <a:rPr lang="en-US" sz="1130" dirty="0">
                <a:solidFill>
                  <a:srgbClr val="0F172A"/>
                </a:solidFill>
                <a:latin typeface="Segoe UI Black" pitchFamily="34" charset="0"/>
                <a:ea typeface="Segoe UI Black" pitchFamily="34" charset="-122"/>
                <a:cs typeface="Segoe UI Black" pitchFamily="34" charset="-120"/>
              </a:rPr>
              <a:t>chạm thẻ</a:t>
            </a:r>
            <a:pPr algn="l" indent="0" marL="0">
              <a:lnSpc>
                <a:spcPts val="1600"/>
              </a:lnSpc>
              <a:buNone/>
            </a:pPr>
            <a:r>
              <a:rPr lang="en-US" sz="1130" dirty="0">
                <a:solidFill>
                  <a:srgbClr val="334155"/>
                </a:solidFill>
                <a:latin typeface="Segoe UI Semibold" pitchFamily="34" charset="0"/>
                <a:ea typeface="Segoe UI Semibold" pitchFamily="34" charset="-122"/>
                <a:cs typeface="Segoe UI Semibold" pitchFamily="34" charset="-120"/>
              </a:rPr>
              <a:t> hoặc </a:t>
            </a:r>
            <a:pPr algn="l" indent="0" marL="0">
              <a:lnSpc>
                <a:spcPts val="1600"/>
              </a:lnSpc>
              <a:buNone/>
            </a:pPr>
            <a:r>
              <a:rPr lang="en-US" sz="1130" dirty="0">
                <a:solidFill>
                  <a:srgbClr val="0F172A"/>
                </a:solidFill>
                <a:latin typeface="Segoe UI Black" pitchFamily="34" charset="0"/>
                <a:ea typeface="Segoe UI Black" pitchFamily="34" charset="-122"/>
                <a:cs typeface="Segoe UI Black" pitchFamily="34" charset="-120"/>
              </a:rPr>
              <a:t>trả qua link</a:t>
            </a:r>
            <a:pPr algn="l" indent="0" marL="0">
              <a:lnSpc>
                <a:spcPts val="1600"/>
              </a:lnSpc>
              <a:buNone/>
            </a:pPr>
            <a:r>
              <a:rPr lang="en-US" sz="1130" dirty="0">
                <a:solidFill>
                  <a:srgbClr val="334155"/>
                </a:solidFill>
                <a:latin typeface="Segoe UI Semibold" pitchFamily="34" charset="0"/>
                <a:ea typeface="Segoe UI Semibold" pitchFamily="34" charset="-122"/>
                <a:cs typeface="Segoe UI Semibold" pitchFamily="34" charset="-120"/>
              </a:rPr>
              <a:t>; khách dùng ví, app ngân hàng nước mình thì </a:t>
            </a:r>
            <a:pPr algn="l" indent="0" marL="0">
              <a:lnSpc>
                <a:spcPts val="1600"/>
              </a:lnSpc>
              <a:buNone/>
            </a:pPr>
            <a:r>
              <a:rPr lang="en-US" sz="1130" dirty="0">
                <a:solidFill>
                  <a:srgbClr val="0F172A"/>
                </a:solidFill>
                <a:latin typeface="Segoe UI Black" pitchFamily="34" charset="0"/>
                <a:ea typeface="Segoe UI Black" pitchFamily="34" charset="-122"/>
                <a:cs typeface="Segoe UI Black" pitchFamily="34" charset="-120"/>
              </a:rPr>
              <a:t>quét QR</a:t>
            </a:r>
            <a:endParaRPr lang="en-US" sz="1130" dirty="0"/>
          </a:p>
        </p:txBody>
      </p:sp>
      <p:sp>
        <p:nvSpPr>
          <p:cNvPr id="26" name="Shape 24"/>
          <p:cNvSpPr/>
          <p:nvPr/>
        </p:nvSpPr>
        <p:spPr>
          <a:xfrm>
            <a:off x="990600" y="5092005"/>
            <a:ext cx="247650" cy="247650"/>
          </a:xfrm>
          <a:prstGeom prst="ellipse">
            <a:avLst/>
          </a:prstGeom>
          <a:solidFill>
            <a:srgbClr val="E11D48"/>
          </a:solidFill>
          <a:ln/>
        </p:spPr>
      </p:sp>
      <p:sp>
        <p:nvSpPr>
          <p:cNvPr id="27" name="text span"/>
          <p:cNvSpPr txBox="1"/>
          <p:nvPr/>
        </p:nvSpPr>
        <p:spPr>
          <a:xfrm>
            <a:off x="1072902" y="5123825"/>
            <a:ext cx="197197" cy="179546"/>
          </a:xfrm>
          <a:prstGeom prst="rect">
            <a:avLst/>
          </a:prstGeom>
          <a:noFill/>
          <a:ln/>
        </p:spPr>
        <p:txBody>
          <a:bodyPr wrap="none" lIns="0" tIns="0" rIns="0" bIns="0" rtlCol="0" anchor="ctr"/>
          <a:lstStyle/>
          <a:p>
            <a:pPr algn="l" indent="0" marL="0">
              <a:buNone/>
            </a:pPr>
            <a:r>
              <a:rPr lang="en-US" sz="980" dirty="0">
                <a:solidFill>
                  <a:srgbClr val="FFFFFF"/>
                </a:solidFill>
                <a:latin typeface="Segoe UI Black" pitchFamily="34" charset="0"/>
                <a:ea typeface="Segoe UI Black" pitchFamily="34" charset="-122"/>
                <a:cs typeface="Segoe UI Black" pitchFamily="34" charset="-120"/>
              </a:rPr>
              <a:t>3</a:t>
            </a:r>
            <a:endParaRPr lang="en-US" sz="980" dirty="0"/>
          </a:p>
        </p:txBody>
      </p:sp>
      <p:sp>
        <p:nvSpPr>
          <p:cNvPr id="28" name="text span"/>
          <p:cNvSpPr txBox="1"/>
          <p:nvPr/>
        </p:nvSpPr>
        <p:spPr>
          <a:xfrm>
            <a:off x="1352550" y="5088434"/>
            <a:ext cx="3910185" cy="207169"/>
          </a:xfrm>
          <a:prstGeom prst="rect">
            <a:avLst/>
          </a:prstGeom>
          <a:noFill/>
          <a:ln/>
        </p:spPr>
        <p:txBody>
          <a:bodyPr wrap="none" lIns="0" tIns="0" rIns="0" bIns="0" rtlCol="0" anchor="ctr"/>
          <a:lstStyle/>
          <a:p>
            <a:pPr algn="l" indent="0" marL="0">
              <a:buNone/>
            </a:pPr>
            <a:r>
              <a:rPr lang="en-US" sz="1130" dirty="0">
                <a:solidFill>
                  <a:srgbClr val="334155"/>
                </a:solidFill>
                <a:latin typeface="Segoe UI Semibold" pitchFamily="34" charset="0"/>
                <a:ea typeface="Segoe UI Semibold" pitchFamily="34" charset="-122"/>
                <a:cs typeface="Segoe UI Semibold" pitchFamily="34" charset="-120"/>
              </a:rPr>
              <a:t>Đơn hàng, hoàn tiền, đối soát </a:t>
            </a:r>
            <a:pPr algn="l" indent="0" marL="0">
              <a:buNone/>
            </a:pPr>
            <a:r>
              <a:rPr lang="en-US" sz="1130" dirty="0">
                <a:solidFill>
                  <a:srgbClr val="0F172A"/>
                </a:solidFill>
                <a:latin typeface="Segoe UI Black" pitchFamily="34" charset="0"/>
                <a:ea typeface="Segoe UI Black" pitchFamily="34" charset="-122"/>
                <a:cs typeface="Segoe UI Black" pitchFamily="34" charset="-120"/>
              </a:rPr>
              <a:t>nằm luôn trong Tendoo</a:t>
            </a:r>
            <a:endParaRPr lang="en-US" sz="1130" dirty="0"/>
          </a:p>
        </p:txBody>
      </p:sp>
      <p:sp>
        <p:nvSpPr>
          <p:cNvPr id="29" name="chcard on"/>
          <p:cNvSpPr/>
          <p:nvPr/>
        </p:nvSpPr>
        <p:spPr>
          <a:xfrm>
            <a:off x="6167437" y="1203127"/>
            <a:ext cx="5410200" cy="4376142"/>
          </a:xfrm>
          <a:prstGeom prst="roundRect">
            <a:avLst>
              <a:gd name="adj" fmla="val 2938"/>
            </a:avLst>
          </a:prstGeom>
          <a:solidFill>
            <a:srgbClr val="FFFFFF"/>
          </a:solidFill>
          <a:ln w="9525">
            <a:solidFill>
              <a:srgbClr val="E2E8F0"/>
            </a:solidFill>
            <a:prstDash val="solid"/>
          </a:ln>
        </p:spPr>
      </p:sp>
      <p:sp>
        <p:nvSpPr>
          <p:cNvPr id="30" name="hd"/>
          <p:cNvSpPr/>
          <p:nvPr/>
        </p:nvSpPr>
        <p:spPr>
          <a:xfrm>
            <a:off x="6172200" y="1207889"/>
            <a:ext cx="5400675" cy="495300"/>
          </a:xfrm>
          <a:prstGeom prst="roundRect">
            <a:avLst>
              <a:gd name="adj" fmla="val 25000"/>
            </a:avLst>
          </a:prstGeom>
          <a:solidFill>
            <a:srgbClr val="1E3A8A"/>
          </a:solidFill>
          <a:ln/>
        </p:spPr>
      </p:sp>
      <p:sp>
        <p:nvSpPr>
          <p:cNvPr id="31" name="hd"/>
          <p:cNvSpPr/>
          <p:nvPr/>
        </p:nvSpPr>
        <p:spPr>
          <a:xfrm>
            <a:off x="6172200" y="1331714"/>
            <a:ext cx="5400675" cy="371475"/>
          </a:xfrm>
          <a:prstGeom prst="rect">
            <a:avLst/>
          </a:prstGeom>
          <a:solidFill>
            <a:srgbClr val="1E3A8A"/>
          </a:solidFill>
          <a:ln/>
        </p:spPr>
      </p:sp>
      <p:sp>
        <p:nvSpPr>
          <p:cNvPr id="32" name="text b"/>
          <p:cNvSpPr txBox="1"/>
          <p:nvPr/>
        </p:nvSpPr>
        <p:spPr>
          <a:xfrm>
            <a:off x="6381750" y="1303316"/>
            <a:ext cx="1097310" cy="304447"/>
          </a:xfrm>
          <a:prstGeom prst="rect">
            <a:avLst/>
          </a:prstGeom>
          <a:noFill/>
          <a:ln/>
        </p:spPr>
        <p:txBody>
          <a:bodyPr wrap="none" lIns="0" tIns="0" rIns="0" bIns="0" rtlCol="0" anchor="ctr"/>
          <a:lstStyle/>
          <a:p>
            <a:pPr algn="l" indent="0" marL="0">
              <a:buNone/>
            </a:pPr>
            <a:r>
              <a:rPr lang="en-US" sz="1650" dirty="0">
                <a:solidFill>
                  <a:srgbClr val="FFFFFF"/>
                </a:solidFill>
                <a:latin typeface="Segoe UI Black" pitchFamily="34" charset="0"/>
                <a:ea typeface="Segoe UI Black" pitchFamily="34" charset="-122"/>
                <a:cs typeface="Segoe UI Black" pitchFamily="34" charset="-120"/>
              </a:rPr>
              <a:t>2 · Online</a:t>
            </a:r>
            <a:endParaRPr lang="en-US" sz="1650" dirty="0"/>
          </a:p>
        </p:txBody>
      </p:sp>
      <p:sp>
        <p:nvSpPr>
          <p:cNvPr id="33" name="text span"/>
          <p:cNvSpPr txBox="1"/>
          <p:nvPr/>
        </p:nvSpPr>
        <p:spPr>
          <a:xfrm>
            <a:off x="7479060" y="1382382"/>
            <a:ext cx="1155650" cy="193940"/>
          </a:xfrm>
          <a:prstGeom prst="rect">
            <a:avLst/>
          </a:prstGeom>
          <a:noFill/>
          <a:ln/>
        </p:spPr>
        <p:txBody>
          <a:bodyPr wrap="none" lIns="0" tIns="0" rIns="0" bIns="0" rtlCol="0" anchor="ctr"/>
          <a:lstStyle/>
          <a:p>
            <a:pPr algn="l" indent="0" marL="0">
              <a:buNone/>
            </a:pPr>
            <a:r>
              <a:rPr lang="en-US" sz="1050" b="1" dirty="0">
                <a:solidFill>
                  <a:srgbClr val="FFFFFF">
                    <a:alpha val="72000"/>
                  </a:srgbClr>
                </a:solidFill>
                <a:latin typeface="Segoe UI" pitchFamily="34" charset="0"/>
                <a:ea typeface="Segoe UI" pitchFamily="34" charset="-122"/>
                <a:cs typeface="Segoe UI" pitchFamily="34" charset="-120"/>
              </a:rPr>
              <a:t>AI tư vấn du lịch</a:t>
            </a:r>
            <a:endParaRPr lang="en-US" sz="1050" dirty="0"/>
          </a:p>
        </p:txBody>
      </p:sp>
      <p:sp>
        <p:nvSpPr>
          <p:cNvPr id="34" name="text span"/>
          <p:cNvSpPr txBox="1"/>
          <p:nvPr/>
        </p:nvSpPr>
        <p:spPr>
          <a:xfrm>
            <a:off x="6381750" y="2032308"/>
            <a:ext cx="784324" cy="158829"/>
          </a:xfrm>
          <a:prstGeom prst="rect">
            <a:avLst/>
          </a:prstGeom>
          <a:noFill/>
          <a:ln/>
        </p:spPr>
        <p:txBody>
          <a:bodyPr wrap="none" lIns="0" tIns="0" rIns="0" bIns="0" rtlCol="0" anchor="ctr"/>
          <a:lstStyle/>
          <a:p>
            <a:pPr algn="l" indent="0" marL="0">
              <a:buNone/>
            </a:pPr>
            <a:r>
              <a:rPr lang="en-US" sz="860" b="1" spc="30" kern="0" dirty="0">
                <a:solidFill>
                  <a:srgbClr val="64748B"/>
                </a:solidFill>
                <a:latin typeface="Segoe UI" pitchFamily="34" charset="0"/>
                <a:ea typeface="Segoe UI" pitchFamily="34" charset="-122"/>
                <a:cs typeface="Segoe UI" pitchFamily="34" charset="-120"/>
              </a:rPr>
              <a:t>ĐỐI TƯỢNG</a:t>
            </a:r>
            <a:endParaRPr lang="en-US" sz="860" dirty="0"/>
          </a:p>
        </p:txBody>
      </p:sp>
      <p:sp>
        <p:nvSpPr>
          <p:cNvPr id="35" name="text i"/>
          <p:cNvSpPr txBox="1"/>
          <p:nvPr/>
        </p:nvSpPr>
        <p:spPr>
          <a:xfrm>
            <a:off x="7410450" y="1814274"/>
            <a:ext cx="789087" cy="158829"/>
          </a:xfrm>
          <a:prstGeom prst="rect">
            <a:avLst/>
          </a:prstGeom>
          <a:noFill/>
          <a:ln/>
        </p:spPr>
        <p:txBody>
          <a:bodyPr wrap="none" lIns="0" tIns="0" rIns="0" bIns="0" rtlCol="0" anchor="ctr"/>
          <a:lstStyle/>
          <a:p>
            <a:pPr algn="l" indent="0" marL="0">
              <a:buNone/>
            </a:pPr>
            <a:r>
              <a:rPr lang="en-US" sz="860" b="1" spc="30" kern="0" dirty="0">
                <a:solidFill>
                  <a:srgbClr val="94A3B8"/>
                </a:solidFill>
                <a:latin typeface="Segoe UI" pitchFamily="34" charset="0"/>
                <a:ea typeface="Segoe UI" pitchFamily="34" charset="-122"/>
                <a:cs typeface="Segoe UI" pitchFamily="34" charset="-120"/>
              </a:rPr>
              <a:t>MERCHANT</a:t>
            </a:r>
            <a:endParaRPr lang="en-US" sz="860" dirty="0"/>
          </a:p>
        </p:txBody>
      </p:sp>
      <p:sp>
        <p:nvSpPr>
          <p:cNvPr id="36" name="text div"/>
          <p:cNvSpPr txBox="1"/>
          <p:nvPr/>
        </p:nvSpPr>
        <p:spPr>
          <a:xfrm>
            <a:off x="8191500" y="1792233"/>
            <a:ext cx="3209925" cy="386715"/>
          </a:xfrm>
          <a:prstGeom prst="rect">
            <a:avLst/>
          </a:prstGeom>
          <a:noFill/>
          <a:ln/>
        </p:spPr>
        <p:txBody>
          <a:bodyPr wrap="square" lIns="0" tIns="0" rIns="0" bIns="0" rtlCol="0" anchor="ctr"/>
          <a:lstStyle/>
          <a:p>
            <a:pPr algn="l" indent="0" marL="0">
              <a:lnSpc>
                <a:spcPts val="1520"/>
              </a:lnSpc>
              <a:buNone/>
            </a:pPr>
            <a:r>
              <a:rPr lang="en-US" sz="1090" dirty="0">
                <a:solidFill>
                  <a:srgbClr val="334155"/>
                </a:solidFill>
                <a:latin typeface="Segoe UI Semibold" pitchFamily="34" charset="0"/>
                <a:ea typeface="Segoe UI Semibold" pitchFamily="34" charset="-122"/>
                <a:cs typeface="Segoe UI Semibold" pitchFamily="34" charset="-120"/>
              </a:rPr>
              <a:t>Vừa và nhỏ; booking thêm chuỗi nhà hàng, khách sạn</a:t>
            </a:r>
            <a:endParaRPr lang="en-US" sz="1090" dirty="0"/>
          </a:p>
        </p:txBody>
      </p:sp>
      <p:sp>
        <p:nvSpPr>
          <p:cNvPr id="37" name="text i"/>
          <p:cNvSpPr txBox="1"/>
          <p:nvPr/>
        </p:nvSpPr>
        <p:spPr>
          <a:xfrm>
            <a:off x="7410450" y="2248555"/>
            <a:ext cx="536377" cy="158829"/>
          </a:xfrm>
          <a:prstGeom prst="rect">
            <a:avLst/>
          </a:prstGeom>
          <a:noFill/>
          <a:ln/>
        </p:spPr>
        <p:txBody>
          <a:bodyPr wrap="none" lIns="0" tIns="0" rIns="0" bIns="0" rtlCol="0" anchor="ctr"/>
          <a:lstStyle/>
          <a:p>
            <a:pPr algn="l" indent="0" marL="0">
              <a:buNone/>
            </a:pPr>
            <a:r>
              <a:rPr lang="en-US" sz="860" b="1" spc="30" kern="0" dirty="0">
                <a:solidFill>
                  <a:srgbClr val="94A3B8"/>
                </a:solidFill>
                <a:latin typeface="Segoe UI" pitchFamily="34" charset="0"/>
                <a:ea typeface="Segoe UI" pitchFamily="34" charset="-122"/>
                <a:cs typeface="Segoe UI" pitchFamily="34" charset="-120"/>
              </a:rPr>
              <a:t>KHÁCH</a:t>
            </a:r>
            <a:endParaRPr lang="en-US" sz="860" dirty="0"/>
          </a:p>
        </p:txBody>
      </p:sp>
      <p:sp>
        <p:nvSpPr>
          <p:cNvPr id="38" name="text div"/>
          <p:cNvSpPr txBox="1"/>
          <p:nvPr/>
        </p:nvSpPr>
        <p:spPr>
          <a:xfrm>
            <a:off x="8191500" y="2223075"/>
            <a:ext cx="2895329" cy="200263"/>
          </a:xfrm>
          <a:prstGeom prst="rect">
            <a:avLst/>
          </a:prstGeom>
          <a:noFill/>
          <a:ln/>
        </p:spPr>
        <p:txBody>
          <a:bodyPr wrap="none" lIns="0" tIns="0" rIns="0" bIns="0" rtlCol="0" anchor="ctr"/>
          <a:lstStyle/>
          <a:p>
            <a:pPr algn="l" indent="0" marL="0">
              <a:buNone/>
            </a:pPr>
            <a:r>
              <a:rPr lang="en-US" sz="1090" dirty="0">
                <a:solidFill>
                  <a:srgbClr val="334155"/>
                </a:solidFill>
                <a:latin typeface="Segoe UI Semibold" pitchFamily="34" charset="0"/>
                <a:ea typeface="Segoe UI Semibold" pitchFamily="34" charset="-122"/>
                <a:cs typeface="Segoe UI Semibold" pitchFamily="34" charset="-120"/>
              </a:rPr>
              <a:t>Khách quốc tế, khách Việt có thẻ quốc tế</a:t>
            </a:r>
            <a:endParaRPr lang="en-US" sz="1090" dirty="0"/>
          </a:p>
        </p:txBody>
      </p:sp>
      <p:sp>
        <p:nvSpPr>
          <p:cNvPr id="39" name="csol"/>
          <p:cNvSpPr/>
          <p:nvPr/>
        </p:nvSpPr>
        <p:spPr>
          <a:xfrm>
            <a:off x="6329362" y="2508052"/>
            <a:ext cx="5086350" cy="2909292"/>
          </a:xfrm>
          <a:prstGeom prst="roundRect">
            <a:avLst>
              <a:gd name="adj" fmla="val 3765"/>
            </a:avLst>
          </a:prstGeom>
          <a:solidFill>
            <a:srgbClr val="EEF2FF"/>
          </a:solidFill>
          <a:ln w="9525">
            <a:solidFill>
              <a:srgbClr val="C7D2FE"/>
            </a:solidFill>
            <a:prstDash val="solid"/>
          </a:ln>
        </p:spPr>
      </p:sp>
      <p:sp>
        <p:nvSpPr>
          <p:cNvPr id="40" name="text ck"/>
          <p:cNvSpPr txBox="1"/>
          <p:nvPr/>
        </p:nvSpPr>
        <p:spPr>
          <a:xfrm>
            <a:off x="6543675" y="2652474"/>
            <a:ext cx="716161" cy="158829"/>
          </a:xfrm>
          <a:prstGeom prst="rect">
            <a:avLst/>
          </a:prstGeom>
          <a:noFill/>
          <a:ln/>
        </p:spPr>
        <p:txBody>
          <a:bodyPr wrap="none" lIns="0" tIns="0" rIns="0" bIns="0" rtlCol="0" anchor="ctr"/>
          <a:lstStyle/>
          <a:p>
            <a:pPr algn="l" indent="0" marL="0">
              <a:buNone/>
            </a:pPr>
            <a:r>
              <a:rPr lang="en-US" sz="860" b="1" spc="30" kern="0" dirty="0">
                <a:solidFill>
                  <a:srgbClr val="1E3A8A"/>
                </a:solidFill>
                <a:latin typeface="Segoe UI" pitchFamily="34" charset="0"/>
                <a:ea typeface="Segoe UI" pitchFamily="34" charset="-122"/>
                <a:cs typeface="Segoe UI" pitchFamily="34" charset="-120"/>
              </a:rPr>
              <a:t>GIẢI PHÁP</a:t>
            </a:r>
            <a:endParaRPr lang="en-US" sz="860" dirty="0"/>
          </a:p>
        </p:txBody>
      </p:sp>
      <p:sp>
        <p:nvSpPr>
          <p:cNvPr id="41" name="text ct"/>
          <p:cNvSpPr txBox="1"/>
          <p:nvPr/>
        </p:nvSpPr>
        <p:spPr>
          <a:xfrm>
            <a:off x="6543675" y="2837617"/>
            <a:ext cx="4124578" cy="331470"/>
          </a:xfrm>
          <a:prstGeom prst="rect">
            <a:avLst/>
          </a:prstGeom>
          <a:noFill/>
          <a:ln/>
        </p:spPr>
        <p:txBody>
          <a:bodyPr wrap="none" lIns="0" tIns="0" rIns="0" bIns="0" rtlCol="0" anchor="ctr"/>
          <a:lstStyle/>
          <a:p>
            <a:pPr algn="l" indent="0" marL="0">
              <a:buNone/>
            </a:pPr>
            <a:r>
              <a:rPr lang="en-US" sz="1800" dirty="0">
                <a:solidFill>
                  <a:srgbClr val="0F172A"/>
                </a:solidFill>
                <a:latin typeface="Segoe UI Black" pitchFamily="34" charset="0"/>
                <a:ea typeface="Segoe UI Black" pitchFamily="34" charset="-122"/>
                <a:cs typeface="Segoe UI Black" pitchFamily="34" charset="-120"/>
              </a:rPr>
              <a:t>AI tư vấn du lịch và booking online</a:t>
            </a:r>
            <a:endParaRPr lang="en-US" sz="1800" dirty="0"/>
          </a:p>
        </p:txBody>
      </p:sp>
      <p:sp>
        <p:nvSpPr>
          <p:cNvPr id="42" name="text cd"/>
          <p:cNvSpPr txBox="1"/>
          <p:nvPr/>
        </p:nvSpPr>
        <p:spPr>
          <a:xfrm>
            <a:off x="6543675" y="3221861"/>
            <a:ext cx="4695825" cy="413385"/>
          </a:xfrm>
          <a:prstGeom prst="rect">
            <a:avLst/>
          </a:prstGeom>
          <a:noFill/>
          <a:ln/>
        </p:spPr>
        <p:txBody>
          <a:bodyPr wrap="square" lIns="0" tIns="0" rIns="0" bIns="0" rtlCol="0" anchor="ctr"/>
          <a:lstStyle/>
          <a:p>
            <a:pPr algn="l" indent="0" marL="0">
              <a:lnSpc>
                <a:spcPts val="1630"/>
              </a:lnSpc>
              <a:buNone/>
            </a:pPr>
            <a:r>
              <a:rPr lang="en-US" sz="1160" b="1" dirty="0">
                <a:solidFill>
                  <a:srgbClr val="334155"/>
                </a:solidFill>
                <a:latin typeface="Segoe UI" pitchFamily="34" charset="0"/>
                <a:ea typeface="Segoe UI" pitchFamily="34" charset="-122"/>
                <a:cs typeface="Segoe UI" pitchFamily="34" charset="-120"/>
              </a:rPr>
              <a:t>Trợ lý AI giới thiệu merchant nhỏ cho khách, khách đặt chỗ ngay trong cuộc trò chuyện</a:t>
            </a:r>
            <a:endParaRPr lang="en-US" sz="1160" dirty="0"/>
          </a:p>
        </p:txBody>
      </p:sp>
      <p:sp>
        <p:nvSpPr>
          <p:cNvPr id="43" name="Shape 41"/>
          <p:cNvSpPr/>
          <p:nvPr/>
        </p:nvSpPr>
        <p:spPr>
          <a:xfrm>
            <a:off x="6543675" y="3777704"/>
            <a:ext cx="247650" cy="247650"/>
          </a:xfrm>
          <a:prstGeom prst="ellipse">
            <a:avLst/>
          </a:prstGeom>
          <a:solidFill>
            <a:srgbClr val="1E3A8A"/>
          </a:solidFill>
          <a:ln/>
        </p:spPr>
      </p:sp>
      <p:sp>
        <p:nvSpPr>
          <p:cNvPr id="44" name="text span"/>
          <p:cNvSpPr txBox="1"/>
          <p:nvPr/>
        </p:nvSpPr>
        <p:spPr>
          <a:xfrm>
            <a:off x="6639371" y="3809524"/>
            <a:ext cx="170408" cy="179546"/>
          </a:xfrm>
          <a:prstGeom prst="rect">
            <a:avLst/>
          </a:prstGeom>
          <a:noFill/>
          <a:ln/>
        </p:spPr>
        <p:txBody>
          <a:bodyPr wrap="none" lIns="0" tIns="0" rIns="0" bIns="0" rtlCol="0" anchor="ctr"/>
          <a:lstStyle/>
          <a:p>
            <a:pPr algn="l" indent="0" marL="0">
              <a:buNone/>
            </a:pPr>
            <a:r>
              <a:rPr lang="en-US" sz="980" dirty="0">
                <a:solidFill>
                  <a:srgbClr val="FFFFFF"/>
                </a:solidFill>
                <a:latin typeface="Segoe UI Black" pitchFamily="34" charset="0"/>
                <a:ea typeface="Segoe UI Black" pitchFamily="34" charset="-122"/>
                <a:cs typeface="Segoe UI Black" pitchFamily="34" charset="-120"/>
              </a:rPr>
              <a:t>1</a:t>
            </a:r>
            <a:endParaRPr lang="en-US" sz="980" dirty="0"/>
          </a:p>
        </p:txBody>
      </p:sp>
      <p:sp>
        <p:nvSpPr>
          <p:cNvPr id="45" name="text span"/>
          <p:cNvSpPr txBox="1"/>
          <p:nvPr/>
        </p:nvSpPr>
        <p:spPr>
          <a:xfrm>
            <a:off x="6905625" y="3776261"/>
            <a:ext cx="4333875" cy="405765"/>
          </a:xfrm>
          <a:prstGeom prst="rect">
            <a:avLst/>
          </a:prstGeom>
          <a:noFill/>
          <a:ln/>
        </p:spPr>
        <p:txBody>
          <a:bodyPr wrap="square" lIns="0" tIns="0" rIns="0" bIns="0" rtlCol="0" anchor="ctr"/>
          <a:lstStyle/>
          <a:p>
            <a:pPr algn="l" indent="0" marL="0">
              <a:lnSpc>
                <a:spcPts val="1600"/>
              </a:lnSpc>
              <a:buNone/>
            </a:pPr>
            <a:r>
              <a:rPr lang="en-US" sz="1130" dirty="0">
                <a:solidFill>
                  <a:srgbClr val="334155"/>
                </a:solidFill>
                <a:latin typeface="Segoe UI Semibold" pitchFamily="34" charset="0"/>
                <a:ea typeface="Segoe UI Semibold" pitchFamily="34" charset="-122"/>
                <a:cs typeface="Segoe UI Semibold" pitchFamily="34" charset="-120"/>
              </a:rPr>
              <a:t>Khách </a:t>
            </a:r>
            <a:pPr algn="l" indent="0" marL="0">
              <a:lnSpc>
                <a:spcPts val="1600"/>
              </a:lnSpc>
              <a:buNone/>
            </a:pPr>
            <a:r>
              <a:rPr lang="en-US" sz="1130" dirty="0">
                <a:solidFill>
                  <a:srgbClr val="0F172A"/>
                </a:solidFill>
                <a:latin typeface="Segoe UI Black" pitchFamily="34" charset="0"/>
                <a:ea typeface="Segoe UI Black" pitchFamily="34" charset="-122"/>
                <a:cs typeface="Segoe UI Black" pitchFamily="34" charset="-120"/>
              </a:rPr>
              <a:t>mở AI từ link của Viettel</a:t>
            </a:r>
            <a:pPr algn="l" indent="0" marL="0">
              <a:lnSpc>
                <a:spcPts val="1600"/>
              </a:lnSpc>
              <a:buNone/>
            </a:pPr>
            <a:r>
              <a:rPr lang="en-US" sz="1130" dirty="0">
                <a:solidFill>
                  <a:srgbClr val="334155"/>
                </a:solidFill>
                <a:latin typeface="Segoe UI Semibold" pitchFamily="34" charset="0"/>
                <a:ea typeface="Segoe UI Semibold" pitchFamily="34" charset="-122"/>
                <a:cs typeface="Segoe UI Semibold" pitchFamily="34" charset="-120"/>
              </a:rPr>
              <a:t>: tin nhắn roaming, SIM/eSIM du lịch, quầy SIM sân bay; không cần cài app</a:t>
            </a:r>
            <a:endParaRPr lang="en-US" sz="1130" dirty="0"/>
          </a:p>
        </p:txBody>
      </p:sp>
      <p:sp>
        <p:nvSpPr>
          <p:cNvPr id="46" name="Shape 44"/>
          <p:cNvSpPr/>
          <p:nvPr/>
        </p:nvSpPr>
        <p:spPr>
          <a:xfrm>
            <a:off x="6543675" y="4297710"/>
            <a:ext cx="247650" cy="247650"/>
          </a:xfrm>
          <a:prstGeom prst="ellipse">
            <a:avLst/>
          </a:prstGeom>
          <a:solidFill>
            <a:srgbClr val="1E3A8A"/>
          </a:solidFill>
          <a:ln/>
        </p:spPr>
      </p:sp>
      <p:sp>
        <p:nvSpPr>
          <p:cNvPr id="47" name="text span"/>
          <p:cNvSpPr txBox="1"/>
          <p:nvPr/>
        </p:nvSpPr>
        <p:spPr>
          <a:xfrm>
            <a:off x="6627465" y="4329529"/>
            <a:ext cx="194370" cy="179546"/>
          </a:xfrm>
          <a:prstGeom prst="rect">
            <a:avLst/>
          </a:prstGeom>
          <a:noFill/>
          <a:ln/>
        </p:spPr>
        <p:txBody>
          <a:bodyPr wrap="none" lIns="0" tIns="0" rIns="0" bIns="0" rtlCol="0" anchor="ctr"/>
          <a:lstStyle/>
          <a:p>
            <a:pPr algn="l" indent="0" marL="0">
              <a:buNone/>
            </a:pPr>
            <a:r>
              <a:rPr lang="en-US" sz="980" dirty="0">
                <a:solidFill>
                  <a:srgbClr val="FFFFFF"/>
                </a:solidFill>
                <a:latin typeface="Segoe UI Black" pitchFamily="34" charset="0"/>
                <a:ea typeface="Segoe UI Black" pitchFamily="34" charset="-122"/>
                <a:cs typeface="Segoe UI Black" pitchFamily="34" charset="-120"/>
              </a:rPr>
              <a:t>2</a:t>
            </a:r>
            <a:endParaRPr lang="en-US" sz="980" dirty="0"/>
          </a:p>
        </p:txBody>
      </p:sp>
      <p:sp>
        <p:nvSpPr>
          <p:cNvPr id="48" name="text span"/>
          <p:cNvSpPr txBox="1"/>
          <p:nvPr/>
        </p:nvSpPr>
        <p:spPr>
          <a:xfrm>
            <a:off x="6905625" y="4296266"/>
            <a:ext cx="4333875" cy="405765"/>
          </a:xfrm>
          <a:prstGeom prst="rect">
            <a:avLst/>
          </a:prstGeom>
          <a:noFill/>
          <a:ln/>
        </p:spPr>
        <p:txBody>
          <a:bodyPr wrap="square" lIns="0" tIns="0" rIns="0" bIns="0" rtlCol="0" anchor="ctr"/>
          <a:lstStyle/>
          <a:p>
            <a:pPr algn="l" indent="0" marL="0">
              <a:lnSpc>
                <a:spcPts val="1600"/>
              </a:lnSpc>
              <a:buNone/>
            </a:pPr>
            <a:r>
              <a:rPr lang="en-US" sz="1130" dirty="0">
                <a:solidFill>
                  <a:srgbClr val="334155"/>
                </a:solidFill>
                <a:latin typeface="Segoe UI Semibold" pitchFamily="34" charset="0"/>
                <a:ea typeface="Segoe UI Semibold" pitchFamily="34" charset="-122"/>
                <a:cs typeface="Segoe UI Semibold" pitchFamily="34" charset="-120"/>
              </a:rPr>
              <a:t>Khách hỏi bằng ngôn ngữ của mình; AI </a:t>
            </a:r>
            <a:pPr algn="l" indent="0" marL="0">
              <a:lnSpc>
                <a:spcPts val="1600"/>
              </a:lnSpc>
              <a:buNone/>
            </a:pPr>
            <a:r>
              <a:rPr lang="en-US" sz="1130" dirty="0">
                <a:solidFill>
                  <a:srgbClr val="0F172A"/>
                </a:solidFill>
                <a:latin typeface="Segoe UI Black" pitchFamily="34" charset="0"/>
                <a:ea typeface="Segoe UI Black" pitchFamily="34" charset="-122"/>
                <a:cs typeface="Segoe UI Black" pitchFamily="34" charset="-120"/>
              </a:rPr>
              <a:t>gợi ý điểm du lịch, ăn chơi, mua sắm</a:t>
            </a:r>
            <a:pPr algn="l" indent="0" marL="0">
              <a:lnSpc>
                <a:spcPts val="1600"/>
              </a:lnSpc>
              <a:buNone/>
            </a:pPr>
            <a:r>
              <a:rPr lang="en-US" sz="1130" dirty="0">
                <a:solidFill>
                  <a:srgbClr val="334155"/>
                </a:solidFill>
                <a:latin typeface="Segoe UI Semibold" pitchFamily="34" charset="0"/>
                <a:ea typeface="Segoe UI Semibold" pitchFamily="34" charset="-122"/>
                <a:cs typeface="Segoe UI Semibold" pitchFamily="34" charset="-120"/>
              </a:rPr>
              <a:t> theo thông tin thật của merchant</a:t>
            </a:r>
            <a:endParaRPr lang="en-US" sz="1130" dirty="0"/>
          </a:p>
        </p:txBody>
      </p:sp>
      <p:sp>
        <p:nvSpPr>
          <p:cNvPr id="49" name="Shape 47"/>
          <p:cNvSpPr/>
          <p:nvPr/>
        </p:nvSpPr>
        <p:spPr>
          <a:xfrm>
            <a:off x="6543675" y="4817715"/>
            <a:ext cx="247650" cy="247650"/>
          </a:xfrm>
          <a:prstGeom prst="ellipse">
            <a:avLst/>
          </a:prstGeom>
          <a:solidFill>
            <a:srgbClr val="1E3A8A"/>
          </a:solidFill>
          <a:ln/>
        </p:spPr>
      </p:sp>
      <p:sp>
        <p:nvSpPr>
          <p:cNvPr id="50" name="text span"/>
          <p:cNvSpPr txBox="1"/>
          <p:nvPr/>
        </p:nvSpPr>
        <p:spPr>
          <a:xfrm>
            <a:off x="6625977" y="4849535"/>
            <a:ext cx="197197" cy="179546"/>
          </a:xfrm>
          <a:prstGeom prst="rect">
            <a:avLst/>
          </a:prstGeom>
          <a:noFill/>
          <a:ln/>
        </p:spPr>
        <p:txBody>
          <a:bodyPr wrap="none" lIns="0" tIns="0" rIns="0" bIns="0" rtlCol="0" anchor="ctr"/>
          <a:lstStyle/>
          <a:p>
            <a:pPr algn="l" indent="0" marL="0">
              <a:buNone/>
            </a:pPr>
            <a:r>
              <a:rPr lang="en-US" sz="980" dirty="0">
                <a:solidFill>
                  <a:srgbClr val="FFFFFF"/>
                </a:solidFill>
                <a:latin typeface="Segoe UI Black" pitchFamily="34" charset="0"/>
                <a:ea typeface="Segoe UI Black" pitchFamily="34" charset="-122"/>
                <a:cs typeface="Segoe UI Black" pitchFamily="34" charset="-120"/>
              </a:rPr>
              <a:t>3</a:t>
            </a:r>
            <a:endParaRPr lang="en-US" sz="980" dirty="0"/>
          </a:p>
        </p:txBody>
      </p:sp>
      <p:sp>
        <p:nvSpPr>
          <p:cNvPr id="51" name="text span"/>
          <p:cNvSpPr txBox="1"/>
          <p:nvPr/>
        </p:nvSpPr>
        <p:spPr>
          <a:xfrm>
            <a:off x="6905625" y="4814143"/>
            <a:ext cx="4108644" cy="207169"/>
          </a:xfrm>
          <a:prstGeom prst="rect">
            <a:avLst/>
          </a:prstGeom>
          <a:noFill/>
          <a:ln/>
        </p:spPr>
        <p:txBody>
          <a:bodyPr wrap="none" lIns="0" tIns="0" rIns="0" bIns="0" rtlCol="0" anchor="ctr"/>
          <a:lstStyle/>
          <a:p>
            <a:pPr algn="l" indent="0" marL="0">
              <a:buNone/>
            </a:pPr>
            <a:r>
              <a:rPr lang="en-US" sz="1130" dirty="0">
                <a:solidFill>
                  <a:srgbClr val="334155"/>
                </a:solidFill>
                <a:latin typeface="Segoe UI Semibold" pitchFamily="34" charset="0"/>
                <a:ea typeface="Segoe UI Semibold" pitchFamily="34" charset="-122"/>
                <a:cs typeface="Segoe UI Semibold" pitchFamily="34" charset="-120"/>
              </a:rPr>
              <a:t>Khách </a:t>
            </a:r>
            <a:pPr algn="l" indent="0" marL="0">
              <a:buNone/>
            </a:pPr>
            <a:r>
              <a:rPr lang="en-US" sz="1130" dirty="0">
                <a:solidFill>
                  <a:srgbClr val="0F172A"/>
                </a:solidFill>
                <a:latin typeface="Segoe UI Black" pitchFamily="34" charset="0"/>
                <a:ea typeface="Segoe UI Black" pitchFamily="34" charset="-122"/>
                <a:cs typeface="Segoe UI Black" pitchFamily="34" charset="-120"/>
              </a:rPr>
              <a:t>đặt phòng, đặt bàn ngay</a:t>
            </a:r>
            <a:pPr algn="l" indent="0" marL="0">
              <a:buNone/>
            </a:pPr>
            <a:r>
              <a:rPr lang="en-US" sz="1130" dirty="0">
                <a:solidFill>
                  <a:srgbClr val="334155"/>
                </a:solidFill>
                <a:latin typeface="Segoe UI Semibold" pitchFamily="34" charset="0"/>
                <a:ea typeface="Segoe UI Semibold" pitchFamily="34" charset="-122"/>
                <a:cs typeface="Segoe UI Semibold" pitchFamily="34" charset="-120"/>
              </a:rPr>
              <a:t>; merchant nhận lượt đặt</a:t>
            </a:r>
            <a:endParaRPr lang="en-US" sz="1130" dirty="0"/>
          </a:p>
        </p:txBody>
      </p:sp>
      <p:sp>
        <p:nvSpPr>
          <p:cNvPr id="52" name="band"/>
          <p:cNvSpPr/>
          <p:nvPr/>
        </p:nvSpPr>
        <p:spPr>
          <a:xfrm>
            <a:off x="609600" y="5717381"/>
            <a:ext cx="10972800" cy="435769"/>
          </a:xfrm>
          <a:prstGeom prst="roundRect">
            <a:avLst>
              <a:gd name="adj" fmla="val 26229"/>
            </a:avLst>
          </a:prstGeom>
          <a:solidFill>
            <a:srgbClr val="0F172A"/>
          </a:solidFill>
          <a:ln/>
        </p:spPr>
      </p:sp>
      <p:sp>
        <p:nvSpPr>
          <p:cNvPr id="53" name="text label"/>
          <p:cNvSpPr txBox="1"/>
          <p:nvPr/>
        </p:nvSpPr>
        <p:spPr>
          <a:xfrm>
            <a:off x="819150" y="5850520"/>
            <a:ext cx="1418332" cy="165622"/>
          </a:xfrm>
          <a:prstGeom prst="rect">
            <a:avLst/>
          </a:prstGeom>
          <a:noFill/>
          <a:ln/>
        </p:spPr>
        <p:txBody>
          <a:bodyPr wrap="none" lIns="0" tIns="0" rIns="0" bIns="0" rtlCol="0" anchor="ctr"/>
          <a:lstStyle/>
          <a:p>
            <a:pPr algn="l" indent="0" marL="0">
              <a:buNone/>
            </a:pPr>
            <a:r>
              <a:rPr lang="en-US" sz="900" b="1" spc="40" kern="0" dirty="0">
                <a:solidFill>
                  <a:srgbClr val="FDA4AF"/>
                </a:solidFill>
                <a:latin typeface="Segoe UI" pitchFamily="34" charset="0"/>
                <a:ea typeface="Segoe UI" pitchFamily="34" charset="-122"/>
                <a:cs typeface="Segoe UI" pitchFamily="34" charset="-120"/>
              </a:rPr>
              <a:t>ĐƯA ĐẾN MERCHANT</a:t>
            </a:r>
            <a:endParaRPr lang="en-US" sz="900" dirty="0"/>
          </a:p>
        </p:txBody>
      </p:sp>
      <p:sp>
        <p:nvSpPr>
          <p:cNvPr id="54" name="text span"/>
          <p:cNvSpPr txBox="1"/>
          <p:nvPr/>
        </p:nvSpPr>
        <p:spPr>
          <a:xfrm>
            <a:off x="2294632" y="5828125"/>
            <a:ext cx="3058766" cy="207137"/>
          </a:xfrm>
          <a:prstGeom prst="rect">
            <a:avLst/>
          </a:prstGeom>
          <a:noFill/>
          <a:ln/>
        </p:spPr>
        <p:txBody>
          <a:bodyPr wrap="none" lIns="0" tIns="0" rIns="0" bIns="0" rtlCol="0" anchor="ctr"/>
          <a:lstStyle/>
          <a:p>
            <a:pPr algn="l" indent="0" marL="0">
              <a:buNone/>
            </a:pPr>
            <a:r>
              <a:rPr lang="en-US" sz="1120" dirty="0">
                <a:solidFill>
                  <a:srgbClr val="FFFFFF"/>
                </a:solidFill>
                <a:latin typeface="Segoe UI Black" pitchFamily="34" charset="0"/>
                <a:ea typeface="Segoe UI Black" pitchFamily="34" charset="-122"/>
                <a:cs typeface="Segoe UI Black" pitchFamily="34" charset="-120"/>
              </a:rPr>
              <a:t>VTT phát triển merchant cho cả hai kênh</a:t>
            </a:r>
            <a:endParaRPr lang="en-US" sz="1120" dirty="0"/>
          </a:p>
        </p:txBody>
      </p:sp>
      <p:sp>
        <p:nvSpPr>
          <p:cNvPr id="55" name="mk"/>
          <p:cNvSpPr/>
          <p:nvPr/>
        </p:nvSpPr>
        <p:spPr>
          <a:xfrm>
            <a:off x="10796588" y="6343650"/>
            <a:ext cx="323850" cy="323850"/>
          </a:xfrm>
          <a:prstGeom prst="ellipse">
            <a:avLst/>
          </a:prstGeom>
          <a:solidFill>
            <a:srgbClr val="F0001E"/>
          </a:solidFill>
          <a:ln/>
        </p:spPr>
      </p:sp>
      <p:sp>
        <p:nvSpPr>
          <p:cNvPr id="56" name="Shape 54"/>
          <p:cNvSpPr/>
          <p:nvPr/>
        </p:nvSpPr>
        <p:spPr>
          <a:xfrm>
            <a:off x="10910888" y="6424613"/>
            <a:ext cx="95250" cy="161925"/>
          </a:xfrm>
          <a:prstGeom prst="roundRect">
            <a:avLst>
              <a:gd name="adj" fmla="val 25000"/>
            </a:avLst>
          </a:prstGeom>
          <a:ln w="19050">
            <a:solidFill>
              <a:srgbClr val="FFFFFF"/>
            </a:solidFill>
            <a:prstDash val="solid"/>
          </a:ln>
        </p:spPr>
      </p:sp>
      <p:sp>
        <p:nvSpPr>
          <p:cNvPr id="57"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58"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59" name="text pno"/>
          <p:cNvSpPr txBox="1"/>
          <p:nvPr/>
        </p:nvSpPr>
        <p:spPr>
          <a:xfrm>
            <a:off x="10525571" y="6418244"/>
            <a:ext cx="237679" cy="165137"/>
          </a:xfrm>
          <a:prstGeom prst="rect">
            <a:avLst/>
          </a:prstGeom>
          <a:noFill/>
          <a:ln/>
        </p:spPr>
        <p:txBody>
          <a:bodyPr wrap="none" lIns="0" tIns="0" rIns="0" bIns="0" rtlCol="0" anchor="ctr"/>
          <a:lstStyle/>
          <a:p>
            <a:pPr algn="l" indent="0" marL="0">
              <a:buNone/>
            </a:pPr>
            <a:r>
              <a:rPr lang="en-US" sz="900" b="1" dirty="0">
                <a:solidFill>
                  <a:srgbClr val="CBD5E1"/>
                </a:solidFill>
                <a:latin typeface="Segoe UI" pitchFamily="34" charset="0"/>
                <a:ea typeface="Segoe UI" pitchFamily="34" charset="-122"/>
                <a:cs typeface="Segoe U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3430917"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GIẢI PHÁP CHI TIẾT 1A · OFFLINE: VISA ACCEPT</a:t>
            </a:r>
            <a:endParaRPr lang="en-US" sz="1050" dirty="0"/>
          </a:p>
        </p:txBody>
      </p:sp>
      <p:sp>
        <p:nvSpPr>
          <p:cNvPr id="3" name="text title"/>
          <p:cNvSpPr txBox="1"/>
          <p:nvPr/>
        </p:nvSpPr>
        <p:spPr>
          <a:xfrm>
            <a:off x="609600" y="581263"/>
            <a:ext cx="10060216"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Visa Accept: </a:t>
            </a:r>
            <a:pPr algn="l" indent="0" marL="0">
              <a:buNone/>
            </a:pPr>
            <a:r>
              <a:rPr lang="en-US" sz="2330" b="1" spc="-30" kern="0" dirty="0">
                <a:solidFill>
                  <a:srgbClr val="E11D48"/>
                </a:solidFill>
                <a:latin typeface="Segoe UI" pitchFamily="34" charset="0"/>
                <a:ea typeface="Segoe UI" pitchFamily="34" charset="-122"/>
                <a:cs typeface="Segoe UI" pitchFamily="34" charset="-120"/>
              </a:rPr>
              <a:t>chủ thẻ Visa thành người bán</a:t>
            </a:r>
            <a:pPr algn="l" indent="0" marL="0">
              <a:buNone/>
            </a:pPr>
            <a:r>
              <a:rPr lang="en-US" sz="2330" b="1" spc="-30" kern="0" dirty="0">
                <a:solidFill>
                  <a:srgbClr val="0F172A"/>
                </a:solidFill>
                <a:latin typeface="Segoe UI" pitchFamily="34" charset="0"/>
                <a:ea typeface="Segoe UI" pitchFamily="34" charset="-122"/>
                <a:cs typeface="Segoe UI" pitchFamily="34" charset="-120"/>
              </a:rPr>
              <a:t>, nhận thẻ trên điện thoại</a:t>
            </a:r>
            <a:endParaRPr lang="en-US" sz="2330" dirty="0"/>
          </a:p>
        </p:txBody>
      </p:sp>
      <p:sp>
        <p:nvSpPr>
          <p:cNvPr id="4" name="card vb"/>
          <p:cNvSpPr/>
          <p:nvPr/>
        </p:nvSpPr>
        <p:spPr>
          <a:xfrm>
            <a:off x="614363" y="1174552"/>
            <a:ext cx="5019675" cy="1853208"/>
          </a:xfrm>
          <a:prstGeom prst="roundRect">
            <a:avLst>
              <a:gd name="adj" fmla="val 6939"/>
            </a:avLst>
          </a:prstGeom>
          <a:solidFill>
            <a:srgbClr val="FFFFFF"/>
          </a:solidFill>
          <a:ln w="9525">
            <a:solidFill>
              <a:srgbClr val="E2E8F0"/>
            </a:solidFill>
            <a:prstDash val="solid"/>
          </a:ln>
        </p:spPr>
      </p:sp>
      <p:sp>
        <p:nvSpPr>
          <p:cNvPr id="5" name="opp-n"/>
          <p:cNvSpPr/>
          <p:nvPr/>
        </p:nvSpPr>
        <p:spPr>
          <a:xfrm>
            <a:off x="809625" y="1331714"/>
            <a:ext cx="266700" cy="266700"/>
          </a:xfrm>
          <a:prstGeom prst="roundRect">
            <a:avLst>
              <a:gd name="adj" fmla="val 28571"/>
            </a:avLst>
          </a:prstGeom>
          <a:solidFill>
            <a:srgbClr val="E11D48"/>
          </a:solidFill>
          <a:ln/>
        </p:spPr>
      </p:sp>
      <p:sp>
        <p:nvSpPr>
          <p:cNvPr id="6" name="text opp-n"/>
          <p:cNvSpPr txBox="1"/>
          <p:nvPr/>
        </p:nvSpPr>
        <p:spPr>
          <a:xfrm>
            <a:off x="912763" y="1368385"/>
            <a:ext cx="174724" cy="193358"/>
          </a:xfrm>
          <a:prstGeom prst="rect">
            <a:avLst/>
          </a:prstGeom>
          <a:noFill/>
          <a:ln/>
        </p:spPr>
        <p:txBody>
          <a:bodyPr wrap="none" lIns="0" tIns="0" rIns="0" bIns="0" rtlCol="0" anchor="ctr"/>
          <a:lstStyle/>
          <a:p>
            <a:pPr algn="l" indent="0" marL="0">
              <a:buNone/>
            </a:pPr>
            <a:r>
              <a:rPr lang="en-US" sz="1050" dirty="0">
                <a:solidFill>
                  <a:srgbClr val="FFFFFF"/>
                </a:solidFill>
                <a:latin typeface="Segoe UI Black" pitchFamily="34" charset="0"/>
                <a:ea typeface="Segoe UI Black" pitchFamily="34" charset="-122"/>
                <a:cs typeface="Segoe UI Black" pitchFamily="34" charset="-120"/>
              </a:rPr>
              <a:t>1</a:t>
            </a:r>
            <a:endParaRPr lang="en-US" sz="1050" dirty="0"/>
          </a:p>
        </p:txBody>
      </p:sp>
      <p:sp>
        <p:nvSpPr>
          <p:cNvPr id="7" name="text h3"/>
          <p:cNvSpPr txBox="1"/>
          <p:nvPr/>
        </p:nvSpPr>
        <p:spPr>
          <a:xfrm>
            <a:off x="1171575" y="1346169"/>
            <a:ext cx="1405086" cy="227074"/>
          </a:xfrm>
          <a:prstGeom prst="rect">
            <a:avLst/>
          </a:prstGeom>
          <a:noFill/>
          <a:ln/>
        </p:spPr>
        <p:txBody>
          <a:bodyPr wrap="none" lIns="0" tIns="0" rIns="0" bIns="0" rtlCol="0" anchor="ctr"/>
          <a:lstStyle/>
          <a:p>
            <a:pPr algn="l" indent="0" marL="0">
              <a:buNone/>
            </a:pPr>
            <a:r>
              <a:rPr lang="en-US" sz="1230" b="1" dirty="0">
                <a:solidFill>
                  <a:srgbClr val="0F172A"/>
                </a:solidFill>
                <a:latin typeface="Segoe UI" pitchFamily="34" charset="0"/>
                <a:ea typeface="Segoe UI" pitchFamily="34" charset="-122"/>
                <a:cs typeface="Segoe UI" pitchFamily="34" charset="-120"/>
              </a:rPr>
              <a:t>Visa Accept là gì</a:t>
            </a:r>
            <a:endParaRPr lang="en-US" sz="1230" dirty="0"/>
          </a:p>
        </p:txBody>
      </p:sp>
      <p:sp>
        <p:nvSpPr>
          <p:cNvPr id="8" name="text __nops"/>
          <p:cNvSpPr txBox="1"/>
          <p:nvPr/>
        </p:nvSpPr>
        <p:spPr>
          <a:xfrm>
            <a:off x="962025" y="1726049"/>
            <a:ext cx="2298847"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Chủ thẻ Visa thành người bán</a:t>
            </a:r>
            <a:endParaRPr lang="en-US" sz="1200" dirty="0"/>
          </a:p>
        </p:txBody>
      </p:sp>
      <p:sp>
        <p:nvSpPr>
          <p:cNvPr id="9" name="Shape 7"/>
          <p:cNvSpPr/>
          <p:nvPr/>
        </p:nvSpPr>
        <p:spPr>
          <a:xfrm>
            <a:off x="819150" y="1807964"/>
            <a:ext cx="57150" cy="57150"/>
          </a:xfrm>
          <a:prstGeom prst="ellipse">
            <a:avLst/>
          </a:prstGeom>
          <a:solidFill>
            <a:srgbClr val="334155"/>
          </a:solidFill>
          <a:ln/>
        </p:spPr>
      </p:sp>
      <p:sp>
        <p:nvSpPr>
          <p:cNvPr id="10" name="text __nops"/>
          <p:cNvSpPr txBox="1"/>
          <p:nvPr/>
        </p:nvSpPr>
        <p:spPr>
          <a:xfrm>
            <a:off x="962025" y="2034570"/>
            <a:ext cx="2098810"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Tích hợp trong app Tendoo</a:t>
            </a:r>
            <a:endParaRPr lang="en-US" sz="1200" dirty="0"/>
          </a:p>
        </p:txBody>
      </p:sp>
      <p:sp>
        <p:nvSpPr>
          <p:cNvPr id="11" name="Shape 9"/>
          <p:cNvSpPr/>
          <p:nvPr/>
        </p:nvSpPr>
        <p:spPr>
          <a:xfrm>
            <a:off x="819150" y="2116485"/>
            <a:ext cx="57150" cy="57150"/>
          </a:xfrm>
          <a:prstGeom prst="ellipse">
            <a:avLst/>
          </a:prstGeom>
          <a:solidFill>
            <a:srgbClr val="334155"/>
          </a:solidFill>
          <a:ln/>
        </p:spPr>
      </p:sp>
      <p:sp>
        <p:nvSpPr>
          <p:cNvPr id="12" name="text __nops"/>
          <p:cNvSpPr txBox="1"/>
          <p:nvPr/>
        </p:nvSpPr>
        <p:spPr>
          <a:xfrm>
            <a:off x="962025" y="2343090"/>
            <a:ext cx="2677466"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Điện thoại có NFC, không cần POS</a:t>
            </a:r>
            <a:endParaRPr lang="en-US" sz="1200" dirty="0"/>
          </a:p>
        </p:txBody>
      </p:sp>
      <p:sp>
        <p:nvSpPr>
          <p:cNvPr id="13" name="Shape 11"/>
          <p:cNvSpPr/>
          <p:nvPr/>
        </p:nvSpPr>
        <p:spPr>
          <a:xfrm>
            <a:off x="819150" y="2425005"/>
            <a:ext cx="57150" cy="57150"/>
          </a:xfrm>
          <a:prstGeom prst="ellipse">
            <a:avLst/>
          </a:prstGeom>
          <a:solidFill>
            <a:srgbClr val="334155"/>
          </a:solidFill>
          <a:ln/>
        </p:spPr>
      </p:sp>
      <p:sp>
        <p:nvSpPr>
          <p:cNvPr id="14" name="text __nops"/>
          <p:cNvSpPr txBox="1"/>
          <p:nvPr/>
        </p:nvSpPr>
        <p:spPr>
          <a:xfrm>
            <a:off x="962025" y="2651611"/>
            <a:ext cx="1799183"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Tiền về gần như tức thì</a:t>
            </a:r>
            <a:endParaRPr lang="en-US" sz="1200" dirty="0"/>
          </a:p>
        </p:txBody>
      </p:sp>
      <p:sp>
        <p:nvSpPr>
          <p:cNvPr id="15" name="Shape 13"/>
          <p:cNvSpPr/>
          <p:nvPr/>
        </p:nvSpPr>
        <p:spPr>
          <a:xfrm>
            <a:off x="819150" y="2733526"/>
            <a:ext cx="57150" cy="57150"/>
          </a:xfrm>
          <a:prstGeom prst="ellipse">
            <a:avLst/>
          </a:prstGeom>
          <a:solidFill>
            <a:srgbClr val="334155"/>
          </a:solidFill>
          <a:ln/>
        </p:spPr>
      </p:sp>
      <p:sp>
        <p:nvSpPr>
          <p:cNvPr id="16" name="card vb"/>
          <p:cNvSpPr/>
          <p:nvPr/>
        </p:nvSpPr>
        <p:spPr>
          <a:xfrm>
            <a:off x="614363" y="3170634"/>
            <a:ext cx="5019675" cy="2309813"/>
          </a:xfrm>
          <a:prstGeom prst="roundRect">
            <a:avLst>
              <a:gd name="adj" fmla="val 5567"/>
            </a:avLst>
          </a:prstGeom>
          <a:solidFill>
            <a:srgbClr val="FFFFFF"/>
          </a:solidFill>
          <a:ln w="9525">
            <a:solidFill>
              <a:srgbClr val="E2E8F0"/>
            </a:solidFill>
            <a:prstDash val="solid"/>
          </a:ln>
        </p:spPr>
      </p:sp>
      <p:sp>
        <p:nvSpPr>
          <p:cNvPr id="17" name="opp-n"/>
          <p:cNvSpPr/>
          <p:nvPr/>
        </p:nvSpPr>
        <p:spPr>
          <a:xfrm>
            <a:off x="809625" y="3327797"/>
            <a:ext cx="266700" cy="266700"/>
          </a:xfrm>
          <a:prstGeom prst="roundRect">
            <a:avLst>
              <a:gd name="adj" fmla="val 28571"/>
            </a:avLst>
          </a:prstGeom>
          <a:solidFill>
            <a:srgbClr val="E11D48"/>
          </a:solidFill>
          <a:ln/>
        </p:spPr>
      </p:sp>
      <p:sp>
        <p:nvSpPr>
          <p:cNvPr id="18" name="text opp-n"/>
          <p:cNvSpPr txBox="1"/>
          <p:nvPr/>
        </p:nvSpPr>
        <p:spPr>
          <a:xfrm>
            <a:off x="898327" y="3364468"/>
            <a:ext cx="203597" cy="193358"/>
          </a:xfrm>
          <a:prstGeom prst="rect">
            <a:avLst/>
          </a:prstGeom>
          <a:noFill/>
          <a:ln/>
        </p:spPr>
        <p:txBody>
          <a:bodyPr wrap="none" lIns="0" tIns="0" rIns="0" bIns="0" rtlCol="0" anchor="ctr"/>
          <a:lstStyle/>
          <a:p>
            <a:pPr algn="l" indent="0" marL="0">
              <a:buNone/>
            </a:pPr>
            <a:r>
              <a:rPr lang="en-US" sz="1050" dirty="0">
                <a:solidFill>
                  <a:srgbClr val="FFFFFF"/>
                </a:solidFill>
                <a:latin typeface="Segoe UI Black" pitchFamily="34" charset="0"/>
                <a:ea typeface="Segoe UI Black" pitchFamily="34" charset="-122"/>
                <a:cs typeface="Segoe UI Black" pitchFamily="34" charset="-120"/>
              </a:rPr>
              <a:t>3</a:t>
            </a:r>
            <a:endParaRPr lang="en-US" sz="1050" dirty="0"/>
          </a:p>
        </p:txBody>
      </p:sp>
      <p:sp>
        <p:nvSpPr>
          <p:cNvPr id="19" name="text h3"/>
          <p:cNvSpPr txBox="1"/>
          <p:nvPr/>
        </p:nvSpPr>
        <p:spPr>
          <a:xfrm>
            <a:off x="1171575" y="3341860"/>
            <a:ext cx="1304776" cy="227857"/>
          </a:xfrm>
          <a:prstGeom prst="rect">
            <a:avLst/>
          </a:prstGeom>
          <a:noFill/>
          <a:ln/>
        </p:spPr>
        <p:txBody>
          <a:bodyPr wrap="none" lIns="0" tIns="0" rIns="0" bIns="0" rtlCol="0" anchor="ctr"/>
          <a:lstStyle/>
          <a:p>
            <a:pPr algn="l" indent="0" marL="0">
              <a:buNone/>
            </a:pPr>
            <a:r>
              <a:rPr lang="en-US" sz="1240" b="1" dirty="0">
                <a:solidFill>
                  <a:srgbClr val="0F172A"/>
                </a:solidFill>
                <a:latin typeface="Segoe UI" pitchFamily="34" charset="0"/>
                <a:ea typeface="Segoe UI" pitchFamily="34" charset="-122"/>
                <a:cs typeface="Segoe UI" pitchFamily="34" charset="-120"/>
              </a:rPr>
              <a:t>Hạn mức và phí</a:t>
            </a:r>
            <a:endParaRPr lang="en-US" sz="1240" dirty="0"/>
          </a:p>
        </p:txBody>
      </p:sp>
      <p:sp>
        <p:nvSpPr>
          <p:cNvPr id="20" name="text num sm c-ink"/>
          <p:cNvSpPr txBox="1"/>
          <p:nvPr/>
        </p:nvSpPr>
        <p:spPr>
          <a:xfrm>
            <a:off x="809625" y="3624397"/>
            <a:ext cx="1071563" cy="330725"/>
          </a:xfrm>
          <a:prstGeom prst="rect">
            <a:avLst/>
          </a:prstGeom>
          <a:noFill/>
          <a:ln/>
        </p:spPr>
        <p:txBody>
          <a:bodyPr wrap="none" lIns="0" tIns="0" rIns="0" bIns="0" rtlCol="0" anchor="ctr"/>
          <a:lstStyle/>
          <a:p>
            <a:pPr algn="l" indent="0" marL="0">
              <a:buNone/>
            </a:pPr>
            <a:r>
              <a:rPr lang="en-US" sz="1800" b="1" spc="-40" kern="0" dirty="0">
                <a:solidFill>
                  <a:srgbClr val="0F172A"/>
                </a:solidFill>
                <a:latin typeface="Segoe UI" pitchFamily="34" charset="0"/>
                <a:ea typeface="Segoe UI" pitchFamily="34" charset="-122"/>
                <a:cs typeface="Segoe UI" pitchFamily="34" charset="-120"/>
              </a:rPr>
              <a:t>100 triệu</a:t>
            </a:r>
            <a:endParaRPr lang="en-US" sz="1800" dirty="0"/>
          </a:p>
        </p:txBody>
      </p:sp>
      <p:sp>
        <p:nvSpPr>
          <p:cNvPr id="21" name="text sl"/>
          <p:cNvSpPr txBox="1"/>
          <p:nvPr/>
        </p:nvSpPr>
        <p:spPr>
          <a:xfrm>
            <a:off x="809625" y="3968630"/>
            <a:ext cx="754707" cy="192923"/>
          </a:xfrm>
          <a:prstGeom prst="rect">
            <a:avLst/>
          </a:prstGeom>
          <a:noFill/>
          <a:ln/>
        </p:spPr>
        <p:txBody>
          <a:bodyPr wrap="none" lIns="0" tIns="0" rIns="0" bIns="0" rtlCol="0" anchor="ctr"/>
          <a:lstStyle/>
          <a:p>
            <a:pPr algn="l" indent="0" marL="0">
              <a:buNone/>
            </a:pPr>
            <a:r>
              <a:rPr lang="en-US" sz="1050" dirty="0">
                <a:solidFill>
                  <a:srgbClr val="334155"/>
                </a:solidFill>
                <a:latin typeface="Segoe UI Semibold" pitchFamily="34" charset="0"/>
                <a:ea typeface="Segoe UI Semibold" pitchFamily="34" charset="-122"/>
                <a:cs typeface="Segoe UI Semibold" pitchFamily="34" charset="-120"/>
              </a:rPr>
              <a:t>mỗi tháng</a:t>
            </a:r>
            <a:endParaRPr lang="en-US" sz="1050" dirty="0"/>
          </a:p>
        </p:txBody>
      </p:sp>
      <p:sp>
        <p:nvSpPr>
          <p:cNvPr id="22" name="text num sm c-ink"/>
          <p:cNvSpPr txBox="1"/>
          <p:nvPr/>
        </p:nvSpPr>
        <p:spPr>
          <a:xfrm>
            <a:off x="2397026" y="3624380"/>
            <a:ext cx="785366" cy="330759"/>
          </a:xfrm>
          <a:prstGeom prst="rect">
            <a:avLst/>
          </a:prstGeom>
          <a:noFill/>
          <a:ln/>
        </p:spPr>
        <p:txBody>
          <a:bodyPr wrap="none" lIns="0" tIns="0" rIns="0" bIns="0" rtlCol="0" anchor="ctr"/>
          <a:lstStyle/>
          <a:p>
            <a:pPr algn="l" indent="0" marL="0">
              <a:buNone/>
            </a:pPr>
            <a:r>
              <a:rPr lang="en-US" sz="1800" b="1" spc="-40" kern="0" dirty="0">
                <a:solidFill>
                  <a:srgbClr val="0F172A"/>
                </a:solidFill>
                <a:latin typeface="Segoe UI" pitchFamily="34" charset="0"/>
                <a:ea typeface="Segoe UI" pitchFamily="34" charset="-122"/>
                <a:cs typeface="Segoe UI" pitchFamily="34" charset="-120"/>
              </a:rPr>
              <a:t>2.000</a:t>
            </a:r>
            <a:endParaRPr lang="en-US" sz="1800" dirty="0"/>
          </a:p>
        </p:txBody>
      </p:sp>
      <p:sp>
        <p:nvSpPr>
          <p:cNvPr id="23" name="text sl"/>
          <p:cNvSpPr txBox="1"/>
          <p:nvPr/>
        </p:nvSpPr>
        <p:spPr>
          <a:xfrm>
            <a:off x="2397026" y="3968620"/>
            <a:ext cx="1375321" cy="192943"/>
          </a:xfrm>
          <a:prstGeom prst="rect">
            <a:avLst/>
          </a:prstGeom>
          <a:noFill/>
          <a:ln/>
        </p:spPr>
        <p:txBody>
          <a:bodyPr wrap="none" lIns="0" tIns="0" rIns="0" bIns="0" rtlCol="0" anchor="ctr"/>
          <a:lstStyle/>
          <a:p>
            <a:pPr algn="l" indent="0" marL="0">
              <a:buNone/>
            </a:pPr>
            <a:r>
              <a:rPr lang="en-US" sz="1050" dirty="0">
                <a:solidFill>
                  <a:srgbClr val="334155"/>
                </a:solidFill>
                <a:latin typeface="Segoe UI Semibold" pitchFamily="34" charset="0"/>
                <a:ea typeface="Segoe UI Semibold" pitchFamily="34" charset="-122"/>
                <a:cs typeface="Segoe UI Semibold" pitchFamily="34" charset="-120"/>
              </a:rPr>
              <a:t>giao dịch mỗi tháng</a:t>
            </a:r>
            <a:endParaRPr lang="en-US" sz="1050" dirty="0"/>
          </a:p>
        </p:txBody>
      </p:sp>
      <p:sp>
        <p:nvSpPr>
          <p:cNvPr id="24" name="text num sm c-ink"/>
          <p:cNvSpPr txBox="1"/>
          <p:nvPr/>
        </p:nvSpPr>
        <p:spPr>
          <a:xfrm>
            <a:off x="3984575" y="3624380"/>
            <a:ext cx="815280" cy="330759"/>
          </a:xfrm>
          <a:prstGeom prst="rect">
            <a:avLst/>
          </a:prstGeom>
          <a:noFill/>
          <a:ln/>
        </p:spPr>
        <p:txBody>
          <a:bodyPr wrap="none" lIns="0" tIns="0" rIns="0" bIns="0" rtlCol="0" anchor="ctr"/>
          <a:lstStyle/>
          <a:p>
            <a:pPr algn="l" indent="0" marL="0">
              <a:buNone/>
            </a:pPr>
            <a:r>
              <a:rPr lang="en-US" sz="1800" b="1" spc="-40" kern="0" dirty="0">
                <a:solidFill>
                  <a:srgbClr val="0F172A"/>
                </a:solidFill>
                <a:latin typeface="Segoe UI" pitchFamily="34" charset="0"/>
                <a:ea typeface="Segoe UI" pitchFamily="34" charset="-122"/>
                <a:cs typeface="Segoe UI" pitchFamily="34" charset="-120"/>
              </a:rPr>
              <a:t>8 triệu</a:t>
            </a:r>
            <a:endParaRPr lang="en-US" sz="1800" dirty="0"/>
          </a:p>
        </p:txBody>
      </p:sp>
      <p:sp>
        <p:nvSpPr>
          <p:cNvPr id="25" name="text sl"/>
          <p:cNvSpPr txBox="1"/>
          <p:nvPr/>
        </p:nvSpPr>
        <p:spPr>
          <a:xfrm>
            <a:off x="3984575" y="3968620"/>
            <a:ext cx="971252" cy="192943"/>
          </a:xfrm>
          <a:prstGeom prst="rect">
            <a:avLst/>
          </a:prstGeom>
          <a:noFill/>
          <a:ln/>
        </p:spPr>
        <p:txBody>
          <a:bodyPr wrap="none" lIns="0" tIns="0" rIns="0" bIns="0" rtlCol="0" anchor="ctr"/>
          <a:lstStyle/>
          <a:p>
            <a:pPr algn="l" indent="0" marL="0">
              <a:buNone/>
            </a:pPr>
            <a:r>
              <a:rPr lang="en-US" sz="1050" dirty="0">
                <a:solidFill>
                  <a:srgbClr val="334155"/>
                </a:solidFill>
                <a:latin typeface="Segoe UI Semibold" pitchFamily="34" charset="0"/>
                <a:ea typeface="Segoe UI Semibold" pitchFamily="34" charset="-122"/>
                <a:cs typeface="Segoe UI Semibold" pitchFamily="34" charset="-120"/>
              </a:rPr>
              <a:t>mỗi giao dịch</a:t>
            </a:r>
            <a:endParaRPr lang="en-US" sz="1050" dirty="0"/>
          </a:p>
        </p:txBody>
      </p:sp>
      <p:sp>
        <p:nvSpPr>
          <p:cNvPr id="26" name="fee mt10"/>
          <p:cNvSpPr/>
          <p:nvPr/>
        </p:nvSpPr>
        <p:spPr>
          <a:xfrm>
            <a:off x="809625" y="4256484"/>
            <a:ext cx="4629150" cy="590848"/>
          </a:xfrm>
          <a:prstGeom prst="roundRect">
            <a:avLst>
              <a:gd name="adj" fmla="val 16121"/>
            </a:avLst>
          </a:prstGeom>
          <a:solidFill>
            <a:srgbClr val="F1F5F9"/>
          </a:solidFill>
          <a:ln/>
        </p:spPr>
      </p:sp>
      <p:sp>
        <p:nvSpPr>
          <p:cNvPr id="27" name="text fee mt10"/>
          <p:cNvSpPr txBox="1"/>
          <p:nvPr/>
        </p:nvSpPr>
        <p:spPr>
          <a:xfrm>
            <a:off x="942975" y="4351571"/>
            <a:ext cx="4400550" cy="400526"/>
          </a:xfrm>
          <a:prstGeom prst="rect">
            <a:avLst/>
          </a:prstGeom>
          <a:noFill/>
          <a:ln/>
        </p:spPr>
        <p:txBody>
          <a:bodyPr wrap="square" lIns="0" tIns="0" rIns="0" bIns="0" rtlCol="0" anchor="ctr"/>
          <a:lstStyle/>
          <a:p>
            <a:pPr algn="l" indent="0" marL="0">
              <a:lnSpc>
                <a:spcPts val="1580"/>
              </a:lnSpc>
              <a:buNone/>
            </a:pPr>
            <a:r>
              <a:rPr lang="en-US" sz="1090" dirty="0">
                <a:solidFill>
                  <a:srgbClr val="334155"/>
                </a:solidFill>
                <a:latin typeface="Segoe UI Black" pitchFamily="34" charset="0"/>
                <a:ea typeface="Segoe UI Black" pitchFamily="34" charset="-122"/>
                <a:cs typeface="Segoe UI Black" pitchFamily="34" charset="-120"/>
              </a:rPr>
              <a:t>Phí mạng lưới:</a:t>
            </a:r>
            <a:pPr algn="l" indent="0" marL="0">
              <a:lnSpc>
                <a:spcPts val="1580"/>
              </a:lnSpc>
              <a:buNone/>
            </a:pPr>
            <a:r>
              <a:rPr lang="en-US" sz="1090" dirty="0">
                <a:solidFill>
                  <a:srgbClr val="334155"/>
                </a:solidFill>
                <a:latin typeface="Segoe UI Semibold" pitchFamily="34" charset="0"/>
                <a:ea typeface="Segoe UI Semibold" pitchFamily="34" charset="-122"/>
                <a:cs typeface="Segoe UI Semibold" pitchFamily="34" charset="-120"/>
              </a:rPr>
              <a:t> </a:t>
            </a:r>
            <a:pPr algn="l" indent="0" marL="0">
              <a:lnSpc>
                <a:spcPts val="1580"/>
              </a:lnSpc>
              <a:buNone/>
            </a:pPr>
            <a:r>
              <a:rPr lang="en-US" sz="1090" dirty="0">
                <a:solidFill>
                  <a:srgbClr val="16A34A"/>
                </a:solidFill>
                <a:latin typeface="Segoe UI Black" pitchFamily="34" charset="0"/>
                <a:ea typeface="Segoe UI Black" pitchFamily="34" charset="-122"/>
                <a:cs typeface="Segoe UI Black" pitchFamily="34" charset="-120"/>
              </a:rPr>
              <a:t>miễn phí</a:t>
            </a:r>
            <a:pPr algn="l" indent="0" marL="0">
              <a:lnSpc>
                <a:spcPts val="1580"/>
              </a:lnSpc>
              <a:buNone/>
            </a:pPr>
            <a:r>
              <a:rPr lang="en-US" sz="1090" dirty="0">
                <a:solidFill>
                  <a:srgbClr val="334155"/>
                </a:solidFill>
                <a:latin typeface="Segoe UI Semibold" pitchFamily="34" charset="0"/>
                <a:ea typeface="Segoe UI Semibold" pitchFamily="34" charset="-122"/>
                <a:cs typeface="Segoe UI Semibold" pitchFamily="34" charset="-120"/>
              </a:rPr>
              <a:t> dưới 200.000đ · 200đ + 0,002 USD từ 200.000đ</a:t>
            </a:r>
            <a:endParaRPr lang="en-US" sz="1090" dirty="0"/>
          </a:p>
        </p:txBody>
      </p:sp>
      <p:sp>
        <p:nvSpPr>
          <p:cNvPr id="28" name="card vb"/>
          <p:cNvSpPr/>
          <p:nvPr/>
        </p:nvSpPr>
        <p:spPr>
          <a:xfrm>
            <a:off x="5776913" y="1174552"/>
            <a:ext cx="5800725" cy="2422178"/>
          </a:xfrm>
          <a:prstGeom prst="roundRect">
            <a:avLst>
              <a:gd name="adj" fmla="val 5309"/>
            </a:avLst>
          </a:prstGeom>
          <a:solidFill>
            <a:srgbClr val="FFFFFF"/>
          </a:solidFill>
          <a:ln w="9525">
            <a:solidFill>
              <a:srgbClr val="E2E8F0"/>
            </a:solidFill>
            <a:prstDash val="solid"/>
          </a:ln>
        </p:spPr>
      </p:sp>
      <p:sp>
        <p:nvSpPr>
          <p:cNvPr id="29" name="opp-n"/>
          <p:cNvSpPr/>
          <p:nvPr/>
        </p:nvSpPr>
        <p:spPr>
          <a:xfrm>
            <a:off x="5972175" y="1331714"/>
            <a:ext cx="266700" cy="266700"/>
          </a:xfrm>
          <a:prstGeom prst="roundRect">
            <a:avLst>
              <a:gd name="adj" fmla="val 28571"/>
            </a:avLst>
          </a:prstGeom>
          <a:solidFill>
            <a:srgbClr val="E11D48"/>
          </a:solidFill>
          <a:ln/>
        </p:spPr>
      </p:sp>
      <p:sp>
        <p:nvSpPr>
          <p:cNvPr id="30" name="text opp-n"/>
          <p:cNvSpPr txBox="1"/>
          <p:nvPr/>
        </p:nvSpPr>
        <p:spPr>
          <a:xfrm>
            <a:off x="6062365" y="1368385"/>
            <a:ext cx="200620" cy="193358"/>
          </a:xfrm>
          <a:prstGeom prst="rect">
            <a:avLst/>
          </a:prstGeom>
          <a:noFill/>
          <a:ln/>
        </p:spPr>
        <p:txBody>
          <a:bodyPr wrap="none" lIns="0" tIns="0" rIns="0" bIns="0" rtlCol="0" anchor="ctr"/>
          <a:lstStyle/>
          <a:p>
            <a:pPr algn="l" indent="0" marL="0">
              <a:buNone/>
            </a:pPr>
            <a:r>
              <a:rPr lang="en-US" sz="1050" dirty="0">
                <a:solidFill>
                  <a:srgbClr val="FFFFFF"/>
                </a:solidFill>
                <a:latin typeface="Segoe UI Black" pitchFamily="34" charset="0"/>
                <a:ea typeface="Segoe UI Black" pitchFamily="34" charset="-122"/>
                <a:cs typeface="Segoe UI Black" pitchFamily="34" charset="-120"/>
              </a:rPr>
              <a:t>2</a:t>
            </a:r>
            <a:endParaRPr lang="en-US" sz="1050" dirty="0"/>
          </a:p>
        </p:txBody>
      </p:sp>
      <p:sp>
        <p:nvSpPr>
          <p:cNvPr id="31" name="text h3"/>
          <p:cNvSpPr txBox="1"/>
          <p:nvPr/>
        </p:nvSpPr>
        <p:spPr>
          <a:xfrm>
            <a:off x="6334125" y="1345458"/>
            <a:ext cx="1451372" cy="228496"/>
          </a:xfrm>
          <a:prstGeom prst="rect">
            <a:avLst/>
          </a:prstGeom>
          <a:noFill/>
          <a:ln/>
        </p:spPr>
        <p:txBody>
          <a:bodyPr wrap="none" lIns="0" tIns="0" rIns="0" bIns="0" rtlCol="0" anchor="ctr"/>
          <a:lstStyle/>
          <a:p>
            <a:pPr algn="l" indent="0" marL="0">
              <a:buNone/>
            </a:pPr>
            <a:r>
              <a:rPr lang="en-US" sz="1240" b="1" dirty="0">
                <a:solidFill>
                  <a:srgbClr val="0F172A"/>
                </a:solidFill>
                <a:latin typeface="Segoe UI" pitchFamily="34" charset="0"/>
                <a:ea typeface="Segoe UI" pitchFamily="34" charset="-122"/>
                <a:cs typeface="Segoe UI" pitchFamily="34" charset="-120"/>
              </a:rPr>
              <a:t>Bán hàng thế nào</a:t>
            </a:r>
            <a:endParaRPr lang="en-US" sz="1240" dirty="0"/>
          </a:p>
        </p:txBody>
      </p:sp>
      <p:sp>
        <p:nvSpPr>
          <p:cNvPr id="32" name="text __nops"/>
          <p:cNvSpPr txBox="1"/>
          <p:nvPr/>
        </p:nvSpPr>
        <p:spPr>
          <a:xfrm>
            <a:off x="6124575" y="2019985"/>
            <a:ext cx="2392082"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Black" pitchFamily="34" charset="0"/>
                <a:ea typeface="Segoe UI Black" pitchFamily="34" charset="-122"/>
                <a:cs typeface="Segoe UI Black" pitchFamily="34" charset="-120"/>
              </a:rPr>
              <a:t>Chạm thẻ:</a:t>
            </a:r>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 cách chính tại quầy</a:t>
            </a:r>
            <a:endParaRPr lang="en-US" sz="1200" dirty="0"/>
          </a:p>
        </p:txBody>
      </p:sp>
      <p:sp>
        <p:nvSpPr>
          <p:cNvPr id="33" name="Shape 31"/>
          <p:cNvSpPr/>
          <p:nvPr/>
        </p:nvSpPr>
        <p:spPr>
          <a:xfrm>
            <a:off x="5981700" y="2101900"/>
            <a:ext cx="57150" cy="57150"/>
          </a:xfrm>
          <a:prstGeom prst="ellipse">
            <a:avLst/>
          </a:prstGeom>
          <a:solidFill>
            <a:srgbClr val="334155"/>
          </a:solidFill>
          <a:ln/>
        </p:spPr>
      </p:sp>
      <p:sp>
        <p:nvSpPr>
          <p:cNvPr id="34" name="text __nops"/>
          <p:cNvSpPr txBox="1"/>
          <p:nvPr/>
        </p:nvSpPr>
        <p:spPr>
          <a:xfrm>
            <a:off x="6124575" y="2332271"/>
            <a:ext cx="3086100" cy="426720"/>
          </a:xfrm>
          <a:prstGeom prst="rect">
            <a:avLst/>
          </a:prstGeom>
          <a:noFill/>
          <a:ln/>
        </p:spPr>
        <p:txBody>
          <a:bodyPr wrap="square" lIns="0" tIns="0" rIns="0" bIns="0" rtlCol="0" anchor="ctr"/>
          <a:lstStyle/>
          <a:p>
            <a:pPr algn="l" indent="0" marL="0">
              <a:lnSpc>
                <a:spcPts val="1680"/>
              </a:lnSpc>
              <a:buNone/>
            </a:pPr>
            <a:r>
              <a:rPr lang="en-US" sz="1200" dirty="0">
                <a:solidFill>
                  <a:srgbClr val="334155"/>
                </a:solidFill>
                <a:latin typeface="Segoe UI Black" pitchFamily="34" charset="0"/>
                <a:ea typeface="Segoe UI Black" pitchFamily="34" charset="-122"/>
                <a:cs typeface="Segoe UI Black" pitchFamily="34" charset="-120"/>
              </a:rPr>
              <a:t>Link thanh toán:</a:t>
            </a:r>
            <a:pPr algn="l" indent="0" marL="0">
              <a:lnSpc>
                <a:spcPts val="1680"/>
              </a:lnSpc>
              <a:buNone/>
            </a:pPr>
            <a:r>
              <a:rPr lang="en-US" sz="1200" dirty="0">
                <a:solidFill>
                  <a:srgbClr val="334155"/>
                </a:solidFill>
                <a:latin typeface="Segoe UI Semibold" pitchFamily="34" charset="0"/>
                <a:ea typeface="Segoe UI Semibold" pitchFamily="34" charset="-122"/>
                <a:cs typeface="Segoe UI Semibold" pitchFamily="34" charset="-120"/>
              </a:rPr>
              <a:t> khi không chạm được, có 3-D Secure</a:t>
            </a:r>
            <a:endParaRPr lang="en-US" sz="1200" dirty="0"/>
          </a:p>
        </p:txBody>
      </p:sp>
      <p:sp>
        <p:nvSpPr>
          <p:cNvPr id="35" name="Shape 33"/>
          <p:cNvSpPr/>
          <p:nvPr/>
        </p:nvSpPr>
        <p:spPr>
          <a:xfrm>
            <a:off x="5981700" y="2410420"/>
            <a:ext cx="57150" cy="57150"/>
          </a:xfrm>
          <a:prstGeom prst="ellipse">
            <a:avLst/>
          </a:prstGeom>
          <a:solidFill>
            <a:srgbClr val="334155"/>
          </a:solidFill>
          <a:ln/>
        </p:spPr>
      </p:sp>
      <p:sp>
        <p:nvSpPr>
          <p:cNvPr id="36" name="text __nops"/>
          <p:cNvSpPr txBox="1"/>
          <p:nvPr/>
        </p:nvSpPr>
        <p:spPr>
          <a:xfrm>
            <a:off x="6124575" y="2850297"/>
            <a:ext cx="2083823"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Lịch sử, hoàn tiền, đối soát</a:t>
            </a:r>
            <a:endParaRPr lang="en-US" sz="1200" dirty="0"/>
          </a:p>
        </p:txBody>
      </p:sp>
      <p:sp>
        <p:nvSpPr>
          <p:cNvPr id="37" name="Shape 35"/>
          <p:cNvSpPr/>
          <p:nvPr/>
        </p:nvSpPr>
        <p:spPr>
          <a:xfrm>
            <a:off x="5981700" y="2932212"/>
            <a:ext cx="57150" cy="57150"/>
          </a:xfrm>
          <a:prstGeom prst="ellipse">
            <a:avLst/>
          </a:prstGeom>
          <a:solidFill>
            <a:srgbClr val="334155"/>
          </a:solidFill>
          <a:ln/>
        </p:spPr>
      </p:sp>
      <p:sp>
        <p:nvSpPr>
          <p:cNvPr id="38" name="phone __nops"/>
          <p:cNvSpPr/>
          <p:nvPr/>
        </p:nvSpPr>
        <p:spPr>
          <a:xfrm>
            <a:off x="9324975" y="1674614"/>
            <a:ext cx="952500" cy="1562100"/>
          </a:xfrm>
          <a:prstGeom prst="roundRect">
            <a:avLst>
              <a:gd name="adj" fmla="val 14000"/>
            </a:avLst>
          </a:prstGeom>
          <a:solidFill>
            <a:srgbClr val="FFFFFF"/>
          </a:solidFill>
          <a:ln w="38100">
            <a:solidFill>
              <a:srgbClr val="0F172A"/>
            </a:solidFill>
            <a:prstDash val="solid"/>
          </a:ln>
        </p:spPr>
      </p:sp>
      <p:sp>
        <p:nvSpPr>
          <p:cNvPr id="39" name="Shape 37"/>
          <p:cNvSpPr/>
          <p:nvPr/>
        </p:nvSpPr>
        <p:spPr>
          <a:xfrm>
            <a:off x="9648825" y="1731764"/>
            <a:ext cx="304800" cy="47625"/>
          </a:xfrm>
          <a:prstGeom prst="roundRect">
            <a:avLst>
              <a:gd name="adj" fmla="val 50000"/>
            </a:avLst>
          </a:prstGeom>
          <a:solidFill>
            <a:srgbClr val="0F172A"/>
          </a:solidFill>
          <a:ln/>
        </p:spPr>
      </p:sp>
      <p:sp>
        <p:nvSpPr>
          <p:cNvPr id="40" name="pbar"/>
          <p:cNvSpPr/>
          <p:nvPr/>
        </p:nvSpPr>
        <p:spPr>
          <a:xfrm>
            <a:off x="9344025" y="1693664"/>
            <a:ext cx="914400" cy="361950"/>
          </a:xfrm>
          <a:prstGeom prst="rect">
            <a:avLst/>
          </a:prstGeom>
          <a:solidFill>
            <a:srgbClr val="E11D48"/>
          </a:solidFill>
          <a:ln/>
        </p:spPr>
      </p:sp>
      <p:sp>
        <p:nvSpPr>
          <p:cNvPr id="41" name="text pbar"/>
          <p:cNvSpPr txBox="1"/>
          <p:nvPr/>
        </p:nvSpPr>
        <p:spPr>
          <a:xfrm>
            <a:off x="9391650" y="1811536"/>
            <a:ext cx="857250" cy="202406"/>
          </a:xfrm>
          <a:prstGeom prst="rect">
            <a:avLst/>
          </a:prstGeom>
          <a:noFill/>
          <a:ln/>
        </p:spPr>
        <p:txBody>
          <a:bodyPr wrap="square" lIns="0" tIns="0" rIns="0" bIns="0" rtlCol="0" anchor="ctr"/>
          <a:lstStyle/>
          <a:p>
            <a:pPr algn="ctr" indent="0" marL="0">
              <a:lnSpc>
                <a:spcPts val="800"/>
              </a:lnSpc>
              <a:buNone/>
            </a:pPr>
            <a:r>
              <a:rPr lang="en-US" sz="640" b="1" dirty="0">
                <a:solidFill>
                  <a:srgbClr val="FFFFFF"/>
                </a:solidFill>
                <a:latin typeface="Segoe UI" pitchFamily="34" charset="0"/>
                <a:ea typeface="Segoe UI" pitchFamily="34" charset="-122"/>
                <a:cs typeface="Segoe UI" pitchFamily="34" charset="-120"/>
              </a:rPr>
              <a:t>Tendoo · Visa Accept</a:t>
            </a:r>
            <a:endParaRPr lang="en-US" sz="640" dirty="0"/>
          </a:p>
        </p:txBody>
      </p:sp>
      <p:sp>
        <p:nvSpPr>
          <p:cNvPr id="42" name="text tiny"/>
          <p:cNvSpPr txBox="1"/>
          <p:nvPr/>
        </p:nvSpPr>
        <p:spPr>
          <a:xfrm>
            <a:off x="9507736" y="2109586"/>
            <a:ext cx="586829" cy="130182"/>
          </a:xfrm>
          <a:prstGeom prst="rect">
            <a:avLst/>
          </a:prstGeom>
          <a:noFill/>
          <a:ln/>
        </p:spPr>
        <p:txBody>
          <a:bodyPr wrap="none" lIns="0" tIns="0" rIns="0" bIns="0" rtlCol="0" anchor="ctr"/>
          <a:lstStyle/>
          <a:p>
            <a:pPr algn="ctr" indent="0" marL="0">
              <a:buNone/>
            </a:pPr>
            <a:r>
              <a:rPr lang="en-US" sz="710" dirty="0">
                <a:solidFill>
                  <a:srgbClr val="64748B"/>
                </a:solidFill>
                <a:latin typeface="Segoe UI Semibold" pitchFamily="34" charset="0"/>
                <a:ea typeface="Segoe UI Semibold" pitchFamily="34" charset="-122"/>
                <a:cs typeface="Segoe UI Semibold" pitchFamily="34" charset="-120"/>
              </a:rPr>
              <a:t>Đơn #1024</a:t>
            </a:r>
            <a:endParaRPr lang="en-US" sz="710" dirty="0"/>
          </a:p>
        </p:txBody>
      </p:sp>
      <p:sp>
        <p:nvSpPr>
          <p:cNvPr id="43" name="text amt"/>
          <p:cNvSpPr txBox="1"/>
          <p:nvPr/>
        </p:nvSpPr>
        <p:spPr>
          <a:xfrm>
            <a:off x="9403110" y="2276782"/>
            <a:ext cx="796230" cy="192267"/>
          </a:xfrm>
          <a:prstGeom prst="rect">
            <a:avLst/>
          </a:prstGeom>
          <a:noFill/>
          <a:ln/>
        </p:spPr>
        <p:txBody>
          <a:bodyPr wrap="none" lIns="0" tIns="0" rIns="0" bIns="0" rtlCol="0" anchor="ctr"/>
          <a:lstStyle/>
          <a:p>
            <a:pPr algn="ctr" indent="0" marL="0">
              <a:buNone/>
            </a:pPr>
            <a:r>
              <a:rPr lang="en-US" sz="1040" dirty="0">
                <a:solidFill>
                  <a:srgbClr val="0F172A"/>
                </a:solidFill>
                <a:latin typeface="Segoe UI Black" pitchFamily="34" charset="0"/>
                <a:ea typeface="Segoe UI Black" pitchFamily="34" charset="-122"/>
                <a:cs typeface="Segoe UI Black" pitchFamily="34" charset="-120"/>
              </a:rPr>
              <a:t>350.000đ</a:t>
            </a:r>
            <a:endParaRPr lang="en-US" sz="1040" dirty="0"/>
          </a:p>
        </p:txBody>
      </p:sp>
      <p:sp>
        <p:nvSpPr>
          <p:cNvPr id="44" name="nfc"/>
          <p:cNvSpPr/>
          <p:nvPr/>
        </p:nvSpPr>
        <p:spPr>
          <a:xfrm>
            <a:off x="9620250" y="2511028"/>
            <a:ext cx="361950" cy="361950"/>
          </a:xfrm>
          <a:prstGeom prst="ellipse">
            <a:avLst/>
          </a:prstGeom>
          <a:ln w="19050">
            <a:solidFill>
              <a:srgbClr val="E11D48"/>
            </a:solidFill>
            <a:prstDash val="solid"/>
          </a:ln>
        </p:spPr>
      </p:sp>
      <p:sp>
        <p:nvSpPr>
          <p:cNvPr id="45" name="text nfc"/>
          <p:cNvSpPr txBox="1"/>
          <p:nvPr/>
        </p:nvSpPr>
        <p:spPr>
          <a:xfrm>
            <a:off x="9686330" y="2602230"/>
            <a:ext cx="229791" cy="179546"/>
          </a:xfrm>
          <a:prstGeom prst="rect">
            <a:avLst/>
          </a:prstGeom>
          <a:noFill/>
          <a:ln/>
        </p:spPr>
        <p:txBody>
          <a:bodyPr wrap="none" lIns="0" tIns="0" rIns="0" bIns="0" rtlCol="0" anchor="ctr"/>
          <a:lstStyle/>
          <a:p>
            <a:pPr algn="ctr" indent="0" marL="0">
              <a:buNone/>
            </a:pPr>
            <a:r>
              <a:rPr lang="en-US" sz="980" spc="-70" kern="0" dirty="0">
                <a:solidFill>
                  <a:srgbClr val="E11D48"/>
                </a:solidFill>
                <a:latin typeface="Segoe UI Black" pitchFamily="34" charset="0"/>
                <a:ea typeface="Segoe UI Black" pitchFamily="34" charset="-122"/>
                <a:cs typeface="Segoe UI Black" pitchFamily="34" charset="-120"/>
              </a:rPr>
              <a:t>)))</a:t>
            </a:r>
            <a:endParaRPr lang="en-US" sz="980" dirty="0"/>
          </a:p>
        </p:txBody>
      </p:sp>
      <p:sp>
        <p:nvSpPr>
          <p:cNvPr id="46" name="text tiny"/>
          <p:cNvSpPr txBox="1"/>
          <p:nvPr/>
        </p:nvSpPr>
        <p:spPr>
          <a:xfrm>
            <a:off x="9401175" y="2921377"/>
            <a:ext cx="838200" cy="244316"/>
          </a:xfrm>
          <a:prstGeom prst="rect">
            <a:avLst/>
          </a:prstGeom>
          <a:noFill/>
          <a:ln/>
        </p:spPr>
        <p:txBody>
          <a:bodyPr wrap="square" lIns="0" tIns="0" rIns="0" bIns="0" rtlCol="0" anchor="ctr"/>
          <a:lstStyle/>
          <a:p>
            <a:pPr algn="ctr" indent="0" marL="0">
              <a:lnSpc>
                <a:spcPts val="960"/>
              </a:lnSpc>
              <a:buNone/>
            </a:pPr>
            <a:r>
              <a:rPr lang="en-US" sz="710" dirty="0">
                <a:solidFill>
                  <a:srgbClr val="64748B"/>
                </a:solidFill>
                <a:latin typeface="Segoe UI Semibold" pitchFamily="34" charset="0"/>
                <a:ea typeface="Segoe UI Semibold" pitchFamily="34" charset="-122"/>
                <a:cs typeface="Segoe UI Semibold" pitchFamily="34" charset="-120"/>
              </a:rPr>
              <a:t>Mời khách chạm thẻ</a:t>
            </a:r>
            <a:endParaRPr lang="en-US" sz="710" dirty="0"/>
          </a:p>
        </p:txBody>
      </p:sp>
      <p:sp>
        <p:nvSpPr>
          <p:cNvPr id="47" name="text ph-cap"/>
          <p:cNvSpPr txBox="1"/>
          <p:nvPr/>
        </p:nvSpPr>
        <p:spPr>
          <a:xfrm>
            <a:off x="9495979" y="3294102"/>
            <a:ext cx="610493" cy="151924"/>
          </a:xfrm>
          <a:prstGeom prst="rect">
            <a:avLst/>
          </a:prstGeom>
          <a:noFill/>
          <a:ln/>
        </p:spPr>
        <p:txBody>
          <a:bodyPr wrap="none" lIns="0" tIns="0" rIns="0" bIns="0" rtlCol="0" anchor="ctr"/>
          <a:lstStyle/>
          <a:p>
            <a:pPr algn="ctr" indent="0" marL="0">
              <a:buNone/>
            </a:pPr>
            <a:r>
              <a:rPr lang="en-US" sz="830" b="1" dirty="0">
                <a:solidFill>
                  <a:srgbClr val="0F172A"/>
                </a:solidFill>
                <a:latin typeface="Segoe UI" pitchFamily="34" charset="0"/>
                <a:ea typeface="Segoe UI" pitchFamily="34" charset="-122"/>
                <a:cs typeface="Segoe UI" pitchFamily="34" charset="-120"/>
              </a:rPr>
              <a:t>Chạm thẻ</a:t>
            </a:r>
            <a:endParaRPr lang="en-US" sz="830" dirty="0"/>
          </a:p>
        </p:txBody>
      </p:sp>
      <p:sp>
        <p:nvSpPr>
          <p:cNvPr id="48" name="phone __nops"/>
          <p:cNvSpPr/>
          <p:nvPr/>
        </p:nvSpPr>
        <p:spPr>
          <a:xfrm>
            <a:off x="10410825" y="1674614"/>
            <a:ext cx="952500" cy="1562100"/>
          </a:xfrm>
          <a:prstGeom prst="roundRect">
            <a:avLst>
              <a:gd name="adj" fmla="val 14000"/>
            </a:avLst>
          </a:prstGeom>
          <a:solidFill>
            <a:srgbClr val="FFFFFF"/>
          </a:solidFill>
          <a:ln w="38100">
            <a:solidFill>
              <a:srgbClr val="0F172A"/>
            </a:solidFill>
            <a:prstDash val="solid"/>
          </a:ln>
        </p:spPr>
      </p:sp>
      <p:sp>
        <p:nvSpPr>
          <p:cNvPr id="49" name="Shape 47"/>
          <p:cNvSpPr/>
          <p:nvPr/>
        </p:nvSpPr>
        <p:spPr>
          <a:xfrm>
            <a:off x="10734675" y="1731764"/>
            <a:ext cx="304800" cy="47625"/>
          </a:xfrm>
          <a:prstGeom prst="roundRect">
            <a:avLst>
              <a:gd name="adj" fmla="val 50000"/>
            </a:avLst>
          </a:prstGeom>
          <a:solidFill>
            <a:srgbClr val="0F172A"/>
          </a:solidFill>
          <a:ln/>
        </p:spPr>
      </p:sp>
      <p:sp>
        <p:nvSpPr>
          <p:cNvPr id="50" name="pbar"/>
          <p:cNvSpPr/>
          <p:nvPr/>
        </p:nvSpPr>
        <p:spPr>
          <a:xfrm>
            <a:off x="10429875" y="1693664"/>
            <a:ext cx="914400" cy="361950"/>
          </a:xfrm>
          <a:prstGeom prst="rect">
            <a:avLst/>
          </a:prstGeom>
          <a:solidFill>
            <a:srgbClr val="E11D48"/>
          </a:solidFill>
          <a:ln/>
        </p:spPr>
      </p:sp>
      <p:sp>
        <p:nvSpPr>
          <p:cNvPr id="51" name="text pbar"/>
          <p:cNvSpPr txBox="1"/>
          <p:nvPr/>
        </p:nvSpPr>
        <p:spPr>
          <a:xfrm>
            <a:off x="10477500" y="1811536"/>
            <a:ext cx="857250" cy="202406"/>
          </a:xfrm>
          <a:prstGeom prst="rect">
            <a:avLst/>
          </a:prstGeom>
          <a:noFill/>
          <a:ln/>
        </p:spPr>
        <p:txBody>
          <a:bodyPr wrap="square" lIns="0" tIns="0" rIns="0" bIns="0" rtlCol="0" anchor="ctr"/>
          <a:lstStyle/>
          <a:p>
            <a:pPr algn="ctr" indent="0" marL="0">
              <a:lnSpc>
                <a:spcPts val="800"/>
              </a:lnSpc>
              <a:buNone/>
            </a:pPr>
            <a:r>
              <a:rPr lang="en-US" sz="640" b="1" dirty="0">
                <a:solidFill>
                  <a:srgbClr val="FFFFFF"/>
                </a:solidFill>
                <a:latin typeface="Segoe UI" pitchFamily="34" charset="0"/>
                <a:ea typeface="Segoe UI" pitchFamily="34" charset="-122"/>
                <a:cs typeface="Segoe UI" pitchFamily="34" charset="-120"/>
              </a:rPr>
              <a:t>Tendoo · Visa Accept</a:t>
            </a:r>
            <a:endParaRPr lang="en-US" sz="640" dirty="0"/>
          </a:p>
        </p:txBody>
      </p:sp>
      <p:sp>
        <p:nvSpPr>
          <p:cNvPr id="52" name="text tiny"/>
          <p:cNvSpPr txBox="1"/>
          <p:nvPr/>
        </p:nvSpPr>
        <p:spPr>
          <a:xfrm>
            <a:off x="10595372" y="2181069"/>
            <a:ext cx="583406" cy="131876"/>
          </a:xfrm>
          <a:prstGeom prst="rect">
            <a:avLst/>
          </a:prstGeom>
          <a:noFill/>
          <a:ln/>
        </p:spPr>
        <p:txBody>
          <a:bodyPr wrap="none" lIns="0" tIns="0" rIns="0" bIns="0" rtlCol="0" anchor="ctr"/>
          <a:lstStyle/>
          <a:p>
            <a:pPr algn="ctr" indent="0" marL="0">
              <a:buNone/>
            </a:pPr>
            <a:r>
              <a:rPr lang="en-US" sz="720" dirty="0">
                <a:solidFill>
                  <a:srgbClr val="64748B"/>
                </a:solidFill>
                <a:latin typeface="Segoe UI Semibold" pitchFamily="34" charset="0"/>
                <a:ea typeface="Segoe UI Semibold" pitchFamily="34" charset="-122"/>
                <a:cs typeface="Segoe UI Semibold" pitchFamily="34" charset="-120"/>
              </a:rPr>
              <a:t>Đơn #1025</a:t>
            </a:r>
            <a:endParaRPr lang="en-US" sz="720" dirty="0"/>
          </a:p>
        </p:txBody>
      </p:sp>
      <p:sp>
        <p:nvSpPr>
          <p:cNvPr id="53" name="text amt"/>
          <p:cNvSpPr txBox="1"/>
          <p:nvPr/>
        </p:nvSpPr>
        <p:spPr>
          <a:xfrm>
            <a:off x="10490448" y="2348184"/>
            <a:ext cx="793254" cy="194123"/>
          </a:xfrm>
          <a:prstGeom prst="rect">
            <a:avLst/>
          </a:prstGeom>
          <a:noFill/>
          <a:ln/>
        </p:spPr>
        <p:txBody>
          <a:bodyPr wrap="none" lIns="0" tIns="0" rIns="0" bIns="0" rtlCol="0" anchor="ctr"/>
          <a:lstStyle/>
          <a:p>
            <a:pPr algn="ctr" indent="0" marL="0">
              <a:buNone/>
            </a:pPr>
            <a:r>
              <a:rPr lang="en-US" sz="1050" dirty="0">
                <a:solidFill>
                  <a:srgbClr val="0F172A"/>
                </a:solidFill>
                <a:latin typeface="Segoe UI Black" pitchFamily="34" charset="0"/>
                <a:ea typeface="Segoe UI Black" pitchFamily="34" charset="-122"/>
                <a:cs typeface="Segoe UI Black" pitchFamily="34" charset="-120"/>
              </a:rPr>
              <a:t>520.000đ</a:t>
            </a:r>
            <a:endParaRPr lang="en-US" sz="1050" dirty="0"/>
          </a:p>
        </p:txBody>
      </p:sp>
      <p:sp>
        <p:nvSpPr>
          <p:cNvPr id="54" name="fld"/>
          <p:cNvSpPr/>
          <p:nvPr/>
        </p:nvSpPr>
        <p:spPr>
          <a:xfrm>
            <a:off x="10491788" y="2578596"/>
            <a:ext cx="790575" cy="180975"/>
          </a:xfrm>
          <a:prstGeom prst="roundRect">
            <a:avLst>
              <a:gd name="adj" fmla="val 23684"/>
            </a:avLst>
          </a:prstGeom>
          <a:solidFill>
            <a:srgbClr val="FFFFFF"/>
          </a:solidFill>
          <a:ln w="9525">
            <a:solidFill>
              <a:srgbClr val="E2E8F0"/>
            </a:solidFill>
            <a:prstDash val="solid"/>
          </a:ln>
        </p:spPr>
      </p:sp>
      <p:sp>
        <p:nvSpPr>
          <p:cNvPr id="55" name="text fld"/>
          <p:cNvSpPr txBox="1"/>
          <p:nvPr/>
        </p:nvSpPr>
        <p:spPr>
          <a:xfrm>
            <a:off x="10553700" y="2610386"/>
            <a:ext cx="563463" cy="117396"/>
          </a:xfrm>
          <a:prstGeom prst="rect">
            <a:avLst/>
          </a:prstGeom>
          <a:noFill/>
          <a:ln/>
        </p:spPr>
        <p:txBody>
          <a:bodyPr wrap="none" lIns="0" tIns="0" rIns="0" bIns="0" rtlCol="0" anchor="ctr"/>
          <a:lstStyle/>
          <a:p>
            <a:pPr algn="l" indent="0" marL="0">
              <a:buNone/>
            </a:pPr>
            <a:r>
              <a:rPr lang="en-US" sz="640" dirty="0">
                <a:solidFill>
                  <a:srgbClr val="0F172A"/>
                </a:solidFill>
                <a:latin typeface="Segoe UI Black" pitchFamily="34" charset="0"/>
                <a:ea typeface="Segoe UI Black" pitchFamily="34" charset="-122"/>
                <a:cs typeface="Segoe UI Black" pitchFamily="34" charset="-120"/>
              </a:rPr>
              <a:t>pay.link/…</a:t>
            </a:r>
            <a:endParaRPr lang="en-US" sz="640" dirty="0"/>
          </a:p>
        </p:txBody>
      </p:sp>
      <p:sp>
        <p:nvSpPr>
          <p:cNvPr id="56" name="btn"/>
          <p:cNvSpPr/>
          <p:nvPr/>
        </p:nvSpPr>
        <p:spPr>
          <a:xfrm>
            <a:off x="10487025" y="2811959"/>
            <a:ext cx="800100" cy="266700"/>
          </a:xfrm>
          <a:prstGeom prst="roundRect">
            <a:avLst>
              <a:gd name="adj" fmla="val 28571"/>
            </a:avLst>
          </a:prstGeom>
          <a:solidFill>
            <a:srgbClr val="E11D48"/>
          </a:solidFill>
          <a:ln/>
        </p:spPr>
      </p:sp>
      <p:sp>
        <p:nvSpPr>
          <p:cNvPr id="57" name="text btn"/>
          <p:cNvSpPr txBox="1"/>
          <p:nvPr/>
        </p:nvSpPr>
        <p:spPr>
          <a:xfrm>
            <a:off x="10534650" y="2844105"/>
            <a:ext cx="742950" cy="202406"/>
          </a:xfrm>
          <a:prstGeom prst="rect">
            <a:avLst/>
          </a:prstGeom>
          <a:noFill/>
          <a:ln/>
        </p:spPr>
        <p:txBody>
          <a:bodyPr wrap="square" lIns="0" tIns="0" rIns="0" bIns="0" rtlCol="0" anchor="ctr"/>
          <a:lstStyle/>
          <a:p>
            <a:pPr algn="ctr" indent="0" marL="0">
              <a:lnSpc>
                <a:spcPts val="800"/>
              </a:lnSpc>
              <a:buNone/>
            </a:pPr>
            <a:r>
              <a:rPr lang="en-US" sz="640" b="1" dirty="0">
                <a:solidFill>
                  <a:srgbClr val="FFFFFF"/>
                </a:solidFill>
                <a:latin typeface="Segoe UI" pitchFamily="34" charset="0"/>
                <a:ea typeface="Segoe UI" pitchFamily="34" charset="-122"/>
                <a:cs typeface="Segoe UI" pitchFamily="34" charset="-120"/>
              </a:rPr>
              <a:t>Gửi link cho khách</a:t>
            </a:r>
            <a:endParaRPr lang="en-US" sz="640" dirty="0"/>
          </a:p>
        </p:txBody>
      </p:sp>
      <p:sp>
        <p:nvSpPr>
          <p:cNvPr id="58" name="text ph-cap"/>
          <p:cNvSpPr txBox="1"/>
          <p:nvPr/>
        </p:nvSpPr>
        <p:spPr>
          <a:xfrm>
            <a:off x="10430768" y="3294102"/>
            <a:ext cx="912614" cy="151924"/>
          </a:xfrm>
          <a:prstGeom prst="rect">
            <a:avLst/>
          </a:prstGeom>
          <a:noFill/>
          <a:ln/>
        </p:spPr>
        <p:txBody>
          <a:bodyPr wrap="none" lIns="0" tIns="0" rIns="0" bIns="0" rtlCol="0" anchor="ctr"/>
          <a:lstStyle/>
          <a:p>
            <a:pPr algn="ctr" indent="0" marL="0">
              <a:buNone/>
            </a:pPr>
            <a:r>
              <a:rPr lang="en-US" sz="830" b="1" dirty="0">
                <a:solidFill>
                  <a:srgbClr val="0F172A"/>
                </a:solidFill>
                <a:latin typeface="Segoe UI" pitchFamily="34" charset="0"/>
                <a:ea typeface="Segoe UI" pitchFamily="34" charset="-122"/>
                <a:cs typeface="Segoe UI" pitchFamily="34" charset="-120"/>
              </a:rPr>
              <a:t>Link thanh toán</a:t>
            </a:r>
            <a:endParaRPr lang="en-US" sz="830" dirty="0"/>
          </a:p>
        </p:txBody>
      </p:sp>
      <p:sp>
        <p:nvSpPr>
          <p:cNvPr id="59" name="card vb"/>
          <p:cNvSpPr/>
          <p:nvPr/>
        </p:nvSpPr>
        <p:spPr>
          <a:xfrm>
            <a:off x="5776913" y="3739604"/>
            <a:ext cx="5800725" cy="1762125"/>
          </a:xfrm>
          <a:prstGeom prst="roundRect">
            <a:avLst>
              <a:gd name="adj" fmla="val 7297"/>
            </a:avLst>
          </a:prstGeom>
          <a:solidFill>
            <a:srgbClr val="FFFFFF"/>
          </a:solidFill>
          <a:ln w="9525">
            <a:solidFill>
              <a:srgbClr val="E2E8F0"/>
            </a:solidFill>
            <a:prstDash val="solid"/>
          </a:ln>
        </p:spPr>
      </p:sp>
      <p:sp>
        <p:nvSpPr>
          <p:cNvPr id="60" name="opp-n"/>
          <p:cNvSpPr/>
          <p:nvPr/>
        </p:nvSpPr>
        <p:spPr>
          <a:xfrm>
            <a:off x="5972175" y="3896767"/>
            <a:ext cx="266700" cy="266700"/>
          </a:xfrm>
          <a:prstGeom prst="roundRect">
            <a:avLst>
              <a:gd name="adj" fmla="val 28571"/>
            </a:avLst>
          </a:prstGeom>
          <a:solidFill>
            <a:srgbClr val="E11D48"/>
          </a:solidFill>
          <a:ln/>
        </p:spPr>
      </p:sp>
      <p:sp>
        <p:nvSpPr>
          <p:cNvPr id="61" name="text opp-n"/>
          <p:cNvSpPr txBox="1"/>
          <p:nvPr/>
        </p:nvSpPr>
        <p:spPr>
          <a:xfrm>
            <a:off x="6058644" y="3933438"/>
            <a:ext cx="208062" cy="193358"/>
          </a:xfrm>
          <a:prstGeom prst="rect">
            <a:avLst/>
          </a:prstGeom>
          <a:noFill/>
          <a:ln/>
        </p:spPr>
        <p:txBody>
          <a:bodyPr wrap="none" lIns="0" tIns="0" rIns="0" bIns="0" rtlCol="0" anchor="ctr"/>
          <a:lstStyle/>
          <a:p>
            <a:pPr algn="l" indent="0" marL="0">
              <a:buNone/>
            </a:pPr>
            <a:r>
              <a:rPr lang="en-US" sz="1050" dirty="0">
                <a:solidFill>
                  <a:srgbClr val="FFFFFF"/>
                </a:solidFill>
                <a:latin typeface="Segoe UI Black" pitchFamily="34" charset="0"/>
                <a:ea typeface="Segoe UI Black" pitchFamily="34" charset="-122"/>
                <a:cs typeface="Segoe UI Black" pitchFamily="34" charset="-120"/>
              </a:rPr>
              <a:t>4</a:t>
            </a:r>
            <a:endParaRPr lang="en-US" sz="1050" dirty="0"/>
          </a:p>
        </p:txBody>
      </p:sp>
      <p:sp>
        <p:nvSpPr>
          <p:cNvPr id="62" name="text h3"/>
          <p:cNvSpPr txBox="1"/>
          <p:nvPr/>
        </p:nvSpPr>
        <p:spPr>
          <a:xfrm>
            <a:off x="6334125" y="3910977"/>
            <a:ext cx="2117268" cy="227563"/>
          </a:xfrm>
          <a:prstGeom prst="rect">
            <a:avLst/>
          </a:prstGeom>
          <a:noFill/>
          <a:ln/>
        </p:spPr>
        <p:txBody>
          <a:bodyPr wrap="none" lIns="0" tIns="0" rIns="0" bIns="0" rtlCol="0" anchor="ctr"/>
          <a:lstStyle/>
          <a:p>
            <a:pPr algn="l" indent="0" marL="0">
              <a:buNone/>
            </a:pPr>
            <a:r>
              <a:rPr lang="en-US" sz="1240" b="1" dirty="0">
                <a:solidFill>
                  <a:srgbClr val="0F172A"/>
                </a:solidFill>
                <a:latin typeface="Segoe UI" pitchFamily="34" charset="0"/>
                <a:ea typeface="Segoe UI" pitchFamily="34" charset="-122"/>
                <a:cs typeface="Segoe UI" pitchFamily="34" charset="-120"/>
              </a:rPr>
              <a:t>Lộ trình nâng gói của Visa</a:t>
            </a:r>
            <a:endParaRPr lang="en-US" sz="1240" dirty="0"/>
          </a:p>
        </p:txBody>
      </p:sp>
      <p:sp>
        <p:nvSpPr>
          <p:cNvPr id="63" name="step"/>
          <p:cNvSpPr/>
          <p:nvPr/>
        </p:nvSpPr>
        <p:spPr>
          <a:xfrm>
            <a:off x="5976938" y="4595068"/>
            <a:ext cx="1736675" cy="744736"/>
          </a:xfrm>
          <a:prstGeom prst="roundRect">
            <a:avLst>
              <a:gd name="adj" fmla="val 14708"/>
            </a:avLst>
          </a:prstGeom>
          <a:solidFill>
            <a:srgbClr val="FFF1F2"/>
          </a:solidFill>
          <a:ln w="9525">
            <a:solidFill>
              <a:srgbClr val="E11D48"/>
            </a:solidFill>
            <a:prstDash val="solid"/>
          </a:ln>
        </p:spPr>
      </p:sp>
      <p:sp>
        <p:nvSpPr>
          <p:cNvPr id="64" name="text sn"/>
          <p:cNvSpPr txBox="1"/>
          <p:nvPr/>
        </p:nvSpPr>
        <p:spPr>
          <a:xfrm>
            <a:off x="6115050" y="4685631"/>
            <a:ext cx="437852" cy="152250"/>
          </a:xfrm>
          <a:prstGeom prst="rect">
            <a:avLst/>
          </a:prstGeom>
          <a:noFill/>
          <a:ln/>
        </p:spPr>
        <p:txBody>
          <a:bodyPr wrap="none" lIns="0" tIns="0" rIns="0" bIns="0" rtlCol="0" anchor="ctr"/>
          <a:lstStyle/>
          <a:p>
            <a:pPr algn="l" indent="0" marL="0">
              <a:buNone/>
            </a:pPr>
            <a:r>
              <a:rPr lang="en-US" sz="830" b="1" spc="40" kern="0" dirty="0">
                <a:solidFill>
                  <a:srgbClr val="E11D48">
                    <a:alpha val="56000"/>
                  </a:srgbClr>
                </a:solidFill>
                <a:latin typeface="Segoe UI" pitchFamily="34" charset="0"/>
                <a:ea typeface="Segoe UI" pitchFamily="34" charset="-122"/>
                <a:cs typeface="Segoe UI" pitchFamily="34" charset="-120"/>
              </a:rPr>
              <a:t>BẬC 1</a:t>
            </a:r>
            <a:endParaRPr lang="en-US" sz="830" dirty="0"/>
          </a:p>
        </p:txBody>
      </p:sp>
      <p:sp>
        <p:nvSpPr>
          <p:cNvPr id="65" name="text st"/>
          <p:cNvSpPr txBox="1"/>
          <p:nvPr/>
        </p:nvSpPr>
        <p:spPr>
          <a:xfrm>
            <a:off x="6115050" y="4841529"/>
            <a:ext cx="1025872" cy="221454"/>
          </a:xfrm>
          <a:prstGeom prst="rect">
            <a:avLst/>
          </a:prstGeom>
          <a:noFill/>
          <a:ln/>
        </p:spPr>
        <p:txBody>
          <a:bodyPr wrap="none" lIns="0" tIns="0" rIns="0" bIns="0" rtlCol="0" anchor="ctr"/>
          <a:lstStyle/>
          <a:p>
            <a:pPr algn="l" indent="0" marL="0">
              <a:buNone/>
            </a:pPr>
            <a:r>
              <a:rPr lang="en-US" sz="1200" b="1" dirty="0">
                <a:solidFill>
                  <a:srgbClr val="0F172A"/>
                </a:solidFill>
                <a:latin typeface="Segoe UI" pitchFamily="34" charset="0"/>
                <a:ea typeface="Segoe UI" pitchFamily="34" charset="-122"/>
                <a:cs typeface="Segoe UI" pitchFamily="34" charset="-120"/>
              </a:rPr>
              <a:t>Visa Accept</a:t>
            </a:r>
            <a:endParaRPr lang="en-US" sz="1200" dirty="0"/>
          </a:p>
        </p:txBody>
      </p:sp>
      <p:sp>
        <p:nvSpPr>
          <p:cNvPr id="66" name="text sd"/>
          <p:cNvSpPr txBox="1"/>
          <p:nvPr/>
        </p:nvSpPr>
        <p:spPr>
          <a:xfrm>
            <a:off x="6115050" y="5073998"/>
            <a:ext cx="589359" cy="166090"/>
          </a:xfrm>
          <a:prstGeom prst="rect">
            <a:avLst/>
          </a:prstGeom>
          <a:noFill/>
          <a:ln/>
        </p:spPr>
        <p:txBody>
          <a:bodyPr wrap="none" lIns="0" tIns="0" rIns="0" bIns="0" rtlCol="0" anchor="ctr"/>
          <a:lstStyle/>
          <a:p>
            <a:pPr algn="l" indent="0" marL="0">
              <a:buNone/>
            </a:pPr>
            <a:r>
              <a:rPr lang="en-US" sz="900" dirty="0">
                <a:solidFill>
                  <a:srgbClr val="0F172A">
                    <a:alpha val="72000"/>
                  </a:srgbClr>
                </a:solidFill>
                <a:latin typeface="Segoe UI Semibold" pitchFamily="34" charset="0"/>
                <a:ea typeface="Segoe UI Semibold" pitchFamily="34" charset="-122"/>
                <a:cs typeface="Segoe UI Semibold" pitchFamily="34" charset="-120"/>
              </a:rPr>
              <a:t>MDR ≈ 0</a:t>
            </a:r>
            <a:endParaRPr lang="en-US" sz="900" dirty="0"/>
          </a:p>
        </p:txBody>
      </p:sp>
      <p:sp>
        <p:nvSpPr>
          <p:cNvPr id="67" name="step"/>
          <p:cNvSpPr/>
          <p:nvPr/>
        </p:nvSpPr>
        <p:spPr>
          <a:xfrm>
            <a:off x="7818388" y="4434929"/>
            <a:ext cx="1736824" cy="904875"/>
          </a:xfrm>
          <a:prstGeom prst="roundRect">
            <a:avLst>
              <a:gd name="adj" fmla="val 12105"/>
            </a:avLst>
          </a:prstGeom>
          <a:solidFill>
            <a:srgbClr val="FFFFFF"/>
          </a:solidFill>
          <a:ln w="9525">
            <a:solidFill>
              <a:srgbClr val="E2E8F0"/>
            </a:solidFill>
            <a:prstDash val="solid"/>
          </a:ln>
        </p:spPr>
      </p:sp>
      <p:sp>
        <p:nvSpPr>
          <p:cNvPr id="68" name="text sn"/>
          <p:cNvSpPr txBox="1"/>
          <p:nvPr/>
        </p:nvSpPr>
        <p:spPr>
          <a:xfrm>
            <a:off x="7956500" y="4525484"/>
            <a:ext cx="458539" cy="152265"/>
          </a:xfrm>
          <a:prstGeom prst="rect">
            <a:avLst/>
          </a:prstGeom>
          <a:noFill/>
          <a:ln/>
        </p:spPr>
        <p:txBody>
          <a:bodyPr wrap="none" lIns="0" tIns="0" rIns="0" bIns="0" rtlCol="0" anchor="ctr"/>
          <a:lstStyle/>
          <a:p>
            <a:pPr algn="l" indent="0" marL="0">
              <a:buNone/>
            </a:pPr>
            <a:r>
              <a:rPr lang="en-US" sz="830" b="1" spc="40" kern="0" dirty="0">
                <a:solidFill>
                  <a:srgbClr val="0F172A">
                    <a:alpha val="56000"/>
                  </a:srgbClr>
                </a:solidFill>
                <a:latin typeface="Segoe UI" pitchFamily="34" charset="0"/>
                <a:ea typeface="Segoe UI" pitchFamily="34" charset="-122"/>
                <a:cs typeface="Segoe UI" pitchFamily="34" charset="-120"/>
              </a:rPr>
              <a:t>BẬC 2</a:t>
            </a:r>
            <a:endParaRPr lang="en-US" sz="830" dirty="0"/>
          </a:p>
        </p:txBody>
      </p:sp>
      <p:sp>
        <p:nvSpPr>
          <p:cNvPr id="69" name="text st"/>
          <p:cNvSpPr txBox="1"/>
          <p:nvPr/>
        </p:nvSpPr>
        <p:spPr>
          <a:xfrm>
            <a:off x="7956500" y="4681379"/>
            <a:ext cx="745480" cy="221476"/>
          </a:xfrm>
          <a:prstGeom prst="rect">
            <a:avLst/>
          </a:prstGeom>
          <a:noFill/>
          <a:ln/>
        </p:spPr>
        <p:txBody>
          <a:bodyPr wrap="none" lIns="0" tIns="0" rIns="0" bIns="0" rtlCol="0" anchor="ctr"/>
          <a:lstStyle/>
          <a:p>
            <a:pPr algn="l" indent="0" marL="0">
              <a:buNone/>
            </a:pPr>
            <a:r>
              <a:rPr lang="en-US" sz="1200" b="1" dirty="0">
                <a:solidFill>
                  <a:srgbClr val="0F172A"/>
                </a:solidFill>
                <a:latin typeface="Segoe UI" pitchFamily="34" charset="0"/>
                <a:ea typeface="Segoe UI" pitchFamily="34" charset="-122"/>
                <a:cs typeface="Segoe UI" pitchFamily="34" charset="-120"/>
              </a:rPr>
              <a:t>Gói SMB</a:t>
            </a:r>
            <a:endParaRPr lang="en-US" sz="1200" dirty="0"/>
          </a:p>
        </p:txBody>
      </p:sp>
      <p:sp>
        <p:nvSpPr>
          <p:cNvPr id="70" name="text sd"/>
          <p:cNvSpPr txBox="1"/>
          <p:nvPr/>
        </p:nvSpPr>
        <p:spPr>
          <a:xfrm>
            <a:off x="7956500" y="4919346"/>
            <a:ext cx="1498699" cy="309303"/>
          </a:xfrm>
          <a:prstGeom prst="rect">
            <a:avLst/>
          </a:prstGeom>
          <a:noFill/>
          <a:ln/>
        </p:spPr>
        <p:txBody>
          <a:bodyPr wrap="square" lIns="0" tIns="0" rIns="0" bIns="0" rtlCol="0" anchor="ctr"/>
          <a:lstStyle/>
          <a:p>
            <a:pPr algn="l" indent="0" marL="0">
              <a:lnSpc>
                <a:spcPts val="1220"/>
              </a:lnSpc>
              <a:buNone/>
            </a:pPr>
            <a:r>
              <a:rPr lang="en-US" sz="900" dirty="0">
                <a:solidFill>
                  <a:srgbClr val="0F172A">
                    <a:alpha val="72000"/>
                  </a:srgbClr>
                </a:solidFill>
                <a:latin typeface="Segoe UI Semibold" pitchFamily="34" charset="0"/>
                <a:ea typeface="Segoe UI Semibold" pitchFamily="34" charset="-122"/>
                <a:cs typeface="Segoe UI Semibold" pitchFamily="34" charset="-120"/>
              </a:rPr>
              <a:t>MDR dưới 1%, ~180 triệu/tháng</a:t>
            </a:r>
            <a:endParaRPr lang="en-US" sz="900" dirty="0"/>
          </a:p>
        </p:txBody>
      </p:sp>
      <p:sp>
        <p:nvSpPr>
          <p:cNvPr id="71" name="step"/>
          <p:cNvSpPr/>
          <p:nvPr/>
        </p:nvSpPr>
        <p:spPr>
          <a:xfrm>
            <a:off x="9655225" y="4239667"/>
            <a:ext cx="1727150" cy="1104900"/>
          </a:xfrm>
          <a:prstGeom prst="roundRect">
            <a:avLst>
              <a:gd name="adj" fmla="val 10345"/>
            </a:avLst>
          </a:prstGeom>
          <a:solidFill>
            <a:srgbClr val="0F172A"/>
          </a:solidFill>
          <a:ln/>
        </p:spPr>
      </p:sp>
      <p:sp>
        <p:nvSpPr>
          <p:cNvPr id="72" name="text sn"/>
          <p:cNvSpPr txBox="1"/>
          <p:nvPr/>
        </p:nvSpPr>
        <p:spPr>
          <a:xfrm>
            <a:off x="9788575" y="4325467"/>
            <a:ext cx="460474" cy="152250"/>
          </a:xfrm>
          <a:prstGeom prst="rect">
            <a:avLst/>
          </a:prstGeom>
          <a:noFill/>
          <a:ln/>
        </p:spPr>
        <p:txBody>
          <a:bodyPr wrap="none" lIns="0" tIns="0" rIns="0" bIns="0" rtlCol="0" anchor="ctr"/>
          <a:lstStyle/>
          <a:p>
            <a:pPr algn="l" indent="0" marL="0">
              <a:buNone/>
            </a:pPr>
            <a:r>
              <a:rPr lang="en-US" sz="830" b="1" spc="40" kern="0" dirty="0">
                <a:solidFill>
                  <a:srgbClr val="FFFFFF">
                    <a:alpha val="56000"/>
                  </a:srgbClr>
                </a:solidFill>
                <a:latin typeface="Segoe UI" pitchFamily="34" charset="0"/>
                <a:ea typeface="Segoe UI" pitchFamily="34" charset="-122"/>
                <a:cs typeface="Segoe UI" pitchFamily="34" charset="-120"/>
              </a:rPr>
              <a:t>BẬC 3</a:t>
            </a:r>
            <a:endParaRPr lang="en-US" sz="830" dirty="0"/>
          </a:p>
        </p:txBody>
      </p:sp>
      <p:sp>
        <p:nvSpPr>
          <p:cNvPr id="73" name="text st"/>
          <p:cNvSpPr txBox="1"/>
          <p:nvPr/>
        </p:nvSpPr>
        <p:spPr>
          <a:xfrm>
            <a:off x="9788575" y="4481365"/>
            <a:ext cx="1336477" cy="221454"/>
          </a:xfrm>
          <a:prstGeom prst="rect">
            <a:avLst/>
          </a:prstGeom>
          <a:noFill/>
          <a:ln/>
        </p:spPr>
        <p:txBody>
          <a:bodyPr wrap="none" lIns="0" tIns="0" rIns="0" bIns="0" rtlCol="0" anchor="ctr"/>
          <a:lstStyle/>
          <a:p>
            <a:pPr algn="l" indent="0" marL="0">
              <a:buNone/>
            </a:pPr>
            <a:r>
              <a:rPr lang="en-US" sz="1200" b="1" dirty="0">
                <a:solidFill>
                  <a:srgbClr val="FFFFFF"/>
                </a:solidFill>
                <a:latin typeface="Segoe UI" pitchFamily="34" charset="0"/>
                <a:ea typeface="Segoe UI" pitchFamily="34" charset="-122"/>
                <a:cs typeface="Segoe UI" pitchFamily="34" charset="-120"/>
              </a:rPr>
              <a:t>Nhận thẻ đầy đủ</a:t>
            </a:r>
            <a:endParaRPr lang="en-US" sz="1200" dirty="0"/>
          </a:p>
        </p:txBody>
      </p:sp>
      <p:sp>
        <p:nvSpPr>
          <p:cNvPr id="74" name="text sd"/>
          <p:cNvSpPr txBox="1"/>
          <p:nvPr/>
        </p:nvSpPr>
        <p:spPr>
          <a:xfrm>
            <a:off x="9788575" y="4719336"/>
            <a:ext cx="1498550" cy="309272"/>
          </a:xfrm>
          <a:prstGeom prst="rect">
            <a:avLst/>
          </a:prstGeom>
          <a:noFill/>
          <a:ln/>
        </p:spPr>
        <p:txBody>
          <a:bodyPr wrap="square" lIns="0" tIns="0" rIns="0" bIns="0" rtlCol="0" anchor="ctr"/>
          <a:lstStyle/>
          <a:p>
            <a:pPr algn="l" indent="0" marL="0">
              <a:lnSpc>
                <a:spcPts val="1220"/>
              </a:lnSpc>
              <a:buNone/>
            </a:pPr>
            <a:r>
              <a:rPr lang="en-US" sz="900" dirty="0">
                <a:solidFill>
                  <a:srgbClr val="FFFFFF">
                    <a:alpha val="72000"/>
                  </a:srgbClr>
                </a:solidFill>
                <a:latin typeface="Segoe UI Semibold" pitchFamily="34" charset="0"/>
                <a:ea typeface="Segoe UI Semibold" pitchFamily="34" charset="-122"/>
                <a:cs typeface="Segoe UI Semibold" pitchFamily="34" charset="-120"/>
              </a:rPr>
              <a:t>Biểu phí chuẩn, không giới hạn</a:t>
            </a:r>
            <a:endParaRPr lang="en-US" sz="900" dirty="0"/>
          </a:p>
        </p:txBody>
      </p:sp>
      <p:sp>
        <p:nvSpPr>
          <p:cNvPr id="75" name="takeaway __nops"/>
          <p:cNvSpPr/>
          <p:nvPr/>
        </p:nvSpPr>
        <p:spPr>
          <a:xfrm>
            <a:off x="614363" y="5623322"/>
            <a:ext cx="10963275" cy="525066"/>
          </a:xfrm>
          <a:prstGeom prst="roundRect">
            <a:avLst>
              <a:gd name="adj" fmla="val 24490"/>
            </a:avLst>
          </a:prstGeom>
          <a:solidFill>
            <a:srgbClr val="EEFBF3"/>
          </a:solidFill>
          <a:ln w="9525">
            <a:solidFill>
              <a:srgbClr val="86EFAC"/>
            </a:solidFill>
            <a:prstDash val="solid"/>
          </a:ln>
        </p:spPr>
      </p:sp>
      <p:sp>
        <p:nvSpPr>
          <p:cNvPr id="76" name="text takeaway __nops"/>
          <p:cNvSpPr txBox="1"/>
          <p:nvPr/>
        </p:nvSpPr>
        <p:spPr>
          <a:xfrm>
            <a:off x="1152525" y="5767864"/>
            <a:ext cx="5371338" cy="234791"/>
          </a:xfrm>
          <a:prstGeom prst="rect">
            <a:avLst/>
          </a:prstGeom>
          <a:noFill/>
          <a:ln/>
        </p:spPr>
        <p:txBody>
          <a:bodyPr wrap="none" lIns="0" tIns="0" rIns="0" bIns="0" rtlCol="0" anchor="ctr"/>
          <a:lstStyle/>
          <a:p>
            <a:pPr algn="l" indent="0" marL="0">
              <a:buNone/>
            </a:pPr>
            <a:r>
              <a:rPr lang="en-US" sz="1280" b="1" dirty="0">
                <a:solidFill>
                  <a:srgbClr val="0F172A"/>
                </a:solidFill>
                <a:latin typeface="Segoe UI" pitchFamily="34" charset="0"/>
                <a:ea typeface="Segoe UI" pitchFamily="34" charset="-122"/>
                <a:cs typeface="Segoe UI" pitchFamily="34" charset="-120"/>
              </a:rPr>
              <a:t>Bắt đầu với chi phí gần như bằng 0, </a:t>
            </a:r>
            <a:pPr algn="l" indent="0" marL="0">
              <a:buNone/>
            </a:pPr>
            <a:r>
              <a:rPr lang="en-US" sz="1280" b="1" dirty="0">
                <a:solidFill>
                  <a:srgbClr val="15803D"/>
                </a:solidFill>
                <a:latin typeface="Segoe UI" pitchFamily="34" charset="0"/>
                <a:ea typeface="Segoe UI" pitchFamily="34" charset="-122"/>
                <a:cs typeface="Segoe UI" pitchFamily="34" charset="-120"/>
              </a:rPr>
              <a:t>lớn lên theo lộ trình của Visa.</a:t>
            </a:r>
            <a:endParaRPr lang="en-US" sz="1280" dirty="0"/>
          </a:p>
        </p:txBody>
      </p:sp>
      <p:pic>
        <p:nvPicPr>
          <p:cNvPr id="77" name="graphic SPAN" descr="SPAN">    </p:cNvPr>
          <p:cNvPicPr>
            <a:picLocks noChangeAspect="1"/>
          </p:cNvPicPr>
          <p:nvPr/>
        </p:nvPicPr>
        <p:blipFill>
          <a:blip r:embed="rId1"/>
          <a:stretch>
            <a:fillRect/>
          </a:stretch>
        </p:blipFill>
        <p:spPr>
          <a:xfrm>
            <a:off x="828675" y="5790605"/>
            <a:ext cx="152400" cy="190500"/>
          </a:xfrm>
          <a:prstGeom prst="rect">
            <a:avLst/>
          </a:prstGeom>
        </p:spPr>
      </p:pic>
      <p:sp>
        <p:nvSpPr>
          <p:cNvPr id="78" name="text source"/>
          <p:cNvSpPr txBox="1"/>
          <p:nvPr/>
        </p:nvSpPr>
        <p:spPr>
          <a:xfrm>
            <a:off x="609600" y="6492427"/>
            <a:ext cx="1240334" cy="152205"/>
          </a:xfrm>
          <a:prstGeom prst="rect">
            <a:avLst/>
          </a:prstGeom>
          <a:noFill/>
          <a:ln/>
        </p:spPr>
        <p:txBody>
          <a:bodyPr wrap="none" lIns="0" tIns="0" rIns="0" bIns="0" rtlCol="0" anchor="ctr"/>
          <a:lstStyle/>
          <a:p>
            <a:pPr algn="l" indent="0" marL="0">
              <a:buNone/>
            </a:pPr>
            <a:r>
              <a:rPr lang="en-US" sz="830" dirty="0">
                <a:solidFill>
                  <a:srgbClr val="94A3B8"/>
                </a:solidFill>
                <a:latin typeface="Segoe UI Semibold" pitchFamily="34" charset="0"/>
                <a:ea typeface="Segoe UI Semibold" pitchFamily="34" charset="-122"/>
                <a:cs typeface="Segoe UI Semibold" pitchFamily="34" charset="-120"/>
              </a:rPr>
              <a:t>Nguồn: Visa, 10/2026.</a:t>
            </a:r>
            <a:endParaRPr lang="en-US" sz="830" dirty="0"/>
          </a:p>
        </p:txBody>
      </p:sp>
      <p:sp>
        <p:nvSpPr>
          <p:cNvPr id="79" name="mk"/>
          <p:cNvSpPr/>
          <p:nvPr/>
        </p:nvSpPr>
        <p:spPr>
          <a:xfrm>
            <a:off x="10796588" y="6343650"/>
            <a:ext cx="323850" cy="323850"/>
          </a:xfrm>
          <a:prstGeom prst="ellipse">
            <a:avLst/>
          </a:prstGeom>
          <a:solidFill>
            <a:srgbClr val="F0001E"/>
          </a:solidFill>
          <a:ln/>
        </p:spPr>
      </p:sp>
      <p:sp>
        <p:nvSpPr>
          <p:cNvPr id="80" name="Shape 77"/>
          <p:cNvSpPr/>
          <p:nvPr/>
        </p:nvSpPr>
        <p:spPr>
          <a:xfrm>
            <a:off x="10910888" y="6424613"/>
            <a:ext cx="95250" cy="161925"/>
          </a:xfrm>
          <a:prstGeom prst="roundRect">
            <a:avLst>
              <a:gd name="adj" fmla="val 25000"/>
            </a:avLst>
          </a:prstGeom>
          <a:ln w="19050">
            <a:solidFill>
              <a:srgbClr val="FFFFFF"/>
            </a:solidFill>
            <a:prstDash val="solid"/>
          </a:ln>
        </p:spPr>
      </p:sp>
      <p:sp>
        <p:nvSpPr>
          <p:cNvPr id="81"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82"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83" name="text pno"/>
          <p:cNvSpPr txBox="1"/>
          <p:nvPr/>
        </p:nvSpPr>
        <p:spPr>
          <a:xfrm>
            <a:off x="10523339" y="6416750"/>
            <a:ext cx="239911" cy="168125"/>
          </a:xfrm>
          <a:prstGeom prst="rect">
            <a:avLst/>
          </a:prstGeom>
          <a:noFill/>
          <a:ln/>
        </p:spPr>
        <p:txBody>
          <a:bodyPr wrap="none" lIns="0" tIns="0" rIns="0" bIns="0" rtlCol="0" anchor="ctr"/>
          <a:lstStyle/>
          <a:p>
            <a:pPr algn="l" indent="0" marL="0">
              <a:buNone/>
            </a:pPr>
            <a:r>
              <a:rPr lang="en-US" sz="910" b="1" dirty="0">
                <a:solidFill>
                  <a:srgbClr val="CBD5E1"/>
                </a:solidFill>
                <a:latin typeface="Segoe UI" pitchFamily="34" charset="0"/>
                <a:ea typeface="Segoe UI" pitchFamily="34" charset="-122"/>
                <a:cs typeface="Segoe UI" pitchFamily="34" charset="-120"/>
              </a:rPr>
              <a:t>13</a:t>
            </a:r>
            <a:endParaRPr lang="en-US" sz="91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3591514"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GIẢI PHÁP CHI TIẾT 1B · OFFLINE: VIETQR GLOBAL</a:t>
            </a:r>
            <a:endParaRPr lang="en-US" sz="1050" dirty="0"/>
          </a:p>
        </p:txBody>
      </p:sp>
      <p:sp>
        <p:nvSpPr>
          <p:cNvPr id="3" name="text title"/>
          <p:cNvSpPr txBox="1"/>
          <p:nvPr/>
        </p:nvSpPr>
        <p:spPr>
          <a:xfrm>
            <a:off x="609600" y="581263"/>
            <a:ext cx="10696611"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VietQR Global: khách </a:t>
            </a:r>
            <a:pPr algn="l" indent="0" marL="0">
              <a:buNone/>
            </a:pPr>
            <a:r>
              <a:rPr lang="en-US" sz="2330" b="1" spc="-30" kern="0" dirty="0">
                <a:solidFill>
                  <a:srgbClr val="E11D48"/>
                </a:solidFill>
                <a:latin typeface="Segoe UI" pitchFamily="34" charset="0"/>
                <a:ea typeface="Segoe UI" pitchFamily="34" charset="-122"/>
                <a:cs typeface="Segoe UI" pitchFamily="34" charset="-120"/>
              </a:rPr>
              <a:t>quét QR bằng app nước mình</a:t>
            </a:r>
            <a:pPr algn="l" indent="0" marL="0">
              <a:buNone/>
            </a:pPr>
            <a:r>
              <a:rPr lang="en-US" sz="2330" b="1" spc="-30" kern="0" dirty="0">
                <a:solidFill>
                  <a:srgbClr val="0F172A"/>
                </a:solidFill>
                <a:latin typeface="Segoe UI" pitchFamily="34" charset="0"/>
                <a:ea typeface="Segoe UI" pitchFamily="34" charset="-122"/>
                <a:cs typeface="Segoe UI" pitchFamily="34" charset="-120"/>
              </a:rPr>
              <a:t>, cửa hàng nhận VND</a:t>
            </a:r>
            <a:endParaRPr lang="en-US" sz="2330" dirty="0"/>
          </a:p>
        </p:txBody>
      </p:sp>
      <p:sp>
        <p:nvSpPr>
          <p:cNvPr id="4" name="card vb"/>
          <p:cNvSpPr/>
          <p:nvPr/>
        </p:nvSpPr>
        <p:spPr>
          <a:xfrm>
            <a:off x="614363" y="1174552"/>
            <a:ext cx="5019675" cy="1544687"/>
          </a:xfrm>
          <a:prstGeom prst="roundRect">
            <a:avLst>
              <a:gd name="adj" fmla="val 8325"/>
            </a:avLst>
          </a:prstGeom>
          <a:solidFill>
            <a:srgbClr val="FFFFFF"/>
          </a:solidFill>
          <a:ln w="9525">
            <a:solidFill>
              <a:srgbClr val="E2E8F0"/>
            </a:solidFill>
            <a:prstDash val="solid"/>
          </a:ln>
        </p:spPr>
      </p:sp>
      <p:sp>
        <p:nvSpPr>
          <p:cNvPr id="5" name="opp-n"/>
          <p:cNvSpPr/>
          <p:nvPr/>
        </p:nvSpPr>
        <p:spPr>
          <a:xfrm>
            <a:off x="809625" y="1331714"/>
            <a:ext cx="266700" cy="266700"/>
          </a:xfrm>
          <a:prstGeom prst="roundRect">
            <a:avLst>
              <a:gd name="adj" fmla="val 28571"/>
            </a:avLst>
          </a:prstGeom>
          <a:solidFill>
            <a:srgbClr val="E11D48"/>
          </a:solidFill>
          <a:ln/>
        </p:spPr>
      </p:sp>
      <p:sp>
        <p:nvSpPr>
          <p:cNvPr id="6" name="text opp-n"/>
          <p:cNvSpPr txBox="1"/>
          <p:nvPr/>
        </p:nvSpPr>
        <p:spPr>
          <a:xfrm>
            <a:off x="912763" y="1368385"/>
            <a:ext cx="174724" cy="193358"/>
          </a:xfrm>
          <a:prstGeom prst="rect">
            <a:avLst/>
          </a:prstGeom>
          <a:noFill/>
          <a:ln/>
        </p:spPr>
        <p:txBody>
          <a:bodyPr wrap="none" lIns="0" tIns="0" rIns="0" bIns="0" rtlCol="0" anchor="ctr"/>
          <a:lstStyle/>
          <a:p>
            <a:pPr algn="l" indent="0" marL="0">
              <a:buNone/>
            </a:pPr>
            <a:r>
              <a:rPr lang="en-US" sz="1050" dirty="0">
                <a:solidFill>
                  <a:srgbClr val="FFFFFF"/>
                </a:solidFill>
                <a:latin typeface="Segoe UI Black" pitchFamily="34" charset="0"/>
                <a:ea typeface="Segoe UI Black" pitchFamily="34" charset="-122"/>
                <a:cs typeface="Segoe UI Black" pitchFamily="34" charset="-120"/>
              </a:rPr>
              <a:t>1</a:t>
            </a:r>
            <a:endParaRPr lang="en-US" sz="1050" dirty="0"/>
          </a:p>
        </p:txBody>
      </p:sp>
      <p:sp>
        <p:nvSpPr>
          <p:cNvPr id="7" name="text h3"/>
          <p:cNvSpPr txBox="1"/>
          <p:nvPr/>
        </p:nvSpPr>
        <p:spPr>
          <a:xfrm>
            <a:off x="1171575" y="1345609"/>
            <a:ext cx="1544985" cy="228194"/>
          </a:xfrm>
          <a:prstGeom prst="rect">
            <a:avLst/>
          </a:prstGeom>
          <a:noFill/>
          <a:ln/>
        </p:spPr>
        <p:txBody>
          <a:bodyPr wrap="none" lIns="0" tIns="0" rIns="0" bIns="0" rtlCol="0" anchor="ctr"/>
          <a:lstStyle/>
          <a:p>
            <a:pPr algn="l" indent="0" marL="0">
              <a:buNone/>
            </a:pPr>
            <a:r>
              <a:rPr lang="en-US" sz="1240" b="1" dirty="0">
                <a:solidFill>
                  <a:srgbClr val="0F172A"/>
                </a:solidFill>
                <a:latin typeface="Segoe UI" pitchFamily="34" charset="0"/>
                <a:ea typeface="Segoe UI" pitchFamily="34" charset="-122"/>
                <a:cs typeface="Segoe UI" pitchFamily="34" charset="-120"/>
              </a:rPr>
              <a:t>VietQR Global là gì</a:t>
            </a:r>
            <a:endParaRPr lang="en-US" sz="1240" dirty="0"/>
          </a:p>
        </p:txBody>
      </p:sp>
      <p:sp>
        <p:nvSpPr>
          <p:cNvPr id="8" name="text __nops"/>
          <p:cNvSpPr txBox="1"/>
          <p:nvPr/>
        </p:nvSpPr>
        <p:spPr>
          <a:xfrm>
            <a:off x="962025" y="1726049"/>
            <a:ext cx="2852735"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Mạng QR xuyên biên giới của NAPAS</a:t>
            </a:r>
            <a:endParaRPr lang="en-US" sz="1200" dirty="0"/>
          </a:p>
        </p:txBody>
      </p:sp>
      <p:sp>
        <p:nvSpPr>
          <p:cNvPr id="9" name="Shape 7"/>
          <p:cNvSpPr/>
          <p:nvPr/>
        </p:nvSpPr>
        <p:spPr>
          <a:xfrm>
            <a:off x="819150" y="1807964"/>
            <a:ext cx="57150" cy="57150"/>
          </a:xfrm>
          <a:prstGeom prst="ellipse">
            <a:avLst/>
          </a:prstGeom>
          <a:solidFill>
            <a:srgbClr val="334155"/>
          </a:solidFill>
          <a:ln/>
        </p:spPr>
      </p:sp>
      <p:sp>
        <p:nvSpPr>
          <p:cNvPr id="10" name="text __nops"/>
          <p:cNvSpPr txBox="1"/>
          <p:nvPr/>
        </p:nvSpPr>
        <p:spPr>
          <a:xfrm>
            <a:off x="962025" y="2034570"/>
            <a:ext cx="2098810"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Tích hợp trong app Tendoo</a:t>
            </a:r>
            <a:endParaRPr lang="en-US" sz="1200" dirty="0"/>
          </a:p>
        </p:txBody>
      </p:sp>
      <p:sp>
        <p:nvSpPr>
          <p:cNvPr id="11" name="Shape 9"/>
          <p:cNvSpPr/>
          <p:nvPr/>
        </p:nvSpPr>
        <p:spPr>
          <a:xfrm>
            <a:off x="819150" y="2116485"/>
            <a:ext cx="57150" cy="57150"/>
          </a:xfrm>
          <a:prstGeom prst="ellipse">
            <a:avLst/>
          </a:prstGeom>
          <a:solidFill>
            <a:srgbClr val="334155"/>
          </a:solidFill>
          <a:ln/>
        </p:spPr>
      </p:sp>
      <p:sp>
        <p:nvSpPr>
          <p:cNvPr id="12" name="text __nops"/>
          <p:cNvSpPr txBox="1"/>
          <p:nvPr/>
        </p:nvSpPr>
        <p:spPr>
          <a:xfrm>
            <a:off x="962025" y="2343090"/>
            <a:ext cx="3613285"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Khách quét bằng ví, app ngân hàng nước mình</a:t>
            </a:r>
            <a:endParaRPr lang="en-US" sz="1200" dirty="0"/>
          </a:p>
        </p:txBody>
      </p:sp>
      <p:sp>
        <p:nvSpPr>
          <p:cNvPr id="13" name="Shape 11"/>
          <p:cNvSpPr/>
          <p:nvPr/>
        </p:nvSpPr>
        <p:spPr>
          <a:xfrm>
            <a:off x="819150" y="2425005"/>
            <a:ext cx="57150" cy="57150"/>
          </a:xfrm>
          <a:prstGeom prst="ellipse">
            <a:avLst/>
          </a:prstGeom>
          <a:solidFill>
            <a:srgbClr val="334155"/>
          </a:solidFill>
          <a:ln/>
        </p:spPr>
      </p:sp>
      <p:sp>
        <p:nvSpPr>
          <p:cNvPr id="14" name="card vb"/>
          <p:cNvSpPr/>
          <p:nvPr/>
        </p:nvSpPr>
        <p:spPr>
          <a:xfrm>
            <a:off x="614363" y="2862114"/>
            <a:ext cx="5019675" cy="2618333"/>
          </a:xfrm>
          <a:prstGeom prst="roundRect">
            <a:avLst>
              <a:gd name="adj" fmla="val 4911"/>
            </a:avLst>
          </a:prstGeom>
          <a:solidFill>
            <a:srgbClr val="FFFFFF"/>
          </a:solidFill>
          <a:ln w="9525">
            <a:solidFill>
              <a:srgbClr val="E2E8F0"/>
            </a:solidFill>
            <a:prstDash val="solid"/>
          </a:ln>
        </p:spPr>
      </p:sp>
      <p:sp>
        <p:nvSpPr>
          <p:cNvPr id="15" name="opp-n"/>
          <p:cNvSpPr/>
          <p:nvPr/>
        </p:nvSpPr>
        <p:spPr>
          <a:xfrm>
            <a:off x="809625" y="3019276"/>
            <a:ext cx="266700" cy="266700"/>
          </a:xfrm>
          <a:prstGeom prst="roundRect">
            <a:avLst>
              <a:gd name="adj" fmla="val 28571"/>
            </a:avLst>
          </a:prstGeom>
          <a:solidFill>
            <a:srgbClr val="E11D48"/>
          </a:solidFill>
          <a:ln/>
        </p:spPr>
      </p:sp>
      <p:sp>
        <p:nvSpPr>
          <p:cNvPr id="16" name="text opp-n"/>
          <p:cNvSpPr txBox="1"/>
          <p:nvPr/>
        </p:nvSpPr>
        <p:spPr>
          <a:xfrm>
            <a:off x="898327" y="3055947"/>
            <a:ext cx="203597" cy="193358"/>
          </a:xfrm>
          <a:prstGeom prst="rect">
            <a:avLst/>
          </a:prstGeom>
          <a:noFill/>
          <a:ln/>
        </p:spPr>
        <p:txBody>
          <a:bodyPr wrap="none" lIns="0" tIns="0" rIns="0" bIns="0" rtlCol="0" anchor="ctr"/>
          <a:lstStyle/>
          <a:p>
            <a:pPr algn="l" indent="0" marL="0">
              <a:buNone/>
            </a:pPr>
            <a:r>
              <a:rPr lang="en-US" sz="1050" dirty="0">
                <a:solidFill>
                  <a:srgbClr val="FFFFFF"/>
                </a:solidFill>
                <a:latin typeface="Segoe UI Black" pitchFamily="34" charset="0"/>
                <a:ea typeface="Segoe UI Black" pitchFamily="34" charset="-122"/>
                <a:cs typeface="Segoe UI Black" pitchFamily="34" charset="-120"/>
              </a:rPr>
              <a:t>3</a:t>
            </a:r>
            <a:endParaRPr lang="en-US" sz="1050" dirty="0"/>
          </a:p>
        </p:txBody>
      </p:sp>
      <p:sp>
        <p:nvSpPr>
          <p:cNvPr id="17" name="text h3"/>
          <p:cNvSpPr txBox="1"/>
          <p:nvPr/>
        </p:nvSpPr>
        <p:spPr>
          <a:xfrm>
            <a:off x="1171575" y="3033326"/>
            <a:ext cx="2009775" cy="227886"/>
          </a:xfrm>
          <a:prstGeom prst="rect">
            <a:avLst/>
          </a:prstGeom>
          <a:noFill/>
          <a:ln/>
        </p:spPr>
        <p:txBody>
          <a:bodyPr wrap="none" lIns="0" tIns="0" rIns="0" bIns="0" rtlCol="0" anchor="ctr"/>
          <a:lstStyle/>
          <a:p>
            <a:pPr algn="l" indent="0" marL="0">
              <a:buNone/>
            </a:pPr>
            <a:r>
              <a:rPr lang="en-US" sz="1240" b="1" dirty="0">
                <a:solidFill>
                  <a:srgbClr val="0F172A"/>
                </a:solidFill>
                <a:latin typeface="Segoe UI" pitchFamily="34" charset="0"/>
                <a:ea typeface="Segoe UI" pitchFamily="34" charset="-122"/>
                <a:cs typeface="Segoe UI" pitchFamily="34" charset="-120"/>
              </a:rPr>
              <a:t>Khách từ đâu dùng được</a:t>
            </a:r>
            <a:endParaRPr lang="en-US" sz="1240" dirty="0"/>
          </a:p>
        </p:txBody>
      </p:sp>
      <p:sp>
        <p:nvSpPr>
          <p:cNvPr id="18" name="text label"/>
          <p:cNvSpPr txBox="1"/>
          <p:nvPr/>
        </p:nvSpPr>
        <p:spPr>
          <a:xfrm>
            <a:off x="809625" y="3350746"/>
            <a:ext cx="1403598" cy="165735"/>
          </a:xfrm>
          <a:prstGeom prst="rect">
            <a:avLst/>
          </a:prstGeom>
          <a:noFill/>
          <a:ln/>
        </p:spPr>
        <p:txBody>
          <a:bodyPr wrap="none" lIns="0" tIns="0" rIns="0" bIns="0" rtlCol="0" anchor="ctr"/>
          <a:lstStyle/>
          <a:p>
            <a:pPr algn="l" indent="0" marL="0">
              <a:buNone/>
            </a:pPr>
            <a:r>
              <a:rPr lang="en-US" sz="900" b="1" spc="40" kern="0" dirty="0">
                <a:solidFill>
                  <a:srgbClr val="64748B"/>
                </a:solidFill>
                <a:latin typeface="Segoe UI" pitchFamily="34" charset="0"/>
                <a:ea typeface="Segoe UI" pitchFamily="34" charset="-122"/>
                <a:cs typeface="Segoe UI" pitchFamily="34" charset="-120"/>
              </a:rPr>
              <a:t>ĐÃ KẾT NỐI · 6 NƯỚC</a:t>
            </a:r>
            <a:endParaRPr lang="en-US" sz="900" dirty="0"/>
          </a:p>
        </p:txBody>
      </p:sp>
      <p:sp>
        <p:nvSpPr>
          <p:cNvPr id="19" name="chip ok"/>
          <p:cNvSpPr/>
          <p:nvPr/>
        </p:nvSpPr>
        <p:spPr>
          <a:xfrm>
            <a:off x="814388" y="3566964"/>
            <a:ext cx="965448" cy="257175"/>
          </a:xfrm>
          <a:prstGeom prst="roundRect">
            <a:avLst>
              <a:gd name="adj" fmla="val 50000"/>
            </a:avLst>
          </a:prstGeom>
          <a:solidFill>
            <a:srgbClr val="DCFCE7"/>
          </a:solidFill>
          <a:ln w="9525">
            <a:solidFill>
              <a:srgbClr val="86EFAC"/>
            </a:solidFill>
            <a:prstDash val="solid"/>
          </a:ln>
        </p:spPr>
      </p:sp>
      <p:sp>
        <p:nvSpPr>
          <p:cNvPr id="20" name="text chip ok"/>
          <p:cNvSpPr txBox="1"/>
          <p:nvPr/>
        </p:nvSpPr>
        <p:spPr>
          <a:xfrm>
            <a:off x="933450" y="3605462"/>
            <a:ext cx="841623" cy="180179"/>
          </a:xfrm>
          <a:prstGeom prst="rect">
            <a:avLst/>
          </a:prstGeom>
          <a:noFill/>
          <a:ln/>
        </p:spPr>
        <p:txBody>
          <a:bodyPr wrap="none" lIns="0" tIns="0" rIns="0" bIns="0" rtlCol="0" anchor="ctr"/>
          <a:lstStyle/>
          <a:p>
            <a:pPr algn="l" indent="0" marL="0">
              <a:buNone/>
            </a:pPr>
            <a:r>
              <a:rPr lang="en-US" sz="980" dirty="0">
                <a:solidFill>
                  <a:srgbClr val="166534"/>
                </a:solidFill>
                <a:latin typeface="Segoe UI Black" pitchFamily="34" charset="0"/>
                <a:ea typeface="Segoe UI Black" pitchFamily="34" charset="-122"/>
                <a:cs typeface="Segoe UI Black" pitchFamily="34" charset="-120"/>
              </a:rPr>
              <a:t>Trung Quốc</a:t>
            </a:r>
            <a:endParaRPr lang="en-US" sz="980" dirty="0"/>
          </a:p>
        </p:txBody>
      </p:sp>
      <p:sp>
        <p:nvSpPr>
          <p:cNvPr id="21" name="chip ok"/>
          <p:cNvSpPr/>
          <p:nvPr/>
        </p:nvSpPr>
        <p:spPr>
          <a:xfrm>
            <a:off x="1846511" y="3566964"/>
            <a:ext cx="839986" cy="257175"/>
          </a:xfrm>
          <a:prstGeom prst="roundRect">
            <a:avLst>
              <a:gd name="adj" fmla="val 50000"/>
            </a:avLst>
          </a:prstGeom>
          <a:solidFill>
            <a:srgbClr val="DCFCE7"/>
          </a:solidFill>
          <a:ln w="9525">
            <a:solidFill>
              <a:srgbClr val="86EFAC"/>
            </a:solidFill>
            <a:prstDash val="solid"/>
          </a:ln>
        </p:spPr>
      </p:sp>
      <p:sp>
        <p:nvSpPr>
          <p:cNvPr id="22" name="text chip ok"/>
          <p:cNvSpPr txBox="1"/>
          <p:nvPr/>
        </p:nvSpPr>
        <p:spPr>
          <a:xfrm>
            <a:off x="1965573" y="3605589"/>
            <a:ext cx="716161" cy="179925"/>
          </a:xfrm>
          <a:prstGeom prst="rect">
            <a:avLst/>
          </a:prstGeom>
          <a:noFill/>
          <a:ln/>
        </p:spPr>
        <p:txBody>
          <a:bodyPr wrap="none" lIns="0" tIns="0" rIns="0" bIns="0" rtlCol="0" anchor="ctr"/>
          <a:lstStyle/>
          <a:p>
            <a:pPr algn="l" indent="0" marL="0">
              <a:buNone/>
            </a:pPr>
            <a:r>
              <a:rPr lang="en-US" sz="980" dirty="0">
                <a:solidFill>
                  <a:srgbClr val="166534"/>
                </a:solidFill>
                <a:latin typeface="Segoe UI Black" pitchFamily="34" charset="0"/>
                <a:ea typeface="Segoe UI Black" pitchFamily="34" charset="-122"/>
                <a:cs typeface="Segoe UI Black" pitchFamily="34" charset="-120"/>
              </a:rPr>
              <a:t>Hàn Quốc</a:t>
            </a:r>
            <a:endParaRPr lang="en-US" sz="980" dirty="0"/>
          </a:p>
        </p:txBody>
      </p:sp>
      <p:sp>
        <p:nvSpPr>
          <p:cNvPr id="23" name="chip ok"/>
          <p:cNvSpPr/>
          <p:nvPr/>
        </p:nvSpPr>
        <p:spPr>
          <a:xfrm>
            <a:off x="2753171" y="3566964"/>
            <a:ext cx="763191" cy="257175"/>
          </a:xfrm>
          <a:prstGeom prst="roundRect">
            <a:avLst>
              <a:gd name="adj" fmla="val 50000"/>
            </a:avLst>
          </a:prstGeom>
          <a:solidFill>
            <a:srgbClr val="DCFCE7"/>
          </a:solidFill>
          <a:ln w="9525">
            <a:solidFill>
              <a:srgbClr val="86EFAC"/>
            </a:solidFill>
            <a:prstDash val="solid"/>
          </a:ln>
        </p:spPr>
      </p:sp>
      <p:sp>
        <p:nvSpPr>
          <p:cNvPr id="24" name="text chip ok"/>
          <p:cNvSpPr txBox="1"/>
          <p:nvPr/>
        </p:nvSpPr>
        <p:spPr>
          <a:xfrm>
            <a:off x="2872234" y="3605640"/>
            <a:ext cx="639366" cy="179823"/>
          </a:xfrm>
          <a:prstGeom prst="rect">
            <a:avLst/>
          </a:prstGeom>
          <a:noFill/>
          <a:ln/>
        </p:spPr>
        <p:txBody>
          <a:bodyPr wrap="none" lIns="0" tIns="0" rIns="0" bIns="0" rtlCol="0" anchor="ctr"/>
          <a:lstStyle/>
          <a:p>
            <a:pPr algn="l" indent="0" marL="0">
              <a:buNone/>
            </a:pPr>
            <a:r>
              <a:rPr lang="en-US" sz="980" dirty="0">
                <a:solidFill>
                  <a:srgbClr val="166534"/>
                </a:solidFill>
                <a:latin typeface="Segoe UI Black" pitchFamily="34" charset="0"/>
                <a:ea typeface="Segoe UI Black" pitchFamily="34" charset="-122"/>
                <a:cs typeface="Segoe UI Black" pitchFamily="34" charset="-120"/>
              </a:rPr>
              <a:t>Thái Lan</a:t>
            </a:r>
            <a:endParaRPr lang="en-US" sz="980" dirty="0"/>
          </a:p>
        </p:txBody>
      </p:sp>
      <p:sp>
        <p:nvSpPr>
          <p:cNvPr id="25" name="chip ok"/>
          <p:cNvSpPr/>
          <p:nvPr/>
        </p:nvSpPr>
        <p:spPr>
          <a:xfrm>
            <a:off x="3583037" y="3566964"/>
            <a:ext cx="459432" cy="257175"/>
          </a:xfrm>
          <a:prstGeom prst="roundRect">
            <a:avLst>
              <a:gd name="adj" fmla="val 50000"/>
            </a:avLst>
          </a:prstGeom>
          <a:solidFill>
            <a:srgbClr val="DCFCE7"/>
          </a:solidFill>
          <a:ln w="9525">
            <a:solidFill>
              <a:srgbClr val="86EFAC"/>
            </a:solidFill>
            <a:prstDash val="solid"/>
          </a:ln>
        </p:spPr>
      </p:sp>
      <p:sp>
        <p:nvSpPr>
          <p:cNvPr id="26" name="text chip ok"/>
          <p:cNvSpPr txBox="1"/>
          <p:nvPr/>
        </p:nvSpPr>
        <p:spPr>
          <a:xfrm>
            <a:off x="3702100" y="3605349"/>
            <a:ext cx="335607" cy="180405"/>
          </a:xfrm>
          <a:prstGeom prst="rect">
            <a:avLst/>
          </a:prstGeom>
          <a:noFill/>
          <a:ln/>
        </p:spPr>
        <p:txBody>
          <a:bodyPr wrap="none" lIns="0" tIns="0" rIns="0" bIns="0" rtlCol="0" anchor="ctr"/>
          <a:lstStyle/>
          <a:p>
            <a:pPr algn="l" indent="0" marL="0">
              <a:buNone/>
            </a:pPr>
            <a:r>
              <a:rPr lang="en-US" sz="980" dirty="0">
                <a:solidFill>
                  <a:srgbClr val="166534"/>
                </a:solidFill>
                <a:latin typeface="Segoe UI Black" pitchFamily="34" charset="0"/>
                <a:ea typeface="Segoe UI Black" pitchFamily="34" charset="-122"/>
                <a:cs typeface="Segoe UI Black" pitchFamily="34" charset="-120"/>
              </a:rPr>
              <a:t>Lào</a:t>
            </a:r>
            <a:endParaRPr lang="en-US" sz="980" dirty="0"/>
          </a:p>
        </p:txBody>
      </p:sp>
      <p:sp>
        <p:nvSpPr>
          <p:cNvPr id="27" name="chip ok"/>
          <p:cNvSpPr/>
          <p:nvPr/>
        </p:nvSpPr>
        <p:spPr>
          <a:xfrm>
            <a:off x="4109145" y="3566964"/>
            <a:ext cx="947440" cy="257175"/>
          </a:xfrm>
          <a:prstGeom prst="roundRect">
            <a:avLst>
              <a:gd name="adj" fmla="val 50000"/>
            </a:avLst>
          </a:prstGeom>
          <a:solidFill>
            <a:srgbClr val="DCFCE7"/>
          </a:solidFill>
          <a:ln w="9525">
            <a:solidFill>
              <a:srgbClr val="86EFAC"/>
            </a:solidFill>
            <a:prstDash val="solid"/>
          </a:ln>
        </p:spPr>
      </p:sp>
      <p:sp>
        <p:nvSpPr>
          <p:cNvPr id="28" name="text chip ok"/>
          <p:cNvSpPr txBox="1"/>
          <p:nvPr/>
        </p:nvSpPr>
        <p:spPr>
          <a:xfrm>
            <a:off x="4228207" y="3605357"/>
            <a:ext cx="823615" cy="180388"/>
          </a:xfrm>
          <a:prstGeom prst="rect">
            <a:avLst/>
          </a:prstGeom>
          <a:noFill/>
          <a:ln/>
        </p:spPr>
        <p:txBody>
          <a:bodyPr wrap="none" lIns="0" tIns="0" rIns="0" bIns="0" rtlCol="0" anchor="ctr"/>
          <a:lstStyle/>
          <a:p>
            <a:pPr algn="l" indent="0" marL="0">
              <a:buNone/>
            </a:pPr>
            <a:r>
              <a:rPr lang="en-US" sz="980" dirty="0">
                <a:solidFill>
                  <a:srgbClr val="166534"/>
                </a:solidFill>
                <a:latin typeface="Segoe UI Black" pitchFamily="34" charset="0"/>
                <a:ea typeface="Segoe UI Black" pitchFamily="34" charset="-122"/>
                <a:cs typeface="Segoe UI Black" pitchFamily="34" charset="-120"/>
              </a:rPr>
              <a:t>Campuchia</a:t>
            </a:r>
            <a:endParaRPr lang="en-US" sz="980" dirty="0"/>
          </a:p>
        </p:txBody>
      </p:sp>
      <p:sp>
        <p:nvSpPr>
          <p:cNvPr id="29" name="chip ok"/>
          <p:cNvSpPr/>
          <p:nvPr/>
        </p:nvSpPr>
        <p:spPr>
          <a:xfrm>
            <a:off x="814388" y="3890814"/>
            <a:ext cx="874068" cy="257175"/>
          </a:xfrm>
          <a:prstGeom prst="roundRect">
            <a:avLst>
              <a:gd name="adj" fmla="val 50000"/>
            </a:avLst>
          </a:prstGeom>
          <a:solidFill>
            <a:srgbClr val="DCFCE7"/>
          </a:solidFill>
          <a:ln w="9525">
            <a:solidFill>
              <a:srgbClr val="86EFAC"/>
            </a:solidFill>
            <a:prstDash val="solid"/>
          </a:ln>
        </p:spPr>
      </p:sp>
      <p:sp>
        <p:nvSpPr>
          <p:cNvPr id="30" name="text chip ok"/>
          <p:cNvSpPr txBox="1"/>
          <p:nvPr/>
        </p:nvSpPr>
        <p:spPr>
          <a:xfrm>
            <a:off x="933450" y="3929854"/>
            <a:ext cx="750243" cy="179094"/>
          </a:xfrm>
          <a:prstGeom prst="rect">
            <a:avLst/>
          </a:prstGeom>
          <a:noFill/>
          <a:ln/>
        </p:spPr>
        <p:txBody>
          <a:bodyPr wrap="none" lIns="0" tIns="0" rIns="0" bIns="0" rtlCol="0" anchor="ctr"/>
          <a:lstStyle/>
          <a:p>
            <a:pPr algn="l" indent="0" marL="0">
              <a:buNone/>
            </a:pPr>
            <a:r>
              <a:rPr lang="en-US" sz="970" dirty="0">
                <a:solidFill>
                  <a:srgbClr val="166534"/>
                </a:solidFill>
                <a:latin typeface="Segoe UI Black" pitchFamily="34" charset="0"/>
                <a:ea typeface="Segoe UI Black" pitchFamily="34" charset="-122"/>
                <a:cs typeface="Segoe UI Black" pitchFamily="34" charset="-120"/>
              </a:rPr>
              <a:t>Singapore</a:t>
            </a:r>
            <a:endParaRPr lang="en-US" sz="970" dirty="0"/>
          </a:p>
        </p:txBody>
      </p:sp>
      <p:sp>
        <p:nvSpPr>
          <p:cNvPr id="31" name="text label"/>
          <p:cNvSpPr txBox="1"/>
          <p:nvPr/>
        </p:nvSpPr>
        <p:spPr>
          <a:xfrm>
            <a:off x="809625" y="4236571"/>
            <a:ext cx="1104007" cy="165735"/>
          </a:xfrm>
          <a:prstGeom prst="rect">
            <a:avLst/>
          </a:prstGeom>
          <a:noFill/>
          <a:ln/>
        </p:spPr>
        <p:txBody>
          <a:bodyPr wrap="none" lIns="0" tIns="0" rIns="0" bIns="0" rtlCol="0" anchor="ctr"/>
          <a:lstStyle/>
          <a:p>
            <a:pPr algn="l" indent="0" marL="0">
              <a:buNone/>
            </a:pPr>
            <a:r>
              <a:rPr lang="en-US" sz="900" b="1" spc="40" kern="0" dirty="0">
                <a:solidFill>
                  <a:srgbClr val="64748B"/>
                </a:solidFill>
                <a:latin typeface="Segoe UI" pitchFamily="34" charset="0"/>
                <a:ea typeface="Segoe UI" pitchFamily="34" charset="-122"/>
                <a:cs typeface="Segoe UI" pitchFamily="34" charset="-120"/>
              </a:rPr>
              <a:t>ĐANG MỞ RỘNG</a:t>
            </a:r>
            <a:endParaRPr lang="en-US" sz="900" dirty="0"/>
          </a:p>
        </p:txBody>
      </p:sp>
      <p:sp>
        <p:nvSpPr>
          <p:cNvPr id="32" name="chip wip"/>
          <p:cNvSpPr/>
          <p:nvPr/>
        </p:nvSpPr>
        <p:spPr>
          <a:xfrm>
            <a:off x="814388" y="4452789"/>
            <a:ext cx="787152" cy="257175"/>
          </a:xfrm>
          <a:prstGeom prst="roundRect">
            <a:avLst>
              <a:gd name="adj" fmla="val 50000"/>
            </a:avLst>
          </a:prstGeom>
          <a:solidFill>
            <a:srgbClr val="FEF3C7"/>
          </a:solidFill>
          <a:ln w="9525">
            <a:solidFill>
              <a:srgbClr val="FBBF24"/>
            </a:solidFill>
            <a:prstDash val="solid"/>
          </a:ln>
        </p:spPr>
      </p:sp>
      <p:sp>
        <p:nvSpPr>
          <p:cNvPr id="33" name="text chip wip"/>
          <p:cNvSpPr txBox="1"/>
          <p:nvPr/>
        </p:nvSpPr>
        <p:spPr>
          <a:xfrm>
            <a:off x="933450" y="4491987"/>
            <a:ext cx="663327" cy="178778"/>
          </a:xfrm>
          <a:prstGeom prst="rect">
            <a:avLst/>
          </a:prstGeom>
          <a:noFill/>
          <a:ln/>
        </p:spPr>
        <p:txBody>
          <a:bodyPr wrap="none" lIns="0" tIns="0" rIns="0" bIns="0" rtlCol="0" anchor="ctr"/>
          <a:lstStyle/>
          <a:p>
            <a:pPr algn="l" indent="0" marL="0">
              <a:buNone/>
            </a:pPr>
            <a:r>
              <a:rPr lang="en-US" sz="970" b="1" dirty="0">
                <a:solidFill>
                  <a:srgbClr val="B45309"/>
                </a:solidFill>
                <a:latin typeface="Segoe UI" pitchFamily="34" charset="0"/>
                <a:ea typeface="Segoe UI" pitchFamily="34" charset="-122"/>
                <a:cs typeface="Segoe UI" pitchFamily="34" charset="-120"/>
              </a:rPr>
              <a:t>Nhật Bản</a:t>
            </a:r>
            <a:endParaRPr lang="en-US" sz="970" dirty="0"/>
          </a:p>
        </p:txBody>
      </p:sp>
      <p:sp>
        <p:nvSpPr>
          <p:cNvPr id="34" name="chip wip"/>
          <p:cNvSpPr/>
          <p:nvPr/>
        </p:nvSpPr>
        <p:spPr>
          <a:xfrm>
            <a:off x="1668214" y="4452789"/>
            <a:ext cx="607070" cy="257175"/>
          </a:xfrm>
          <a:prstGeom prst="roundRect">
            <a:avLst>
              <a:gd name="adj" fmla="val 50000"/>
            </a:avLst>
          </a:prstGeom>
          <a:solidFill>
            <a:srgbClr val="FEF3C7"/>
          </a:solidFill>
          <a:ln w="9525">
            <a:solidFill>
              <a:srgbClr val="FBBF24"/>
            </a:solidFill>
            <a:prstDash val="solid"/>
          </a:ln>
        </p:spPr>
      </p:sp>
      <p:sp>
        <p:nvSpPr>
          <p:cNvPr id="35" name="text chip wip"/>
          <p:cNvSpPr txBox="1"/>
          <p:nvPr/>
        </p:nvSpPr>
        <p:spPr>
          <a:xfrm>
            <a:off x="1787277" y="4491970"/>
            <a:ext cx="483245" cy="178813"/>
          </a:xfrm>
          <a:prstGeom prst="rect">
            <a:avLst/>
          </a:prstGeom>
          <a:noFill/>
          <a:ln/>
        </p:spPr>
        <p:txBody>
          <a:bodyPr wrap="none" lIns="0" tIns="0" rIns="0" bIns="0" rtlCol="0" anchor="ctr"/>
          <a:lstStyle/>
          <a:p>
            <a:pPr algn="l" indent="0" marL="0">
              <a:buNone/>
            </a:pPr>
            <a:r>
              <a:rPr lang="en-US" sz="970" b="1" dirty="0">
                <a:solidFill>
                  <a:srgbClr val="B45309"/>
                </a:solidFill>
                <a:latin typeface="Segoe UI" pitchFamily="34" charset="0"/>
                <a:ea typeface="Segoe UI" pitchFamily="34" charset="-122"/>
                <a:cs typeface="Segoe UI" pitchFamily="34" charset="-120"/>
              </a:rPr>
              <a:t>Ấn Độ</a:t>
            </a:r>
            <a:endParaRPr lang="en-US" sz="970" dirty="0"/>
          </a:p>
        </p:txBody>
      </p:sp>
      <p:sp>
        <p:nvSpPr>
          <p:cNvPr id="36" name="chip wip"/>
          <p:cNvSpPr/>
          <p:nvPr/>
        </p:nvSpPr>
        <p:spPr>
          <a:xfrm>
            <a:off x="2341959" y="4452789"/>
            <a:ext cx="778073" cy="257175"/>
          </a:xfrm>
          <a:prstGeom prst="roundRect">
            <a:avLst>
              <a:gd name="adj" fmla="val 50000"/>
            </a:avLst>
          </a:prstGeom>
          <a:solidFill>
            <a:srgbClr val="FEF3C7"/>
          </a:solidFill>
          <a:ln w="9525">
            <a:solidFill>
              <a:srgbClr val="FBBF24"/>
            </a:solidFill>
            <a:prstDash val="solid"/>
          </a:ln>
        </p:spPr>
      </p:sp>
      <p:sp>
        <p:nvSpPr>
          <p:cNvPr id="37" name="text chip wip"/>
          <p:cNvSpPr txBox="1"/>
          <p:nvPr/>
        </p:nvSpPr>
        <p:spPr>
          <a:xfrm>
            <a:off x="2461022" y="4491941"/>
            <a:ext cx="654248" cy="178870"/>
          </a:xfrm>
          <a:prstGeom prst="rect">
            <a:avLst/>
          </a:prstGeom>
          <a:noFill/>
          <a:ln/>
        </p:spPr>
        <p:txBody>
          <a:bodyPr wrap="none" lIns="0" tIns="0" rIns="0" bIns="0" rtlCol="0" anchor="ctr"/>
          <a:lstStyle/>
          <a:p>
            <a:pPr algn="l" indent="0" marL="0">
              <a:buNone/>
            </a:pPr>
            <a:r>
              <a:rPr lang="en-US" sz="970" b="1" dirty="0">
                <a:solidFill>
                  <a:srgbClr val="B45309"/>
                </a:solidFill>
                <a:latin typeface="Segoe UI" pitchFamily="34" charset="0"/>
                <a:ea typeface="Segoe UI" pitchFamily="34" charset="-122"/>
                <a:cs typeface="Segoe UI" pitchFamily="34" charset="-120"/>
              </a:rPr>
              <a:t>Malaysia</a:t>
            </a:r>
            <a:endParaRPr lang="en-US" sz="970" dirty="0"/>
          </a:p>
        </p:txBody>
      </p:sp>
      <p:sp>
        <p:nvSpPr>
          <p:cNvPr id="38" name="fee mt10"/>
          <p:cNvSpPr/>
          <p:nvPr/>
        </p:nvSpPr>
        <p:spPr>
          <a:xfrm>
            <a:off x="809625" y="4809976"/>
            <a:ext cx="4629150" cy="390674"/>
          </a:xfrm>
          <a:prstGeom prst="roundRect">
            <a:avLst>
              <a:gd name="adj" fmla="val 24381"/>
            </a:avLst>
          </a:prstGeom>
          <a:solidFill>
            <a:srgbClr val="F1F5F9"/>
          </a:solidFill>
          <a:ln/>
        </p:spPr>
      </p:sp>
      <p:sp>
        <p:nvSpPr>
          <p:cNvPr id="39" name="text fee mt10"/>
          <p:cNvSpPr txBox="1"/>
          <p:nvPr/>
        </p:nvSpPr>
        <p:spPr>
          <a:xfrm>
            <a:off x="942975" y="4905107"/>
            <a:ext cx="4463915" cy="200263"/>
          </a:xfrm>
          <a:prstGeom prst="rect">
            <a:avLst/>
          </a:prstGeom>
          <a:noFill/>
          <a:ln/>
        </p:spPr>
        <p:txBody>
          <a:bodyPr wrap="none" lIns="0" tIns="0" rIns="0" bIns="0" rtlCol="0" anchor="ctr"/>
          <a:lstStyle/>
          <a:p>
            <a:pPr algn="l" indent="0" marL="0">
              <a:buNone/>
            </a:pPr>
            <a:r>
              <a:rPr lang="en-US" sz="1090" dirty="0">
                <a:solidFill>
                  <a:srgbClr val="334155"/>
                </a:solidFill>
                <a:latin typeface="Segoe UI Semibold" pitchFamily="34" charset="0"/>
                <a:ea typeface="Segoe UI Semibold" pitchFamily="34" charset="-122"/>
                <a:cs typeface="Segoe UI Semibold" pitchFamily="34" charset="-120"/>
              </a:rPr>
              <a:t>Riêng Trung Quốc và Hàn Quốc chiếm </a:t>
            </a:r>
            <a:pPr algn="l" indent="0" marL="0">
              <a:buNone/>
            </a:pPr>
            <a:r>
              <a:rPr lang="en-US" sz="1090" dirty="0">
                <a:solidFill>
                  <a:srgbClr val="334155"/>
                </a:solidFill>
                <a:latin typeface="Segoe UI Black" pitchFamily="34" charset="0"/>
                <a:ea typeface="Segoe UI Black" pitchFamily="34" charset="-122"/>
                <a:cs typeface="Segoe UI Black" pitchFamily="34" charset="-120"/>
              </a:rPr>
              <a:t>gần 40%</a:t>
            </a:r>
            <a:pPr algn="l" indent="0" marL="0">
              <a:buNone/>
            </a:pPr>
            <a:r>
              <a:rPr lang="en-US" sz="1090" dirty="0">
                <a:solidFill>
                  <a:srgbClr val="334155"/>
                </a:solidFill>
                <a:latin typeface="Segoe UI Semibold" pitchFamily="34" charset="0"/>
                <a:ea typeface="Segoe UI Semibold" pitchFamily="34" charset="-122"/>
                <a:cs typeface="Segoe UI Semibold" pitchFamily="34" charset="-120"/>
              </a:rPr>
              <a:t> khách quốc tế.</a:t>
            </a:r>
            <a:endParaRPr lang="en-US" sz="1090" dirty="0"/>
          </a:p>
        </p:txBody>
      </p:sp>
      <p:sp>
        <p:nvSpPr>
          <p:cNvPr id="40" name="card vb"/>
          <p:cNvSpPr/>
          <p:nvPr/>
        </p:nvSpPr>
        <p:spPr>
          <a:xfrm>
            <a:off x="5776913" y="1174552"/>
            <a:ext cx="5800725" cy="2422178"/>
          </a:xfrm>
          <a:prstGeom prst="roundRect">
            <a:avLst>
              <a:gd name="adj" fmla="val 5309"/>
            </a:avLst>
          </a:prstGeom>
          <a:solidFill>
            <a:srgbClr val="FFFFFF"/>
          </a:solidFill>
          <a:ln w="9525">
            <a:solidFill>
              <a:srgbClr val="E2E8F0"/>
            </a:solidFill>
            <a:prstDash val="solid"/>
          </a:ln>
        </p:spPr>
      </p:sp>
      <p:sp>
        <p:nvSpPr>
          <p:cNvPr id="41" name="opp-n"/>
          <p:cNvSpPr/>
          <p:nvPr/>
        </p:nvSpPr>
        <p:spPr>
          <a:xfrm>
            <a:off x="5972175" y="1331714"/>
            <a:ext cx="266700" cy="266700"/>
          </a:xfrm>
          <a:prstGeom prst="roundRect">
            <a:avLst>
              <a:gd name="adj" fmla="val 28571"/>
            </a:avLst>
          </a:prstGeom>
          <a:solidFill>
            <a:srgbClr val="E11D48"/>
          </a:solidFill>
          <a:ln/>
        </p:spPr>
      </p:sp>
      <p:sp>
        <p:nvSpPr>
          <p:cNvPr id="42" name="text opp-n"/>
          <p:cNvSpPr txBox="1"/>
          <p:nvPr/>
        </p:nvSpPr>
        <p:spPr>
          <a:xfrm>
            <a:off x="6062365" y="1368385"/>
            <a:ext cx="200620" cy="193358"/>
          </a:xfrm>
          <a:prstGeom prst="rect">
            <a:avLst/>
          </a:prstGeom>
          <a:noFill/>
          <a:ln/>
        </p:spPr>
        <p:txBody>
          <a:bodyPr wrap="none" lIns="0" tIns="0" rIns="0" bIns="0" rtlCol="0" anchor="ctr"/>
          <a:lstStyle/>
          <a:p>
            <a:pPr algn="l" indent="0" marL="0">
              <a:buNone/>
            </a:pPr>
            <a:r>
              <a:rPr lang="en-US" sz="1050" dirty="0">
                <a:solidFill>
                  <a:srgbClr val="FFFFFF"/>
                </a:solidFill>
                <a:latin typeface="Segoe UI Black" pitchFamily="34" charset="0"/>
                <a:ea typeface="Segoe UI Black" pitchFamily="34" charset="-122"/>
                <a:cs typeface="Segoe UI Black" pitchFamily="34" charset="-120"/>
              </a:rPr>
              <a:t>2</a:t>
            </a:r>
            <a:endParaRPr lang="en-US" sz="1050" dirty="0"/>
          </a:p>
        </p:txBody>
      </p:sp>
      <p:sp>
        <p:nvSpPr>
          <p:cNvPr id="43" name="text h3"/>
          <p:cNvSpPr txBox="1"/>
          <p:nvPr/>
        </p:nvSpPr>
        <p:spPr>
          <a:xfrm>
            <a:off x="6334125" y="1345458"/>
            <a:ext cx="1451372" cy="228496"/>
          </a:xfrm>
          <a:prstGeom prst="rect">
            <a:avLst/>
          </a:prstGeom>
          <a:noFill/>
          <a:ln/>
        </p:spPr>
        <p:txBody>
          <a:bodyPr wrap="none" lIns="0" tIns="0" rIns="0" bIns="0" rtlCol="0" anchor="ctr"/>
          <a:lstStyle/>
          <a:p>
            <a:pPr algn="l" indent="0" marL="0">
              <a:buNone/>
            </a:pPr>
            <a:r>
              <a:rPr lang="en-US" sz="1240" b="1" dirty="0">
                <a:solidFill>
                  <a:srgbClr val="0F172A"/>
                </a:solidFill>
                <a:latin typeface="Segoe UI" pitchFamily="34" charset="0"/>
                <a:ea typeface="Segoe UI" pitchFamily="34" charset="-122"/>
                <a:cs typeface="Segoe UI" pitchFamily="34" charset="-120"/>
              </a:rPr>
              <a:t>Bán hàng thế nào</a:t>
            </a:r>
            <a:endParaRPr lang="en-US" sz="1240" dirty="0"/>
          </a:p>
        </p:txBody>
      </p:sp>
      <p:sp>
        <p:nvSpPr>
          <p:cNvPr id="44" name="text __nops"/>
          <p:cNvSpPr txBox="1"/>
          <p:nvPr/>
        </p:nvSpPr>
        <p:spPr>
          <a:xfrm>
            <a:off x="6124575" y="2126694"/>
            <a:ext cx="2611207"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Black" pitchFamily="34" charset="0"/>
                <a:ea typeface="Segoe UI Black" pitchFamily="34" charset="-122"/>
                <a:cs typeface="Segoe UI Black" pitchFamily="34" charset="-120"/>
              </a:rPr>
              <a:t>Tendoo tạo mã QR</a:t>
            </a:r>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 theo đơn hàng</a:t>
            </a:r>
            <a:endParaRPr lang="en-US" sz="1200" dirty="0"/>
          </a:p>
        </p:txBody>
      </p:sp>
      <p:sp>
        <p:nvSpPr>
          <p:cNvPr id="45" name="Shape 43"/>
          <p:cNvSpPr/>
          <p:nvPr/>
        </p:nvSpPr>
        <p:spPr>
          <a:xfrm>
            <a:off x="5981700" y="2208609"/>
            <a:ext cx="57150" cy="57150"/>
          </a:xfrm>
          <a:prstGeom prst="ellipse">
            <a:avLst/>
          </a:prstGeom>
          <a:solidFill>
            <a:srgbClr val="334155"/>
          </a:solidFill>
          <a:ln/>
        </p:spPr>
      </p:sp>
      <p:sp>
        <p:nvSpPr>
          <p:cNvPr id="46" name="text __nops"/>
          <p:cNvSpPr txBox="1"/>
          <p:nvPr/>
        </p:nvSpPr>
        <p:spPr>
          <a:xfrm>
            <a:off x="6124575" y="2435215"/>
            <a:ext cx="3129284"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Khách quét, xác nhận trên app của mình</a:t>
            </a:r>
            <a:endParaRPr lang="en-US" sz="1200" dirty="0"/>
          </a:p>
        </p:txBody>
      </p:sp>
      <p:sp>
        <p:nvSpPr>
          <p:cNvPr id="47" name="Shape 45"/>
          <p:cNvSpPr/>
          <p:nvPr/>
        </p:nvSpPr>
        <p:spPr>
          <a:xfrm>
            <a:off x="5981700" y="2517130"/>
            <a:ext cx="57150" cy="57150"/>
          </a:xfrm>
          <a:prstGeom prst="ellipse">
            <a:avLst/>
          </a:prstGeom>
          <a:solidFill>
            <a:srgbClr val="334155"/>
          </a:solidFill>
          <a:ln/>
        </p:spPr>
      </p:sp>
      <p:sp>
        <p:nvSpPr>
          <p:cNvPr id="48" name="text __nops"/>
          <p:cNvSpPr txBox="1"/>
          <p:nvPr/>
        </p:nvSpPr>
        <p:spPr>
          <a:xfrm>
            <a:off x="6124575" y="2743736"/>
            <a:ext cx="3300136"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Đơn hàng, đối soát nằm luôn trong Tendoo</a:t>
            </a:r>
            <a:endParaRPr lang="en-US" sz="1200" dirty="0"/>
          </a:p>
        </p:txBody>
      </p:sp>
      <p:sp>
        <p:nvSpPr>
          <p:cNvPr id="49" name="Shape 47"/>
          <p:cNvSpPr/>
          <p:nvPr/>
        </p:nvSpPr>
        <p:spPr>
          <a:xfrm>
            <a:off x="5981700" y="2825651"/>
            <a:ext cx="57150" cy="57150"/>
          </a:xfrm>
          <a:prstGeom prst="ellipse">
            <a:avLst/>
          </a:prstGeom>
          <a:solidFill>
            <a:srgbClr val="334155"/>
          </a:solidFill>
          <a:ln/>
        </p:spPr>
      </p:sp>
      <p:sp>
        <p:nvSpPr>
          <p:cNvPr id="50" name="phone __nops"/>
          <p:cNvSpPr/>
          <p:nvPr/>
        </p:nvSpPr>
        <p:spPr>
          <a:xfrm>
            <a:off x="10410825" y="1674614"/>
            <a:ext cx="952500" cy="1562100"/>
          </a:xfrm>
          <a:prstGeom prst="roundRect">
            <a:avLst>
              <a:gd name="adj" fmla="val 14000"/>
            </a:avLst>
          </a:prstGeom>
          <a:solidFill>
            <a:srgbClr val="FFFFFF"/>
          </a:solidFill>
          <a:ln w="38100">
            <a:solidFill>
              <a:srgbClr val="0F172A"/>
            </a:solidFill>
            <a:prstDash val="solid"/>
          </a:ln>
        </p:spPr>
      </p:sp>
      <p:sp>
        <p:nvSpPr>
          <p:cNvPr id="51" name="Shape 49"/>
          <p:cNvSpPr/>
          <p:nvPr/>
        </p:nvSpPr>
        <p:spPr>
          <a:xfrm>
            <a:off x="10734675" y="1731764"/>
            <a:ext cx="304800" cy="47625"/>
          </a:xfrm>
          <a:prstGeom prst="roundRect">
            <a:avLst>
              <a:gd name="adj" fmla="val 50000"/>
            </a:avLst>
          </a:prstGeom>
          <a:solidFill>
            <a:srgbClr val="0F172A"/>
          </a:solidFill>
          <a:ln/>
        </p:spPr>
      </p:sp>
      <p:sp>
        <p:nvSpPr>
          <p:cNvPr id="52" name="pbar"/>
          <p:cNvSpPr/>
          <p:nvPr/>
        </p:nvSpPr>
        <p:spPr>
          <a:xfrm>
            <a:off x="10429875" y="1693664"/>
            <a:ext cx="914400" cy="266700"/>
          </a:xfrm>
          <a:prstGeom prst="rect">
            <a:avLst/>
          </a:prstGeom>
          <a:solidFill>
            <a:srgbClr val="E11D48"/>
          </a:solidFill>
          <a:ln/>
        </p:spPr>
      </p:sp>
      <p:sp>
        <p:nvSpPr>
          <p:cNvPr id="53" name="text pbar"/>
          <p:cNvSpPr txBox="1"/>
          <p:nvPr/>
        </p:nvSpPr>
        <p:spPr>
          <a:xfrm>
            <a:off x="10506819" y="1806416"/>
            <a:ext cx="760363" cy="117396"/>
          </a:xfrm>
          <a:prstGeom prst="rect">
            <a:avLst/>
          </a:prstGeom>
          <a:noFill/>
          <a:ln/>
        </p:spPr>
        <p:txBody>
          <a:bodyPr wrap="none" lIns="0" tIns="0" rIns="0" bIns="0" rtlCol="0" anchor="ctr"/>
          <a:lstStyle/>
          <a:p>
            <a:pPr algn="ctr" indent="0" marL="0">
              <a:buNone/>
            </a:pPr>
            <a:r>
              <a:rPr lang="en-US" sz="640" b="1" dirty="0">
                <a:solidFill>
                  <a:srgbClr val="FFFFFF"/>
                </a:solidFill>
                <a:latin typeface="Segoe UI" pitchFamily="34" charset="0"/>
                <a:ea typeface="Segoe UI" pitchFamily="34" charset="-122"/>
                <a:cs typeface="Segoe UI" pitchFamily="34" charset="-120"/>
              </a:rPr>
              <a:t>Tendoo · VietQR</a:t>
            </a:r>
            <a:endParaRPr lang="en-US" sz="640" dirty="0"/>
          </a:p>
        </p:txBody>
      </p:sp>
      <p:sp>
        <p:nvSpPr>
          <p:cNvPr id="54" name="text tiny"/>
          <p:cNvSpPr txBox="1"/>
          <p:nvPr/>
        </p:nvSpPr>
        <p:spPr>
          <a:xfrm>
            <a:off x="10594032" y="2014459"/>
            <a:ext cx="585936" cy="129936"/>
          </a:xfrm>
          <a:prstGeom prst="rect">
            <a:avLst/>
          </a:prstGeom>
          <a:noFill/>
          <a:ln/>
        </p:spPr>
        <p:txBody>
          <a:bodyPr wrap="none" lIns="0" tIns="0" rIns="0" bIns="0" rtlCol="0" anchor="ctr"/>
          <a:lstStyle/>
          <a:p>
            <a:pPr algn="ctr" indent="0" marL="0">
              <a:buNone/>
            </a:pPr>
            <a:r>
              <a:rPr lang="en-US" sz="710" dirty="0">
                <a:solidFill>
                  <a:srgbClr val="64748B"/>
                </a:solidFill>
                <a:latin typeface="Segoe UI Semibold" pitchFamily="34" charset="0"/>
                <a:ea typeface="Segoe UI Semibold" pitchFamily="34" charset="-122"/>
                <a:cs typeface="Segoe UI Semibold" pitchFamily="34" charset="-120"/>
              </a:rPr>
              <a:t>Đơn #1026</a:t>
            </a:r>
            <a:endParaRPr lang="en-US" sz="710" dirty="0"/>
          </a:p>
        </p:txBody>
      </p:sp>
      <p:sp>
        <p:nvSpPr>
          <p:cNvPr id="55" name="text amt"/>
          <p:cNvSpPr txBox="1"/>
          <p:nvPr/>
        </p:nvSpPr>
        <p:spPr>
          <a:xfrm>
            <a:off x="10486727" y="2180903"/>
            <a:ext cx="800695" cy="193525"/>
          </a:xfrm>
          <a:prstGeom prst="rect">
            <a:avLst/>
          </a:prstGeom>
          <a:noFill/>
          <a:ln/>
        </p:spPr>
        <p:txBody>
          <a:bodyPr wrap="none" lIns="0" tIns="0" rIns="0" bIns="0" rtlCol="0" anchor="ctr"/>
          <a:lstStyle/>
          <a:p>
            <a:pPr algn="ctr" indent="0" marL="0">
              <a:buNone/>
            </a:pPr>
            <a:r>
              <a:rPr lang="en-US" sz="1050" dirty="0">
                <a:solidFill>
                  <a:srgbClr val="0F172A"/>
                </a:solidFill>
                <a:latin typeface="Segoe UI Black" pitchFamily="34" charset="0"/>
                <a:ea typeface="Segoe UI Black" pitchFamily="34" charset="-122"/>
                <a:cs typeface="Segoe UI Black" pitchFamily="34" charset="-120"/>
              </a:rPr>
              <a:t>420.000đ</a:t>
            </a:r>
            <a:endParaRPr lang="en-US" sz="1050" dirty="0"/>
          </a:p>
        </p:txBody>
      </p:sp>
      <p:pic>
        <p:nvPicPr>
          <p:cNvPr id="56" name="graphic svg" descr="svg">    </p:cNvPr>
          <p:cNvPicPr>
            <a:picLocks noChangeAspect="1"/>
          </p:cNvPicPr>
          <p:nvPr/>
        </p:nvPicPr>
        <p:blipFill>
          <a:blip r:embed="rId1"/>
          <a:stretch>
            <a:fillRect/>
          </a:stretch>
        </p:blipFill>
        <p:spPr>
          <a:xfrm>
            <a:off x="10591800" y="2406253"/>
            <a:ext cx="590550" cy="590550"/>
          </a:xfrm>
          <a:prstGeom prst="rect">
            <a:avLst/>
          </a:prstGeom>
        </p:spPr>
      </p:pic>
      <p:sp>
        <p:nvSpPr>
          <p:cNvPr id="57" name="text tiny"/>
          <p:cNvSpPr txBox="1"/>
          <p:nvPr/>
        </p:nvSpPr>
        <p:spPr>
          <a:xfrm>
            <a:off x="10560695" y="3031752"/>
            <a:ext cx="652760" cy="130128"/>
          </a:xfrm>
          <a:prstGeom prst="rect">
            <a:avLst/>
          </a:prstGeom>
          <a:noFill/>
          <a:ln/>
        </p:spPr>
        <p:txBody>
          <a:bodyPr wrap="none" lIns="0" tIns="0" rIns="0" bIns="0" rtlCol="0" anchor="ctr"/>
          <a:lstStyle/>
          <a:p>
            <a:pPr algn="ctr" indent="0" marL="0">
              <a:buNone/>
            </a:pPr>
            <a:r>
              <a:rPr lang="en-US" sz="710" dirty="0">
                <a:solidFill>
                  <a:srgbClr val="64748B"/>
                </a:solidFill>
                <a:latin typeface="Segoe UI Semibold" pitchFamily="34" charset="0"/>
                <a:ea typeface="Segoe UI Semibold" pitchFamily="34" charset="-122"/>
                <a:cs typeface="Segoe UI Semibold" pitchFamily="34" charset="-120"/>
              </a:rPr>
              <a:t>Mời quét mã</a:t>
            </a:r>
            <a:endParaRPr lang="en-US" sz="710" dirty="0"/>
          </a:p>
        </p:txBody>
      </p:sp>
      <p:sp>
        <p:nvSpPr>
          <p:cNvPr id="58" name="text ph-cap"/>
          <p:cNvSpPr txBox="1"/>
          <p:nvPr/>
        </p:nvSpPr>
        <p:spPr>
          <a:xfrm>
            <a:off x="10617101" y="3294102"/>
            <a:ext cx="539948" cy="151924"/>
          </a:xfrm>
          <a:prstGeom prst="rect">
            <a:avLst/>
          </a:prstGeom>
          <a:noFill/>
          <a:ln/>
        </p:spPr>
        <p:txBody>
          <a:bodyPr wrap="none" lIns="0" tIns="0" rIns="0" bIns="0" rtlCol="0" anchor="ctr"/>
          <a:lstStyle/>
          <a:p>
            <a:pPr algn="ctr" indent="0" marL="0">
              <a:buNone/>
            </a:pPr>
            <a:r>
              <a:rPr lang="en-US" sz="830" b="1" dirty="0">
                <a:solidFill>
                  <a:srgbClr val="0F172A"/>
                </a:solidFill>
                <a:latin typeface="Segoe UI" pitchFamily="34" charset="0"/>
                <a:ea typeface="Segoe UI" pitchFamily="34" charset="-122"/>
                <a:cs typeface="Segoe UI" pitchFamily="34" charset="-120"/>
              </a:rPr>
              <a:t>Quét QR</a:t>
            </a:r>
            <a:endParaRPr lang="en-US" sz="830" dirty="0"/>
          </a:p>
        </p:txBody>
      </p:sp>
      <p:sp>
        <p:nvSpPr>
          <p:cNvPr id="59" name="card vb"/>
          <p:cNvSpPr/>
          <p:nvPr/>
        </p:nvSpPr>
        <p:spPr>
          <a:xfrm>
            <a:off x="5776913" y="3739604"/>
            <a:ext cx="5800725" cy="1929705"/>
          </a:xfrm>
          <a:prstGeom prst="roundRect">
            <a:avLst>
              <a:gd name="adj" fmla="val 6664"/>
            </a:avLst>
          </a:prstGeom>
          <a:solidFill>
            <a:srgbClr val="FFFFFF"/>
          </a:solidFill>
          <a:ln w="9525">
            <a:solidFill>
              <a:srgbClr val="E2E8F0"/>
            </a:solidFill>
            <a:prstDash val="solid"/>
          </a:ln>
        </p:spPr>
      </p:sp>
      <p:sp>
        <p:nvSpPr>
          <p:cNvPr id="60" name="opp-n"/>
          <p:cNvSpPr/>
          <p:nvPr/>
        </p:nvSpPr>
        <p:spPr>
          <a:xfrm>
            <a:off x="5972175" y="3896767"/>
            <a:ext cx="266700" cy="266700"/>
          </a:xfrm>
          <a:prstGeom prst="roundRect">
            <a:avLst>
              <a:gd name="adj" fmla="val 28571"/>
            </a:avLst>
          </a:prstGeom>
          <a:solidFill>
            <a:srgbClr val="E11D48"/>
          </a:solidFill>
          <a:ln/>
        </p:spPr>
      </p:sp>
      <p:sp>
        <p:nvSpPr>
          <p:cNvPr id="61" name="text opp-n"/>
          <p:cNvSpPr txBox="1"/>
          <p:nvPr/>
        </p:nvSpPr>
        <p:spPr>
          <a:xfrm>
            <a:off x="6058644" y="3933438"/>
            <a:ext cx="208062" cy="193358"/>
          </a:xfrm>
          <a:prstGeom prst="rect">
            <a:avLst/>
          </a:prstGeom>
          <a:noFill/>
          <a:ln/>
        </p:spPr>
        <p:txBody>
          <a:bodyPr wrap="none" lIns="0" tIns="0" rIns="0" bIns="0" rtlCol="0" anchor="ctr"/>
          <a:lstStyle/>
          <a:p>
            <a:pPr algn="l" indent="0" marL="0">
              <a:buNone/>
            </a:pPr>
            <a:r>
              <a:rPr lang="en-US" sz="1050" dirty="0">
                <a:solidFill>
                  <a:srgbClr val="FFFFFF"/>
                </a:solidFill>
                <a:latin typeface="Segoe UI Black" pitchFamily="34" charset="0"/>
                <a:ea typeface="Segoe UI Black" pitchFamily="34" charset="-122"/>
                <a:cs typeface="Segoe UI Black" pitchFamily="34" charset="-120"/>
              </a:rPr>
              <a:t>4</a:t>
            </a:r>
            <a:endParaRPr lang="en-US" sz="1050" dirty="0"/>
          </a:p>
        </p:txBody>
      </p:sp>
      <p:sp>
        <p:nvSpPr>
          <p:cNvPr id="62" name="text h3"/>
          <p:cNvSpPr txBox="1"/>
          <p:nvPr/>
        </p:nvSpPr>
        <p:spPr>
          <a:xfrm>
            <a:off x="6334125" y="3910710"/>
            <a:ext cx="2041386" cy="228097"/>
          </a:xfrm>
          <a:prstGeom prst="rect">
            <a:avLst/>
          </a:prstGeom>
          <a:noFill/>
          <a:ln/>
        </p:spPr>
        <p:txBody>
          <a:bodyPr wrap="none" lIns="0" tIns="0" rIns="0" bIns="0" rtlCol="0" anchor="ctr"/>
          <a:lstStyle/>
          <a:p>
            <a:pPr algn="l" indent="0" marL="0">
              <a:buNone/>
            </a:pPr>
            <a:r>
              <a:rPr lang="en-US" sz="1240" b="1" dirty="0">
                <a:solidFill>
                  <a:srgbClr val="0F172A"/>
                </a:solidFill>
                <a:latin typeface="Segoe UI" pitchFamily="34" charset="0"/>
                <a:ea typeface="Segoe UI" pitchFamily="34" charset="-122"/>
                <a:cs typeface="Segoe UI" pitchFamily="34" charset="-120"/>
              </a:rPr>
              <a:t>Bổ sung cho Visa Accept</a:t>
            </a:r>
            <a:endParaRPr lang="en-US" sz="1240" dirty="0"/>
          </a:p>
        </p:txBody>
      </p:sp>
      <p:sp>
        <p:nvSpPr>
          <p:cNvPr id="63" name="t mt8"/>
          <p:cNvSpPr/>
          <p:nvPr/>
        </p:nvSpPr>
        <p:spPr>
          <a:xfrm>
            <a:off x="5976938" y="4244429"/>
            <a:ext cx="5400675" cy="1262955"/>
          </a:xfrm>
          <a:prstGeom prst="roundRect">
            <a:avLst>
              <a:gd name="adj" fmla="val 8673"/>
            </a:avLst>
          </a:prstGeom>
          <a:solidFill>
            <a:srgbClr val="FFFFFF"/>
          </a:solidFill>
          <a:ln w="9525">
            <a:solidFill>
              <a:srgbClr val="E2E8F0"/>
            </a:solidFill>
            <a:prstDash val="solid"/>
          </a:ln>
        </p:spPr>
      </p:sp>
      <p:sp>
        <p:nvSpPr>
          <p:cNvPr id="64" name="Shape 61"/>
          <p:cNvSpPr/>
          <p:nvPr/>
        </p:nvSpPr>
        <p:spPr>
          <a:xfrm>
            <a:off x="5981700" y="4249192"/>
            <a:ext cx="1796951" cy="329505"/>
          </a:xfrm>
          <a:prstGeom prst="rect">
            <a:avLst/>
          </a:prstGeom>
          <a:solidFill>
            <a:srgbClr val="F1F5F9"/>
          </a:solidFill>
          <a:ln/>
        </p:spPr>
      </p:sp>
      <p:sp>
        <p:nvSpPr>
          <p:cNvPr id="65" name="-border"/>
          <p:cNvSpPr/>
          <p:nvPr/>
        </p:nvSpPr>
        <p:spPr>
          <a:xfrm>
            <a:off x="5981700" y="4569172"/>
            <a:ext cx="1796951" cy="9525"/>
          </a:xfrm>
          <a:prstGeom prst="rect">
            <a:avLst/>
          </a:prstGeom>
          <a:solidFill>
            <a:srgbClr val="E2E8F0"/>
          </a:solidFill>
          <a:ln/>
        </p:spPr>
      </p:sp>
      <p:sp>
        <p:nvSpPr>
          <p:cNvPr id="66" name="text th"/>
          <p:cNvSpPr txBox="1"/>
          <p:nvPr/>
        </p:nvSpPr>
        <p:spPr>
          <a:xfrm>
            <a:off x="6096000" y="4323638"/>
            <a:ext cx="973931" cy="165434"/>
          </a:xfrm>
          <a:prstGeom prst="rect">
            <a:avLst/>
          </a:prstGeom>
          <a:noFill/>
          <a:ln/>
        </p:spPr>
        <p:txBody>
          <a:bodyPr wrap="none" lIns="0" tIns="0" rIns="0" bIns="0" rtlCol="0" anchor="ctr"/>
          <a:lstStyle/>
          <a:p>
            <a:pPr algn="l" indent="0" marL="0">
              <a:buNone/>
            </a:pPr>
            <a:r>
              <a:rPr lang="en-US" sz="900" b="1" dirty="0">
                <a:solidFill>
                  <a:srgbClr val="334155"/>
                </a:solidFill>
                <a:latin typeface="Segoe UI" pitchFamily="34" charset="0"/>
                <a:ea typeface="Segoe UI" pitchFamily="34" charset="-122"/>
                <a:cs typeface="Segoe UI" pitchFamily="34" charset="-120"/>
              </a:rPr>
              <a:t>Khách trả bằng</a:t>
            </a:r>
            <a:endParaRPr lang="en-US" sz="900" dirty="0"/>
          </a:p>
        </p:txBody>
      </p:sp>
      <p:sp>
        <p:nvSpPr>
          <p:cNvPr id="67" name="Shape 64"/>
          <p:cNvSpPr/>
          <p:nvPr/>
        </p:nvSpPr>
        <p:spPr>
          <a:xfrm>
            <a:off x="7778651" y="4249192"/>
            <a:ext cx="1796951" cy="329505"/>
          </a:xfrm>
          <a:prstGeom prst="rect">
            <a:avLst/>
          </a:prstGeom>
          <a:solidFill>
            <a:srgbClr val="F1F5F9"/>
          </a:solidFill>
          <a:ln/>
        </p:spPr>
      </p:sp>
      <p:sp>
        <p:nvSpPr>
          <p:cNvPr id="68" name="-border"/>
          <p:cNvSpPr/>
          <p:nvPr/>
        </p:nvSpPr>
        <p:spPr>
          <a:xfrm>
            <a:off x="7778651" y="4569172"/>
            <a:ext cx="1796951" cy="9525"/>
          </a:xfrm>
          <a:prstGeom prst="rect">
            <a:avLst/>
          </a:prstGeom>
          <a:solidFill>
            <a:srgbClr val="E2E8F0"/>
          </a:solidFill>
          <a:ln/>
        </p:spPr>
      </p:sp>
      <p:sp>
        <p:nvSpPr>
          <p:cNvPr id="69" name="text th"/>
          <p:cNvSpPr txBox="1"/>
          <p:nvPr/>
        </p:nvSpPr>
        <p:spPr>
          <a:xfrm>
            <a:off x="7892951" y="4323638"/>
            <a:ext cx="959644" cy="165434"/>
          </a:xfrm>
          <a:prstGeom prst="rect">
            <a:avLst/>
          </a:prstGeom>
          <a:noFill/>
          <a:ln/>
        </p:spPr>
        <p:txBody>
          <a:bodyPr wrap="none" lIns="0" tIns="0" rIns="0" bIns="0" rtlCol="0" anchor="ctr"/>
          <a:lstStyle/>
          <a:p>
            <a:pPr algn="l" indent="0" marL="0">
              <a:buNone/>
            </a:pPr>
            <a:r>
              <a:rPr lang="en-US" sz="900" b="1" dirty="0">
                <a:solidFill>
                  <a:srgbClr val="334155"/>
                </a:solidFill>
                <a:latin typeface="Segoe UI" pitchFamily="34" charset="0"/>
                <a:ea typeface="Segoe UI" pitchFamily="34" charset="-122"/>
                <a:cs typeface="Segoe UI" pitchFamily="34" charset="-120"/>
              </a:rPr>
              <a:t>Cách nhận tiền</a:t>
            </a:r>
            <a:endParaRPr lang="en-US" sz="900" dirty="0"/>
          </a:p>
        </p:txBody>
      </p:sp>
      <p:sp>
        <p:nvSpPr>
          <p:cNvPr id="70" name="Shape 67"/>
          <p:cNvSpPr/>
          <p:nvPr/>
        </p:nvSpPr>
        <p:spPr>
          <a:xfrm>
            <a:off x="9575602" y="4249192"/>
            <a:ext cx="1797248" cy="329505"/>
          </a:xfrm>
          <a:prstGeom prst="rect">
            <a:avLst/>
          </a:prstGeom>
          <a:solidFill>
            <a:srgbClr val="F1F5F9"/>
          </a:solidFill>
          <a:ln/>
        </p:spPr>
      </p:sp>
      <p:sp>
        <p:nvSpPr>
          <p:cNvPr id="71" name="-border"/>
          <p:cNvSpPr/>
          <p:nvPr/>
        </p:nvSpPr>
        <p:spPr>
          <a:xfrm>
            <a:off x="9575602" y="4569172"/>
            <a:ext cx="1797248" cy="9525"/>
          </a:xfrm>
          <a:prstGeom prst="rect">
            <a:avLst/>
          </a:prstGeom>
          <a:solidFill>
            <a:srgbClr val="E2E8F0"/>
          </a:solidFill>
          <a:ln/>
        </p:spPr>
      </p:sp>
      <p:sp>
        <p:nvSpPr>
          <p:cNvPr id="72" name="text th"/>
          <p:cNvSpPr txBox="1"/>
          <p:nvPr/>
        </p:nvSpPr>
        <p:spPr>
          <a:xfrm>
            <a:off x="9689902" y="4323624"/>
            <a:ext cx="1054745" cy="165461"/>
          </a:xfrm>
          <a:prstGeom prst="rect">
            <a:avLst/>
          </a:prstGeom>
          <a:noFill/>
          <a:ln/>
        </p:spPr>
        <p:txBody>
          <a:bodyPr wrap="none" lIns="0" tIns="0" rIns="0" bIns="0" rtlCol="0" anchor="ctr"/>
          <a:lstStyle/>
          <a:p>
            <a:pPr algn="l" indent="0" marL="0">
              <a:buNone/>
            </a:pPr>
            <a:r>
              <a:rPr lang="en-US" sz="900" b="1" dirty="0">
                <a:solidFill>
                  <a:srgbClr val="334155"/>
                </a:solidFill>
                <a:latin typeface="Segoe UI" pitchFamily="34" charset="0"/>
                <a:ea typeface="Segoe UI" pitchFamily="34" charset="-122"/>
                <a:cs typeface="Segoe UI" pitchFamily="34" charset="-120"/>
              </a:rPr>
              <a:t>Phù hợp nhất với</a:t>
            </a:r>
            <a:endParaRPr lang="en-US" sz="900" dirty="0"/>
          </a:p>
        </p:txBody>
      </p:sp>
      <p:sp>
        <p:nvSpPr>
          <p:cNvPr id="73" name="-border"/>
          <p:cNvSpPr/>
          <p:nvPr/>
        </p:nvSpPr>
        <p:spPr>
          <a:xfrm>
            <a:off x="5981700" y="5035897"/>
            <a:ext cx="1796951" cy="9525"/>
          </a:xfrm>
          <a:prstGeom prst="rect">
            <a:avLst/>
          </a:prstGeom>
          <a:solidFill>
            <a:srgbClr val="E2E8F0"/>
          </a:solidFill>
          <a:ln/>
        </p:spPr>
      </p:sp>
      <p:sp>
        <p:nvSpPr>
          <p:cNvPr id="74" name="text td"/>
          <p:cNvSpPr txBox="1"/>
          <p:nvPr/>
        </p:nvSpPr>
        <p:spPr>
          <a:xfrm>
            <a:off x="6096000" y="4640171"/>
            <a:ext cx="345579" cy="172327"/>
          </a:xfrm>
          <a:prstGeom prst="rect">
            <a:avLst/>
          </a:prstGeom>
          <a:noFill/>
          <a:ln/>
        </p:spPr>
        <p:txBody>
          <a:bodyPr wrap="none" lIns="0" tIns="0" rIns="0" bIns="0" rtlCol="0" anchor="ctr"/>
          <a:lstStyle/>
          <a:p>
            <a:pPr algn="l" indent="0" marL="0">
              <a:buNone/>
            </a:pPr>
            <a:r>
              <a:rPr lang="en-US" sz="940" dirty="0">
                <a:solidFill>
                  <a:srgbClr val="0F172A"/>
                </a:solidFill>
                <a:latin typeface="Segoe UI Black" pitchFamily="34" charset="0"/>
                <a:ea typeface="Segoe UI Black" pitchFamily="34" charset="-122"/>
                <a:cs typeface="Segoe UI Black" pitchFamily="34" charset="-120"/>
              </a:rPr>
              <a:t>Thẻ</a:t>
            </a:r>
            <a:endParaRPr lang="en-US" sz="940" dirty="0"/>
          </a:p>
        </p:txBody>
      </p:sp>
      <p:sp>
        <p:nvSpPr>
          <p:cNvPr id="75" name="-border"/>
          <p:cNvSpPr/>
          <p:nvPr/>
        </p:nvSpPr>
        <p:spPr>
          <a:xfrm>
            <a:off x="7778651" y="5035897"/>
            <a:ext cx="1796951" cy="9525"/>
          </a:xfrm>
          <a:prstGeom prst="rect">
            <a:avLst/>
          </a:prstGeom>
          <a:solidFill>
            <a:srgbClr val="E2E8F0"/>
          </a:solidFill>
          <a:ln/>
        </p:spPr>
      </p:sp>
      <p:sp>
        <p:nvSpPr>
          <p:cNvPr id="76" name="text td"/>
          <p:cNvSpPr txBox="1"/>
          <p:nvPr/>
        </p:nvSpPr>
        <p:spPr>
          <a:xfrm>
            <a:off x="7892951" y="4640171"/>
            <a:ext cx="1675954" cy="172327"/>
          </a:xfrm>
          <a:prstGeom prst="rect">
            <a:avLst/>
          </a:prstGeom>
          <a:noFill/>
          <a:ln/>
        </p:spPr>
        <p:txBody>
          <a:bodyPr wrap="none" lIns="0" tIns="0" rIns="0" bIns="0" rtlCol="0" anchor="ctr"/>
          <a:lstStyle/>
          <a:p>
            <a:pPr algn="l" indent="0" marL="0">
              <a:buNone/>
            </a:pPr>
            <a:r>
              <a:rPr lang="en-US" sz="940" dirty="0">
                <a:solidFill>
                  <a:srgbClr val="334155"/>
                </a:solidFill>
                <a:latin typeface="Segoe UI Semibold" pitchFamily="34" charset="0"/>
                <a:ea typeface="Segoe UI Semibold" pitchFamily="34" charset="-122"/>
                <a:cs typeface="Segoe UI Semibold" pitchFamily="34" charset="-120"/>
              </a:rPr>
              <a:t>Visa Accept: chạm thẻ, link</a:t>
            </a:r>
            <a:endParaRPr lang="en-US" sz="940" dirty="0"/>
          </a:p>
        </p:txBody>
      </p:sp>
      <p:sp>
        <p:nvSpPr>
          <p:cNvPr id="77" name="-border"/>
          <p:cNvSpPr/>
          <p:nvPr/>
        </p:nvSpPr>
        <p:spPr>
          <a:xfrm>
            <a:off x="9575602" y="5035897"/>
            <a:ext cx="1797248" cy="9525"/>
          </a:xfrm>
          <a:prstGeom prst="rect">
            <a:avLst/>
          </a:prstGeom>
          <a:solidFill>
            <a:srgbClr val="E2E8F0"/>
          </a:solidFill>
          <a:ln/>
        </p:spPr>
      </p:sp>
      <p:sp>
        <p:nvSpPr>
          <p:cNvPr id="78" name="text td"/>
          <p:cNvSpPr txBox="1"/>
          <p:nvPr/>
        </p:nvSpPr>
        <p:spPr>
          <a:xfrm>
            <a:off x="9689902" y="4645640"/>
            <a:ext cx="1606748" cy="323315"/>
          </a:xfrm>
          <a:prstGeom prst="rect">
            <a:avLst/>
          </a:prstGeom>
          <a:noFill/>
          <a:ln/>
        </p:spPr>
        <p:txBody>
          <a:bodyPr wrap="square" lIns="0" tIns="0" rIns="0" bIns="0" rtlCol="0" anchor="ctr"/>
          <a:lstStyle/>
          <a:p>
            <a:pPr algn="l" indent="0" marL="0">
              <a:lnSpc>
                <a:spcPts val="1270"/>
              </a:lnSpc>
              <a:buNone/>
            </a:pPr>
            <a:r>
              <a:rPr lang="en-US" sz="940" dirty="0">
                <a:solidFill>
                  <a:srgbClr val="334155"/>
                </a:solidFill>
                <a:latin typeface="Segoe UI Semibold" pitchFamily="34" charset="0"/>
                <a:ea typeface="Segoe UI Semibold" pitchFamily="34" charset="-122"/>
                <a:cs typeface="Segoe UI Semibold" pitchFamily="34" charset="-120"/>
              </a:rPr>
              <a:t>Khách châu Âu, Mỹ, Úc, Hàn Quốc</a:t>
            </a:r>
            <a:endParaRPr lang="en-US" sz="940" dirty="0"/>
          </a:p>
        </p:txBody>
      </p:sp>
      <p:sp>
        <p:nvSpPr>
          <p:cNvPr id="79" name="text td"/>
          <p:cNvSpPr txBox="1"/>
          <p:nvPr/>
        </p:nvSpPr>
        <p:spPr>
          <a:xfrm>
            <a:off x="6096000" y="5112392"/>
            <a:ext cx="1606451" cy="323261"/>
          </a:xfrm>
          <a:prstGeom prst="rect">
            <a:avLst/>
          </a:prstGeom>
          <a:noFill/>
          <a:ln/>
        </p:spPr>
        <p:txBody>
          <a:bodyPr wrap="square" lIns="0" tIns="0" rIns="0" bIns="0" rtlCol="0" anchor="ctr"/>
          <a:lstStyle/>
          <a:p>
            <a:pPr algn="l" indent="0" marL="0">
              <a:lnSpc>
                <a:spcPts val="1270"/>
              </a:lnSpc>
              <a:buNone/>
            </a:pPr>
            <a:r>
              <a:rPr lang="en-US" sz="940" dirty="0">
                <a:solidFill>
                  <a:srgbClr val="0F172A"/>
                </a:solidFill>
                <a:latin typeface="Segoe UI Black" pitchFamily="34" charset="0"/>
                <a:ea typeface="Segoe UI Black" pitchFamily="34" charset="-122"/>
                <a:cs typeface="Segoe UI Black" pitchFamily="34" charset="-120"/>
              </a:rPr>
              <a:t>Ví, app ngân hàng nước mình</a:t>
            </a:r>
            <a:endParaRPr lang="en-US" sz="940" dirty="0"/>
          </a:p>
        </p:txBody>
      </p:sp>
      <p:sp>
        <p:nvSpPr>
          <p:cNvPr id="80" name="text td"/>
          <p:cNvSpPr txBox="1"/>
          <p:nvPr/>
        </p:nvSpPr>
        <p:spPr>
          <a:xfrm>
            <a:off x="7892951" y="5106896"/>
            <a:ext cx="1439466" cy="172327"/>
          </a:xfrm>
          <a:prstGeom prst="rect">
            <a:avLst/>
          </a:prstGeom>
          <a:noFill/>
          <a:ln/>
        </p:spPr>
        <p:txBody>
          <a:bodyPr wrap="none" lIns="0" tIns="0" rIns="0" bIns="0" rtlCol="0" anchor="ctr"/>
          <a:lstStyle/>
          <a:p>
            <a:pPr algn="l" indent="0" marL="0">
              <a:buNone/>
            </a:pPr>
            <a:r>
              <a:rPr lang="en-US" sz="940" dirty="0">
                <a:solidFill>
                  <a:srgbClr val="334155"/>
                </a:solidFill>
                <a:latin typeface="Segoe UI Semibold" pitchFamily="34" charset="0"/>
                <a:ea typeface="Segoe UI Semibold" pitchFamily="34" charset="-122"/>
                <a:cs typeface="Segoe UI Semibold" pitchFamily="34" charset="-120"/>
              </a:rPr>
              <a:t>VietQR Global: quét QR</a:t>
            </a:r>
            <a:endParaRPr lang="en-US" sz="940" dirty="0"/>
          </a:p>
        </p:txBody>
      </p:sp>
      <p:sp>
        <p:nvSpPr>
          <p:cNvPr id="81" name="text td"/>
          <p:cNvSpPr txBox="1"/>
          <p:nvPr/>
        </p:nvSpPr>
        <p:spPr>
          <a:xfrm>
            <a:off x="9689902" y="5112365"/>
            <a:ext cx="1606748" cy="323315"/>
          </a:xfrm>
          <a:prstGeom prst="rect">
            <a:avLst/>
          </a:prstGeom>
          <a:noFill/>
          <a:ln/>
        </p:spPr>
        <p:txBody>
          <a:bodyPr wrap="square" lIns="0" tIns="0" rIns="0" bIns="0" rtlCol="0" anchor="ctr"/>
          <a:lstStyle/>
          <a:p>
            <a:pPr algn="l" indent="0" marL="0">
              <a:lnSpc>
                <a:spcPts val="1270"/>
              </a:lnSpc>
              <a:buNone/>
            </a:pPr>
            <a:r>
              <a:rPr lang="en-US" sz="940" dirty="0">
                <a:solidFill>
                  <a:srgbClr val="334155"/>
                </a:solidFill>
                <a:latin typeface="Segoe UI Semibold" pitchFamily="34" charset="0"/>
                <a:ea typeface="Segoe UI Semibold" pitchFamily="34" charset="-122"/>
                <a:cs typeface="Segoe UI Semibold" pitchFamily="34" charset="-120"/>
              </a:rPr>
              <a:t>Khách Trung Quốc, Hàn Quốc, ASEAN</a:t>
            </a:r>
            <a:endParaRPr lang="en-US" sz="940" dirty="0"/>
          </a:p>
        </p:txBody>
      </p:sp>
      <p:sp>
        <p:nvSpPr>
          <p:cNvPr id="82" name="takeaway __nops"/>
          <p:cNvSpPr/>
          <p:nvPr/>
        </p:nvSpPr>
        <p:spPr>
          <a:xfrm>
            <a:off x="614363" y="5623322"/>
            <a:ext cx="10963275" cy="525066"/>
          </a:xfrm>
          <a:prstGeom prst="roundRect">
            <a:avLst>
              <a:gd name="adj" fmla="val 24490"/>
            </a:avLst>
          </a:prstGeom>
          <a:solidFill>
            <a:srgbClr val="EEFBF3"/>
          </a:solidFill>
          <a:ln w="9525">
            <a:solidFill>
              <a:srgbClr val="86EFAC"/>
            </a:solidFill>
            <a:prstDash val="solid"/>
          </a:ln>
        </p:spPr>
      </p:sp>
      <p:sp>
        <p:nvSpPr>
          <p:cNvPr id="83" name="text takeaway __nops"/>
          <p:cNvSpPr txBox="1"/>
          <p:nvPr/>
        </p:nvSpPr>
        <p:spPr>
          <a:xfrm>
            <a:off x="1152525" y="5767864"/>
            <a:ext cx="7987278" cy="234791"/>
          </a:xfrm>
          <a:prstGeom prst="rect">
            <a:avLst/>
          </a:prstGeom>
          <a:noFill/>
          <a:ln/>
        </p:spPr>
        <p:txBody>
          <a:bodyPr wrap="none" lIns="0" tIns="0" rIns="0" bIns="0" rtlCol="0" anchor="ctr"/>
          <a:lstStyle/>
          <a:p>
            <a:pPr algn="l" indent="0" marL="0">
              <a:buNone/>
            </a:pPr>
            <a:r>
              <a:rPr lang="en-US" sz="1280" b="1" dirty="0">
                <a:solidFill>
                  <a:srgbClr val="0F172A"/>
                </a:solidFill>
                <a:latin typeface="Segoe UI" pitchFamily="34" charset="0"/>
                <a:ea typeface="Segoe UI" pitchFamily="34" charset="-122"/>
                <a:cs typeface="Segoe UI" pitchFamily="34" charset="-120"/>
              </a:rPr>
              <a:t>Thẻ và QR trong cùng một app Tendoo: </a:t>
            </a:r>
            <a:pPr algn="l" indent="0" marL="0">
              <a:buNone/>
            </a:pPr>
            <a:r>
              <a:rPr lang="en-US" sz="1280" b="1" dirty="0">
                <a:solidFill>
                  <a:srgbClr val="15803D"/>
                </a:solidFill>
                <a:latin typeface="Segoe UI" pitchFamily="34" charset="0"/>
                <a:ea typeface="Segoe UI" pitchFamily="34" charset="-122"/>
                <a:cs typeface="Segoe UI" pitchFamily="34" charset="-120"/>
              </a:rPr>
              <a:t>phục vụ cả khách dùng thẻ và khách dùng ví nước mình.</a:t>
            </a:r>
            <a:endParaRPr lang="en-US" sz="1280" dirty="0"/>
          </a:p>
        </p:txBody>
      </p:sp>
      <p:pic>
        <p:nvPicPr>
          <p:cNvPr id="84" name="graphic SPAN" descr="SPAN">    </p:cNvPr>
          <p:cNvPicPr>
            <a:picLocks noChangeAspect="1"/>
          </p:cNvPicPr>
          <p:nvPr/>
        </p:nvPicPr>
        <p:blipFill>
          <a:blip r:embed="rId2"/>
          <a:stretch>
            <a:fillRect/>
          </a:stretch>
        </p:blipFill>
        <p:spPr>
          <a:xfrm>
            <a:off x="828675" y="5790605"/>
            <a:ext cx="152400" cy="190500"/>
          </a:xfrm>
          <a:prstGeom prst="rect">
            <a:avLst/>
          </a:prstGeom>
        </p:spPr>
      </p:pic>
      <p:sp>
        <p:nvSpPr>
          <p:cNvPr id="85" name="text source"/>
          <p:cNvSpPr txBox="1"/>
          <p:nvPr/>
        </p:nvSpPr>
        <p:spPr>
          <a:xfrm>
            <a:off x="609600" y="6492498"/>
            <a:ext cx="3648149" cy="152062"/>
          </a:xfrm>
          <a:prstGeom prst="rect">
            <a:avLst/>
          </a:prstGeom>
          <a:noFill/>
          <a:ln/>
        </p:spPr>
        <p:txBody>
          <a:bodyPr wrap="none" lIns="0" tIns="0" rIns="0" bIns="0" rtlCol="0" anchor="ctr"/>
          <a:lstStyle/>
          <a:p>
            <a:pPr algn="l" indent="0" marL="0">
              <a:buNone/>
            </a:pPr>
            <a:r>
              <a:rPr lang="en-US" sz="830" dirty="0">
                <a:solidFill>
                  <a:srgbClr val="94A3B8"/>
                </a:solidFill>
                <a:latin typeface="Segoe UI Semibold" pitchFamily="34" charset="0"/>
                <a:ea typeface="Segoe UI Semibold" pitchFamily="34" charset="-122"/>
                <a:cs typeface="Segoe UI Semibold" pitchFamily="34" charset="-120"/>
              </a:rPr>
              <a:t>Nguồn: NAPAS; Cục Thống kê, Cục Du lịch Quốc gia (9 tháng 2026).</a:t>
            </a:r>
            <a:endParaRPr lang="en-US" sz="830" dirty="0"/>
          </a:p>
        </p:txBody>
      </p:sp>
      <p:sp>
        <p:nvSpPr>
          <p:cNvPr id="86" name="mk"/>
          <p:cNvSpPr/>
          <p:nvPr/>
        </p:nvSpPr>
        <p:spPr>
          <a:xfrm>
            <a:off x="10796588" y="6343650"/>
            <a:ext cx="323850" cy="323850"/>
          </a:xfrm>
          <a:prstGeom prst="ellipse">
            <a:avLst/>
          </a:prstGeom>
          <a:solidFill>
            <a:srgbClr val="F0001E"/>
          </a:solidFill>
          <a:ln/>
        </p:spPr>
      </p:sp>
      <p:sp>
        <p:nvSpPr>
          <p:cNvPr id="87" name="Shape 83"/>
          <p:cNvSpPr/>
          <p:nvPr/>
        </p:nvSpPr>
        <p:spPr>
          <a:xfrm>
            <a:off x="10910888" y="6424613"/>
            <a:ext cx="95250" cy="161925"/>
          </a:xfrm>
          <a:prstGeom prst="roundRect">
            <a:avLst>
              <a:gd name="adj" fmla="val 25000"/>
            </a:avLst>
          </a:prstGeom>
          <a:ln w="19050">
            <a:solidFill>
              <a:srgbClr val="FFFFFF"/>
            </a:solidFill>
            <a:prstDash val="solid"/>
          </a:ln>
        </p:spPr>
      </p:sp>
      <p:sp>
        <p:nvSpPr>
          <p:cNvPr id="88"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89"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90" name="text pno"/>
          <p:cNvSpPr txBox="1"/>
          <p:nvPr/>
        </p:nvSpPr>
        <p:spPr>
          <a:xfrm>
            <a:off x="10519767" y="6420535"/>
            <a:ext cx="243483" cy="160556"/>
          </a:xfrm>
          <a:prstGeom prst="rect">
            <a:avLst/>
          </a:prstGeom>
          <a:noFill/>
          <a:ln/>
        </p:spPr>
        <p:txBody>
          <a:bodyPr wrap="none" lIns="0" tIns="0" rIns="0" bIns="0" rtlCol="0" anchor="ctr"/>
          <a:lstStyle/>
          <a:p>
            <a:pPr algn="l" indent="0" marL="0">
              <a:buNone/>
            </a:pPr>
            <a:r>
              <a:rPr lang="en-US" sz="870" b="1" dirty="0">
                <a:solidFill>
                  <a:srgbClr val="CBD5E1"/>
                </a:solidFill>
                <a:latin typeface="Segoe UI" pitchFamily="34" charset="0"/>
                <a:ea typeface="Segoe UI" pitchFamily="34" charset="-122"/>
                <a:cs typeface="Segoe UI" pitchFamily="34" charset="-120"/>
              </a:rPr>
              <a:t>14</a:t>
            </a:r>
            <a:endParaRPr lang="en-US" sz="87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5323853"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DEMO GIẢI PHÁP CHI TIẾT 1 · VISA ACCEPT TRONG TENDOO · ① ĐĂNG KÝ</a:t>
            </a:r>
            <a:endParaRPr lang="en-US" sz="1050" dirty="0"/>
          </a:p>
        </p:txBody>
      </p:sp>
      <p:sp>
        <p:nvSpPr>
          <p:cNvPr id="3" name="text title"/>
          <p:cNvSpPr txBox="1"/>
          <p:nvPr/>
        </p:nvSpPr>
        <p:spPr>
          <a:xfrm>
            <a:off x="609600" y="581263"/>
            <a:ext cx="9506013"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Đăng ký Visa Accept </a:t>
            </a:r>
            <a:pPr algn="l" indent="0" marL="0">
              <a:buNone/>
            </a:pPr>
            <a:r>
              <a:rPr lang="en-US" sz="2330" b="1" spc="-30" kern="0" dirty="0">
                <a:solidFill>
                  <a:srgbClr val="E11D48"/>
                </a:solidFill>
                <a:latin typeface="Segoe UI" pitchFamily="34" charset="0"/>
                <a:ea typeface="Segoe UI" pitchFamily="34" charset="-122"/>
                <a:cs typeface="Segoe UI" pitchFamily="34" charset="-120"/>
              </a:rPr>
              <a:t>ngay trong Tendoo</a:t>
            </a:r>
            <a:pPr algn="l" indent="0" marL="0">
              <a:buNone/>
            </a:pPr>
            <a:r>
              <a:rPr lang="en-US" sz="2330" b="1" spc="-30" kern="0" dirty="0">
                <a:solidFill>
                  <a:srgbClr val="0F172A"/>
                </a:solidFill>
                <a:latin typeface="Segoe UI" pitchFamily="34" charset="0"/>
                <a:ea typeface="Segoe UI" pitchFamily="34" charset="-122"/>
                <a:cs typeface="Segoe UI" pitchFamily="34" charset="-120"/>
              </a:rPr>
              <a:t>, dùng thẻ Visa đang có</a:t>
            </a:r>
            <a:endParaRPr lang="en-US" sz="2330" dirty="0"/>
          </a:p>
        </p:txBody>
      </p:sp>
      <p:sp>
        <p:nvSpPr>
          <p:cNvPr id="4" name="text persona"/>
          <p:cNvSpPr txBox="1"/>
          <p:nvPr/>
        </p:nvSpPr>
        <p:spPr>
          <a:xfrm>
            <a:off x="609600" y="1169670"/>
            <a:ext cx="10188631" cy="200263"/>
          </a:xfrm>
          <a:prstGeom prst="rect">
            <a:avLst/>
          </a:prstGeom>
          <a:noFill/>
          <a:ln/>
        </p:spPr>
        <p:txBody>
          <a:bodyPr wrap="none" lIns="0" tIns="0" rIns="0" bIns="0" rtlCol="0" anchor="ctr"/>
          <a:lstStyle/>
          <a:p>
            <a:pPr algn="l" indent="0" marL="0">
              <a:buNone/>
            </a:pPr>
            <a:r>
              <a:rPr lang="en-US" sz="1090" dirty="0">
                <a:solidFill>
                  <a:srgbClr val="334155"/>
                </a:solidFill>
                <a:latin typeface="Segoe UI Semibold" pitchFamily="34" charset="0"/>
                <a:ea typeface="Segoe UI Semibold" pitchFamily="34" charset="-122"/>
                <a:cs typeface="Segoe UI Semibold" pitchFamily="34" charset="-120"/>
              </a:rPr>
              <a:t>Chị Lan bán trà và quà lưu niệm ở Hội An, đã dùng Tendoo để bán hàng. Chị bật Visa Accept để nhận thẻ của khách quốc tế, không cần máy POS.</a:t>
            </a:r>
            <a:endParaRPr lang="en-US" sz="1090" dirty="0"/>
          </a:p>
        </p:txBody>
      </p:sp>
      <p:pic>
        <p:nvPicPr>
          <p:cNvPr id="5" name="image" descr="Tendoo có mục mới: nhận thẻ bằng thẻ Visa của chính mình">    </p:cNvPr>
          <p:cNvPicPr>
            <a:picLocks noChangeAspect="1"/>
          </p:cNvPicPr>
          <p:nvPr/>
        </p:nvPicPr>
        <p:blipFill>
          <a:blip r:embed="rId1"/>
          <a:stretch>
            <a:fillRect/>
          </a:stretch>
        </p:blipFill>
        <p:spPr>
          <a:xfrm>
            <a:off x="685800" y="1503313"/>
            <a:ext cx="1676400" cy="3410843"/>
          </a:xfrm>
          <a:prstGeom prst="rect">
            <a:avLst/>
          </a:prstGeom>
        </p:spPr>
      </p:pic>
      <p:sp>
        <p:nvSpPr>
          <p:cNvPr id="6" name="Shape 3"/>
          <p:cNvSpPr/>
          <p:nvPr/>
        </p:nvSpPr>
        <p:spPr>
          <a:xfrm>
            <a:off x="685800" y="4990356"/>
            <a:ext cx="190500" cy="190500"/>
          </a:xfrm>
          <a:prstGeom prst="ellipse">
            <a:avLst/>
          </a:prstGeom>
          <a:solidFill>
            <a:srgbClr val="E11D48"/>
          </a:solidFill>
          <a:ln/>
        </p:spPr>
      </p:sp>
      <p:sp>
        <p:nvSpPr>
          <p:cNvPr id="7" name="text i"/>
          <p:cNvSpPr txBox="1"/>
          <p:nvPr/>
        </p:nvSpPr>
        <p:spPr>
          <a:xfrm>
            <a:off x="757833" y="5003989"/>
            <a:ext cx="16058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1</a:t>
            </a:r>
            <a:endParaRPr lang="en-US" sz="830" dirty="0"/>
          </a:p>
        </p:txBody>
      </p:sp>
      <p:sp>
        <p:nvSpPr>
          <p:cNvPr id="8" name="text span"/>
          <p:cNvSpPr txBox="1"/>
          <p:nvPr/>
        </p:nvSpPr>
        <p:spPr>
          <a:xfrm>
            <a:off x="952500" y="49891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Tendoo có mục mới: nhận thẻ bằng thẻ Visa của chính mình</a:t>
            </a:r>
            <a:endParaRPr lang="en-US" sz="940" dirty="0"/>
          </a:p>
        </p:txBody>
      </p:sp>
      <p:pic>
        <p:nvPicPr>
          <p:cNvPr id="9" name="image" descr="Khách chạm thẻ, ví trên điện thoại, hoặc trả qua link">    </p:cNvPr>
          <p:cNvPicPr>
            <a:picLocks noChangeAspect="1"/>
          </p:cNvPicPr>
          <p:nvPr/>
        </p:nvPicPr>
        <p:blipFill>
          <a:blip r:embed="rId2"/>
          <a:stretch>
            <a:fillRect/>
          </a:stretch>
        </p:blipFill>
        <p:spPr>
          <a:xfrm>
            <a:off x="2514600" y="1503313"/>
            <a:ext cx="1676400" cy="3410843"/>
          </a:xfrm>
          <a:prstGeom prst="rect">
            <a:avLst/>
          </a:prstGeom>
        </p:spPr>
      </p:pic>
      <p:sp>
        <p:nvSpPr>
          <p:cNvPr id="10" name="Shape 6"/>
          <p:cNvSpPr/>
          <p:nvPr/>
        </p:nvSpPr>
        <p:spPr>
          <a:xfrm>
            <a:off x="2514600" y="4990356"/>
            <a:ext cx="190500" cy="190500"/>
          </a:xfrm>
          <a:prstGeom prst="ellipse">
            <a:avLst/>
          </a:prstGeom>
          <a:solidFill>
            <a:srgbClr val="E11D48"/>
          </a:solidFill>
          <a:ln/>
        </p:spPr>
      </p:sp>
      <p:sp>
        <p:nvSpPr>
          <p:cNvPr id="11" name="text i"/>
          <p:cNvSpPr txBox="1"/>
          <p:nvPr/>
        </p:nvSpPr>
        <p:spPr>
          <a:xfrm>
            <a:off x="2576364" y="5003989"/>
            <a:ext cx="18112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2</a:t>
            </a:r>
            <a:endParaRPr lang="en-US" sz="830" dirty="0"/>
          </a:p>
        </p:txBody>
      </p:sp>
      <p:sp>
        <p:nvSpPr>
          <p:cNvPr id="12" name="text span"/>
          <p:cNvSpPr txBox="1"/>
          <p:nvPr/>
        </p:nvSpPr>
        <p:spPr>
          <a:xfrm>
            <a:off x="2781300" y="49891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Khách chạm thẻ, ví trên điện thoại, hoặc trả qua link</a:t>
            </a:r>
            <a:endParaRPr lang="en-US" sz="940" dirty="0"/>
          </a:p>
        </p:txBody>
      </p:sp>
      <p:pic>
        <p:nvPicPr>
          <p:cNvPr id="13" name="image" descr="Chọn thẻ Visa ghi nợ, trả trước để nhận tiền">    </p:cNvPr>
          <p:cNvPicPr>
            <a:picLocks noChangeAspect="1"/>
          </p:cNvPicPr>
          <p:nvPr/>
        </p:nvPicPr>
        <p:blipFill>
          <a:blip r:embed="rId3"/>
          <a:stretch>
            <a:fillRect/>
          </a:stretch>
        </p:blipFill>
        <p:spPr>
          <a:xfrm>
            <a:off x="4343400" y="1503313"/>
            <a:ext cx="1676400" cy="3410843"/>
          </a:xfrm>
          <a:prstGeom prst="rect">
            <a:avLst/>
          </a:prstGeom>
        </p:spPr>
      </p:pic>
      <p:sp>
        <p:nvSpPr>
          <p:cNvPr id="14" name="Shape 9"/>
          <p:cNvSpPr/>
          <p:nvPr/>
        </p:nvSpPr>
        <p:spPr>
          <a:xfrm>
            <a:off x="4343400" y="4990356"/>
            <a:ext cx="190500" cy="190500"/>
          </a:xfrm>
          <a:prstGeom prst="ellipse">
            <a:avLst/>
          </a:prstGeom>
          <a:solidFill>
            <a:srgbClr val="E11D48"/>
          </a:solidFill>
          <a:ln/>
        </p:spPr>
      </p:sp>
      <p:sp>
        <p:nvSpPr>
          <p:cNvPr id="15" name="text i"/>
          <p:cNvSpPr txBox="1"/>
          <p:nvPr/>
        </p:nvSpPr>
        <p:spPr>
          <a:xfrm>
            <a:off x="4404122" y="5003989"/>
            <a:ext cx="183207"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3</a:t>
            </a:r>
            <a:endParaRPr lang="en-US" sz="830" dirty="0"/>
          </a:p>
        </p:txBody>
      </p:sp>
      <p:sp>
        <p:nvSpPr>
          <p:cNvPr id="16" name="text span"/>
          <p:cNvSpPr txBox="1"/>
          <p:nvPr/>
        </p:nvSpPr>
        <p:spPr>
          <a:xfrm>
            <a:off x="4610100" y="4989165"/>
            <a:ext cx="14478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Chọn thẻ Visa ghi nợ, trả trước để nhận tiền</a:t>
            </a:r>
            <a:endParaRPr lang="en-US" sz="940" dirty="0"/>
          </a:p>
        </p:txBody>
      </p:sp>
      <p:pic>
        <p:nvPicPr>
          <p:cNvPr id="17" name="image" descr="Đặt tên người bán, hiện trên sao kê của khách">    </p:cNvPr>
          <p:cNvPicPr>
            <a:picLocks noChangeAspect="1"/>
          </p:cNvPicPr>
          <p:nvPr/>
        </p:nvPicPr>
        <p:blipFill>
          <a:blip r:embed="rId4"/>
          <a:stretch>
            <a:fillRect/>
          </a:stretch>
        </p:blipFill>
        <p:spPr>
          <a:xfrm>
            <a:off x="6172200" y="1503313"/>
            <a:ext cx="1676400" cy="3410843"/>
          </a:xfrm>
          <a:prstGeom prst="rect">
            <a:avLst/>
          </a:prstGeom>
        </p:spPr>
      </p:pic>
      <p:sp>
        <p:nvSpPr>
          <p:cNvPr id="18" name="Shape 12"/>
          <p:cNvSpPr/>
          <p:nvPr/>
        </p:nvSpPr>
        <p:spPr>
          <a:xfrm>
            <a:off x="6172200" y="4990356"/>
            <a:ext cx="190500" cy="190500"/>
          </a:xfrm>
          <a:prstGeom prst="ellipse">
            <a:avLst/>
          </a:prstGeom>
          <a:solidFill>
            <a:srgbClr val="E11D48"/>
          </a:solidFill>
          <a:ln/>
        </p:spPr>
      </p:sp>
      <p:sp>
        <p:nvSpPr>
          <p:cNvPr id="19" name="text i"/>
          <p:cNvSpPr txBox="1"/>
          <p:nvPr/>
        </p:nvSpPr>
        <p:spPr>
          <a:xfrm>
            <a:off x="6231285" y="5003989"/>
            <a:ext cx="186482"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4</a:t>
            </a:r>
            <a:endParaRPr lang="en-US" sz="830" dirty="0"/>
          </a:p>
        </p:txBody>
      </p:sp>
      <p:sp>
        <p:nvSpPr>
          <p:cNvPr id="20" name="text span"/>
          <p:cNvSpPr txBox="1"/>
          <p:nvPr/>
        </p:nvSpPr>
        <p:spPr>
          <a:xfrm>
            <a:off x="6438900" y="4989165"/>
            <a:ext cx="14478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Đặt tên người bán, hiện trên sao kê của khách</a:t>
            </a:r>
            <a:endParaRPr lang="en-US" sz="940" dirty="0"/>
          </a:p>
        </p:txBody>
      </p:sp>
      <p:pic>
        <p:nvPicPr>
          <p:cNvPr id="21" name="image" descr="Đồng ý điều khoản: 100 triệu đồng, 2.000 giao dịch mỗi tháng">    </p:cNvPr>
          <p:cNvPicPr>
            <a:picLocks noChangeAspect="1"/>
          </p:cNvPicPr>
          <p:nvPr/>
        </p:nvPicPr>
        <p:blipFill>
          <a:blip r:embed="rId5"/>
          <a:stretch>
            <a:fillRect/>
          </a:stretch>
        </p:blipFill>
        <p:spPr>
          <a:xfrm>
            <a:off x="8001000" y="1503313"/>
            <a:ext cx="1676400" cy="3410843"/>
          </a:xfrm>
          <a:prstGeom prst="rect">
            <a:avLst/>
          </a:prstGeom>
        </p:spPr>
      </p:pic>
      <p:sp>
        <p:nvSpPr>
          <p:cNvPr id="22" name="Shape 15"/>
          <p:cNvSpPr/>
          <p:nvPr/>
        </p:nvSpPr>
        <p:spPr>
          <a:xfrm>
            <a:off x="8001000" y="4990356"/>
            <a:ext cx="190500" cy="190500"/>
          </a:xfrm>
          <a:prstGeom prst="ellipse">
            <a:avLst/>
          </a:prstGeom>
          <a:solidFill>
            <a:srgbClr val="E11D48"/>
          </a:solidFill>
          <a:ln/>
        </p:spPr>
      </p:sp>
      <p:sp>
        <p:nvSpPr>
          <p:cNvPr id="23" name="text i"/>
          <p:cNvSpPr txBox="1"/>
          <p:nvPr/>
        </p:nvSpPr>
        <p:spPr>
          <a:xfrm>
            <a:off x="8062912" y="5003989"/>
            <a:ext cx="18082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5</a:t>
            </a:r>
            <a:endParaRPr lang="en-US" sz="830" dirty="0"/>
          </a:p>
        </p:txBody>
      </p:sp>
      <p:sp>
        <p:nvSpPr>
          <p:cNvPr id="24" name="text span"/>
          <p:cNvSpPr txBox="1"/>
          <p:nvPr/>
        </p:nvSpPr>
        <p:spPr>
          <a:xfrm>
            <a:off x="8267700" y="49891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Đồng ý điều khoản: 100 triệu đồng, 2.000 giao dịch mỗi tháng</a:t>
            </a:r>
            <a:endParaRPr lang="en-US" sz="940" dirty="0"/>
          </a:p>
        </p:txBody>
      </p:sp>
      <p:pic>
        <p:nvPicPr>
          <p:cNvPr id="25" name="image" descr="Tài khoản người bán được tạo, bắt đầu bán hàng">    </p:cNvPr>
          <p:cNvPicPr>
            <a:picLocks noChangeAspect="1"/>
          </p:cNvPicPr>
          <p:nvPr/>
        </p:nvPicPr>
        <p:blipFill>
          <a:blip r:embed="rId6"/>
          <a:stretch>
            <a:fillRect/>
          </a:stretch>
        </p:blipFill>
        <p:spPr>
          <a:xfrm>
            <a:off x="9829800" y="1503313"/>
            <a:ext cx="1676400" cy="3410843"/>
          </a:xfrm>
          <a:prstGeom prst="rect">
            <a:avLst/>
          </a:prstGeom>
        </p:spPr>
      </p:pic>
      <p:sp>
        <p:nvSpPr>
          <p:cNvPr id="26" name="Shape 18"/>
          <p:cNvSpPr/>
          <p:nvPr/>
        </p:nvSpPr>
        <p:spPr>
          <a:xfrm>
            <a:off x="9829800" y="4990356"/>
            <a:ext cx="190500" cy="190500"/>
          </a:xfrm>
          <a:prstGeom prst="ellipse">
            <a:avLst/>
          </a:prstGeom>
          <a:solidFill>
            <a:srgbClr val="E11D48"/>
          </a:solidFill>
          <a:ln/>
        </p:spPr>
      </p:sp>
      <p:sp>
        <p:nvSpPr>
          <p:cNvPr id="27" name="text i"/>
          <p:cNvSpPr txBox="1"/>
          <p:nvPr/>
        </p:nvSpPr>
        <p:spPr>
          <a:xfrm>
            <a:off x="9890373" y="5003989"/>
            <a:ext cx="18365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6</a:t>
            </a:r>
            <a:endParaRPr lang="en-US" sz="830" dirty="0"/>
          </a:p>
        </p:txBody>
      </p:sp>
      <p:sp>
        <p:nvSpPr>
          <p:cNvPr id="28" name="text span"/>
          <p:cNvSpPr txBox="1"/>
          <p:nvPr/>
        </p:nvSpPr>
        <p:spPr>
          <a:xfrm>
            <a:off x="10096500" y="49891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Tài khoản người bán được tạo, bắt đầu bán hàng</a:t>
            </a:r>
            <a:endParaRPr lang="en-US" sz="940" dirty="0"/>
          </a:p>
        </p:txBody>
      </p:sp>
      <p:sp>
        <p:nvSpPr>
          <p:cNvPr id="29" name="text source"/>
          <p:cNvSpPr txBox="1"/>
          <p:nvPr/>
        </p:nvSpPr>
        <p:spPr>
          <a:xfrm>
            <a:off x="609600" y="6348546"/>
            <a:ext cx="9658350" cy="293370"/>
          </a:xfrm>
          <a:prstGeom prst="rect">
            <a:avLst/>
          </a:prstGeom>
          <a:noFill/>
          <a:ln/>
        </p:spPr>
        <p:txBody>
          <a:bodyPr wrap="square" lIns="0" tIns="0" rIns="0" bIns="0" rtlCol="0" anchor="ctr"/>
          <a:lstStyle/>
          <a:p>
            <a:pPr algn="l" indent="0" marL="0">
              <a:lnSpc>
                <a:spcPts val="1160"/>
              </a:lnSpc>
              <a:buNone/>
            </a:pPr>
            <a:r>
              <a:rPr lang="en-US" sz="830" dirty="0">
                <a:solidFill>
                  <a:srgbClr val="94A3B8"/>
                </a:solidFill>
                <a:latin typeface="Segoe UI Semibold" pitchFamily="34" charset="0"/>
                <a:ea typeface="Segoe UI Semibold" pitchFamily="34" charset="-122"/>
                <a:cs typeface="Segoe UI Semibold" pitchFamily="34" charset="-120"/>
              </a:rPr>
              <a:t>Minh họa theo luồng Visa Accept trong tài liệu của Visa, 10/2026. Luồng thật trong Tendoo sẽ thống nhất với Visa. Tên cửa hàng, khách, số tiền và số thẻ là giả định. Bước xác minh hộ kinh doanh sẽ thống nhất với Visa.</a:t>
            </a:r>
            <a:endParaRPr lang="en-US" sz="830" dirty="0"/>
          </a:p>
        </p:txBody>
      </p:sp>
      <p:sp>
        <p:nvSpPr>
          <p:cNvPr id="30" name="mk"/>
          <p:cNvSpPr/>
          <p:nvPr/>
        </p:nvSpPr>
        <p:spPr>
          <a:xfrm>
            <a:off x="10796588" y="6343650"/>
            <a:ext cx="323850" cy="323850"/>
          </a:xfrm>
          <a:prstGeom prst="ellipse">
            <a:avLst/>
          </a:prstGeom>
          <a:solidFill>
            <a:srgbClr val="F0001E"/>
          </a:solidFill>
          <a:ln/>
        </p:spPr>
      </p:sp>
      <p:sp>
        <p:nvSpPr>
          <p:cNvPr id="31" name="Shape 23"/>
          <p:cNvSpPr/>
          <p:nvPr/>
        </p:nvSpPr>
        <p:spPr>
          <a:xfrm>
            <a:off x="10910888" y="6424613"/>
            <a:ext cx="95250" cy="161925"/>
          </a:xfrm>
          <a:prstGeom prst="roundRect">
            <a:avLst>
              <a:gd name="adj" fmla="val 25000"/>
            </a:avLst>
          </a:prstGeom>
          <a:ln w="19050">
            <a:solidFill>
              <a:srgbClr val="FFFFFF"/>
            </a:solidFill>
            <a:prstDash val="solid"/>
          </a:ln>
        </p:spPr>
      </p:sp>
      <p:sp>
        <p:nvSpPr>
          <p:cNvPr id="32"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33"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34" name="text pno"/>
          <p:cNvSpPr txBox="1"/>
          <p:nvPr/>
        </p:nvSpPr>
        <p:spPr>
          <a:xfrm>
            <a:off x="10526018" y="6418543"/>
            <a:ext cx="237232" cy="164540"/>
          </a:xfrm>
          <a:prstGeom prst="rect">
            <a:avLst/>
          </a:prstGeom>
          <a:noFill/>
          <a:ln/>
        </p:spPr>
        <p:txBody>
          <a:bodyPr wrap="none" lIns="0" tIns="0" rIns="0" bIns="0" rtlCol="0" anchor="ctr"/>
          <a:lstStyle/>
          <a:p>
            <a:pPr algn="l" indent="0" marL="0">
              <a:buNone/>
            </a:pPr>
            <a:r>
              <a:rPr lang="en-US" sz="890" b="1" dirty="0">
                <a:solidFill>
                  <a:srgbClr val="CBD5E1"/>
                </a:solidFill>
                <a:latin typeface="Segoe UI" pitchFamily="34" charset="0"/>
                <a:ea typeface="Segoe UI" pitchFamily="34" charset="-122"/>
                <a:cs typeface="Segoe UI" pitchFamily="34" charset="-120"/>
              </a:rPr>
              <a:t>15</a:t>
            </a:r>
            <a:endParaRPr lang="en-US" sz="89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5424502"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DEMO GIẢI PHÁP CHI TIẾT 1 · VISA ACCEPT TRONG TENDOO · ② CHẠM THẺ</a:t>
            </a:r>
            <a:endParaRPr lang="en-US" sz="1050" dirty="0"/>
          </a:p>
        </p:txBody>
      </p:sp>
      <p:sp>
        <p:nvSpPr>
          <p:cNvPr id="3" name="text title"/>
          <p:cNvSpPr txBox="1"/>
          <p:nvPr/>
        </p:nvSpPr>
        <p:spPr>
          <a:xfrm>
            <a:off x="609600" y="581263"/>
            <a:ext cx="10161496"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Khách </a:t>
            </a:r>
            <a:pPr algn="l" indent="0" marL="0">
              <a:buNone/>
            </a:pPr>
            <a:r>
              <a:rPr lang="en-US" sz="2330" b="1" spc="-30" kern="0" dirty="0">
                <a:solidFill>
                  <a:srgbClr val="E11D48"/>
                </a:solidFill>
                <a:latin typeface="Segoe UI" pitchFamily="34" charset="0"/>
                <a:ea typeface="Segoe UI" pitchFamily="34" charset="-122"/>
                <a:cs typeface="Segoe UI" pitchFamily="34" charset="-120"/>
              </a:rPr>
              <a:t>chạm thẻ vào điện thoại</a:t>
            </a:r>
            <a:pPr algn="l" indent="0" marL="0">
              <a:buNone/>
            </a:pPr>
            <a:r>
              <a:rPr lang="en-US" sz="2330" b="1" spc="-30" kern="0" dirty="0">
                <a:solidFill>
                  <a:srgbClr val="0F172A"/>
                </a:solidFill>
                <a:latin typeface="Segoe UI" pitchFamily="34" charset="0"/>
                <a:ea typeface="Segoe UI" pitchFamily="34" charset="-122"/>
                <a:cs typeface="Segoe UI" pitchFamily="34" charset="-120"/>
              </a:rPr>
              <a:t> của cửa hàng, tiền về gần như tức thì</a:t>
            </a:r>
            <a:endParaRPr lang="en-US" sz="2330" dirty="0"/>
          </a:p>
        </p:txBody>
      </p:sp>
      <p:sp>
        <p:nvSpPr>
          <p:cNvPr id="4" name="text persona"/>
          <p:cNvSpPr txBox="1"/>
          <p:nvPr/>
        </p:nvSpPr>
        <p:spPr>
          <a:xfrm>
            <a:off x="609600" y="1169670"/>
            <a:ext cx="10250629" cy="200263"/>
          </a:xfrm>
          <a:prstGeom prst="rect">
            <a:avLst/>
          </a:prstGeom>
          <a:noFill/>
          <a:ln/>
        </p:spPr>
        <p:txBody>
          <a:bodyPr wrap="none" lIns="0" tIns="0" rIns="0" bIns="0" rtlCol="0" anchor="ctr"/>
          <a:lstStyle/>
          <a:p>
            <a:pPr algn="l" indent="0" marL="0">
              <a:buNone/>
            </a:pPr>
            <a:r>
              <a:rPr lang="en-US" sz="1090" dirty="0">
                <a:solidFill>
                  <a:srgbClr val="334155"/>
                </a:solidFill>
                <a:latin typeface="Segoe UI Semibold" pitchFamily="34" charset="0"/>
                <a:ea typeface="Segoe UI Semibold" pitchFamily="34" charset="-122"/>
                <a:cs typeface="Segoe UI Semibold" pitchFamily="34" charset="-120"/>
              </a:rPr>
              <a:t>Chị Camille, du khách Pháp, mua 2 hộp trà sen ở Lan's House và muốn trả bằng thẻ Visa. Chị Lan nhận tiền ngay trên điện thoại Android của mình.</a:t>
            </a:r>
            <a:endParaRPr lang="en-US" sz="1090" dirty="0"/>
          </a:p>
        </p:txBody>
      </p:sp>
      <p:pic>
        <p:nvPicPr>
          <p:cNvPr id="5" name="image" descr="Bảng điều khiển: doanh số tháng, hạn mức còn lại; bấm “Bán hàng mới”">    </p:cNvPr>
          <p:cNvPicPr>
            <a:picLocks noChangeAspect="1"/>
          </p:cNvPicPr>
          <p:nvPr/>
        </p:nvPicPr>
        <p:blipFill>
          <a:blip r:embed="rId1"/>
          <a:stretch>
            <a:fillRect/>
          </a:stretch>
        </p:blipFill>
        <p:spPr>
          <a:xfrm>
            <a:off x="1123950" y="1503313"/>
            <a:ext cx="1866900" cy="3798391"/>
          </a:xfrm>
          <a:prstGeom prst="rect">
            <a:avLst/>
          </a:prstGeom>
        </p:spPr>
      </p:pic>
      <p:sp>
        <p:nvSpPr>
          <p:cNvPr id="6" name="Shape 3"/>
          <p:cNvSpPr/>
          <p:nvPr/>
        </p:nvSpPr>
        <p:spPr>
          <a:xfrm>
            <a:off x="1123950" y="5377904"/>
            <a:ext cx="190500" cy="190500"/>
          </a:xfrm>
          <a:prstGeom prst="ellipse">
            <a:avLst/>
          </a:prstGeom>
          <a:solidFill>
            <a:srgbClr val="E11D48"/>
          </a:solidFill>
          <a:ln/>
        </p:spPr>
      </p:sp>
      <p:sp>
        <p:nvSpPr>
          <p:cNvPr id="7" name="text i"/>
          <p:cNvSpPr txBox="1"/>
          <p:nvPr/>
        </p:nvSpPr>
        <p:spPr>
          <a:xfrm>
            <a:off x="1195983" y="5391537"/>
            <a:ext cx="16058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1</a:t>
            </a:r>
            <a:endParaRPr lang="en-US" sz="830" dirty="0"/>
          </a:p>
        </p:txBody>
      </p:sp>
      <p:sp>
        <p:nvSpPr>
          <p:cNvPr id="8" name="text span"/>
          <p:cNvSpPr txBox="1"/>
          <p:nvPr/>
        </p:nvSpPr>
        <p:spPr>
          <a:xfrm>
            <a:off x="1390650" y="5376714"/>
            <a:ext cx="16383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Bảng điều khiển: doanh số tháng, hạn mức còn lại; bấm “Bán hàng mới”</a:t>
            </a:r>
            <a:endParaRPr lang="en-US" sz="940" dirty="0"/>
          </a:p>
        </p:txBody>
      </p:sp>
      <p:pic>
        <p:nvPicPr>
          <p:cNvPr id="9" name="image" descr="Chọn hàng có sẵn trong Tendoo hoặc nhập số tiền">    </p:cNvPr>
          <p:cNvPicPr>
            <a:picLocks noChangeAspect="1"/>
          </p:cNvPicPr>
          <p:nvPr/>
        </p:nvPicPr>
        <p:blipFill>
          <a:blip r:embed="rId2"/>
          <a:stretch>
            <a:fillRect/>
          </a:stretch>
        </p:blipFill>
        <p:spPr>
          <a:xfrm>
            <a:off x="3143250" y="1503313"/>
            <a:ext cx="1866900" cy="3798391"/>
          </a:xfrm>
          <a:prstGeom prst="rect">
            <a:avLst/>
          </a:prstGeom>
        </p:spPr>
      </p:pic>
      <p:sp>
        <p:nvSpPr>
          <p:cNvPr id="10" name="Shape 6"/>
          <p:cNvSpPr/>
          <p:nvPr/>
        </p:nvSpPr>
        <p:spPr>
          <a:xfrm>
            <a:off x="3143250" y="5377904"/>
            <a:ext cx="190500" cy="190500"/>
          </a:xfrm>
          <a:prstGeom prst="ellipse">
            <a:avLst/>
          </a:prstGeom>
          <a:solidFill>
            <a:srgbClr val="E11D48"/>
          </a:solidFill>
          <a:ln/>
        </p:spPr>
      </p:sp>
      <p:sp>
        <p:nvSpPr>
          <p:cNvPr id="11" name="text i"/>
          <p:cNvSpPr txBox="1"/>
          <p:nvPr/>
        </p:nvSpPr>
        <p:spPr>
          <a:xfrm>
            <a:off x="3205014" y="5391537"/>
            <a:ext cx="18112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2</a:t>
            </a:r>
            <a:endParaRPr lang="en-US" sz="830" dirty="0"/>
          </a:p>
        </p:txBody>
      </p:sp>
      <p:sp>
        <p:nvSpPr>
          <p:cNvPr id="12" name="text span"/>
          <p:cNvSpPr txBox="1"/>
          <p:nvPr/>
        </p:nvSpPr>
        <p:spPr>
          <a:xfrm>
            <a:off x="3409950" y="5376714"/>
            <a:ext cx="16383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Chọn hàng có sẵn trong Tendoo hoặc nhập số tiền</a:t>
            </a:r>
            <a:endParaRPr lang="en-US" sz="940" dirty="0"/>
          </a:p>
        </p:txBody>
      </p:sp>
      <p:pic>
        <p:nvPicPr>
          <p:cNvPr id="13" name="image" descr="Màn hình chờ chạm; khách không chạm được thì trả qua link">    </p:cNvPr>
          <p:cNvPicPr>
            <a:picLocks noChangeAspect="1"/>
          </p:cNvPicPr>
          <p:nvPr/>
        </p:nvPicPr>
        <p:blipFill>
          <a:blip r:embed="rId3"/>
          <a:stretch>
            <a:fillRect/>
          </a:stretch>
        </p:blipFill>
        <p:spPr>
          <a:xfrm>
            <a:off x="5162550" y="1503313"/>
            <a:ext cx="1866900" cy="3798391"/>
          </a:xfrm>
          <a:prstGeom prst="rect">
            <a:avLst/>
          </a:prstGeom>
        </p:spPr>
      </p:pic>
      <p:sp>
        <p:nvSpPr>
          <p:cNvPr id="14" name="Shape 9"/>
          <p:cNvSpPr/>
          <p:nvPr/>
        </p:nvSpPr>
        <p:spPr>
          <a:xfrm>
            <a:off x="5162550" y="5377904"/>
            <a:ext cx="190500" cy="190500"/>
          </a:xfrm>
          <a:prstGeom prst="ellipse">
            <a:avLst/>
          </a:prstGeom>
          <a:solidFill>
            <a:srgbClr val="E11D48"/>
          </a:solidFill>
          <a:ln/>
        </p:spPr>
      </p:sp>
      <p:sp>
        <p:nvSpPr>
          <p:cNvPr id="15" name="text i"/>
          <p:cNvSpPr txBox="1"/>
          <p:nvPr/>
        </p:nvSpPr>
        <p:spPr>
          <a:xfrm>
            <a:off x="5223272" y="5391537"/>
            <a:ext cx="183207"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3</a:t>
            </a:r>
            <a:endParaRPr lang="en-US" sz="830" dirty="0"/>
          </a:p>
        </p:txBody>
      </p:sp>
      <p:sp>
        <p:nvSpPr>
          <p:cNvPr id="16" name="text span"/>
          <p:cNvSpPr txBox="1"/>
          <p:nvPr/>
        </p:nvSpPr>
        <p:spPr>
          <a:xfrm>
            <a:off x="5429250" y="5376714"/>
            <a:ext cx="16383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Màn hình chờ chạm; khách không chạm được thì trả qua link</a:t>
            </a:r>
            <a:endParaRPr lang="en-US" sz="940" dirty="0"/>
          </a:p>
        </p:txBody>
      </p:sp>
      <p:pic>
        <p:nvPicPr>
          <p:cNvPr id="17" name="image" descr="Khách chạm thẻ: thanh toán thành công, gửi biên lai cho khách">    </p:cNvPr>
          <p:cNvPicPr>
            <a:picLocks noChangeAspect="1"/>
          </p:cNvPicPr>
          <p:nvPr/>
        </p:nvPicPr>
        <p:blipFill>
          <a:blip r:embed="rId4"/>
          <a:stretch>
            <a:fillRect/>
          </a:stretch>
        </p:blipFill>
        <p:spPr>
          <a:xfrm>
            <a:off x="7181850" y="1503313"/>
            <a:ext cx="1866900" cy="3798391"/>
          </a:xfrm>
          <a:prstGeom prst="rect">
            <a:avLst/>
          </a:prstGeom>
        </p:spPr>
      </p:pic>
      <p:sp>
        <p:nvSpPr>
          <p:cNvPr id="18" name="Shape 12"/>
          <p:cNvSpPr/>
          <p:nvPr/>
        </p:nvSpPr>
        <p:spPr>
          <a:xfrm>
            <a:off x="7181850" y="5377904"/>
            <a:ext cx="190500" cy="190500"/>
          </a:xfrm>
          <a:prstGeom prst="ellipse">
            <a:avLst/>
          </a:prstGeom>
          <a:solidFill>
            <a:srgbClr val="E11D48"/>
          </a:solidFill>
          <a:ln/>
        </p:spPr>
      </p:sp>
      <p:sp>
        <p:nvSpPr>
          <p:cNvPr id="19" name="text i"/>
          <p:cNvSpPr txBox="1"/>
          <p:nvPr/>
        </p:nvSpPr>
        <p:spPr>
          <a:xfrm>
            <a:off x="7240935" y="5391537"/>
            <a:ext cx="186482"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4</a:t>
            </a:r>
            <a:endParaRPr lang="en-US" sz="830" dirty="0"/>
          </a:p>
        </p:txBody>
      </p:sp>
      <p:sp>
        <p:nvSpPr>
          <p:cNvPr id="20" name="text span"/>
          <p:cNvSpPr txBox="1"/>
          <p:nvPr/>
        </p:nvSpPr>
        <p:spPr>
          <a:xfrm>
            <a:off x="7448550" y="5376714"/>
            <a:ext cx="16383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Khách chạm thẻ: thanh toán thành công, gửi biên lai cho khách</a:t>
            </a:r>
            <a:endParaRPr lang="en-US" sz="940" dirty="0"/>
          </a:p>
        </p:txBody>
      </p:sp>
      <p:pic>
        <p:nvPicPr>
          <p:cNvPr id="21" name="image" descr="Giao dịch vào bảng điều khiển và sổ bán hàng Tendoo, hạn mức tự trừ">    </p:cNvPr>
          <p:cNvPicPr>
            <a:picLocks noChangeAspect="1"/>
          </p:cNvPicPr>
          <p:nvPr/>
        </p:nvPicPr>
        <p:blipFill>
          <a:blip r:embed="rId5"/>
          <a:stretch>
            <a:fillRect/>
          </a:stretch>
        </p:blipFill>
        <p:spPr>
          <a:xfrm>
            <a:off x="9201150" y="1503313"/>
            <a:ext cx="1866900" cy="3798391"/>
          </a:xfrm>
          <a:prstGeom prst="rect">
            <a:avLst/>
          </a:prstGeom>
        </p:spPr>
      </p:pic>
      <p:sp>
        <p:nvSpPr>
          <p:cNvPr id="22" name="Shape 15"/>
          <p:cNvSpPr/>
          <p:nvPr/>
        </p:nvSpPr>
        <p:spPr>
          <a:xfrm>
            <a:off x="9201150" y="5377904"/>
            <a:ext cx="190500" cy="190500"/>
          </a:xfrm>
          <a:prstGeom prst="ellipse">
            <a:avLst/>
          </a:prstGeom>
          <a:solidFill>
            <a:srgbClr val="E11D48"/>
          </a:solidFill>
          <a:ln/>
        </p:spPr>
      </p:sp>
      <p:sp>
        <p:nvSpPr>
          <p:cNvPr id="23" name="text i"/>
          <p:cNvSpPr txBox="1"/>
          <p:nvPr/>
        </p:nvSpPr>
        <p:spPr>
          <a:xfrm>
            <a:off x="9263062" y="5391537"/>
            <a:ext cx="18082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5</a:t>
            </a:r>
            <a:endParaRPr lang="en-US" sz="830" dirty="0"/>
          </a:p>
        </p:txBody>
      </p:sp>
      <p:sp>
        <p:nvSpPr>
          <p:cNvPr id="24" name="text span"/>
          <p:cNvSpPr txBox="1"/>
          <p:nvPr/>
        </p:nvSpPr>
        <p:spPr>
          <a:xfrm>
            <a:off x="9467850" y="5376714"/>
            <a:ext cx="16383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Giao dịch vào bảng điều khiển và sổ bán hàng Tendoo, hạn mức tự trừ</a:t>
            </a:r>
            <a:endParaRPr lang="en-US" sz="940" dirty="0"/>
          </a:p>
        </p:txBody>
      </p:sp>
      <p:sp>
        <p:nvSpPr>
          <p:cNvPr id="25" name="text source"/>
          <p:cNvSpPr txBox="1"/>
          <p:nvPr/>
        </p:nvSpPr>
        <p:spPr>
          <a:xfrm>
            <a:off x="609600" y="6492591"/>
            <a:ext cx="8761080" cy="151877"/>
          </a:xfrm>
          <a:prstGeom prst="rect">
            <a:avLst/>
          </a:prstGeom>
          <a:noFill/>
          <a:ln/>
        </p:spPr>
        <p:txBody>
          <a:bodyPr wrap="none" lIns="0" tIns="0" rIns="0" bIns="0" rtlCol="0" anchor="ctr"/>
          <a:lstStyle/>
          <a:p>
            <a:pPr algn="l" indent="0" marL="0">
              <a:buNone/>
            </a:pPr>
            <a:r>
              <a:rPr lang="en-US" sz="820" dirty="0">
                <a:solidFill>
                  <a:srgbClr val="94A3B8"/>
                </a:solidFill>
                <a:latin typeface="Segoe UI Semibold" pitchFamily="34" charset="0"/>
                <a:ea typeface="Segoe UI Semibold" pitchFamily="34" charset="-122"/>
                <a:cs typeface="Segoe UI Semibold" pitchFamily="34" charset="-120"/>
              </a:rPr>
              <a:t>Minh họa theo luồng Visa Accept trong tài liệu của Visa, 10/2026. Luồng thật trong Tendoo sẽ thống nhất với Visa. Tên cửa hàng, khách, số tiền và số thẻ là giả định.</a:t>
            </a:r>
            <a:endParaRPr lang="en-US" sz="820" dirty="0"/>
          </a:p>
        </p:txBody>
      </p:sp>
      <p:sp>
        <p:nvSpPr>
          <p:cNvPr id="26" name="mk"/>
          <p:cNvSpPr/>
          <p:nvPr/>
        </p:nvSpPr>
        <p:spPr>
          <a:xfrm>
            <a:off x="10796588" y="6343650"/>
            <a:ext cx="323850" cy="323850"/>
          </a:xfrm>
          <a:prstGeom prst="ellipse">
            <a:avLst/>
          </a:prstGeom>
          <a:solidFill>
            <a:srgbClr val="F0001E"/>
          </a:solidFill>
          <a:ln/>
        </p:spPr>
      </p:sp>
      <p:sp>
        <p:nvSpPr>
          <p:cNvPr id="27" name="Shape 20"/>
          <p:cNvSpPr/>
          <p:nvPr/>
        </p:nvSpPr>
        <p:spPr>
          <a:xfrm>
            <a:off x="10910888" y="6424613"/>
            <a:ext cx="95250" cy="161925"/>
          </a:xfrm>
          <a:prstGeom prst="roundRect">
            <a:avLst>
              <a:gd name="adj" fmla="val 25000"/>
            </a:avLst>
          </a:prstGeom>
          <a:ln w="19050">
            <a:solidFill>
              <a:srgbClr val="FFFFFF"/>
            </a:solidFill>
            <a:prstDash val="solid"/>
          </a:ln>
        </p:spPr>
      </p:sp>
      <p:sp>
        <p:nvSpPr>
          <p:cNvPr id="28"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29"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30" name="text pno"/>
          <p:cNvSpPr txBox="1"/>
          <p:nvPr/>
        </p:nvSpPr>
        <p:spPr>
          <a:xfrm>
            <a:off x="10522744" y="6416351"/>
            <a:ext cx="240506" cy="168922"/>
          </a:xfrm>
          <a:prstGeom prst="rect">
            <a:avLst/>
          </a:prstGeom>
          <a:noFill/>
          <a:ln/>
        </p:spPr>
        <p:txBody>
          <a:bodyPr wrap="none" lIns="0" tIns="0" rIns="0" bIns="0" rtlCol="0" anchor="ctr"/>
          <a:lstStyle/>
          <a:p>
            <a:pPr algn="l" indent="0" marL="0">
              <a:buNone/>
            </a:pPr>
            <a:r>
              <a:rPr lang="en-US" sz="920" b="1" dirty="0">
                <a:solidFill>
                  <a:srgbClr val="CBD5E1"/>
                </a:solidFill>
                <a:latin typeface="Segoe UI" pitchFamily="34" charset="0"/>
                <a:ea typeface="Segoe UI" pitchFamily="34" charset="-122"/>
                <a:cs typeface="Segoe UI" pitchFamily="34" charset="-120"/>
              </a:rPr>
              <a:t>16</a:t>
            </a:r>
            <a:endParaRPr lang="en-US" sz="9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5224623"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GIẢI PHÁP CHI TIẾT 2 · ONLINE: AI TƯ VẤN DU LỊCH VÀ BOOKING ONLINE</a:t>
            </a:r>
            <a:endParaRPr lang="en-US" sz="1050" dirty="0"/>
          </a:p>
        </p:txBody>
      </p:sp>
      <p:sp>
        <p:nvSpPr>
          <p:cNvPr id="3" name="text title"/>
          <p:cNvSpPr txBox="1"/>
          <p:nvPr/>
        </p:nvSpPr>
        <p:spPr>
          <a:xfrm>
            <a:off x="609600" y="581263"/>
            <a:ext cx="9082275"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AI tư vấn du lịch </a:t>
            </a:r>
            <a:pPr algn="l" indent="0" marL="0">
              <a:buNone/>
            </a:pPr>
            <a:r>
              <a:rPr lang="en-US" sz="2330" b="1" spc="-30" kern="0" dirty="0">
                <a:solidFill>
                  <a:srgbClr val="E11D48"/>
                </a:solidFill>
                <a:latin typeface="Segoe UI" pitchFamily="34" charset="0"/>
                <a:ea typeface="Segoe UI" pitchFamily="34" charset="-122"/>
                <a:cs typeface="Segoe UI" pitchFamily="34" charset="-120"/>
              </a:rPr>
              <a:t>giới thiệu merchant nhỏ</a:t>
            </a:r>
            <a:pPr algn="l" indent="0" marL="0">
              <a:buNone/>
            </a:pPr>
            <a:r>
              <a:rPr lang="en-US" sz="2330" b="1" spc="-30" kern="0" dirty="0">
                <a:solidFill>
                  <a:srgbClr val="0F172A"/>
                </a:solidFill>
                <a:latin typeface="Segoe UI" pitchFamily="34" charset="0"/>
                <a:ea typeface="Segoe UI" pitchFamily="34" charset="-122"/>
                <a:cs typeface="Segoe UI" pitchFamily="34" charset="-120"/>
              </a:rPr>
              <a:t>, khách đặt chỗ ngay</a:t>
            </a:r>
            <a:endParaRPr lang="en-US" sz="2330" dirty="0"/>
          </a:p>
        </p:txBody>
      </p:sp>
      <p:sp>
        <p:nvSpPr>
          <p:cNvPr id="4" name="card vb on"/>
          <p:cNvSpPr/>
          <p:nvPr/>
        </p:nvSpPr>
        <p:spPr>
          <a:xfrm>
            <a:off x="614363" y="1174552"/>
            <a:ext cx="4733925" cy="1853208"/>
          </a:xfrm>
          <a:prstGeom prst="roundRect">
            <a:avLst>
              <a:gd name="adj" fmla="val 6939"/>
            </a:avLst>
          </a:prstGeom>
          <a:solidFill>
            <a:srgbClr val="FFFFFF"/>
          </a:solidFill>
          <a:ln w="9525">
            <a:solidFill>
              <a:srgbClr val="E2E8F0"/>
            </a:solidFill>
            <a:prstDash val="solid"/>
          </a:ln>
        </p:spPr>
      </p:sp>
      <p:sp>
        <p:nvSpPr>
          <p:cNvPr id="5" name="opp-n"/>
          <p:cNvSpPr/>
          <p:nvPr/>
        </p:nvSpPr>
        <p:spPr>
          <a:xfrm>
            <a:off x="809625" y="1331714"/>
            <a:ext cx="266700" cy="266700"/>
          </a:xfrm>
          <a:prstGeom prst="roundRect">
            <a:avLst>
              <a:gd name="adj" fmla="val 28571"/>
            </a:avLst>
          </a:prstGeom>
          <a:solidFill>
            <a:srgbClr val="1E3A8A"/>
          </a:solidFill>
          <a:ln/>
        </p:spPr>
      </p:sp>
      <p:sp>
        <p:nvSpPr>
          <p:cNvPr id="6" name="text opp-n"/>
          <p:cNvSpPr txBox="1"/>
          <p:nvPr/>
        </p:nvSpPr>
        <p:spPr>
          <a:xfrm>
            <a:off x="912763" y="1368385"/>
            <a:ext cx="174724" cy="193358"/>
          </a:xfrm>
          <a:prstGeom prst="rect">
            <a:avLst/>
          </a:prstGeom>
          <a:noFill/>
          <a:ln/>
        </p:spPr>
        <p:txBody>
          <a:bodyPr wrap="none" lIns="0" tIns="0" rIns="0" bIns="0" rtlCol="0" anchor="ctr"/>
          <a:lstStyle/>
          <a:p>
            <a:pPr algn="l" indent="0" marL="0">
              <a:buNone/>
            </a:pPr>
            <a:r>
              <a:rPr lang="en-US" sz="1050" dirty="0">
                <a:solidFill>
                  <a:srgbClr val="FFFFFF"/>
                </a:solidFill>
                <a:latin typeface="Segoe UI Black" pitchFamily="34" charset="0"/>
                <a:ea typeface="Segoe UI Black" pitchFamily="34" charset="-122"/>
                <a:cs typeface="Segoe UI Black" pitchFamily="34" charset="-120"/>
              </a:rPr>
              <a:t>1</a:t>
            </a:r>
            <a:endParaRPr lang="en-US" sz="1050" dirty="0"/>
          </a:p>
        </p:txBody>
      </p:sp>
      <p:sp>
        <p:nvSpPr>
          <p:cNvPr id="7" name="text h3"/>
          <p:cNvSpPr txBox="1"/>
          <p:nvPr/>
        </p:nvSpPr>
        <p:spPr>
          <a:xfrm>
            <a:off x="1171575" y="1345678"/>
            <a:ext cx="1706166" cy="228056"/>
          </a:xfrm>
          <a:prstGeom prst="rect">
            <a:avLst/>
          </a:prstGeom>
          <a:noFill/>
          <a:ln/>
        </p:spPr>
        <p:txBody>
          <a:bodyPr wrap="none" lIns="0" tIns="0" rIns="0" bIns="0" rtlCol="0" anchor="ctr"/>
          <a:lstStyle/>
          <a:p>
            <a:pPr algn="l" indent="0" marL="0">
              <a:buNone/>
            </a:pPr>
            <a:r>
              <a:rPr lang="en-US" sz="1240" b="1" dirty="0">
                <a:solidFill>
                  <a:srgbClr val="0F172A"/>
                </a:solidFill>
                <a:latin typeface="Segoe UI" pitchFamily="34" charset="0"/>
                <a:ea typeface="Segoe UI" pitchFamily="34" charset="-122"/>
                <a:cs typeface="Segoe UI" pitchFamily="34" charset="-120"/>
              </a:rPr>
              <a:t>AI tư vấn du lịch là gì</a:t>
            </a:r>
            <a:endParaRPr lang="en-US" sz="1240" dirty="0"/>
          </a:p>
        </p:txBody>
      </p:sp>
      <p:sp>
        <p:nvSpPr>
          <p:cNvPr id="8" name="text __nops"/>
          <p:cNvSpPr txBox="1"/>
          <p:nvPr/>
        </p:nvSpPr>
        <p:spPr>
          <a:xfrm>
            <a:off x="962025" y="1726049"/>
            <a:ext cx="3227409"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Web app: bấm link là dùng, không cần cài</a:t>
            </a:r>
            <a:endParaRPr lang="en-US" sz="1200" dirty="0"/>
          </a:p>
        </p:txBody>
      </p:sp>
      <p:sp>
        <p:nvSpPr>
          <p:cNvPr id="9" name="Shape 7"/>
          <p:cNvSpPr/>
          <p:nvPr/>
        </p:nvSpPr>
        <p:spPr>
          <a:xfrm>
            <a:off x="819150" y="1807964"/>
            <a:ext cx="57150" cy="57150"/>
          </a:xfrm>
          <a:prstGeom prst="ellipse">
            <a:avLst/>
          </a:prstGeom>
          <a:solidFill>
            <a:srgbClr val="334155"/>
          </a:solidFill>
          <a:ln/>
        </p:spPr>
      </p:sp>
      <p:sp>
        <p:nvSpPr>
          <p:cNvPr id="10" name="text __nops"/>
          <p:cNvSpPr txBox="1"/>
          <p:nvPr/>
        </p:nvSpPr>
        <p:spPr>
          <a:xfrm>
            <a:off x="962025" y="2034570"/>
            <a:ext cx="3916180"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Cho khách quốc tế và khách Việt dùng thẻ quốc tế</a:t>
            </a:r>
            <a:endParaRPr lang="en-US" sz="1200" dirty="0"/>
          </a:p>
        </p:txBody>
      </p:sp>
      <p:sp>
        <p:nvSpPr>
          <p:cNvPr id="11" name="Shape 9"/>
          <p:cNvSpPr/>
          <p:nvPr/>
        </p:nvSpPr>
        <p:spPr>
          <a:xfrm>
            <a:off x="819150" y="2116485"/>
            <a:ext cx="57150" cy="57150"/>
          </a:xfrm>
          <a:prstGeom prst="ellipse">
            <a:avLst/>
          </a:prstGeom>
          <a:solidFill>
            <a:srgbClr val="334155"/>
          </a:solidFill>
          <a:ln/>
        </p:spPr>
      </p:sp>
      <p:sp>
        <p:nvSpPr>
          <p:cNvPr id="12" name="text __nops"/>
          <p:cNvSpPr txBox="1"/>
          <p:nvPr/>
        </p:nvSpPr>
        <p:spPr>
          <a:xfrm>
            <a:off x="962025" y="2343090"/>
            <a:ext cx="2446193"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Trả lời bằng thứ tiếng khách hỏi</a:t>
            </a:r>
            <a:endParaRPr lang="en-US" sz="1200" dirty="0"/>
          </a:p>
        </p:txBody>
      </p:sp>
      <p:sp>
        <p:nvSpPr>
          <p:cNvPr id="13" name="Shape 11"/>
          <p:cNvSpPr/>
          <p:nvPr/>
        </p:nvSpPr>
        <p:spPr>
          <a:xfrm>
            <a:off x="819150" y="2425005"/>
            <a:ext cx="57150" cy="57150"/>
          </a:xfrm>
          <a:prstGeom prst="ellipse">
            <a:avLst/>
          </a:prstGeom>
          <a:solidFill>
            <a:srgbClr val="334155"/>
          </a:solidFill>
          <a:ln/>
        </p:spPr>
      </p:sp>
      <p:sp>
        <p:nvSpPr>
          <p:cNvPr id="14" name="text __nops"/>
          <p:cNvSpPr txBox="1"/>
          <p:nvPr/>
        </p:nvSpPr>
        <p:spPr>
          <a:xfrm>
            <a:off x="962025" y="2651611"/>
            <a:ext cx="1985516" cy="220980"/>
          </a:xfrm>
          <a:prstGeom prst="rect">
            <a:avLst/>
          </a:prstGeom>
          <a:noFill/>
          <a:ln/>
        </p:spPr>
        <p:txBody>
          <a:bodyPr wrap="none" lIns="0" tIns="0" rIns="0" bIns="0" rtlCol="0" anchor="ctr"/>
          <a:lstStyle/>
          <a:p>
            <a:pPr algn="l" indent="0" marL="0">
              <a:buNone/>
            </a:pPr>
            <a:r>
              <a:rPr lang="en-US" sz="1200" dirty="0">
                <a:solidFill>
                  <a:srgbClr val="334155"/>
                </a:solidFill>
                <a:latin typeface="Segoe UI Semibold" pitchFamily="34" charset="0"/>
                <a:ea typeface="Segoe UI Semibold" pitchFamily="34" charset="-122"/>
                <a:cs typeface="Segoe UI Semibold" pitchFamily="34" charset="-120"/>
              </a:rPr>
              <a:t>Hỏi không cần đăng nhập</a:t>
            </a:r>
            <a:endParaRPr lang="en-US" sz="1200" dirty="0"/>
          </a:p>
        </p:txBody>
      </p:sp>
      <p:sp>
        <p:nvSpPr>
          <p:cNvPr id="15" name="Shape 13"/>
          <p:cNvSpPr/>
          <p:nvPr/>
        </p:nvSpPr>
        <p:spPr>
          <a:xfrm>
            <a:off x="819150" y="2733526"/>
            <a:ext cx="57150" cy="57150"/>
          </a:xfrm>
          <a:prstGeom prst="ellipse">
            <a:avLst/>
          </a:prstGeom>
          <a:solidFill>
            <a:srgbClr val="334155"/>
          </a:solidFill>
          <a:ln/>
        </p:spPr>
      </p:sp>
      <p:sp>
        <p:nvSpPr>
          <p:cNvPr id="16" name="card vb on"/>
          <p:cNvSpPr/>
          <p:nvPr/>
        </p:nvSpPr>
        <p:spPr>
          <a:xfrm>
            <a:off x="614363" y="3170634"/>
            <a:ext cx="4733925" cy="2309813"/>
          </a:xfrm>
          <a:prstGeom prst="roundRect">
            <a:avLst>
              <a:gd name="adj" fmla="val 5567"/>
            </a:avLst>
          </a:prstGeom>
          <a:solidFill>
            <a:srgbClr val="FFFFFF"/>
          </a:solidFill>
          <a:ln w="9525">
            <a:solidFill>
              <a:srgbClr val="E2E8F0"/>
            </a:solidFill>
            <a:prstDash val="solid"/>
          </a:ln>
        </p:spPr>
      </p:sp>
      <p:sp>
        <p:nvSpPr>
          <p:cNvPr id="17" name="opp-n"/>
          <p:cNvSpPr/>
          <p:nvPr/>
        </p:nvSpPr>
        <p:spPr>
          <a:xfrm>
            <a:off x="809625" y="3327797"/>
            <a:ext cx="266700" cy="266700"/>
          </a:xfrm>
          <a:prstGeom prst="roundRect">
            <a:avLst>
              <a:gd name="adj" fmla="val 28571"/>
            </a:avLst>
          </a:prstGeom>
          <a:solidFill>
            <a:srgbClr val="1E3A8A"/>
          </a:solidFill>
          <a:ln/>
        </p:spPr>
      </p:sp>
      <p:sp>
        <p:nvSpPr>
          <p:cNvPr id="18" name="text opp-n"/>
          <p:cNvSpPr txBox="1"/>
          <p:nvPr/>
        </p:nvSpPr>
        <p:spPr>
          <a:xfrm>
            <a:off x="899815" y="3364468"/>
            <a:ext cx="200620" cy="193358"/>
          </a:xfrm>
          <a:prstGeom prst="rect">
            <a:avLst/>
          </a:prstGeom>
          <a:noFill/>
          <a:ln/>
        </p:spPr>
        <p:txBody>
          <a:bodyPr wrap="none" lIns="0" tIns="0" rIns="0" bIns="0" rtlCol="0" anchor="ctr"/>
          <a:lstStyle/>
          <a:p>
            <a:pPr algn="l" indent="0" marL="0">
              <a:buNone/>
            </a:pPr>
            <a:r>
              <a:rPr lang="en-US" sz="1050" dirty="0">
                <a:solidFill>
                  <a:srgbClr val="FFFFFF"/>
                </a:solidFill>
                <a:latin typeface="Segoe UI Black" pitchFamily="34" charset="0"/>
                <a:ea typeface="Segoe UI Black" pitchFamily="34" charset="-122"/>
                <a:cs typeface="Segoe UI Black" pitchFamily="34" charset="-120"/>
              </a:rPr>
              <a:t>2</a:t>
            </a:r>
            <a:endParaRPr lang="en-US" sz="1050" dirty="0"/>
          </a:p>
        </p:txBody>
      </p:sp>
      <p:sp>
        <p:nvSpPr>
          <p:cNvPr id="19" name="text h3"/>
          <p:cNvSpPr txBox="1"/>
          <p:nvPr/>
        </p:nvSpPr>
        <p:spPr>
          <a:xfrm>
            <a:off x="1171575" y="3341861"/>
            <a:ext cx="2463230" cy="227856"/>
          </a:xfrm>
          <a:prstGeom prst="rect">
            <a:avLst/>
          </a:prstGeom>
          <a:noFill/>
          <a:ln/>
        </p:spPr>
        <p:txBody>
          <a:bodyPr wrap="none" lIns="0" tIns="0" rIns="0" bIns="0" rtlCol="0" anchor="ctr"/>
          <a:lstStyle/>
          <a:p>
            <a:pPr algn="l" indent="0" marL="0">
              <a:buNone/>
            </a:pPr>
            <a:r>
              <a:rPr lang="en-US" sz="1240" b="1" dirty="0">
                <a:solidFill>
                  <a:srgbClr val="0F172A"/>
                </a:solidFill>
                <a:latin typeface="Segoe UI" pitchFamily="34" charset="0"/>
                <a:ea typeface="Segoe UI" pitchFamily="34" charset="-122"/>
                <a:cs typeface="Segoe UI" pitchFamily="34" charset="-120"/>
              </a:rPr>
              <a:t>Khách gặp AI qua kênh Viettel</a:t>
            </a:r>
            <a:endParaRPr lang="en-US" sz="1240" dirty="0"/>
          </a:p>
        </p:txBody>
      </p:sp>
      <p:sp>
        <p:nvSpPr>
          <p:cNvPr id="20" name="text b"/>
          <p:cNvSpPr txBox="1"/>
          <p:nvPr/>
        </p:nvSpPr>
        <p:spPr>
          <a:xfrm>
            <a:off x="809625" y="3770114"/>
            <a:ext cx="2177058" cy="207169"/>
          </a:xfrm>
          <a:prstGeom prst="rect">
            <a:avLst/>
          </a:prstGeom>
          <a:noFill/>
          <a:ln/>
        </p:spPr>
        <p:txBody>
          <a:bodyPr wrap="none" lIns="0" tIns="0" rIns="0" bIns="0" rtlCol="0" anchor="ctr"/>
          <a:lstStyle/>
          <a:p>
            <a:pPr algn="l" indent="0" marL="0">
              <a:buNone/>
            </a:pPr>
            <a:r>
              <a:rPr lang="en-US" sz="1130" b="1" dirty="0">
                <a:solidFill>
                  <a:srgbClr val="1E3A8A"/>
                </a:solidFill>
                <a:latin typeface="Segoe UI" pitchFamily="34" charset="0"/>
                <a:ea typeface="Segoe UI" pitchFamily="34" charset="-122"/>
                <a:cs typeface="Segoe UI" pitchFamily="34" charset="-120"/>
              </a:rPr>
              <a:t>Tin nhắn chào mừng roaming</a:t>
            </a:r>
            <a:endParaRPr lang="en-US" sz="1130" dirty="0"/>
          </a:p>
        </p:txBody>
      </p:sp>
      <p:sp>
        <p:nvSpPr>
          <p:cNvPr id="21" name="text small"/>
          <p:cNvSpPr txBox="1"/>
          <p:nvPr/>
        </p:nvSpPr>
        <p:spPr>
          <a:xfrm>
            <a:off x="3028950" y="3777020"/>
            <a:ext cx="2021824" cy="193358"/>
          </a:xfrm>
          <a:prstGeom prst="rect">
            <a:avLst/>
          </a:prstGeom>
          <a:noFill/>
          <a:ln/>
        </p:spPr>
        <p:txBody>
          <a:bodyPr wrap="none" lIns="0" tIns="0" rIns="0" bIns="0" rtlCol="0" anchor="ctr"/>
          <a:lstStyle/>
          <a:p>
            <a:pPr algn="l" indent="0" marL="0">
              <a:buNone/>
            </a:pPr>
            <a:r>
              <a:rPr lang="en-US" sz="1050" dirty="0">
                <a:solidFill>
                  <a:srgbClr val="334155"/>
                </a:solidFill>
                <a:latin typeface="Segoe UI Semibold" pitchFamily="34" charset="0"/>
                <a:ea typeface="Segoe UI Semibold" pitchFamily="34" charset="-122"/>
                <a:cs typeface="Segoe UI Semibold" pitchFamily="34" charset="-120"/>
              </a:rPr>
              <a:t>Link AI khi khách vừa hạ cánh</a:t>
            </a:r>
            <a:endParaRPr lang="en-US" sz="1050" dirty="0"/>
          </a:p>
        </p:txBody>
      </p:sp>
      <p:sp>
        <p:nvSpPr>
          <p:cNvPr id="22" name="ci-border"/>
          <p:cNvSpPr/>
          <p:nvPr/>
        </p:nvSpPr>
        <p:spPr>
          <a:xfrm>
            <a:off x="809625" y="4076700"/>
            <a:ext cx="4343400" cy="9525"/>
          </a:xfrm>
          <a:prstGeom prst="rect">
            <a:avLst/>
          </a:prstGeom>
          <a:solidFill>
            <a:srgbClr val="E2E8F0"/>
          </a:solidFill>
          <a:ln/>
        </p:spPr>
      </p:sp>
      <p:sp>
        <p:nvSpPr>
          <p:cNvPr id="23" name="text b"/>
          <p:cNvSpPr txBox="1"/>
          <p:nvPr/>
        </p:nvSpPr>
        <p:spPr>
          <a:xfrm>
            <a:off x="809625" y="4185642"/>
            <a:ext cx="1797546" cy="207169"/>
          </a:xfrm>
          <a:prstGeom prst="rect">
            <a:avLst/>
          </a:prstGeom>
          <a:noFill/>
          <a:ln/>
        </p:spPr>
        <p:txBody>
          <a:bodyPr wrap="none" lIns="0" tIns="0" rIns="0" bIns="0" rtlCol="0" anchor="ctr"/>
          <a:lstStyle/>
          <a:p>
            <a:pPr algn="l" indent="0" marL="0">
              <a:buNone/>
            </a:pPr>
            <a:r>
              <a:rPr lang="en-US" sz="1130" b="1" dirty="0">
                <a:solidFill>
                  <a:srgbClr val="1E3A8A"/>
                </a:solidFill>
                <a:latin typeface="Segoe UI" pitchFamily="34" charset="0"/>
                <a:ea typeface="Segoe UI" pitchFamily="34" charset="-122"/>
                <a:cs typeface="Segoe UI" pitchFamily="34" charset="-120"/>
              </a:rPr>
              <a:t>SIM/eSIM du lịch Viettel</a:t>
            </a:r>
            <a:endParaRPr lang="en-US" sz="1130" dirty="0"/>
          </a:p>
        </p:txBody>
      </p:sp>
      <p:sp>
        <p:nvSpPr>
          <p:cNvPr id="24" name="text small"/>
          <p:cNvSpPr txBox="1"/>
          <p:nvPr/>
        </p:nvSpPr>
        <p:spPr>
          <a:xfrm>
            <a:off x="3028950" y="4192548"/>
            <a:ext cx="1663154" cy="193358"/>
          </a:xfrm>
          <a:prstGeom prst="rect">
            <a:avLst/>
          </a:prstGeom>
          <a:noFill/>
          <a:ln/>
        </p:spPr>
        <p:txBody>
          <a:bodyPr wrap="none" lIns="0" tIns="0" rIns="0" bIns="0" rtlCol="0" anchor="ctr"/>
          <a:lstStyle/>
          <a:p>
            <a:pPr algn="l" indent="0" marL="0">
              <a:buNone/>
            </a:pPr>
            <a:r>
              <a:rPr lang="en-US" sz="1050" dirty="0">
                <a:solidFill>
                  <a:srgbClr val="334155"/>
                </a:solidFill>
                <a:latin typeface="Segoe UI Semibold" pitchFamily="34" charset="0"/>
                <a:ea typeface="Segoe UI Semibold" pitchFamily="34" charset="-122"/>
                <a:cs typeface="Segoe UI Semibold" pitchFamily="34" charset="-120"/>
              </a:rPr>
              <a:t>Link AI đi kèm SIM/eSIM</a:t>
            </a:r>
            <a:endParaRPr lang="en-US" sz="1050" dirty="0"/>
          </a:p>
        </p:txBody>
      </p:sp>
      <p:sp>
        <p:nvSpPr>
          <p:cNvPr id="25" name="ci-border"/>
          <p:cNvSpPr/>
          <p:nvPr/>
        </p:nvSpPr>
        <p:spPr>
          <a:xfrm>
            <a:off x="809625" y="4492228"/>
            <a:ext cx="4343400" cy="9525"/>
          </a:xfrm>
          <a:prstGeom prst="rect">
            <a:avLst/>
          </a:prstGeom>
          <a:solidFill>
            <a:srgbClr val="E2E8F0"/>
          </a:solidFill>
          <a:ln/>
        </p:spPr>
      </p:sp>
      <p:sp>
        <p:nvSpPr>
          <p:cNvPr id="26" name="text b"/>
          <p:cNvSpPr txBox="1"/>
          <p:nvPr/>
        </p:nvSpPr>
        <p:spPr>
          <a:xfrm>
            <a:off x="809625" y="4601170"/>
            <a:ext cx="1371898" cy="207169"/>
          </a:xfrm>
          <a:prstGeom prst="rect">
            <a:avLst/>
          </a:prstGeom>
          <a:noFill/>
          <a:ln/>
        </p:spPr>
        <p:txBody>
          <a:bodyPr wrap="none" lIns="0" tIns="0" rIns="0" bIns="0" rtlCol="0" anchor="ctr"/>
          <a:lstStyle/>
          <a:p>
            <a:pPr algn="l" indent="0" marL="0">
              <a:buNone/>
            </a:pPr>
            <a:r>
              <a:rPr lang="en-US" sz="1130" b="1" dirty="0">
                <a:solidFill>
                  <a:srgbClr val="1E3A8A"/>
                </a:solidFill>
                <a:latin typeface="Segoe UI" pitchFamily="34" charset="0"/>
                <a:ea typeface="Segoe UI" pitchFamily="34" charset="-122"/>
                <a:cs typeface="Segoe UI" pitchFamily="34" charset="-120"/>
              </a:rPr>
              <a:t>Quầy SIM sân bay</a:t>
            </a:r>
            <a:endParaRPr lang="en-US" sz="1130" dirty="0"/>
          </a:p>
        </p:txBody>
      </p:sp>
      <p:sp>
        <p:nvSpPr>
          <p:cNvPr id="27" name="text small"/>
          <p:cNvSpPr txBox="1"/>
          <p:nvPr/>
        </p:nvSpPr>
        <p:spPr>
          <a:xfrm>
            <a:off x="3028950" y="4608076"/>
            <a:ext cx="1673126" cy="193358"/>
          </a:xfrm>
          <a:prstGeom prst="rect">
            <a:avLst/>
          </a:prstGeom>
          <a:noFill/>
          <a:ln/>
        </p:spPr>
        <p:txBody>
          <a:bodyPr wrap="none" lIns="0" tIns="0" rIns="0" bIns="0" rtlCol="0" anchor="ctr"/>
          <a:lstStyle/>
          <a:p>
            <a:pPr algn="l" indent="0" marL="0">
              <a:buNone/>
            </a:pPr>
            <a:r>
              <a:rPr lang="en-US" sz="1050" dirty="0">
                <a:solidFill>
                  <a:srgbClr val="334155"/>
                </a:solidFill>
                <a:latin typeface="Segoe UI Semibold" pitchFamily="34" charset="0"/>
                <a:ea typeface="Segoe UI Semibold" pitchFamily="34" charset="-122"/>
                <a:cs typeface="Segoe UI Semibold" pitchFamily="34" charset="-120"/>
              </a:rPr>
              <a:t>Giới thiệu AI khi bán SIM</a:t>
            </a:r>
            <a:endParaRPr lang="en-US" sz="1050" dirty="0"/>
          </a:p>
        </p:txBody>
      </p:sp>
      <p:sp>
        <p:nvSpPr>
          <p:cNvPr id="28" name="ci later-border"/>
          <p:cNvSpPr/>
          <p:nvPr/>
        </p:nvSpPr>
        <p:spPr>
          <a:xfrm>
            <a:off x="809625" y="4907756"/>
            <a:ext cx="4343400" cy="9525"/>
          </a:xfrm>
          <a:prstGeom prst="rect">
            <a:avLst/>
          </a:prstGeom>
          <a:solidFill>
            <a:srgbClr val="E2E8F0"/>
          </a:solidFill>
          <a:ln/>
        </p:spPr>
      </p:sp>
      <p:sp>
        <p:nvSpPr>
          <p:cNvPr id="29" name="text b"/>
          <p:cNvSpPr txBox="1"/>
          <p:nvPr/>
        </p:nvSpPr>
        <p:spPr>
          <a:xfrm>
            <a:off x="809625" y="5016698"/>
            <a:ext cx="729853" cy="207169"/>
          </a:xfrm>
          <a:prstGeom prst="rect">
            <a:avLst/>
          </a:prstGeom>
          <a:noFill/>
          <a:ln/>
        </p:spPr>
        <p:txBody>
          <a:bodyPr wrap="none" lIns="0" tIns="0" rIns="0" bIns="0" rtlCol="0" anchor="ctr"/>
          <a:lstStyle/>
          <a:p>
            <a:pPr algn="l" indent="0" marL="0">
              <a:buNone/>
            </a:pPr>
            <a:r>
              <a:rPr lang="en-US" sz="1130" b="1" dirty="0">
                <a:solidFill>
                  <a:srgbClr val="94A3B8"/>
                </a:solidFill>
                <a:latin typeface="Segoe UI" pitchFamily="34" charset="0"/>
                <a:ea typeface="Segoe UI" pitchFamily="34" charset="-122"/>
                <a:cs typeface="Segoe UI" pitchFamily="34" charset="-120"/>
              </a:rPr>
              <a:t>Sau pilot</a:t>
            </a:r>
            <a:endParaRPr lang="en-US" sz="1130" dirty="0"/>
          </a:p>
        </p:txBody>
      </p:sp>
      <p:sp>
        <p:nvSpPr>
          <p:cNvPr id="30" name="text small"/>
          <p:cNvSpPr txBox="1"/>
          <p:nvPr/>
        </p:nvSpPr>
        <p:spPr>
          <a:xfrm>
            <a:off x="3028950" y="5023604"/>
            <a:ext cx="1702147" cy="193358"/>
          </a:xfrm>
          <a:prstGeom prst="rect">
            <a:avLst/>
          </a:prstGeom>
          <a:noFill/>
          <a:ln/>
        </p:spPr>
        <p:txBody>
          <a:bodyPr wrap="none" lIns="0" tIns="0" rIns="0" bIns="0" rtlCol="0" anchor="ctr"/>
          <a:lstStyle/>
          <a:p>
            <a:pPr algn="l" indent="0" marL="0">
              <a:buNone/>
            </a:pPr>
            <a:r>
              <a:rPr lang="en-US" sz="1050" dirty="0">
                <a:solidFill>
                  <a:srgbClr val="94A3B8"/>
                </a:solidFill>
                <a:latin typeface="Segoe UI Semibold" pitchFamily="34" charset="0"/>
                <a:ea typeface="Segoe UI Semibold" pitchFamily="34" charset="-122"/>
                <a:cs typeface="Segoe UI Semibold" pitchFamily="34" charset="-120"/>
              </a:rPr>
              <a:t>Cổng du lịch tỉnh, Tammi</a:t>
            </a:r>
            <a:endParaRPr lang="en-US" sz="1050" dirty="0"/>
          </a:p>
        </p:txBody>
      </p:sp>
      <p:sp>
        <p:nvSpPr>
          <p:cNvPr id="31" name="card vb on"/>
          <p:cNvSpPr/>
          <p:nvPr/>
        </p:nvSpPr>
        <p:spPr>
          <a:xfrm>
            <a:off x="5491163" y="1174552"/>
            <a:ext cx="6086475" cy="2081510"/>
          </a:xfrm>
          <a:prstGeom prst="roundRect">
            <a:avLst>
              <a:gd name="adj" fmla="val 6178"/>
            </a:avLst>
          </a:prstGeom>
          <a:solidFill>
            <a:srgbClr val="FFFFFF"/>
          </a:solidFill>
          <a:ln w="9525">
            <a:solidFill>
              <a:srgbClr val="E2E8F0"/>
            </a:solidFill>
            <a:prstDash val="solid"/>
          </a:ln>
        </p:spPr>
      </p:sp>
      <p:sp>
        <p:nvSpPr>
          <p:cNvPr id="32" name="opp-n"/>
          <p:cNvSpPr/>
          <p:nvPr/>
        </p:nvSpPr>
        <p:spPr>
          <a:xfrm>
            <a:off x="5686425" y="1331714"/>
            <a:ext cx="266700" cy="266700"/>
          </a:xfrm>
          <a:prstGeom prst="roundRect">
            <a:avLst>
              <a:gd name="adj" fmla="val 28571"/>
            </a:avLst>
          </a:prstGeom>
          <a:solidFill>
            <a:srgbClr val="1E3A8A"/>
          </a:solidFill>
          <a:ln/>
        </p:spPr>
      </p:sp>
      <p:sp>
        <p:nvSpPr>
          <p:cNvPr id="33" name="text opp-n"/>
          <p:cNvSpPr txBox="1"/>
          <p:nvPr/>
        </p:nvSpPr>
        <p:spPr>
          <a:xfrm>
            <a:off x="5775127" y="1368385"/>
            <a:ext cx="203597" cy="193358"/>
          </a:xfrm>
          <a:prstGeom prst="rect">
            <a:avLst/>
          </a:prstGeom>
          <a:noFill/>
          <a:ln/>
        </p:spPr>
        <p:txBody>
          <a:bodyPr wrap="none" lIns="0" tIns="0" rIns="0" bIns="0" rtlCol="0" anchor="ctr"/>
          <a:lstStyle/>
          <a:p>
            <a:pPr algn="l" indent="0" marL="0">
              <a:buNone/>
            </a:pPr>
            <a:r>
              <a:rPr lang="en-US" sz="1050" dirty="0">
                <a:solidFill>
                  <a:srgbClr val="FFFFFF"/>
                </a:solidFill>
                <a:latin typeface="Segoe UI Black" pitchFamily="34" charset="0"/>
                <a:ea typeface="Segoe UI Black" pitchFamily="34" charset="-122"/>
                <a:cs typeface="Segoe UI Black" pitchFamily="34" charset="-120"/>
              </a:rPr>
              <a:t>3</a:t>
            </a:r>
            <a:endParaRPr lang="en-US" sz="1050" dirty="0"/>
          </a:p>
        </p:txBody>
      </p:sp>
      <p:sp>
        <p:nvSpPr>
          <p:cNvPr id="34" name="text h3"/>
          <p:cNvSpPr txBox="1"/>
          <p:nvPr/>
        </p:nvSpPr>
        <p:spPr>
          <a:xfrm>
            <a:off x="6048375" y="1345877"/>
            <a:ext cx="3792498" cy="227658"/>
          </a:xfrm>
          <a:prstGeom prst="rect">
            <a:avLst/>
          </a:prstGeom>
          <a:noFill/>
          <a:ln/>
        </p:spPr>
        <p:txBody>
          <a:bodyPr wrap="none" lIns="0" tIns="0" rIns="0" bIns="0" rtlCol="0" anchor="ctr"/>
          <a:lstStyle/>
          <a:p>
            <a:pPr algn="l" indent="0" marL="0">
              <a:buNone/>
            </a:pPr>
            <a:r>
              <a:rPr lang="en-US" sz="1240" b="1" dirty="0">
                <a:solidFill>
                  <a:srgbClr val="0F172A"/>
                </a:solidFill>
                <a:latin typeface="Segoe UI" pitchFamily="34" charset="0"/>
                <a:ea typeface="Segoe UI" pitchFamily="34" charset="-122"/>
                <a:cs typeface="Segoe UI" pitchFamily="34" charset="-120"/>
              </a:rPr>
              <a:t>Luồng 1 · Tư vấn: AI giới thiệu, khách đến quán</a:t>
            </a:r>
            <a:endParaRPr lang="en-US" sz="1240" dirty="0"/>
          </a:p>
        </p:txBody>
      </p:sp>
      <p:sp>
        <p:nvSpPr>
          <p:cNvPr id="35" name="node"/>
          <p:cNvSpPr/>
          <p:nvPr/>
        </p:nvSpPr>
        <p:spPr>
          <a:xfrm>
            <a:off x="5691188" y="1698427"/>
            <a:ext cx="1261318" cy="544116"/>
          </a:xfrm>
          <a:prstGeom prst="roundRect">
            <a:avLst>
              <a:gd name="adj" fmla="val 20131"/>
            </a:avLst>
          </a:prstGeom>
          <a:solidFill>
            <a:srgbClr val="F8FAFC"/>
          </a:solidFill>
          <a:ln w="9525">
            <a:solidFill>
              <a:srgbClr val="E2E8F0"/>
            </a:solidFill>
            <a:prstDash val="solid"/>
          </a:ln>
        </p:spPr>
      </p:sp>
      <p:sp>
        <p:nvSpPr>
          <p:cNvPr id="36" name="text node"/>
          <p:cNvSpPr txBox="1"/>
          <p:nvPr/>
        </p:nvSpPr>
        <p:spPr>
          <a:xfrm>
            <a:off x="5849689" y="1782416"/>
            <a:ext cx="944166" cy="193971"/>
          </a:xfrm>
          <a:prstGeom prst="rect">
            <a:avLst/>
          </a:prstGeom>
          <a:noFill/>
          <a:ln/>
        </p:spPr>
        <p:txBody>
          <a:bodyPr wrap="none" lIns="0" tIns="0" rIns="0" bIns="0" rtlCol="0" anchor="ctr"/>
          <a:lstStyle/>
          <a:p>
            <a:pPr algn="ctr" indent="0" marL="0">
              <a:buNone/>
            </a:pPr>
            <a:r>
              <a:rPr lang="en-US" sz="1050" b="1" dirty="0">
                <a:solidFill>
                  <a:srgbClr val="0F172A"/>
                </a:solidFill>
                <a:latin typeface="Segoe UI" pitchFamily="34" charset="0"/>
                <a:ea typeface="Segoe UI" pitchFamily="34" charset="-122"/>
                <a:cs typeface="Segoe UI" pitchFamily="34" charset="-120"/>
              </a:rPr>
              <a:t>Khách hỏi AI</a:t>
            </a:r>
            <a:endParaRPr lang="en-US" sz="1050" dirty="0"/>
          </a:p>
        </p:txBody>
      </p:sp>
      <p:sp>
        <p:nvSpPr>
          <p:cNvPr id="37" name="text small"/>
          <p:cNvSpPr txBox="1"/>
          <p:nvPr/>
        </p:nvSpPr>
        <p:spPr>
          <a:xfrm>
            <a:off x="5724823" y="1987219"/>
            <a:ext cx="1193899" cy="159412"/>
          </a:xfrm>
          <a:prstGeom prst="rect">
            <a:avLst/>
          </a:prstGeom>
          <a:noFill/>
          <a:ln/>
        </p:spPr>
        <p:txBody>
          <a:bodyPr wrap="none" lIns="0" tIns="0" rIns="0" bIns="0" rtlCol="0" anchor="ctr"/>
          <a:lstStyle/>
          <a:p>
            <a:pPr algn="ctr" indent="0" marL="0">
              <a:buNone/>
            </a:pPr>
            <a:r>
              <a:rPr lang="en-US" sz="870" dirty="0">
                <a:solidFill>
                  <a:srgbClr val="64748B"/>
                </a:solidFill>
                <a:latin typeface="Segoe UI Semibold" pitchFamily="34" charset="0"/>
                <a:ea typeface="Segoe UI Semibold" pitchFamily="34" charset="-122"/>
                <a:cs typeface="Segoe UI Semibold" pitchFamily="34" charset="-120"/>
              </a:rPr>
              <a:t>ăn gì, chơi gì, mua gì</a:t>
            </a:r>
            <a:endParaRPr lang="en-US" sz="870" dirty="0"/>
          </a:p>
        </p:txBody>
      </p:sp>
      <p:sp>
        <p:nvSpPr>
          <p:cNvPr id="38" name="text arr"/>
          <p:cNvSpPr txBox="1"/>
          <p:nvPr/>
        </p:nvSpPr>
        <p:spPr>
          <a:xfrm>
            <a:off x="7014418" y="1663138"/>
            <a:ext cx="204192" cy="289653"/>
          </a:xfrm>
          <a:prstGeom prst="rect">
            <a:avLst/>
          </a:prstGeom>
          <a:noFill/>
          <a:ln/>
        </p:spPr>
        <p:txBody>
          <a:bodyPr wrap="none" lIns="0" tIns="0" rIns="0" bIns="0" rtlCol="0" anchor="ctr"/>
          <a:lstStyle/>
          <a:p>
            <a:pPr algn="l" indent="0" marL="0">
              <a:buNone/>
            </a:pPr>
            <a:r>
              <a:rPr lang="en-US" sz="1570" dirty="0">
                <a:solidFill>
                  <a:srgbClr val="1E3A8A"/>
                </a:solidFill>
                <a:latin typeface="Segoe UI Black" pitchFamily="34" charset="0"/>
                <a:ea typeface="Segoe UI Black" pitchFamily="34" charset="-122"/>
                <a:cs typeface="Segoe UI Black" pitchFamily="34" charset="-120"/>
              </a:rPr>
              <a:t>›</a:t>
            </a:r>
            <a:endParaRPr lang="en-US" sz="1570" dirty="0"/>
          </a:p>
        </p:txBody>
      </p:sp>
      <p:sp>
        <p:nvSpPr>
          <p:cNvPr id="39" name="node"/>
          <p:cNvSpPr/>
          <p:nvPr/>
        </p:nvSpPr>
        <p:spPr>
          <a:xfrm>
            <a:off x="7166223" y="1698427"/>
            <a:ext cx="1261318" cy="859631"/>
          </a:xfrm>
          <a:prstGeom prst="roundRect">
            <a:avLst>
              <a:gd name="adj" fmla="val 12742"/>
            </a:avLst>
          </a:prstGeom>
          <a:solidFill>
            <a:srgbClr val="F8FAFC"/>
          </a:solidFill>
          <a:ln w="9525">
            <a:solidFill>
              <a:srgbClr val="E2E8F0"/>
            </a:solidFill>
            <a:prstDash val="solid"/>
          </a:ln>
        </p:spPr>
      </p:sp>
      <p:sp>
        <p:nvSpPr>
          <p:cNvPr id="40" name="text node"/>
          <p:cNvSpPr txBox="1"/>
          <p:nvPr/>
        </p:nvSpPr>
        <p:spPr>
          <a:xfrm>
            <a:off x="7247186" y="1792115"/>
            <a:ext cx="1137493" cy="347810"/>
          </a:xfrm>
          <a:prstGeom prst="rect">
            <a:avLst/>
          </a:prstGeom>
          <a:noFill/>
          <a:ln/>
        </p:spPr>
        <p:txBody>
          <a:bodyPr wrap="square" lIns="0" tIns="0" rIns="0" bIns="0" rtlCol="0" anchor="ctr"/>
          <a:lstStyle/>
          <a:p>
            <a:pPr algn="ctr" indent="0" marL="0">
              <a:lnSpc>
                <a:spcPts val="1370"/>
              </a:lnSpc>
              <a:buNone/>
            </a:pPr>
            <a:r>
              <a:rPr lang="en-US" sz="1050" b="1" dirty="0">
                <a:solidFill>
                  <a:srgbClr val="0F172A"/>
                </a:solidFill>
                <a:latin typeface="Segoe UI" pitchFamily="34" charset="0"/>
                <a:ea typeface="Segoe UI" pitchFamily="34" charset="-122"/>
                <a:cs typeface="Segoe UI" pitchFamily="34" charset="-120"/>
              </a:rPr>
              <a:t>AI gợi ý merchant nhỏ</a:t>
            </a:r>
            <a:endParaRPr lang="en-US" sz="1050" dirty="0"/>
          </a:p>
        </p:txBody>
      </p:sp>
      <p:sp>
        <p:nvSpPr>
          <p:cNvPr id="41" name="text small"/>
          <p:cNvSpPr txBox="1"/>
          <p:nvPr/>
        </p:nvSpPr>
        <p:spPr>
          <a:xfrm>
            <a:off x="7247186" y="2168380"/>
            <a:ext cx="1137493" cy="285842"/>
          </a:xfrm>
          <a:prstGeom prst="rect">
            <a:avLst/>
          </a:prstGeom>
          <a:noFill/>
          <a:ln/>
        </p:spPr>
        <p:txBody>
          <a:bodyPr wrap="square" lIns="0" tIns="0" rIns="0" bIns="0" rtlCol="0" anchor="ctr"/>
          <a:lstStyle/>
          <a:p>
            <a:pPr algn="ctr" indent="0" marL="0">
              <a:lnSpc>
                <a:spcPts val="1130"/>
              </a:lnSpc>
              <a:buNone/>
            </a:pPr>
            <a:r>
              <a:rPr lang="en-US" sz="870" dirty="0">
                <a:solidFill>
                  <a:srgbClr val="64748B"/>
                </a:solidFill>
                <a:latin typeface="Segoe UI Semibold" pitchFamily="34" charset="0"/>
                <a:ea typeface="Segoe UI Semibold" pitchFamily="34" charset="-122"/>
                <a:cs typeface="Segoe UI Semibold" pitchFamily="34" charset="-120"/>
              </a:rPr>
              <a:t>giờ mở cửa, giá tham khảo</a:t>
            </a:r>
            <a:endParaRPr lang="en-US" sz="870" dirty="0"/>
          </a:p>
        </p:txBody>
      </p:sp>
      <p:sp>
        <p:nvSpPr>
          <p:cNvPr id="42" name="text arr"/>
          <p:cNvSpPr txBox="1"/>
          <p:nvPr/>
        </p:nvSpPr>
        <p:spPr>
          <a:xfrm>
            <a:off x="8489454" y="1663138"/>
            <a:ext cx="204192" cy="289653"/>
          </a:xfrm>
          <a:prstGeom prst="rect">
            <a:avLst/>
          </a:prstGeom>
          <a:noFill/>
          <a:ln/>
        </p:spPr>
        <p:txBody>
          <a:bodyPr wrap="none" lIns="0" tIns="0" rIns="0" bIns="0" rtlCol="0" anchor="ctr"/>
          <a:lstStyle/>
          <a:p>
            <a:pPr algn="l" indent="0" marL="0">
              <a:buNone/>
            </a:pPr>
            <a:r>
              <a:rPr lang="en-US" sz="1570" dirty="0">
                <a:solidFill>
                  <a:srgbClr val="1E3A8A"/>
                </a:solidFill>
                <a:latin typeface="Segoe UI Black" pitchFamily="34" charset="0"/>
                <a:ea typeface="Segoe UI Black" pitchFamily="34" charset="-122"/>
                <a:cs typeface="Segoe UI Black" pitchFamily="34" charset="-120"/>
              </a:rPr>
              <a:t>›</a:t>
            </a:r>
            <a:endParaRPr lang="en-US" sz="1570" dirty="0"/>
          </a:p>
        </p:txBody>
      </p:sp>
      <p:sp>
        <p:nvSpPr>
          <p:cNvPr id="43" name="node"/>
          <p:cNvSpPr/>
          <p:nvPr/>
        </p:nvSpPr>
        <p:spPr>
          <a:xfrm>
            <a:off x="8641259" y="1698427"/>
            <a:ext cx="1261318" cy="544116"/>
          </a:xfrm>
          <a:prstGeom prst="roundRect">
            <a:avLst>
              <a:gd name="adj" fmla="val 20131"/>
            </a:avLst>
          </a:prstGeom>
          <a:solidFill>
            <a:srgbClr val="F8FAFC"/>
          </a:solidFill>
          <a:ln w="9525">
            <a:solidFill>
              <a:srgbClr val="E2E8F0"/>
            </a:solidFill>
            <a:prstDash val="solid"/>
          </a:ln>
        </p:spPr>
      </p:sp>
      <p:sp>
        <p:nvSpPr>
          <p:cNvPr id="44" name="text node"/>
          <p:cNvSpPr txBox="1"/>
          <p:nvPr/>
        </p:nvSpPr>
        <p:spPr>
          <a:xfrm>
            <a:off x="8681293" y="1782416"/>
            <a:ext cx="1181100" cy="193971"/>
          </a:xfrm>
          <a:prstGeom prst="rect">
            <a:avLst/>
          </a:prstGeom>
          <a:noFill/>
          <a:ln/>
        </p:spPr>
        <p:txBody>
          <a:bodyPr wrap="none" lIns="0" tIns="0" rIns="0" bIns="0" rtlCol="0" anchor="ctr"/>
          <a:lstStyle/>
          <a:p>
            <a:pPr algn="ctr" indent="0" marL="0">
              <a:buNone/>
            </a:pPr>
            <a:r>
              <a:rPr lang="en-US" sz="1050" b="1" dirty="0">
                <a:solidFill>
                  <a:srgbClr val="0F172A"/>
                </a:solidFill>
                <a:latin typeface="Segoe UI" pitchFamily="34" charset="0"/>
                <a:ea typeface="Segoe UI" pitchFamily="34" charset="-122"/>
                <a:cs typeface="Segoe UI" pitchFamily="34" charset="-120"/>
              </a:rPr>
              <a:t>Khách đến quán</a:t>
            </a:r>
            <a:endParaRPr lang="en-US" sz="1050" dirty="0"/>
          </a:p>
        </p:txBody>
      </p:sp>
      <p:sp>
        <p:nvSpPr>
          <p:cNvPr id="45" name="text small"/>
          <p:cNvSpPr txBox="1"/>
          <p:nvPr/>
        </p:nvSpPr>
        <p:spPr>
          <a:xfrm>
            <a:off x="8753773" y="1987219"/>
            <a:ext cx="1036141" cy="159412"/>
          </a:xfrm>
          <a:prstGeom prst="rect">
            <a:avLst/>
          </a:prstGeom>
          <a:noFill/>
          <a:ln/>
        </p:spPr>
        <p:txBody>
          <a:bodyPr wrap="none" lIns="0" tIns="0" rIns="0" bIns="0" rtlCol="0" anchor="ctr"/>
          <a:lstStyle/>
          <a:p>
            <a:pPr algn="ctr" indent="0" marL="0">
              <a:buNone/>
            </a:pPr>
            <a:r>
              <a:rPr lang="en-US" sz="870" dirty="0">
                <a:solidFill>
                  <a:srgbClr val="64748B"/>
                </a:solidFill>
                <a:latin typeface="Segoe UI Semibold" pitchFamily="34" charset="0"/>
                <a:ea typeface="Segoe UI Semibold" pitchFamily="34" charset="-122"/>
                <a:cs typeface="Segoe UI Semibold" pitchFamily="34" charset="-120"/>
              </a:rPr>
              <a:t>ăn chơi, mua sắm</a:t>
            </a:r>
            <a:endParaRPr lang="en-US" sz="870" dirty="0"/>
          </a:p>
        </p:txBody>
      </p:sp>
      <p:sp>
        <p:nvSpPr>
          <p:cNvPr id="46" name="text arr"/>
          <p:cNvSpPr txBox="1"/>
          <p:nvPr/>
        </p:nvSpPr>
        <p:spPr>
          <a:xfrm>
            <a:off x="9964489" y="1663138"/>
            <a:ext cx="204192" cy="289653"/>
          </a:xfrm>
          <a:prstGeom prst="rect">
            <a:avLst/>
          </a:prstGeom>
          <a:noFill/>
          <a:ln/>
        </p:spPr>
        <p:txBody>
          <a:bodyPr wrap="none" lIns="0" tIns="0" rIns="0" bIns="0" rtlCol="0" anchor="ctr"/>
          <a:lstStyle/>
          <a:p>
            <a:pPr algn="l" indent="0" marL="0">
              <a:buNone/>
            </a:pPr>
            <a:r>
              <a:rPr lang="en-US" sz="1570" dirty="0">
                <a:solidFill>
                  <a:srgbClr val="1E3A8A"/>
                </a:solidFill>
                <a:latin typeface="Segoe UI Black" pitchFamily="34" charset="0"/>
                <a:ea typeface="Segoe UI Black" pitchFamily="34" charset="-122"/>
                <a:cs typeface="Segoe UI Black" pitchFamily="34" charset="-120"/>
              </a:rPr>
              <a:t>›</a:t>
            </a:r>
            <a:endParaRPr lang="en-US" sz="1570" dirty="0"/>
          </a:p>
        </p:txBody>
      </p:sp>
      <p:sp>
        <p:nvSpPr>
          <p:cNvPr id="47" name="node redb"/>
          <p:cNvSpPr/>
          <p:nvPr/>
        </p:nvSpPr>
        <p:spPr>
          <a:xfrm>
            <a:off x="10116294" y="1698427"/>
            <a:ext cx="1261318" cy="859631"/>
          </a:xfrm>
          <a:prstGeom prst="roundRect">
            <a:avLst>
              <a:gd name="adj" fmla="val 12742"/>
            </a:avLst>
          </a:prstGeom>
          <a:solidFill>
            <a:srgbClr val="EEF2FF"/>
          </a:solidFill>
          <a:ln w="9525">
            <a:solidFill>
              <a:srgbClr val="C7D2FE"/>
            </a:solidFill>
            <a:prstDash val="solid"/>
          </a:ln>
        </p:spPr>
      </p:sp>
      <p:sp>
        <p:nvSpPr>
          <p:cNvPr id="48" name="text node redb"/>
          <p:cNvSpPr txBox="1"/>
          <p:nvPr/>
        </p:nvSpPr>
        <p:spPr>
          <a:xfrm>
            <a:off x="10197257" y="1792115"/>
            <a:ext cx="1137493" cy="347810"/>
          </a:xfrm>
          <a:prstGeom prst="rect">
            <a:avLst/>
          </a:prstGeom>
          <a:noFill/>
          <a:ln/>
        </p:spPr>
        <p:txBody>
          <a:bodyPr wrap="square" lIns="0" tIns="0" rIns="0" bIns="0" rtlCol="0" anchor="ctr"/>
          <a:lstStyle/>
          <a:p>
            <a:pPr algn="ctr" indent="0" marL="0">
              <a:lnSpc>
                <a:spcPts val="1370"/>
              </a:lnSpc>
              <a:buNone/>
            </a:pPr>
            <a:r>
              <a:rPr lang="en-US" sz="1050" b="1" dirty="0">
                <a:solidFill>
                  <a:srgbClr val="1E3A8A"/>
                </a:solidFill>
                <a:latin typeface="Segoe UI" pitchFamily="34" charset="0"/>
                <a:ea typeface="Segoe UI" pitchFamily="34" charset="-122"/>
                <a:cs typeface="Segoe UI" pitchFamily="34" charset="-120"/>
              </a:rPr>
              <a:t>Merchant trả affiliate</a:t>
            </a:r>
            <a:endParaRPr lang="en-US" sz="1050" dirty="0"/>
          </a:p>
        </p:txBody>
      </p:sp>
      <p:sp>
        <p:nvSpPr>
          <p:cNvPr id="49" name="text small"/>
          <p:cNvSpPr txBox="1"/>
          <p:nvPr/>
        </p:nvSpPr>
        <p:spPr>
          <a:xfrm>
            <a:off x="10197257" y="2168380"/>
            <a:ext cx="1137493" cy="285842"/>
          </a:xfrm>
          <a:prstGeom prst="rect">
            <a:avLst/>
          </a:prstGeom>
          <a:noFill/>
          <a:ln/>
        </p:spPr>
        <p:txBody>
          <a:bodyPr wrap="square" lIns="0" tIns="0" rIns="0" bIns="0" rtlCol="0" anchor="ctr"/>
          <a:lstStyle/>
          <a:p>
            <a:pPr algn="ctr" indent="0" marL="0">
              <a:lnSpc>
                <a:spcPts val="1130"/>
              </a:lnSpc>
              <a:buNone/>
            </a:pPr>
            <a:r>
              <a:rPr lang="en-US" sz="870" dirty="0">
                <a:solidFill>
                  <a:srgbClr val="64748B"/>
                </a:solidFill>
                <a:latin typeface="Segoe UI Semibold" pitchFamily="34" charset="0"/>
                <a:ea typeface="Segoe UI Semibold" pitchFamily="34" charset="-122"/>
                <a:cs typeface="Segoe UI Semibold" pitchFamily="34" charset="-120"/>
              </a:rPr>
              <a:t>cho lượt khách AI giới thiệu</a:t>
            </a:r>
            <a:endParaRPr lang="en-US" sz="870" dirty="0"/>
          </a:p>
        </p:txBody>
      </p:sp>
      <p:sp>
        <p:nvSpPr>
          <p:cNvPr id="50" name="fres mt10"/>
          <p:cNvSpPr/>
          <p:nvPr/>
        </p:nvSpPr>
        <p:spPr>
          <a:xfrm>
            <a:off x="5686425" y="2747516"/>
            <a:ext cx="5695950" cy="351383"/>
          </a:xfrm>
          <a:prstGeom prst="roundRect">
            <a:avLst>
              <a:gd name="adj" fmla="val 27107"/>
            </a:avLst>
          </a:prstGeom>
          <a:solidFill>
            <a:srgbClr val="F1F5F9"/>
          </a:solidFill>
          <a:ln/>
        </p:spPr>
      </p:sp>
      <p:sp>
        <p:nvSpPr>
          <p:cNvPr id="51" name="text span"/>
          <p:cNvSpPr txBox="1"/>
          <p:nvPr/>
        </p:nvSpPr>
        <p:spPr>
          <a:xfrm>
            <a:off x="5819775" y="2825706"/>
            <a:ext cx="3009861" cy="186520"/>
          </a:xfrm>
          <a:prstGeom prst="rect">
            <a:avLst/>
          </a:prstGeom>
          <a:noFill/>
          <a:ln/>
        </p:spPr>
        <p:txBody>
          <a:bodyPr wrap="none" lIns="0" tIns="0" rIns="0" bIns="0" rtlCol="0" anchor="ctr"/>
          <a:lstStyle/>
          <a:p>
            <a:pPr algn="l" indent="0" marL="0">
              <a:buNone/>
            </a:pPr>
            <a:r>
              <a:rPr lang="en-US" sz="1010" dirty="0">
                <a:solidFill>
                  <a:srgbClr val="0F172A"/>
                </a:solidFill>
                <a:latin typeface="Segoe UI Black" pitchFamily="34" charset="0"/>
                <a:ea typeface="Segoe UI Black" pitchFamily="34" charset="-122"/>
                <a:cs typeface="Segoe UI Black" pitchFamily="34" charset="-120"/>
              </a:rPr>
              <a:t>Merchant:</a:t>
            </a:r>
            <a:pPr algn="l" indent="0" marL="0">
              <a:buNone/>
            </a:pPr>
            <a:r>
              <a:rPr lang="en-US" sz="1010" dirty="0">
                <a:solidFill>
                  <a:srgbClr val="334155"/>
                </a:solidFill>
                <a:latin typeface="Segoe UI Semibold" pitchFamily="34" charset="0"/>
                <a:ea typeface="Segoe UI Semibold" pitchFamily="34" charset="-122"/>
                <a:cs typeface="Segoe UI Semibold" pitchFamily="34" charset="-120"/>
              </a:rPr>
              <a:t> điểm ăn chơi, mua sắm vừa và nhỏ</a:t>
            </a:r>
            <a:endParaRPr lang="en-US" sz="1010" dirty="0"/>
          </a:p>
        </p:txBody>
      </p:sp>
      <p:sp>
        <p:nvSpPr>
          <p:cNvPr id="52" name="text res2"/>
          <p:cNvSpPr txBox="1"/>
          <p:nvPr/>
        </p:nvSpPr>
        <p:spPr>
          <a:xfrm>
            <a:off x="9411742" y="2825793"/>
            <a:ext cx="1951583" cy="186346"/>
          </a:xfrm>
          <a:prstGeom prst="rect">
            <a:avLst/>
          </a:prstGeom>
          <a:noFill/>
          <a:ln/>
        </p:spPr>
        <p:txBody>
          <a:bodyPr wrap="none" lIns="0" tIns="0" rIns="0" bIns="0" rtlCol="0" anchor="ctr"/>
          <a:lstStyle/>
          <a:p>
            <a:pPr algn="l" indent="0" marL="0">
              <a:buNone/>
            </a:pPr>
            <a:r>
              <a:rPr lang="en-US" sz="1010" b="1" dirty="0">
                <a:solidFill>
                  <a:srgbClr val="15803D"/>
                </a:solidFill>
                <a:latin typeface="Segoe UI" pitchFamily="34" charset="0"/>
                <a:ea typeface="Segoe UI" pitchFamily="34" charset="-122"/>
                <a:cs typeface="Segoe UI" pitchFamily="34" charset="-120"/>
              </a:rPr>
              <a:t>Thêm khách nhờ AI giới thiệu</a:t>
            </a:r>
            <a:endParaRPr lang="en-US" sz="1010" dirty="0"/>
          </a:p>
        </p:txBody>
      </p:sp>
      <p:sp>
        <p:nvSpPr>
          <p:cNvPr id="53" name="card vb on"/>
          <p:cNvSpPr/>
          <p:nvPr/>
        </p:nvSpPr>
        <p:spPr>
          <a:xfrm>
            <a:off x="5491163" y="3398937"/>
            <a:ext cx="6086475" cy="2081510"/>
          </a:xfrm>
          <a:prstGeom prst="roundRect">
            <a:avLst>
              <a:gd name="adj" fmla="val 6178"/>
            </a:avLst>
          </a:prstGeom>
          <a:solidFill>
            <a:srgbClr val="FFFFFF"/>
          </a:solidFill>
          <a:ln w="9525">
            <a:solidFill>
              <a:srgbClr val="E2E8F0"/>
            </a:solidFill>
            <a:prstDash val="solid"/>
          </a:ln>
        </p:spPr>
      </p:sp>
      <p:sp>
        <p:nvSpPr>
          <p:cNvPr id="54" name="opp-n"/>
          <p:cNvSpPr/>
          <p:nvPr/>
        </p:nvSpPr>
        <p:spPr>
          <a:xfrm>
            <a:off x="5686425" y="3556099"/>
            <a:ext cx="266700" cy="266700"/>
          </a:xfrm>
          <a:prstGeom prst="roundRect">
            <a:avLst>
              <a:gd name="adj" fmla="val 28571"/>
            </a:avLst>
          </a:prstGeom>
          <a:solidFill>
            <a:srgbClr val="1E3A8A"/>
          </a:solidFill>
          <a:ln/>
        </p:spPr>
      </p:sp>
      <p:sp>
        <p:nvSpPr>
          <p:cNvPr id="55" name="text opp-n"/>
          <p:cNvSpPr txBox="1"/>
          <p:nvPr/>
        </p:nvSpPr>
        <p:spPr>
          <a:xfrm>
            <a:off x="5772894" y="3592770"/>
            <a:ext cx="208062" cy="193358"/>
          </a:xfrm>
          <a:prstGeom prst="rect">
            <a:avLst/>
          </a:prstGeom>
          <a:noFill/>
          <a:ln/>
        </p:spPr>
        <p:txBody>
          <a:bodyPr wrap="none" lIns="0" tIns="0" rIns="0" bIns="0" rtlCol="0" anchor="ctr"/>
          <a:lstStyle/>
          <a:p>
            <a:pPr algn="l" indent="0" marL="0">
              <a:buNone/>
            </a:pPr>
            <a:r>
              <a:rPr lang="en-US" sz="1050" dirty="0">
                <a:solidFill>
                  <a:srgbClr val="FFFFFF"/>
                </a:solidFill>
                <a:latin typeface="Segoe UI Black" pitchFamily="34" charset="0"/>
                <a:ea typeface="Segoe UI Black" pitchFamily="34" charset="-122"/>
                <a:cs typeface="Segoe UI Black" pitchFamily="34" charset="-120"/>
              </a:rPr>
              <a:t>4</a:t>
            </a:r>
            <a:endParaRPr lang="en-US" sz="1050" dirty="0"/>
          </a:p>
        </p:txBody>
      </p:sp>
      <p:sp>
        <p:nvSpPr>
          <p:cNvPr id="56" name="text h3"/>
          <p:cNvSpPr txBox="1"/>
          <p:nvPr/>
        </p:nvSpPr>
        <p:spPr>
          <a:xfrm>
            <a:off x="6048375" y="3570111"/>
            <a:ext cx="3858125" cy="227960"/>
          </a:xfrm>
          <a:prstGeom prst="rect">
            <a:avLst/>
          </a:prstGeom>
          <a:noFill/>
          <a:ln/>
        </p:spPr>
        <p:txBody>
          <a:bodyPr wrap="none" lIns="0" tIns="0" rIns="0" bIns="0" rtlCol="0" anchor="ctr"/>
          <a:lstStyle/>
          <a:p>
            <a:pPr algn="l" indent="0" marL="0">
              <a:buNone/>
            </a:pPr>
            <a:r>
              <a:rPr lang="en-US" sz="1240" b="1" dirty="0">
                <a:solidFill>
                  <a:srgbClr val="0F172A"/>
                </a:solidFill>
                <a:latin typeface="Segoe UI" pitchFamily="34" charset="0"/>
                <a:ea typeface="Segoe UI" pitchFamily="34" charset="-122"/>
                <a:cs typeface="Segoe UI" pitchFamily="34" charset="-120"/>
              </a:rPr>
              <a:t>Luồng 2 · Booking online: đặt chỗ ngay trong AI</a:t>
            </a:r>
            <a:endParaRPr lang="en-US" sz="1240" dirty="0"/>
          </a:p>
        </p:txBody>
      </p:sp>
      <p:sp>
        <p:nvSpPr>
          <p:cNvPr id="57" name="node"/>
          <p:cNvSpPr/>
          <p:nvPr/>
        </p:nvSpPr>
        <p:spPr>
          <a:xfrm>
            <a:off x="5691188" y="3922812"/>
            <a:ext cx="1261318" cy="717352"/>
          </a:xfrm>
          <a:prstGeom prst="roundRect">
            <a:avLst>
              <a:gd name="adj" fmla="val 15270"/>
            </a:avLst>
          </a:prstGeom>
          <a:solidFill>
            <a:srgbClr val="F8FAFC"/>
          </a:solidFill>
          <a:ln w="9525">
            <a:solidFill>
              <a:srgbClr val="E2E8F0"/>
            </a:solidFill>
            <a:prstDash val="solid"/>
          </a:ln>
        </p:spPr>
      </p:sp>
      <p:sp>
        <p:nvSpPr>
          <p:cNvPr id="58" name="text node"/>
          <p:cNvSpPr txBox="1"/>
          <p:nvPr/>
        </p:nvSpPr>
        <p:spPr>
          <a:xfrm>
            <a:off x="5772150" y="4016500"/>
            <a:ext cx="1137493" cy="347810"/>
          </a:xfrm>
          <a:prstGeom prst="rect">
            <a:avLst/>
          </a:prstGeom>
          <a:noFill/>
          <a:ln/>
        </p:spPr>
        <p:txBody>
          <a:bodyPr wrap="square" lIns="0" tIns="0" rIns="0" bIns="0" rtlCol="0" anchor="ctr"/>
          <a:lstStyle/>
          <a:p>
            <a:pPr algn="ctr" indent="0" marL="0">
              <a:lnSpc>
                <a:spcPts val="1370"/>
              </a:lnSpc>
              <a:buNone/>
            </a:pPr>
            <a:r>
              <a:rPr lang="en-US" sz="1050" b="1" dirty="0">
                <a:solidFill>
                  <a:srgbClr val="0F172A"/>
                </a:solidFill>
                <a:latin typeface="Segoe UI" pitchFamily="34" charset="0"/>
                <a:ea typeface="Segoe UI" pitchFamily="34" charset="-122"/>
                <a:cs typeface="Segoe UI" pitchFamily="34" charset="-120"/>
              </a:rPr>
              <a:t>Chọn từ gợi ý của AI</a:t>
            </a:r>
            <a:endParaRPr lang="en-US" sz="1050" dirty="0"/>
          </a:p>
        </p:txBody>
      </p:sp>
      <p:sp>
        <p:nvSpPr>
          <p:cNvPr id="59" name="text small"/>
          <p:cNvSpPr txBox="1"/>
          <p:nvPr/>
        </p:nvSpPr>
        <p:spPr>
          <a:xfrm>
            <a:off x="5719018" y="4384840"/>
            <a:ext cx="1205657" cy="159412"/>
          </a:xfrm>
          <a:prstGeom prst="rect">
            <a:avLst/>
          </a:prstGeom>
          <a:noFill/>
          <a:ln/>
        </p:spPr>
        <p:txBody>
          <a:bodyPr wrap="none" lIns="0" tIns="0" rIns="0" bIns="0" rtlCol="0" anchor="ctr"/>
          <a:lstStyle/>
          <a:p>
            <a:pPr algn="ctr" indent="0" marL="0">
              <a:buNone/>
            </a:pPr>
            <a:r>
              <a:rPr lang="en-US" sz="870" dirty="0">
                <a:solidFill>
                  <a:srgbClr val="64748B"/>
                </a:solidFill>
                <a:latin typeface="Segoe UI Semibold" pitchFamily="34" charset="0"/>
                <a:ea typeface="Segoe UI Semibold" pitchFamily="34" charset="-122"/>
                <a:cs typeface="Segoe UI Semibold" pitchFamily="34" charset="-120"/>
              </a:rPr>
              <a:t>khách sạn, nhà hàng</a:t>
            </a:r>
            <a:endParaRPr lang="en-US" sz="870" dirty="0"/>
          </a:p>
        </p:txBody>
      </p:sp>
      <p:sp>
        <p:nvSpPr>
          <p:cNvPr id="60" name="text arr"/>
          <p:cNvSpPr txBox="1"/>
          <p:nvPr/>
        </p:nvSpPr>
        <p:spPr>
          <a:xfrm>
            <a:off x="7014418" y="3887523"/>
            <a:ext cx="204192" cy="289653"/>
          </a:xfrm>
          <a:prstGeom prst="rect">
            <a:avLst/>
          </a:prstGeom>
          <a:noFill/>
          <a:ln/>
        </p:spPr>
        <p:txBody>
          <a:bodyPr wrap="none" lIns="0" tIns="0" rIns="0" bIns="0" rtlCol="0" anchor="ctr"/>
          <a:lstStyle/>
          <a:p>
            <a:pPr algn="l" indent="0" marL="0">
              <a:buNone/>
            </a:pPr>
            <a:r>
              <a:rPr lang="en-US" sz="1570" dirty="0">
                <a:solidFill>
                  <a:srgbClr val="1E3A8A"/>
                </a:solidFill>
                <a:latin typeface="Segoe UI Black" pitchFamily="34" charset="0"/>
                <a:ea typeface="Segoe UI Black" pitchFamily="34" charset="-122"/>
                <a:cs typeface="Segoe UI Black" pitchFamily="34" charset="-120"/>
              </a:rPr>
              <a:t>›</a:t>
            </a:r>
            <a:endParaRPr lang="en-US" sz="1570" dirty="0"/>
          </a:p>
        </p:txBody>
      </p:sp>
      <p:sp>
        <p:nvSpPr>
          <p:cNvPr id="61" name="node"/>
          <p:cNvSpPr/>
          <p:nvPr/>
        </p:nvSpPr>
        <p:spPr>
          <a:xfrm>
            <a:off x="7166223" y="3922812"/>
            <a:ext cx="1261318" cy="717352"/>
          </a:xfrm>
          <a:prstGeom prst="roundRect">
            <a:avLst>
              <a:gd name="adj" fmla="val 15270"/>
            </a:avLst>
          </a:prstGeom>
          <a:solidFill>
            <a:srgbClr val="F8FAFC"/>
          </a:solidFill>
          <a:ln w="9525">
            <a:solidFill>
              <a:srgbClr val="E2E8F0"/>
            </a:solidFill>
            <a:prstDash val="solid"/>
          </a:ln>
        </p:spPr>
      </p:sp>
      <p:sp>
        <p:nvSpPr>
          <p:cNvPr id="62" name="text node"/>
          <p:cNvSpPr txBox="1"/>
          <p:nvPr/>
        </p:nvSpPr>
        <p:spPr>
          <a:xfrm>
            <a:off x="7247186" y="4016500"/>
            <a:ext cx="1137493" cy="347810"/>
          </a:xfrm>
          <a:prstGeom prst="rect">
            <a:avLst/>
          </a:prstGeom>
          <a:noFill/>
          <a:ln/>
        </p:spPr>
        <p:txBody>
          <a:bodyPr wrap="square" lIns="0" tIns="0" rIns="0" bIns="0" rtlCol="0" anchor="ctr"/>
          <a:lstStyle/>
          <a:p>
            <a:pPr algn="ctr" indent="0" marL="0">
              <a:lnSpc>
                <a:spcPts val="1370"/>
              </a:lnSpc>
              <a:buNone/>
            </a:pPr>
            <a:r>
              <a:rPr lang="en-US" sz="1050" b="1" dirty="0">
                <a:solidFill>
                  <a:srgbClr val="0F172A"/>
                </a:solidFill>
                <a:latin typeface="Segoe UI" pitchFamily="34" charset="0"/>
                <a:ea typeface="Segoe UI" pitchFamily="34" charset="-122"/>
                <a:cs typeface="Segoe UI" pitchFamily="34" charset="-120"/>
              </a:rPr>
              <a:t>Điền thông tin, trả trước</a:t>
            </a:r>
            <a:endParaRPr lang="en-US" sz="1050" dirty="0"/>
          </a:p>
        </p:txBody>
      </p:sp>
      <p:sp>
        <p:nvSpPr>
          <p:cNvPr id="63" name="text small"/>
          <p:cNvSpPr txBox="1"/>
          <p:nvPr/>
        </p:nvSpPr>
        <p:spPr>
          <a:xfrm>
            <a:off x="7294811" y="4384840"/>
            <a:ext cx="1003995" cy="159412"/>
          </a:xfrm>
          <a:prstGeom prst="rect">
            <a:avLst/>
          </a:prstGeom>
          <a:noFill/>
          <a:ln/>
        </p:spPr>
        <p:txBody>
          <a:bodyPr wrap="none" lIns="0" tIns="0" rIns="0" bIns="0" rtlCol="0" anchor="ctr"/>
          <a:lstStyle/>
          <a:p>
            <a:pPr algn="ctr" indent="0" marL="0">
              <a:buNone/>
            </a:pPr>
            <a:r>
              <a:rPr lang="en-US" sz="870" dirty="0">
                <a:solidFill>
                  <a:srgbClr val="64748B"/>
                </a:solidFill>
                <a:latin typeface="Segoe UI Semibold" pitchFamily="34" charset="0"/>
                <a:ea typeface="Segoe UI Semibold" pitchFamily="34" charset="-122"/>
                <a:cs typeface="Segoe UI Semibold" pitchFamily="34" charset="-120"/>
              </a:rPr>
              <a:t>bằng thẻ quốc tế</a:t>
            </a:r>
            <a:endParaRPr lang="en-US" sz="870" dirty="0"/>
          </a:p>
        </p:txBody>
      </p:sp>
      <p:sp>
        <p:nvSpPr>
          <p:cNvPr id="64" name="text arr"/>
          <p:cNvSpPr txBox="1"/>
          <p:nvPr/>
        </p:nvSpPr>
        <p:spPr>
          <a:xfrm>
            <a:off x="8489454" y="3887523"/>
            <a:ext cx="204192" cy="289653"/>
          </a:xfrm>
          <a:prstGeom prst="rect">
            <a:avLst/>
          </a:prstGeom>
          <a:noFill/>
          <a:ln/>
        </p:spPr>
        <p:txBody>
          <a:bodyPr wrap="none" lIns="0" tIns="0" rIns="0" bIns="0" rtlCol="0" anchor="ctr"/>
          <a:lstStyle/>
          <a:p>
            <a:pPr algn="l" indent="0" marL="0">
              <a:buNone/>
            </a:pPr>
            <a:r>
              <a:rPr lang="en-US" sz="1570" dirty="0">
                <a:solidFill>
                  <a:srgbClr val="1E3A8A"/>
                </a:solidFill>
                <a:latin typeface="Segoe UI Black" pitchFamily="34" charset="0"/>
                <a:ea typeface="Segoe UI Black" pitchFamily="34" charset="-122"/>
                <a:cs typeface="Segoe UI Black" pitchFamily="34" charset="-120"/>
              </a:rPr>
              <a:t>›</a:t>
            </a:r>
            <a:endParaRPr lang="en-US" sz="1570" dirty="0"/>
          </a:p>
        </p:txBody>
      </p:sp>
      <p:sp>
        <p:nvSpPr>
          <p:cNvPr id="65" name="node"/>
          <p:cNvSpPr/>
          <p:nvPr/>
        </p:nvSpPr>
        <p:spPr>
          <a:xfrm>
            <a:off x="8641259" y="3922812"/>
            <a:ext cx="1261318" cy="717352"/>
          </a:xfrm>
          <a:prstGeom prst="roundRect">
            <a:avLst>
              <a:gd name="adj" fmla="val 15270"/>
            </a:avLst>
          </a:prstGeom>
          <a:solidFill>
            <a:srgbClr val="F8FAFC"/>
          </a:solidFill>
          <a:ln w="9525">
            <a:solidFill>
              <a:srgbClr val="E2E8F0"/>
            </a:solidFill>
            <a:prstDash val="solid"/>
          </a:ln>
        </p:spPr>
      </p:sp>
      <p:sp>
        <p:nvSpPr>
          <p:cNvPr id="66" name="text node"/>
          <p:cNvSpPr txBox="1"/>
          <p:nvPr/>
        </p:nvSpPr>
        <p:spPr>
          <a:xfrm>
            <a:off x="8722221" y="4016500"/>
            <a:ext cx="1137493" cy="347810"/>
          </a:xfrm>
          <a:prstGeom prst="rect">
            <a:avLst/>
          </a:prstGeom>
          <a:noFill/>
          <a:ln/>
        </p:spPr>
        <p:txBody>
          <a:bodyPr wrap="square" lIns="0" tIns="0" rIns="0" bIns="0" rtlCol="0" anchor="ctr"/>
          <a:lstStyle/>
          <a:p>
            <a:pPr algn="ctr" indent="0" marL="0">
              <a:lnSpc>
                <a:spcPts val="1370"/>
              </a:lnSpc>
              <a:buNone/>
            </a:pPr>
            <a:r>
              <a:rPr lang="en-US" sz="1050" b="1" dirty="0">
                <a:solidFill>
                  <a:srgbClr val="0F172A"/>
                </a:solidFill>
                <a:latin typeface="Segoe UI" pitchFamily="34" charset="0"/>
                <a:ea typeface="Segoe UI" pitchFamily="34" charset="-122"/>
                <a:cs typeface="Segoe UI" pitchFamily="34" charset="-120"/>
              </a:rPr>
              <a:t>Merchant xác nhận</a:t>
            </a:r>
            <a:endParaRPr lang="en-US" sz="1050" dirty="0"/>
          </a:p>
        </p:txBody>
      </p:sp>
      <p:sp>
        <p:nvSpPr>
          <p:cNvPr id="67" name="text small"/>
          <p:cNvSpPr txBox="1"/>
          <p:nvPr/>
        </p:nvSpPr>
        <p:spPr>
          <a:xfrm>
            <a:off x="8789491" y="4384840"/>
            <a:ext cx="964853" cy="159412"/>
          </a:xfrm>
          <a:prstGeom prst="rect">
            <a:avLst/>
          </a:prstGeom>
          <a:noFill/>
          <a:ln/>
        </p:spPr>
        <p:txBody>
          <a:bodyPr wrap="none" lIns="0" tIns="0" rIns="0" bIns="0" rtlCol="0" anchor="ctr"/>
          <a:lstStyle/>
          <a:p>
            <a:pPr algn="ctr" indent="0" marL="0">
              <a:buNone/>
            </a:pPr>
            <a:r>
              <a:rPr lang="en-US" sz="870" dirty="0">
                <a:solidFill>
                  <a:srgbClr val="64748B"/>
                </a:solidFill>
                <a:latin typeface="Segoe UI Semibold" pitchFamily="34" charset="0"/>
                <a:ea typeface="Segoe UI Semibold" pitchFamily="34" charset="-122"/>
                <a:cs typeface="Segoe UI Semibold" pitchFamily="34" charset="-120"/>
              </a:rPr>
              <a:t>qua app Tendoo</a:t>
            </a:r>
            <a:endParaRPr lang="en-US" sz="870" dirty="0"/>
          </a:p>
        </p:txBody>
      </p:sp>
      <p:sp>
        <p:nvSpPr>
          <p:cNvPr id="68" name="text arr"/>
          <p:cNvSpPr txBox="1"/>
          <p:nvPr/>
        </p:nvSpPr>
        <p:spPr>
          <a:xfrm>
            <a:off x="9964489" y="3887523"/>
            <a:ext cx="204192" cy="289653"/>
          </a:xfrm>
          <a:prstGeom prst="rect">
            <a:avLst/>
          </a:prstGeom>
          <a:noFill/>
          <a:ln/>
        </p:spPr>
        <p:txBody>
          <a:bodyPr wrap="none" lIns="0" tIns="0" rIns="0" bIns="0" rtlCol="0" anchor="ctr"/>
          <a:lstStyle/>
          <a:p>
            <a:pPr algn="l" indent="0" marL="0">
              <a:buNone/>
            </a:pPr>
            <a:r>
              <a:rPr lang="en-US" sz="1570" dirty="0">
                <a:solidFill>
                  <a:srgbClr val="1E3A8A"/>
                </a:solidFill>
                <a:latin typeface="Segoe UI Black" pitchFamily="34" charset="0"/>
                <a:ea typeface="Segoe UI Black" pitchFamily="34" charset="-122"/>
                <a:cs typeface="Segoe UI Black" pitchFamily="34" charset="-120"/>
              </a:rPr>
              <a:t>›</a:t>
            </a:r>
            <a:endParaRPr lang="en-US" sz="1570" dirty="0"/>
          </a:p>
        </p:txBody>
      </p:sp>
      <p:sp>
        <p:nvSpPr>
          <p:cNvPr id="69" name="node redb"/>
          <p:cNvSpPr/>
          <p:nvPr/>
        </p:nvSpPr>
        <p:spPr>
          <a:xfrm>
            <a:off x="10116294" y="3922812"/>
            <a:ext cx="1261318" cy="859631"/>
          </a:xfrm>
          <a:prstGeom prst="roundRect">
            <a:avLst>
              <a:gd name="adj" fmla="val 12742"/>
            </a:avLst>
          </a:prstGeom>
          <a:solidFill>
            <a:srgbClr val="EEF2FF"/>
          </a:solidFill>
          <a:ln w="9525">
            <a:solidFill>
              <a:srgbClr val="C7D2FE"/>
            </a:solidFill>
            <a:prstDash val="solid"/>
          </a:ln>
        </p:spPr>
      </p:sp>
      <p:sp>
        <p:nvSpPr>
          <p:cNvPr id="70" name="text node redb"/>
          <p:cNvSpPr txBox="1"/>
          <p:nvPr/>
        </p:nvSpPr>
        <p:spPr>
          <a:xfrm>
            <a:off x="10197257" y="4016500"/>
            <a:ext cx="1137493" cy="347810"/>
          </a:xfrm>
          <a:prstGeom prst="rect">
            <a:avLst/>
          </a:prstGeom>
          <a:noFill/>
          <a:ln/>
        </p:spPr>
        <p:txBody>
          <a:bodyPr wrap="square" lIns="0" tIns="0" rIns="0" bIns="0" rtlCol="0" anchor="ctr"/>
          <a:lstStyle/>
          <a:p>
            <a:pPr algn="ctr" indent="0" marL="0">
              <a:lnSpc>
                <a:spcPts val="1370"/>
              </a:lnSpc>
              <a:buNone/>
            </a:pPr>
            <a:r>
              <a:rPr lang="en-US" sz="1050" b="1" dirty="0">
                <a:solidFill>
                  <a:srgbClr val="1E3A8A"/>
                </a:solidFill>
                <a:latin typeface="Segoe UI" pitchFamily="34" charset="0"/>
                <a:ea typeface="Segoe UI" pitchFamily="34" charset="-122"/>
                <a:cs typeface="Segoe UI" pitchFamily="34" charset="-120"/>
              </a:rPr>
              <a:t>VDF thu phí booking</a:t>
            </a:r>
            <a:endParaRPr lang="en-US" sz="1050" dirty="0"/>
          </a:p>
        </p:txBody>
      </p:sp>
      <p:sp>
        <p:nvSpPr>
          <p:cNvPr id="71" name="text small"/>
          <p:cNvSpPr txBox="1"/>
          <p:nvPr/>
        </p:nvSpPr>
        <p:spPr>
          <a:xfrm>
            <a:off x="10197257" y="4392765"/>
            <a:ext cx="1137493" cy="285842"/>
          </a:xfrm>
          <a:prstGeom prst="rect">
            <a:avLst/>
          </a:prstGeom>
          <a:noFill/>
          <a:ln/>
        </p:spPr>
        <p:txBody>
          <a:bodyPr wrap="square" lIns="0" tIns="0" rIns="0" bIns="0" rtlCol="0" anchor="ctr"/>
          <a:lstStyle/>
          <a:p>
            <a:pPr algn="ctr" indent="0" marL="0">
              <a:lnSpc>
                <a:spcPts val="1130"/>
              </a:lnSpc>
              <a:buNone/>
            </a:pPr>
            <a:r>
              <a:rPr lang="en-US" sz="870" dirty="0">
                <a:solidFill>
                  <a:srgbClr val="64748B"/>
                </a:solidFill>
                <a:latin typeface="Segoe UI Semibold" pitchFamily="34" charset="0"/>
                <a:ea typeface="Segoe UI Semibold" pitchFamily="34" charset="-122"/>
                <a:cs typeface="Segoe UI Semibold" pitchFamily="34" charset="-120"/>
              </a:rPr>
              <a:t>một phần phí giao dịch</a:t>
            </a:r>
            <a:endParaRPr lang="en-US" sz="870" dirty="0"/>
          </a:p>
        </p:txBody>
      </p:sp>
      <p:sp>
        <p:nvSpPr>
          <p:cNvPr id="72" name="fres mt10"/>
          <p:cNvSpPr/>
          <p:nvPr/>
        </p:nvSpPr>
        <p:spPr>
          <a:xfrm>
            <a:off x="5686425" y="4971901"/>
            <a:ext cx="5695950" cy="351383"/>
          </a:xfrm>
          <a:prstGeom prst="roundRect">
            <a:avLst>
              <a:gd name="adj" fmla="val 27107"/>
            </a:avLst>
          </a:prstGeom>
          <a:solidFill>
            <a:srgbClr val="F1F5F9"/>
          </a:solidFill>
          <a:ln/>
        </p:spPr>
      </p:sp>
      <p:sp>
        <p:nvSpPr>
          <p:cNvPr id="73" name="text span"/>
          <p:cNvSpPr txBox="1"/>
          <p:nvPr/>
        </p:nvSpPr>
        <p:spPr>
          <a:xfrm>
            <a:off x="5819775" y="5050286"/>
            <a:ext cx="2741515" cy="186131"/>
          </a:xfrm>
          <a:prstGeom prst="rect">
            <a:avLst/>
          </a:prstGeom>
          <a:noFill/>
          <a:ln/>
        </p:spPr>
        <p:txBody>
          <a:bodyPr wrap="none" lIns="0" tIns="0" rIns="0" bIns="0" rtlCol="0" anchor="ctr"/>
          <a:lstStyle/>
          <a:p>
            <a:pPr algn="l" indent="0" marL="0">
              <a:buNone/>
            </a:pPr>
            <a:r>
              <a:rPr lang="en-US" sz="1010" dirty="0">
                <a:solidFill>
                  <a:srgbClr val="0F172A"/>
                </a:solidFill>
                <a:latin typeface="Segoe UI Black" pitchFamily="34" charset="0"/>
                <a:ea typeface="Segoe UI Black" pitchFamily="34" charset="-122"/>
                <a:cs typeface="Segoe UI Black" pitchFamily="34" charset="-120"/>
              </a:rPr>
              <a:t>Merchant:</a:t>
            </a:r>
            <a:pPr algn="l" indent="0" marL="0">
              <a:buNone/>
            </a:pPr>
            <a:r>
              <a:rPr lang="en-US" sz="1010" dirty="0">
                <a:solidFill>
                  <a:srgbClr val="334155"/>
                </a:solidFill>
                <a:latin typeface="Segoe UI Semibold" pitchFamily="34" charset="0"/>
                <a:ea typeface="Segoe UI Semibold" pitchFamily="34" charset="-122"/>
                <a:cs typeface="Segoe UI Semibold" pitchFamily="34" charset="-120"/>
              </a:rPr>
              <a:t> chuỗi nhà hàng, khách sạn lớn</a:t>
            </a:r>
            <a:endParaRPr lang="en-US" sz="1010" dirty="0"/>
          </a:p>
        </p:txBody>
      </p:sp>
      <p:sp>
        <p:nvSpPr>
          <p:cNvPr id="74" name="text res2"/>
          <p:cNvSpPr txBox="1"/>
          <p:nvPr/>
        </p:nvSpPr>
        <p:spPr>
          <a:xfrm>
            <a:off x="9390162" y="5050051"/>
            <a:ext cx="1973163" cy="186601"/>
          </a:xfrm>
          <a:prstGeom prst="rect">
            <a:avLst/>
          </a:prstGeom>
          <a:noFill/>
          <a:ln/>
        </p:spPr>
        <p:txBody>
          <a:bodyPr wrap="none" lIns="0" tIns="0" rIns="0" bIns="0" rtlCol="0" anchor="ctr"/>
          <a:lstStyle/>
          <a:p>
            <a:pPr algn="l" indent="0" marL="0">
              <a:buNone/>
            </a:pPr>
            <a:r>
              <a:rPr lang="en-US" sz="1010" b="1" dirty="0">
                <a:solidFill>
                  <a:srgbClr val="15803D"/>
                </a:solidFill>
                <a:latin typeface="Segoe UI" pitchFamily="34" charset="0"/>
                <a:ea typeface="Segoe UI" pitchFamily="34" charset="-122"/>
                <a:cs typeface="Segoe UI" pitchFamily="34" charset="-120"/>
              </a:rPr>
              <a:t>Thêm lượt đặt phòng, đặt bàn</a:t>
            </a:r>
            <a:endParaRPr lang="en-US" sz="1010" dirty="0"/>
          </a:p>
        </p:txBody>
      </p:sp>
      <p:sp>
        <p:nvSpPr>
          <p:cNvPr id="75" name="takeaway __nops"/>
          <p:cNvSpPr/>
          <p:nvPr/>
        </p:nvSpPr>
        <p:spPr>
          <a:xfrm>
            <a:off x="614363" y="5623322"/>
            <a:ext cx="10963275" cy="525066"/>
          </a:xfrm>
          <a:prstGeom prst="roundRect">
            <a:avLst>
              <a:gd name="adj" fmla="val 24490"/>
            </a:avLst>
          </a:prstGeom>
          <a:solidFill>
            <a:srgbClr val="EEFBF3"/>
          </a:solidFill>
          <a:ln w="9525">
            <a:solidFill>
              <a:srgbClr val="86EFAC"/>
            </a:solidFill>
            <a:prstDash val="solid"/>
          </a:ln>
        </p:spPr>
      </p:sp>
      <p:sp>
        <p:nvSpPr>
          <p:cNvPr id="76" name="text takeaway __nops"/>
          <p:cNvSpPr txBox="1"/>
          <p:nvPr/>
        </p:nvSpPr>
        <p:spPr>
          <a:xfrm>
            <a:off x="1152525" y="5767864"/>
            <a:ext cx="9298876" cy="234791"/>
          </a:xfrm>
          <a:prstGeom prst="rect">
            <a:avLst/>
          </a:prstGeom>
          <a:noFill/>
          <a:ln/>
        </p:spPr>
        <p:txBody>
          <a:bodyPr wrap="none" lIns="0" tIns="0" rIns="0" bIns="0" rtlCol="0" anchor="ctr"/>
          <a:lstStyle/>
          <a:p>
            <a:pPr algn="l" indent="0" marL="0">
              <a:buNone/>
            </a:pPr>
            <a:r>
              <a:rPr lang="en-US" sz="1280" b="1" dirty="0">
                <a:solidFill>
                  <a:srgbClr val="0F172A"/>
                </a:solidFill>
                <a:latin typeface="Segoe UI" pitchFamily="34" charset="0"/>
                <a:ea typeface="Segoe UI" pitchFamily="34" charset="-122"/>
                <a:cs typeface="Segoe UI" pitchFamily="34" charset="-120"/>
              </a:rPr>
              <a:t>AI đưa khách đến merchant nhỏ và cho đặt chỗ ngay: </a:t>
            </a:r>
            <a:pPr algn="l" indent="0" marL="0">
              <a:buNone/>
            </a:pPr>
            <a:r>
              <a:rPr lang="en-US" sz="1280" b="1" dirty="0">
                <a:solidFill>
                  <a:srgbClr val="15803D"/>
                </a:solidFill>
                <a:latin typeface="Segoe UI" pitchFamily="34" charset="0"/>
                <a:ea typeface="Segoe UI" pitchFamily="34" charset="-122"/>
                <a:cs typeface="Segoe UI" pitchFamily="34" charset="-120"/>
              </a:rPr>
              <a:t>merchant có thêm khách, VDF thu affiliate và phí booking.</a:t>
            </a:r>
            <a:endParaRPr lang="en-US" sz="1280" dirty="0"/>
          </a:p>
        </p:txBody>
      </p:sp>
      <p:pic>
        <p:nvPicPr>
          <p:cNvPr id="77" name="graphic SPAN" descr="SPAN">    </p:cNvPr>
          <p:cNvPicPr>
            <a:picLocks noChangeAspect="1"/>
          </p:cNvPicPr>
          <p:nvPr/>
        </p:nvPicPr>
        <p:blipFill>
          <a:blip r:embed="rId1"/>
          <a:stretch>
            <a:fillRect/>
          </a:stretch>
        </p:blipFill>
        <p:spPr>
          <a:xfrm>
            <a:off x="828675" y="5790605"/>
            <a:ext cx="152400" cy="190500"/>
          </a:xfrm>
          <a:prstGeom prst="rect">
            <a:avLst/>
          </a:prstGeom>
        </p:spPr>
      </p:pic>
      <p:sp>
        <p:nvSpPr>
          <p:cNvPr id="78" name="mk"/>
          <p:cNvSpPr/>
          <p:nvPr/>
        </p:nvSpPr>
        <p:spPr>
          <a:xfrm>
            <a:off x="10796588" y="6343650"/>
            <a:ext cx="323850" cy="323850"/>
          </a:xfrm>
          <a:prstGeom prst="ellipse">
            <a:avLst/>
          </a:prstGeom>
          <a:solidFill>
            <a:srgbClr val="F0001E"/>
          </a:solidFill>
          <a:ln/>
        </p:spPr>
      </p:sp>
      <p:sp>
        <p:nvSpPr>
          <p:cNvPr id="79" name="Shape 76"/>
          <p:cNvSpPr/>
          <p:nvPr/>
        </p:nvSpPr>
        <p:spPr>
          <a:xfrm>
            <a:off x="10910888" y="6424613"/>
            <a:ext cx="95250" cy="161925"/>
          </a:xfrm>
          <a:prstGeom prst="roundRect">
            <a:avLst>
              <a:gd name="adj" fmla="val 25000"/>
            </a:avLst>
          </a:prstGeom>
          <a:ln w="19050">
            <a:solidFill>
              <a:srgbClr val="FFFFFF"/>
            </a:solidFill>
            <a:prstDash val="solid"/>
          </a:ln>
        </p:spPr>
      </p:sp>
      <p:sp>
        <p:nvSpPr>
          <p:cNvPr id="80"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81"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82" name="text pno"/>
          <p:cNvSpPr txBox="1"/>
          <p:nvPr/>
        </p:nvSpPr>
        <p:spPr>
          <a:xfrm>
            <a:off x="10531227" y="6415463"/>
            <a:ext cx="232023" cy="170698"/>
          </a:xfrm>
          <a:prstGeom prst="rect">
            <a:avLst/>
          </a:prstGeom>
          <a:noFill/>
          <a:ln/>
        </p:spPr>
        <p:txBody>
          <a:bodyPr wrap="none" lIns="0" tIns="0" rIns="0" bIns="0" rtlCol="0" anchor="ctr"/>
          <a:lstStyle/>
          <a:p>
            <a:pPr algn="l" indent="0" marL="0">
              <a:buNone/>
            </a:pPr>
            <a:r>
              <a:rPr lang="en-US" sz="930" b="1" dirty="0">
                <a:solidFill>
                  <a:srgbClr val="CBD5E1"/>
                </a:solidFill>
                <a:latin typeface="Segoe UI" pitchFamily="34" charset="0"/>
                <a:ea typeface="Segoe UI" pitchFamily="34" charset="-122"/>
                <a:cs typeface="Segoe UI" pitchFamily="34" charset="-120"/>
              </a:rPr>
              <a:t>17</a:t>
            </a:r>
            <a:endParaRPr lang="en-US" sz="93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7239979"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DEMO GIẢI PHÁP CHI TIẾT 2 · AI TƯ VẤN DU LỊCH VÀ BOOKING ONLINE · ① HẠ CÁNH · ② HỎI TƯ VẤN</a:t>
            </a:r>
            <a:endParaRPr lang="en-US" sz="1050" dirty="0"/>
          </a:p>
        </p:txBody>
      </p:sp>
      <p:sp>
        <p:nvSpPr>
          <p:cNvPr id="3" name="text title"/>
          <p:cNvSpPr txBox="1"/>
          <p:nvPr/>
        </p:nvSpPr>
        <p:spPr>
          <a:xfrm>
            <a:off x="609600" y="581263"/>
            <a:ext cx="8465600"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Hạ cánh là gặp AI, </a:t>
            </a:r>
            <a:pPr algn="l" indent="0" marL="0">
              <a:buNone/>
            </a:pPr>
            <a:r>
              <a:rPr lang="en-US" sz="2330" b="1" spc="-30" kern="0" dirty="0">
                <a:solidFill>
                  <a:srgbClr val="E11D48"/>
                </a:solidFill>
                <a:latin typeface="Segoe UI" pitchFamily="34" charset="0"/>
                <a:ea typeface="Segoe UI" pitchFamily="34" charset="-122"/>
                <a:cs typeface="Segoe UI" pitchFamily="34" charset="-120"/>
              </a:rPr>
              <a:t>hỏi và được trả lời bằng tiếng của mình</a:t>
            </a:r>
            <a:endParaRPr lang="en-US" sz="2330" dirty="0"/>
          </a:p>
        </p:txBody>
      </p:sp>
      <p:sp>
        <p:nvSpPr>
          <p:cNvPr id="4" name="text persona"/>
          <p:cNvSpPr txBox="1"/>
          <p:nvPr/>
        </p:nvSpPr>
        <p:spPr>
          <a:xfrm>
            <a:off x="609600" y="1169670"/>
            <a:ext cx="10470071" cy="200263"/>
          </a:xfrm>
          <a:prstGeom prst="rect">
            <a:avLst/>
          </a:prstGeom>
          <a:noFill/>
          <a:ln/>
        </p:spPr>
        <p:txBody>
          <a:bodyPr wrap="none" lIns="0" tIns="0" rIns="0" bIns="0" rtlCol="0" anchor="ctr"/>
          <a:lstStyle/>
          <a:p>
            <a:pPr algn="l" indent="0" marL="0">
              <a:buNone/>
            </a:pPr>
            <a:r>
              <a:rPr lang="en-US" sz="1090" dirty="0">
                <a:solidFill>
                  <a:srgbClr val="334155"/>
                </a:solidFill>
                <a:latin typeface="Segoe UI Semibold" pitchFamily="34" charset="0"/>
                <a:ea typeface="Segoe UI Semibold" pitchFamily="34" charset="-122"/>
                <a:cs typeface="Segoe UI Semibold" pitchFamily="34" charset="-120"/>
              </a:rPr>
              <a:t>Minji, 28 tuổi, nhân viên văn phòng ở Seoul, đi Đà Nẵng 5 ngày. Minji đã đặt khách sạn ở Đà Nẵng, chưa biết ăn gì, chơi gì, và muốn ghé Hội An 1 đêm.</a:t>
            </a:r>
            <a:endParaRPr lang="en-US" sz="1090" dirty="0"/>
          </a:p>
        </p:txBody>
      </p:sp>
      <p:pic>
        <p:nvPicPr>
          <p:cNvPr id="5" name="image" descr="Hạ cánh, máy bắt sóng roaming Viettel, nhận tin nhắn chào mừng">    </p:cNvPr>
          <p:cNvPicPr>
            <a:picLocks noChangeAspect="1"/>
          </p:cNvPicPr>
          <p:nvPr/>
        </p:nvPicPr>
        <p:blipFill>
          <a:blip r:embed="rId1"/>
          <a:stretch>
            <a:fillRect/>
          </a:stretch>
        </p:blipFill>
        <p:spPr>
          <a:xfrm>
            <a:off x="685800" y="1503313"/>
            <a:ext cx="1676400" cy="3410843"/>
          </a:xfrm>
          <a:prstGeom prst="rect">
            <a:avLst/>
          </a:prstGeom>
        </p:spPr>
      </p:pic>
      <p:sp>
        <p:nvSpPr>
          <p:cNvPr id="6" name="pill grey"/>
          <p:cNvSpPr/>
          <p:nvPr/>
        </p:nvSpPr>
        <p:spPr>
          <a:xfrm>
            <a:off x="933004" y="4995118"/>
            <a:ext cx="1181844" cy="219075"/>
          </a:xfrm>
          <a:prstGeom prst="roundRect">
            <a:avLst>
              <a:gd name="adj" fmla="val 50000"/>
            </a:avLst>
          </a:prstGeom>
          <a:solidFill>
            <a:srgbClr val="F1F5F9"/>
          </a:solidFill>
          <a:ln w="9525">
            <a:solidFill>
              <a:srgbClr val="E2E8F0"/>
            </a:solidFill>
            <a:prstDash val="solid"/>
          </a:ln>
        </p:spPr>
      </p:sp>
      <p:sp>
        <p:nvSpPr>
          <p:cNvPr id="7" name="text pill grey"/>
          <p:cNvSpPr txBox="1"/>
          <p:nvPr/>
        </p:nvSpPr>
        <p:spPr>
          <a:xfrm>
            <a:off x="1042541" y="5025192"/>
            <a:ext cx="1077069" cy="158929"/>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① Hạ cánh, mở AI</a:t>
            </a:r>
            <a:endParaRPr lang="en-US" sz="860" dirty="0"/>
          </a:p>
        </p:txBody>
      </p:sp>
      <p:sp>
        <p:nvSpPr>
          <p:cNvPr id="8" name="Shape 5"/>
          <p:cNvSpPr/>
          <p:nvPr/>
        </p:nvSpPr>
        <p:spPr>
          <a:xfrm>
            <a:off x="685800" y="5295156"/>
            <a:ext cx="190500" cy="190500"/>
          </a:xfrm>
          <a:prstGeom prst="ellipse">
            <a:avLst/>
          </a:prstGeom>
          <a:solidFill>
            <a:srgbClr val="E11D48"/>
          </a:solidFill>
          <a:ln/>
        </p:spPr>
      </p:sp>
      <p:sp>
        <p:nvSpPr>
          <p:cNvPr id="9" name="text i"/>
          <p:cNvSpPr txBox="1"/>
          <p:nvPr/>
        </p:nvSpPr>
        <p:spPr>
          <a:xfrm>
            <a:off x="757833" y="5308789"/>
            <a:ext cx="16058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1</a:t>
            </a:r>
            <a:endParaRPr lang="en-US" sz="830" dirty="0"/>
          </a:p>
        </p:txBody>
      </p:sp>
      <p:sp>
        <p:nvSpPr>
          <p:cNvPr id="10" name="text span"/>
          <p:cNvSpPr txBox="1"/>
          <p:nvPr/>
        </p:nvSpPr>
        <p:spPr>
          <a:xfrm>
            <a:off x="952500" y="52939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Hạ cánh, máy bắt sóng roaming Viettel, nhận tin nhắn chào mừng</a:t>
            </a:r>
            <a:endParaRPr lang="en-US" sz="940" dirty="0"/>
          </a:p>
        </p:txBody>
      </p:sp>
      <p:pic>
        <p:nvPicPr>
          <p:cNvPr id="11" name="image" descr="Tin nhắn bằng tiếng Hàn, có link mở AI tư vấn du lịch">    </p:cNvPr>
          <p:cNvPicPr>
            <a:picLocks noChangeAspect="1"/>
          </p:cNvPicPr>
          <p:nvPr/>
        </p:nvPicPr>
        <p:blipFill>
          <a:blip r:embed="rId2"/>
          <a:stretch>
            <a:fillRect/>
          </a:stretch>
        </p:blipFill>
        <p:spPr>
          <a:xfrm>
            <a:off x="2514600" y="1503313"/>
            <a:ext cx="1676400" cy="3410843"/>
          </a:xfrm>
          <a:prstGeom prst="rect">
            <a:avLst/>
          </a:prstGeom>
        </p:spPr>
      </p:pic>
      <p:sp>
        <p:nvSpPr>
          <p:cNvPr id="12" name="pill grey"/>
          <p:cNvSpPr/>
          <p:nvPr/>
        </p:nvSpPr>
        <p:spPr>
          <a:xfrm>
            <a:off x="2761804" y="4995118"/>
            <a:ext cx="1181844" cy="219075"/>
          </a:xfrm>
          <a:prstGeom prst="roundRect">
            <a:avLst>
              <a:gd name="adj" fmla="val 50000"/>
            </a:avLst>
          </a:prstGeom>
          <a:solidFill>
            <a:srgbClr val="F1F5F9"/>
          </a:solidFill>
          <a:ln w="9525">
            <a:solidFill>
              <a:srgbClr val="E2E8F0"/>
            </a:solidFill>
            <a:prstDash val="solid"/>
          </a:ln>
        </p:spPr>
      </p:sp>
      <p:sp>
        <p:nvSpPr>
          <p:cNvPr id="13" name="text pill grey"/>
          <p:cNvSpPr txBox="1"/>
          <p:nvPr/>
        </p:nvSpPr>
        <p:spPr>
          <a:xfrm>
            <a:off x="2871341" y="5025192"/>
            <a:ext cx="1077069" cy="158929"/>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① Hạ cánh, mở AI</a:t>
            </a:r>
            <a:endParaRPr lang="en-US" sz="860" dirty="0"/>
          </a:p>
        </p:txBody>
      </p:sp>
      <p:sp>
        <p:nvSpPr>
          <p:cNvPr id="14" name="Shape 10"/>
          <p:cNvSpPr/>
          <p:nvPr/>
        </p:nvSpPr>
        <p:spPr>
          <a:xfrm>
            <a:off x="2514600" y="5295156"/>
            <a:ext cx="190500" cy="190500"/>
          </a:xfrm>
          <a:prstGeom prst="ellipse">
            <a:avLst/>
          </a:prstGeom>
          <a:solidFill>
            <a:srgbClr val="E11D48"/>
          </a:solidFill>
          <a:ln/>
        </p:spPr>
      </p:sp>
      <p:sp>
        <p:nvSpPr>
          <p:cNvPr id="15" name="text i"/>
          <p:cNvSpPr txBox="1"/>
          <p:nvPr/>
        </p:nvSpPr>
        <p:spPr>
          <a:xfrm>
            <a:off x="2576364" y="5308789"/>
            <a:ext cx="18112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2</a:t>
            </a:r>
            <a:endParaRPr lang="en-US" sz="830" dirty="0"/>
          </a:p>
        </p:txBody>
      </p:sp>
      <p:sp>
        <p:nvSpPr>
          <p:cNvPr id="16" name="text span"/>
          <p:cNvSpPr txBox="1"/>
          <p:nvPr/>
        </p:nvSpPr>
        <p:spPr>
          <a:xfrm>
            <a:off x="2781300" y="52939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Tin nhắn bằng tiếng Hàn, có link mở AI tư vấn du lịch</a:t>
            </a:r>
            <a:endParaRPr lang="en-US" sz="940" dirty="0"/>
          </a:p>
        </p:txBody>
      </p:sp>
      <p:pic>
        <p:nvPicPr>
          <p:cNvPr id="17" name="image" descr="Web app mở ngay: không cài app, không đăng nhập">    </p:cNvPr>
          <p:cNvPicPr>
            <a:picLocks noChangeAspect="1"/>
          </p:cNvPicPr>
          <p:nvPr/>
        </p:nvPicPr>
        <p:blipFill>
          <a:blip r:embed="rId3"/>
          <a:stretch>
            <a:fillRect/>
          </a:stretch>
        </p:blipFill>
        <p:spPr>
          <a:xfrm>
            <a:off x="4343400" y="1503313"/>
            <a:ext cx="1676400" cy="3410843"/>
          </a:xfrm>
          <a:prstGeom prst="rect">
            <a:avLst/>
          </a:prstGeom>
        </p:spPr>
      </p:pic>
      <p:sp>
        <p:nvSpPr>
          <p:cNvPr id="18" name="pill grey"/>
          <p:cNvSpPr/>
          <p:nvPr/>
        </p:nvSpPr>
        <p:spPr>
          <a:xfrm>
            <a:off x="4590604" y="4995118"/>
            <a:ext cx="1181844" cy="219075"/>
          </a:xfrm>
          <a:prstGeom prst="roundRect">
            <a:avLst>
              <a:gd name="adj" fmla="val 50000"/>
            </a:avLst>
          </a:prstGeom>
          <a:solidFill>
            <a:srgbClr val="F1F5F9"/>
          </a:solidFill>
          <a:ln w="9525">
            <a:solidFill>
              <a:srgbClr val="E2E8F0"/>
            </a:solidFill>
            <a:prstDash val="solid"/>
          </a:ln>
        </p:spPr>
      </p:sp>
      <p:sp>
        <p:nvSpPr>
          <p:cNvPr id="19" name="text pill grey"/>
          <p:cNvSpPr txBox="1"/>
          <p:nvPr/>
        </p:nvSpPr>
        <p:spPr>
          <a:xfrm>
            <a:off x="4700141" y="5025192"/>
            <a:ext cx="1077069" cy="158929"/>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① Hạ cánh, mở AI</a:t>
            </a:r>
            <a:endParaRPr lang="en-US" sz="860" dirty="0"/>
          </a:p>
        </p:txBody>
      </p:sp>
      <p:sp>
        <p:nvSpPr>
          <p:cNvPr id="20" name="Shape 15"/>
          <p:cNvSpPr/>
          <p:nvPr/>
        </p:nvSpPr>
        <p:spPr>
          <a:xfrm>
            <a:off x="4343400" y="5295156"/>
            <a:ext cx="190500" cy="190500"/>
          </a:xfrm>
          <a:prstGeom prst="ellipse">
            <a:avLst/>
          </a:prstGeom>
          <a:solidFill>
            <a:srgbClr val="E11D48"/>
          </a:solidFill>
          <a:ln/>
        </p:spPr>
      </p:sp>
      <p:sp>
        <p:nvSpPr>
          <p:cNvPr id="21" name="text i"/>
          <p:cNvSpPr txBox="1"/>
          <p:nvPr/>
        </p:nvSpPr>
        <p:spPr>
          <a:xfrm>
            <a:off x="4404122" y="5308789"/>
            <a:ext cx="183207"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3</a:t>
            </a:r>
            <a:endParaRPr lang="en-US" sz="830" dirty="0"/>
          </a:p>
        </p:txBody>
      </p:sp>
      <p:sp>
        <p:nvSpPr>
          <p:cNvPr id="22" name="text span"/>
          <p:cNvSpPr txBox="1"/>
          <p:nvPr/>
        </p:nvSpPr>
        <p:spPr>
          <a:xfrm>
            <a:off x="4610100" y="52939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Web app mở ngay: không cài app, không đăng nhập</a:t>
            </a:r>
            <a:endParaRPr lang="en-US" sz="940" dirty="0"/>
          </a:p>
        </p:txBody>
      </p:sp>
      <p:pic>
        <p:nvPicPr>
          <p:cNvPr id="23" name="image" descr="Minji hỏi bằng tiếng Hàn: ăn hải sản gần biển Mỹ Khê, mai đi đâu">    </p:cNvPr>
          <p:cNvPicPr>
            <a:picLocks noChangeAspect="1"/>
          </p:cNvPicPr>
          <p:nvPr/>
        </p:nvPicPr>
        <p:blipFill>
          <a:blip r:embed="rId4"/>
          <a:stretch>
            <a:fillRect/>
          </a:stretch>
        </p:blipFill>
        <p:spPr>
          <a:xfrm>
            <a:off x="6172200" y="1503313"/>
            <a:ext cx="1676400" cy="3410843"/>
          </a:xfrm>
          <a:prstGeom prst="rect">
            <a:avLst/>
          </a:prstGeom>
        </p:spPr>
      </p:pic>
      <p:sp>
        <p:nvSpPr>
          <p:cNvPr id="24" name="pill red"/>
          <p:cNvSpPr/>
          <p:nvPr/>
        </p:nvSpPr>
        <p:spPr>
          <a:xfrm>
            <a:off x="6552009" y="4995118"/>
            <a:ext cx="916632" cy="219075"/>
          </a:xfrm>
          <a:prstGeom prst="roundRect">
            <a:avLst>
              <a:gd name="adj" fmla="val 50000"/>
            </a:avLst>
          </a:prstGeom>
          <a:solidFill>
            <a:srgbClr val="FFE4E6"/>
          </a:solidFill>
          <a:ln w="9525">
            <a:solidFill>
              <a:srgbClr val="FECDD3"/>
            </a:solidFill>
            <a:prstDash val="solid"/>
          </a:ln>
        </p:spPr>
      </p:sp>
      <p:sp>
        <p:nvSpPr>
          <p:cNvPr id="25" name="text pill red"/>
          <p:cNvSpPr txBox="1"/>
          <p:nvPr/>
        </p:nvSpPr>
        <p:spPr>
          <a:xfrm>
            <a:off x="6661547" y="5025049"/>
            <a:ext cx="811857" cy="159213"/>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② Hỏi tư vấn</a:t>
            </a:r>
            <a:endParaRPr lang="en-US" sz="860" dirty="0"/>
          </a:p>
        </p:txBody>
      </p:sp>
      <p:sp>
        <p:nvSpPr>
          <p:cNvPr id="26" name="Shape 20"/>
          <p:cNvSpPr/>
          <p:nvPr/>
        </p:nvSpPr>
        <p:spPr>
          <a:xfrm>
            <a:off x="6172200" y="5295156"/>
            <a:ext cx="190500" cy="190500"/>
          </a:xfrm>
          <a:prstGeom prst="ellipse">
            <a:avLst/>
          </a:prstGeom>
          <a:solidFill>
            <a:srgbClr val="E11D48"/>
          </a:solidFill>
          <a:ln/>
        </p:spPr>
      </p:sp>
      <p:sp>
        <p:nvSpPr>
          <p:cNvPr id="27" name="text i"/>
          <p:cNvSpPr txBox="1"/>
          <p:nvPr/>
        </p:nvSpPr>
        <p:spPr>
          <a:xfrm>
            <a:off x="6231285" y="5308789"/>
            <a:ext cx="186482"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4</a:t>
            </a:r>
            <a:endParaRPr lang="en-US" sz="830" dirty="0"/>
          </a:p>
        </p:txBody>
      </p:sp>
      <p:sp>
        <p:nvSpPr>
          <p:cNvPr id="28" name="text span"/>
          <p:cNvSpPr txBox="1"/>
          <p:nvPr/>
        </p:nvSpPr>
        <p:spPr>
          <a:xfrm>
            <a:off x="6438900" y="52939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Minji hỏi bằng tiếng Hàn: ăn hải sản gần biển Mỹ Khê, mai đi đâu</a:t>
            </a:r>
            <a:endParaRPr lang="en-US" sz="940" dirty="0"/>
          </a:p>
        </p:txBody>
      </p:sp>
      <p:pic>
        <p:nvPicPr>
          <p:cNvPr id="29" name="image" descr="AI gợi ý 3 quán vừa và nhỏ gần biển, giờ mở cửa, giá tham khảo">    </p:cNvPr>
          <p:cNvPicPr>
            <a:picLocks noChangeAspect="1"/>
          </p:cNvPicPr>
          <p:nvPr/>
        </p:nvPicPr>
        <p:blipFill>
          <a:blip r:embed="rId5"/>
          <a:stretch>
            <a:fillRect/>
          </a:stretch>
        </p:blipFill>
        <p:spPr>
          <a:xfrm>
            <a:off x="8001000" y="1503313"/>
            <a:ext cx="1676400" cy="3410843"/>
          </a:xfrm>
          <a:prstGeom prst="rect">
            <a:avLst/>
          </a:prstGeom>
        </p:spPr>
      </p:pic>
      <p:sp>
        <p:nvSpPr>
          <p:cNvPr id="30" name="pill red"/>
          <p:cNvSpPr/>
          <p:nvPr/>
        </p:nvSpPr>
        <p:spPr>
          <a:xfrm>
            <a:off x="8380809" y="4995118"/>
            <a:ext cx="916632" cy="219075"/>
          </a:xfrm>
          <a:prstGeom prst="roundRect">
            <a:avLst>
              <a:gd name="adj" fmla="val 50000"/>
            </a:avLst>
          </a:prstGeom>
          <a:solidFill>
            <a:srgbClr val="FFE4E6"/>
          </a:solidFill>
          <a:ln w="9525">
            <a:solidFill>
              <a:srgbClr val="FECDD3"/>
            </a:solidFill>
            <a:prstDash val="solid"/>
          </a:ln>
        </p:spPr>
      </p:sp>
      <p:sp>
        <p:nvSpPr>
          <p:cNvPr id="31" name="text pill red"/>
          <p:cNvSpPr txBox="1"/>
          <p:nvPr/>
        </p:nvSpPr>
        <p:spPr>
          <a:xfrm>
            <a:off x="8490347" y="5025049"/>
            <a:ext cx="811857" cy="159213"/>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② Hỏi tư vấn</a:t>
            </a:r>
            <a:endParaRPr lang="en-US" sz="860" dirty="0"/>
          </a:p>
        </p:txBody>
      </p:sp>
      <p:sp>
        <p:nvSpPr>
          <p:cNvPr id="32" name="Shape 25"/>
          <p:cNvSpPr/>
          <p:nvPr/>
        </p:nvSpPr>
        <p:spPr>
          <a:xfrm>
            <a:off x="8001000" y="5295156"/>
            <a:ext cx="190500" cy="190500"/>
          </a:xfrm>
          <a:prstGeom prst="ellipse">
            <a:avLst/>
          </a:prstGeom>
          <a:solidFill>
            <a:srgbClr val="E11D48"/>
          </a:solidFill>
          <a:ln/>
        </p:spPr>
      </p:sp>
      <p:sp>
        <p:nvSpPr>
          <p:cNvPr id="33" name="text i"/>
          <p:cNvSpPr txBox="1"/>
          <p:nvPr/>
        </p:nvSpPr>
        <p:spPr>
          <a:xfrm>
            <a:off x="8062912" y="5308789"/>
            <a:ext cx="18082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5</a:t>
            </a:r>
            <a:endParaRPr lang="en-US" sz="830" dirty="0"/>
          </a:p>
        </p:txBody>
      </p:sp>
      <p:sp>
        <p:nvSpPr>
          <p:cNvPr id="34" name="text span"/>
          <p:cNvSpPr txBox="1"/>
          <p:nvPr/>
        </p:nvSpPr>
        <p:spPr>
          <a:xfrm>
            <a:off x="8267700" y="52939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AI gợi ý 3 quán vừa và nhỏ gần biển, giờ mở cửa, giá tham khảo</a:t>
            </a:r>
            <a:endParaRPr lang="en-US" sz="940" dirty="0"/>
          </a:p>
        </p:txBody>
      </p:sp>
      <p:pic>
        <p:nvPicPr>
          <p:cNvPr id="35" name="image" descr="AI gợi ý lịch trình ngày mai, kèm quán cà phê nhỏ trên đường đi">    </p:cNvPr>
          <p:cNvPicPr>
            <a:picLocks noChangeAspect="1"/>
          </p:cNvPicPr>
          <p:nvPr/>
        </p:nvPicPr>
        <p:blipFill>
          <a:blip r:embed="rId6"/>
          <a:stretch>
            <a:fillRect/>
          </a:stretch>
        </p:blipFill>
        <p:spPr>
          <a:xfrm>
            <a:off x="9829800" y="1503313"/>
            <a:ext cx="1676400" cy="3410843"/>
          </a:xfrm>
          <a:prstGeom prst="rect">
            <a:avLst/>
          </a:prstGeom>
        </p:spPr>
      </p:pic>
      <p:sp>
        <p:nvSpPr>
          <p:cNvPr id="36" name="pill red"/>
          <p:cNvSpPr/>
          <p:nvPr/>
        </p:nvSpPr>
        <p:spPr>
          <a:xfrm>
            <a:off x="10209609" y="4995118"/>
            <a:ext cx="916632" cy="219075"/>
          </a:xfrm>
          <a:prstGeom prst="roundRect">
            <a:avLst>
              <a:gd name="adj" fmla="val 50000"/>
            </a:avLst>
          </a:prstGeom>
          <a:solidFill>
            <a:srgbClr val="FFE4E6"/>
          </a:solidFill>
          <a:ln w="9525">
            <a:solidFill>
              <a:srgbClr val="FECDD3"/>
            </a:solidFill>
            <a:prstDash val="solid"/>
          </a:ln>
        </p:spPr>
      </p:sp>
      <p:sp>
        <p:nvSpPr>
          <p:cNvPr id="37" name="text pill red"/>
          <p:cNvSpPr txBox="1"/>
          <p:nvPr/>
        </p:nvSpPr>
        <p:spPr>
          <a:xfrm>
            <a:off x="10319147" y="5025049"/>
            <a:ext cx="811857" cy="159213"/>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② Hỏi tư vấn</a:t>
            </a:r>
            <a:endParaRPr lang="en-US" sz="860" dirty="0"/>
          </a:p>
        </p:txBody>
      </p:sp>
      <p:sp>
        <p:nvSpPr>
          <p:cNvPr id="38" name="Shape 30"/>
          <p:cNvSpPr/>
          <p:nvPr/>
        </p:nvSpPr>
        <p:spPr>
          <a:xfrm>
            <a:off x="9829800" y="5295156"/>
            <a:ext cx="190500" cy="190500"/>
          </a:xfrm>
          <a:prstGeom prst="ellipse">
            <a:avLst/>
          </a:prstGeom>
          <a:solidFill>
            <a:srgbClr val="E11D48"/>
          </a:solidFill>
          <a:ln/>
        </p:spPr>
      </p:sp>
      <p:sp>
        <p:nvSpPr>
          <p:cNvPr id="39" name="text i"/>
          <p:cNvSpPr txBox="1"/>
          <p:nvPr/>
        </p:nvSpPr>
        <p:spPr>
          <a:xfrm>
            <a:off x="9890373" y="5308789"/>
            <a:ext cx="18365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6</a:t>
            </a:r>
            <a:endParaRPr lang="en-US" sz="830" dirty="0"/>
          </a:p>
        </p:txBody>
      </p:sp>
      <p:sp>
        <p:nvSpPr>
          <p:cNvPr id="40" name="text span"/>
          <p:cNvSpPr txBox="1"/>
          <p:nvPr/>
        </p:nvSpPr>
        <p:spPr>
          <a:xfrm>
            <a:off x="10096500" y="52939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AI gợi ý lịch trình ngày mai, kèm quán cà phê nhỏ trên đường đi</a:t>
            </a:r>
            <a:endParaRPr lang="en-US" sz="940" dirty="0"/>
          </a:p>
        </p:txBody>
      </p:sp>
      <p:sp>
        <p:nvSpPr>
          <p:cNvPr id="41" name="text source"/>
          <p:cNvSpPr txBox="1"/>
          <p:nvPr/>
        </p:nvSpPr>
        <p:spPr>
          <a:xfrm>
            <a:off x="609600" y="6492601"/>
            <a:ext cx="7589255" cy="151857"/>
          </a:xfrm>
          <a:prstGeom prst="rect">
            <a:avLst/>
          </a:prstGeom>
          <a:noFill/>
          <a:ln/>
        </p:spPr>
        <p:txBody>
          <a:bodyPr wrap="none" lIns="0" tIns="0" rIns="0" bIns="0" rtlCol="0" anchor="ctr"/>
          <a:lstStyle/>
          <a:p>
            <a:pPr algn="l" indent="0" marL="0">
              <a:buNone/>
            </a:pPr>
            <a:r>
              <a:rPr lang="en-US" sz="820" dirty="0">
                <a:solidFill>
                  <a:srgbClr val="94A3B8"/>
                </a:solidFill>
                <a:latin typeface="Segoe UI Semibold" pitchFamily="34" charset="0"/>
                <a:ea typeface="Segoe UI Semibold" pitchFamily="34" charset="-122"/>
                <a:cs typeface="Segoe UI Semibold" pitchFamily="34" charset="-120"/>
              </a:rPr>
              <a:t>Minh họa. Minji, các quán và khách sạn trong demo đều là giả định. Dòng chữ nghiêng nhỏ trên màn hình là bản dịch tiếng Việt cho người xem.</a:t>
            </a:r>
            <a:endParaRPr lang="en-US" sz="820" dirty="0"/>
          </a:p>
        </p:txBody>
      </p:sp>
      <p:sp>
        <p:nvSpPr>
          <p:cNvPr id="42" name="mk"/>
          <p:cNvSpPr/>
          <p:nvPr/>
        </p:nvSpPr>
        <p:spPr>
          <a:xfrm>
            <a:off x="10796588" y="6343650"/>
            <a:ext cx="323850" cy="323850"/>
          </a:xfrm>
          <a:prstGeom prst="ellipse">
            <a:avLst/>
          </a:prstGeom>
          <a:solidFill>
            <a:srgbClr val="F0001E"/>
          </a:solidFill>
          <a:ln/>
        </p:spPr>
      </p:sp>
      <p:sp>
        <p:nvSpPr>
          <p:cNvPr id="43" name="Shape 35"/>
          <p:cNvSpPr/>
          <p:nvPr/>
        </p:nvSpPr>
        <p:spPr>
          <a:xfrm>
            <a:off x="10910888" y="6424613"/>
            <a:ext cx="95250" cy="161925"/>
          </a:xfrm>
          <a:prstGeom prst="roundRect">
            <a:avLst>
              <a:gd name="adj" fmla="val 25000"/>
            </a:avLst>
          </a:prstGeom>
          <a:ln w="19050">
            <a:solidFill>
              <a:srgbClr val="FFFFFF"/>
            </a:solidFill>
            <a:prstDash val="solid"/>
          </a:ln>
        </p:spPr>
      </p:sp>
      <p:sp>
        <p:nvSpPr>
          <p:cNvPr id="44"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45"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46" name="text pno"/>
          <p:cNvSpPr txBox="1"/>
          <p:nvPr/>
        </p:nvSpPr>
        <p:spPr>
          <a:xfrm>
            <a:off x="10522595" y="6416252"/>
            <a:ext cx="240655" cy="169121"/>
          </a:xfrm>
          <a:prstGeom prst="rect">
            <a:avLst/>
          </a:prstGeom>
          <a:noFill/>
          <a:ln/>
        </p:spPr>
        <p:txBody>
          <a:bodyPr wrap="none" lIns="0" tIns="0" rIns="0" bIns="0" rtlCol="0" anchor="ctr"/>
          <a:lstStyle/>
          <a:p>
            <a:pPr algn="l" indent="0" marL="0">
              <a:buNone/>
            </a:pPr>
            <a:r>
              <a:rPr lang="en-US" sz="920" b="1" dirty="0">
                <a:solidFill>
                  <a:srgbClr val="CBD5E1"/>
                </a:solidFill>
                <a:latin typeface="Segoe UI" pitchFamily="34" charset="0"/>
                <a:ea typeface="Segoe UI" pitchFamily="34" charset="-122"/>
                <a:cs typeface="Segoe UI" pitchFamily="34" charset="-120"/>
              </a:rPr>
              <a:t>18</a:t>
            </a:r>
            <a:endParaRPr lang="en-US" sz="9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6048277"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DEMO GIẢI PHÁP CHI TIẾT 2 · AI TƯ VẤN DU LỊCH VÀ BOOKING ONLINE · ③ ĐẶT BÀN</a:t>
            </a:r>
            <a:endParaRPr lang="en-US" sz="1050" dirty="0"/>
          </a:p>
        </p:txBody>
      </p:sp>
      <p:sp>
        <p:nvSpPr>
          <p:cNvPr id="3" name="text title"/>
          <p:cNvSpPr txBox="1"/>
          <p:nvPr/>
        </p:nvSpPr>
        <p:spPr>
          <a:xfrm>
            <a:off x="609600" y="581263"/>
            <a:ext cx="9480771"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Đặt bàn, cọc bằng thẻ quốc tế, </a:t>
            </a:r>
            <a:pPr algn="l" indent="0" marL="0">
              <a:buNone/>
            </a:pPr>
            <a:r>
              <a:rPr lang="en-US" sz="2330" b="1" spc="-30" kern="0" dirty="0">
                <a:solidFill>
                  <a:srgbClr val="E11D48"/>
                </a:solidFill>
                <a:latin typeface="Segoe UI" pitchFamily="34" charset="0"/>
                <a:ea typeface="Segoe UI" pitchFamily="34" charset="-122"/>
                <a:cs typeface="Segoe UI" pitchFamily="34" charset="-120"/>
              </a:rPr>
              <a:t>quán xác nhận ngay trên Tendoo</a:t>
            </a:r>
            <a:endParaRPr lang="en-US" sz="2330" dirty="0"/>
          </a:p>
        </p:txBody>
      </p:sp>
      <p:sp>
        <p:nvSpPr>
          <p:cNvPr id="4" name="text persona"/>
          <p:cNvSpPr txBox="1"/>
          <p:nvPr/>
        </p:nvSpPr>
        <p:spPr>
          <a:xfrm>
            <a:off x="609600" y="1169670"/>
            <a:ext cx="9812063" cy="200263"/>
          </a:xfrm>
          <a:prstGeom prst="rect">
            <a:avLst/>
          </a:prstGeom>
          <a:noFill/>
          <a:ln/>
        </p:spPr>
        <p:txBody>
          <a:bodyPr wrap="none" lIns="0" tIns="0" rIns="0" bIns="0" rtlCol="0" anchor="ctr"/>
          <a:lstStyle/>
          <a:p>
            <a:pPr algn="l" indent="0" marL="0">
              <a:buNone/>
            </a:pPr>
            <a:r>
              <a:rPr lang="en-US" sz="1090" dirty="0">
                <a:solidFill>
                  <a:srgbClr val="334155"/>
                </a:solidFill>
                <a:latin typeface="Segoe UI Semibold" pitchFamily="34" charset="0"/>
                <a:ea typeface="Segoe UI Semibold" pitchFamily="34" charset="-122"/>
                <a:cs typeface="Segoe UI Semibold" pitchFamily="34" charset="-120"/>
              </a:rPr>
              <a:t>Minji chọn Quán Hải Sản Cô Ba. Hỏi tư vấn không cần đăng nhập; đến lúc chốt đặt bàn, Minji mới điền thông tin và đặt cọc bằng thẻ quốc tế.</a:t>
            </a:r>
            <a:endParaRPr lang="en-US" sz="1090" dirty="0"/>
          </a:p>
        </p:txBody>
      </p:sp>
      <p:pic>
        <p:nvPicPr>
          <p:cNvPr id="5" name="image" descr="Chọn quán, giờ và số người: 19:00 tối nay, 2 người">    </p:cNvPr>
          <p:cNvPicPr>
            <a:picLocks noChangeAspect="1"/>
          </p:cNvPicPr>
          <p:nvPr/>
        </p:nvPicPr>
        <p:blipFill>
          <a:blip r:embed="rId1"/>
          <a:stretch>
            <a:fillRect/>
          </a:stretch>
        </p:blipFill>
        <p:spPr>
          <a:xfrm>
            <a:off x="685800" y="1503313"/>
            <a:ext cx="1676400" cy="3410843"/>
          </a:xfrm>
          <a:prstGeom prst="rect">
            <a:avLst/>
          </a:prstGeom>
        </p:spPr>
      </p:pic>
      <p:sp>
        <p:nvSpPr>
          <p:cNvPr id="6" name="pill grey"/>
          <p:cNvSpPr/>
          <p:nvPr/>
        </p:nvSpPr>
        <p:spPr>
          <a:xfrm>
            <a:off x="985689" y="4995118"/>
            <a:ext cx="1076474" cy="219075"/>
          </a:xfrm>
          <a:prstGeom prst="roundRect">
            <a:avLst>
              <a:gd name="adj" fmla="val 50000"/>
            </a:avLst>
          </a:prstGeom>
          <a:solidFill>
            <a:srgbClr val="F1F5F9"/>
          </a:solidFill>
          <a:ln w="9525">
            <a:solidFill>
              <a:srgbClr val="E2E8F0"/>
            </a:solidFill>
            <a:prstDash val="solid"/>
          </a:ln>
        </p:spPr>
      </p:sp>
      <p:sp>
        <p:nvSpPr>
          <p:cNvPr id="7" name="text pill grey"/>
          <p:cNvSpPr txBox="1"/>
          <p:nvPr/>
        </p:nvSpPr>
        <p:spPr>
          <a:xfrm>
            <a:off x="1095226" y="5025230"/>
            <a:ext cx="971699" cy="158851"/>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Minji</a:t>
            </a:r>
            <a:endParaRPr lang="en-US" sz="860" dirty="0"/>
          </a:p>
        </p:txBody>
      </p:sp>
      <p:sp>
        <p:nvSpPr>
          <p:cNvPr id="8" name="Shape 5"/>
          <p:cNvSpPr/>
          <p:nvPr/>
        </p:nvSpPr>
        <p:spPr>
          <a:xfrm>
            <a:off x="685800" y="5295156"/>
            <a:ext cx="190500" cy="190500"/>
          </a:xfrm>
          <a:prstGeom prst="ellipse">
            <a:avLst/>
          </a:prstGeom>
          <a:solidFill>
            <a:srgbClr val="E11D48"/>
          </a:solidFill>
          <a:ln/>
        </p:spPr>
      </p:sp>
      <p:sp>
        <p:nvSpPr>
          <p:cNvPr id="9" name="text i"/>
          <p:cNvSpPr txBox="1"/>
          <p:nvPr/>
        </p:nvSpPr>
        <p:spPr>
          <a:xfrm>
            <a:off x="757833" y="5308789"/>
            <a:ext cx="16058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1</a:t>
            </a:r>
            <a:endParaRPr lang="en-US" sz="830" dirty="0"/>
          </a:p>
        </p:txBody>
      </p:sp>
      <p:sp>
        <p:nvSpPr>
          <p:cNvPr id="10" name="text span"/>
          <p:cNvSpPr txBox="1"/>
          <p:nvPr/>
        </p:nvSpPr>
        <p:spPr>
          <a:xfrm>
            <a:off x="952500" y="52939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Chọn quán, giờ và số người: 19:00 tối nay, 2 người</a:t>
            </a:r>
            <a:endParaRPr lang="en-US" sz="940" dirty="0"/>
          </a:p>
        </p:txBody>
      </p:sp>
      <p:pic>
        <p:nvPicPr>
          <p:cNvPr id="11" name="image" descr="Đến lúc chốt mới điền tên, số điện thoại, email">    </p:cNvPr>
          <p:cNvPicPr>
            <a:picLocks noChangeAspect="1"/>
          </p:cNvPicPr>
          <p:nvPr/>
        </p:nvPicPr>
        <p:blipFill>
          <a:blip r:embed="rId2"/>
          <a:stretch>
            <a:fillRect/>
          </a:stretch>
        </p:blipFill>
        <p:spPr>
          <a:xfrm>
            <a:off x="2514600" y="1503313"/>
            <a:ext cx="1676400" cy="3410843"/>
          </a:xfrm>
          <a:prstGeom prst="rect">
            <a:avLst/>
          </a:prstGeom>
        </p:spPr>
      </p:pic>
      <p:sp>
        <p:nvSpPr>
          <p:cNvPr id="12" name="pill grey"/>
          <p:cNvSpPr/>
          <p:nvPr/>
        </p:nvSpPr>
        <p:spPr>
          <a:xfrm>
            <a:off x="2814489" y="4995118"/>
            <a:ext cx="1076474" cy="219075"/>
          </a:xfrm>
          <a:prstGeom prst="roundRect">
            <a:avLst>
              <a:gd name="adj" fmla="val 50000"/>
            </a:avLst>
          </a:prstGeom>
          <a:solidFill>
            <a:srgbClr val="F1F5F9"/>
          </a:solidFill>
          <a:ln w="9525">
            <a:solidFill>
              <a:srgbClr val="E2E8F0"/>
            </a:solidFill>
            <a:prstDash val="solid"/>
          </a:ln>
        </p:spPr>
      </p:sp>
      <p:sp>
        <p:nvSpPr>
          <p:cNvPr id="13" name="text pill grey"/>
          <p:cNvSpPr txBox="1"/>
          <p:nvPr/>
        </p:nvSpPr>
        <p:spPr>
          <a:xfrm>
            <a:off x="2924026" y="5025230"/>
            <a:ext cx="971699" cy="158851"/>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Minji</a:t>
            </a:r>
            <a:endParaRPr lang="en-US" sz="860" dirty="0"/>
          </a:p>
        </p:txBody>
      </p:sp>
      <p:sp>
        <p:nvSpPr>
          <p:cNvPr id="14" name="Shape 10"/>
          <p:cNvSpPr/>
          <p:nvPr/>
        </p:nvSpPr>
        <p:spPr>
          <a:xfrm>
            <a:off x="2514600" y="5295156"/>
            <a:ext cx="190500" cy="190500"/>
          </a:xfrm>
          <a:prstGeom prst="ellipse">
            <a:avLst/>
          </a:prstGeom>
          <a:solidFill>
            <a:srgbClr val="E11D48"/>
          </a:solidFill>
          <a:ln/>
        </p:spPr>
      </p:sp>
      <p:sp>
        <p:nvSpPr>
          <p:cNvPr id="15" name="text i"/>
          <p:cNvSpPr txBox="1"/>
          <p:nvPr/>
        </p:nvSpPr>
        <p:spPr>
          <a:xfrm>
            <a:off x="2576364" y="5308789"/>
            <a:ext cx="18112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2</a:t>
            </a:r>
            <a:endParaRPr lang="en-US" sz="830" dirty="0"/>
          </a:p>
        </p:txBody>
      </p:sp>
      <p:sp>
        <p:nvSpPr>
          <p:cNvPr id="16" name="text span"/>
          <p:cNvSpPr txBox="1"/>
          <p:nvPr/>
        </p:nvSpPr>
        <p:spPr>
          <a:xfrm>
            <a:off x="2781300" y="5293965"/>
            <a:ext cx="14478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Đến lúc chốt mới điền tên, số điện thoại, email</a:t>
            </a:r>
            <a:endParaRPr lang="en-US" sz="940" dirty="0"/>
          </a:p>
        </p:txBody>
      </p:sp>
      <p:pic>
        <p:nvPicPr>
          <p:cNvPr id="17" name="image" descr="Đặt cọc, hoặc trả trước toàn bộ, bằng thẻ quốc tế">    </p:cNvPr>
          <p:cNvPicPr>
            <a:picLocks noChangeAspect="1"/>
          </p:cNvPicPr>
          <p:nvPr/>
        </p:nvPicPr>
        <p:blipFill>
          <a:blip r:embed="rId3"/>
          <a:stretch>
            <a:fillRect/>
          </a:stretch>
        </p:blipFill>
        <p:spPr>
          <a:xfrm>
            <a:off x="4343400" y="1503313"/>
            <a:ext cx="1676400" cy="3410843"/>
          </a:xfrm>
          <a:prstGeom prst="rect">
            <a:avLst/>
          </a:prstGeom>
        </p:spPr>
      </p:pic>
      <p:sp>
        <p:nvSpPr>
          <p:cNvPr id="18" name="pill grey"/>
          <p:cNvSpPr/>
          <p:nvPr/>
        </p:nvSpPr>
        <p:spPr>
          <a:xfrm>
            <a:off x="4643289" y="4995118"/>
            <a:ext cx="1076474" cy="219075"/>
          </a:xfrm>
          <a:prstGeom prst="roundRect">
            <a:avLst>
              <a:gd name="adj" fmla="val 50000"/>
            </a:avLst>
          </a:prstGeom>
          <a:solidFill>
            <a:srgbClr val="F1F5F9"/>
          </a:solidFill>
          <a:ln w="9525">
            <a:solidFill>
              <a:srgbClr val="E2E8F0"/>
            </a:solidFill>
            <a:prstDash val="solid"/>
          </a:ln>
        </p:spPr>
      </p:sp>
      <p:sp>
        <p:nvSpPr>
          <p:cNvPr id="19" name="text pill grey"/>
          <p:cNvSpPr txBox="1"/>
          <p:nvPr/>
        </p:nvSpPr>
        <p:spPr>
          <a:xfrm>
            <a:off x="4752826" y="5025230"/>
            <a:ext cx="971699" cy="158851"/>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Minji</a:t>
            </a:r>
            <a:endParaRPr lang="en-US" sz="860" dirty="0"/>
          </a:p>
        </p:txBody>
      </p:sp>
      <p:sp>
        <p:nvSpPr>
          <p:cNvPr id="20" name="Shape 15"/>
          <p:cNvSpPr/>
          <p:nvPr/>
        </p:nvSpPr>
        <p:spPr>
          <a:xfrm>
            <a:off x="4343400" y="5295156"/>
            <a:ext cx="190500" cy="190500"/>
          </a:xfrm>
          <a:prstGeom prst="ellipse">
            <a:avLst/>
          </a:prstGeom>
          <a:solidFill>
            <a:srgbClr val="E11D48"/>
          </a:solidFill>
          <a:ln/>
        </p:spPr>
      </p:sp>
      <p:sp>
        <p:nvSpPr>
          <p:cNvPr id="21" name="text i"/>
          <p:cNvSpPr txBox="1"/>
          <p:nvPr/>
        </p:nvSpPr>
        <p:spPr>
          <a:xfrm>
            <a:off x="4404122" y="5308789"/>
            <a:ext cx="183207"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3</a:t>
            </a:r>
            <a:endParaRPr lang="en-US" sz="830" dirty="0"/>
          </a:p>
        </p:txBody>
      </p:sp>
      <p:sp>
        <p:nvSpPr>
          <p:cNvPr id="22" name="text span"/>
          <p:cNvSpPr txBox="1"/>
          <p:nvPr/>
        </p:nvSpPr>
        <p:spPr>
          <a:xfrm>
            <a:off x="4610100" y="52939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Đặt cọc, hoặc trả trước toàn bộ, bằng thẻ quốc tế</a:t>
            </a:r>
            <a:endParaRPr lang="en-US" sz="940" dirty="0"/>
          </a:p>
        </p:txBody>
      </p:sp>
      <p:pic>
        <p:nvPicPr>
          <p:cNvPr id="23" name="image" descr="Quán thấy lượt đặt mới trong Tendoo: khách, giờ, số người, tiền cọc">    </p:cNvPr>
          <p:cNvPicPr>
            <a:picLocks noChangeAspect="1"/>
          </p:cNvPicPr>
          <p:nvPr/>
        </p:nvPicPr>
        <p:blipFill>
          <a:blip r:embed="rId4"/>
          <a:stretch>
            <a:fillRect/>
          </a:stretch>
        </p:blipFill>
        <p:spPr>
          <a:xfrm>
            <a:off x="6172200" y="1503313"/>
            <a:ext cx="1676400" cy="3410843"/>
          </a:xfrm>
          <a:prstGeom prst="rect">
            <a:avLst/>
          </a:prstGeom>
        </p:spPr>
      </p:pic>
      <p:sp>
        <p:nvSpPr>
          <p:cNvPr id="24" name="pill red"/>
          <p:cNvSpPr/>
          <p:nvPr/>
        </p:nvSpPr>
        <p:spPr>
          <a:xfrm>
            <a:off x="6429077" y="4995118"/>
            <a:ext cx="1162645" cy="219075"/>
          </a:xfrm>
          <a:prstGeom prst="roundRect">
            <a:avLst>
              <a:gd name="adj" fmla="val 50000"/>
            </a:avLst>
          </a:prstGeom>
          <a:solidFill>
            <a:srgbClr val="FFE4E6"/>
          </a:solidFill>
          <a:ln w="9525">
            <a:solidFill>
              <a:srgbClr val="FECDD3"/>
            </a:solidFill>
            <a:prstDash val="solid"/>
          </a:ln>
        </p:spPr>
      </p:sp>
      <p:sp>
        <p:nvSpPr>
          <p:cNvPr id="25" name="text pill red"/>
          <p:cNvSpPr txBox="1"/>
          <p:nvPr/>
        </p:nvSpPr>
        <p:spPr>
          <a:xfrm>
            <a:off x="6538615" y="5025201"/>
            <a:ext cx="1057870" cy="158910"/>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Tendoo của quán</a:t>
            </a:r>
            <a:endParaRPr lang="en-US" sz="860" dirty="0"/>
          </a:p>
        </p:txBody>
      </p:sp>
      <p:sp>
        <p:nvSpPr>
          <p:cNvPr id="26" name="Shape 20"/>
          <p:cNvSpPr/>
          <p:nvPr/>
        </p:nvSpPr>
        <p:spPr>
          <a:xfrm>
            <a:off x="6172200" y="5295156"/>
            <a:ext cx="190500" cy="190500"/>
          </a:xfrm>
          <a:prstGeom prst="ellipse">
            <a:avLst/>
          </a:prstGeom>
          <a:solidFill>
            <a:srgbClr val="E11D48"/>
          </a:solidFill>
          <a:ln/>
        </p:spPr>
      </p:sp>
      <p:sp>
        <p:nvSpPr>
          <p:cNvPr id="27" name="text i"/>
          <p:cNvSpPr txBox="1"/>
          <p:nvPr/>
        </p:nvSpPr>
        <p:spPr>
          <a:xfrm>
            <a:off x="6231285" y="5308789"/>
            <a:ext cx="186482"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4</a:t>
            </a:r>
            <a:endParaRPr lang="en-US" sz="830" dirty="0"/>
          </a:p>
        </p:txBody>
      </p:sp>
      <p:sp>
        <p:nvSpPr>
          <p:cNvPr id="28" name="text span"/>
          <p:cNvSpPr txBox="1"/>
          <p:nvPr/>
        </p:nvSpPr>
        <p:spPr>
          <a:xfrm>
            <a:off x="6438900" y="52939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Quán thấy lượt đặt mới trong Tendoo: khách, giờ, số người, tiền cọc</a:t>
            </a:r>
            <a:endParaRPr lang="en-US" sz="940" dirty="0"/>
          </a:p>
        </p:txBody>
      </p:sp>
      <p:pic>
        <p:nvPicPr>
          <p:cNvPr id="29" name="image" descr="Quán bấm Xác nhận, lượt đặt vào lịch hôm nay">    </p:cNvPr>
          <p:cNvPicPr>
            <a:picLocks noChangeAspect="1"/>
          </p:cNvPicPr>
          <p:nvPr/>
        </p:nvPicPr>
        <p:blipFill>
          <a:blip r:embed="rId5"/>
          <a:stretch>
            <a:fillRect/>
          </a:stretch>
        </p:blipFill>
        <p:spPr>
          <a:xfrm>
            <a:off x="8001000" y="1503313"/>
            <a:ext cx="1676400" cy="3410843"/>
          </a:xfrm>
          <a:prstGeom prst="rect">
            <a:avLst/>
          </a:prstGeom>
        </p:spPr>
      </p:pic>
      <p:sp>
        <p:nvSpPr>
          <p:cNvPr id="30" name="pill red"/>
          <p:cNvSpPr/>
          <p:nvPr/>
        </p:nvSpPr>
        <p:spPr>
          <a:xfrm>
            <a:off x="8257877" y="4995118"/>
            <a:ext cx="1162645" cy="219075"/>
          </a:xfrm>
          <a:prstGeom prst="roundRect">
            <a:avLst>
              <a:gd name="adj" fmla="val 50000"/>
            </a:avLst>
          </a:prstGeom>
          <a:solidFill>
            <a:srgbClr val="FFE4E6"/>
          </a:solidFill>
          <a:ln w="9525">
            <a:solidFill>
              <a:srgbClr val="FECDD3"/>
            </a:solidFill>
            <a:prstDash val="solid"/>
          </a:ln>
        </p:spPr>
      </p:sp>
      <p:sp>
        <p:nvSpPr>
          <p:cNvPr id="31" name="text pill red"/>
          <p:cNvSpPr txBox="1"/>
          <p:nvPr/>
        </p:nvSpPr>
        <p:spPr>
          <a:xfrm>
            <a:off x="8367415" y="5025201"/>
            <a:ext cx="1057870" cy="158910"/>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Tendoo của quán</a:t>
            </a:r>
            <a:endParaRPr lang="en-US" sz="860" dirty="0"/>
          </a:p>
        </p:txBody>
      </p:sp>
      <p:sp>
        <p:nvSpPr>
          <p:cNvPr id="32" name="Shape 25"/>
          <p:cNvSpPr/>
          <p:nvPr/>
        </p:nvSpPr>
        <p:spPr>
          <a:xfrm>
            <a:off x="8001000" y="5295156"/>
            <a:ext cx="190500" cy="190500"/>
          </a:xfrm>
          <a:prstGeom prst="ellipse">
            <a:avLst/>
          </a:prstGeom>
          <a:solidFill>
            <a:srgbClr val="E11D48"/>
          </a:solidFill>
          <a:ln/>
        </p:spPr>
      </p:sp>
      <p:sp>
        <p:nvSpPr>
          <p:cNvPr id="33" name="text i"/>
          <p:cNvSpPr txBox="1"/>
          <p:nvPr/>
        </p:nvSpPr>
        <p:spPr>
          <a:xfrm>
            <a:off x="8062912" y="5308789"/>
            <a:ext cx="18082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5</a:t>
            </a:r>
            <a:endParaRPr lang="en-US" sz="830" dirty="0"/>
          </a:p>
        </p:txBody>
      </p:sp>
      <p:sp>
        <p:nvSpPr>
          <p:cNvPr id="34" name="text span"/>
          <p:cNvSpPr txBox="1"/>
          <p:nvPr/>
        </p:nvSpPr>
        <p:spPr>
          <a:xfrm>
            <a:off x="8267700" y="52939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Quán bấm Xác nhận, lượt đặt vào lịch hôm nay</a:t>
            </a:r>
            <a:endParaRPr lang="en-US" sz="940" dirty="0"/>
          </a:p>
        </p:txBody>
      </p:sp>
      <p:pic>
        <p:nvPicPr>
          <p:cNvPr id="35" name="image" descr="Minji nhận thông báo bằng tiếng Hàn: bàn đã được giữ">    </p:cNvPr>
          <p:cNvPicPr>
            <a:picLocks noChangeAspect="1"/>
          </p:cNvPicPr>
          <p:nvPr/>
        </p:nvPicPr>
        <p:blipFill>
          <a:blip r:embed="rId6"/>
          <a:stretch>
            <a:fillRect/>
          </a:stretch>
        </p:blipFill>
        <p:spPr>
          <a:xfrm>
            <a:off x="9829800" y="1503313"/>
            <a:ext cx="1676400" cy="3410843"/>
          </a:xfrm>
          <a:prstGeom prst="rect">
            <a:avLst/>
          </a:prstGeom>
        </p:spPr>
      </p:pic>
      <p:sp>
        <p:nvSpPr>
          <p:cNvPr id="36" name="pill grey"/>
          <p:cNvSpPr/>
          <p:nvPr/>
        </p:nvSpPr>
        <p:spPr>
          <a:xfrm>
            <a:off x="10129689" y="4995118"/>
            <a:ext cx="1076474" cy="219075"/>
          </a:xfrm>
          <a:prstGeom prst="roundRect">
            <a:avLst>
              <a:gd name="adj" fmla="val 50000"/>
            </a:avLst>
          </a:prstGeom>
          <a:solidFill>
            <a:srgbClr val="F1F5F9"/>
          </a:solidFill>
          <a:ln w="9525">
            <a:solidFill>
              <a:srgbClr val="E2E8F0"/>
            </a:solidFill>
            <a:prstDash val="solid"/>
          </a:ln>
        </p:spPr>
      </p:sp>
      <p:sp>
        <p:nvSpPr>
          <p:cNvPr id="37" name="text pill grey"/>
          <p:cNvSpPr txBox="1"/>
          <p:nvPr/>
        </p:nvSpPr>
        <p:spPr>
          <a:xfrm>
            <a:off x="10239226" y="5025230"/>
            <a:ext cx="971699" cy="158851"/>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Minji</a:t>
            </a:r>
            <a:endParaRPr lang="en-US" sz="860" dirty="0"/>
          </a:p>
        </p:txBody>
      </p:sp>
      <p:sp>
        <p:nvSpPr>
          <p:cNvPr id="38" name="Shape 30"/>
          <p:cNvSpPr/>
          <p:nvPr/>
        </p:nvSpPr>
        <p:spPr>
          <a:xfrm>
            <a:off x="9829800" y="5295156"/>
            <a:ext cx="190500" cy="190500"/>
          </a:xfrm>
          <a:prstGeom prst="ellipse">
            <a:avLst/>
          </a:prstGeom>
          <a:solidFill>
            <a:srgbClr val="E11D48"/>
          </a:solidFill>
          <a:ln/>
        </p:spPr>
      </p:sp>
      <p:sp>
        <p:nvSpPr>
          <p:cNvPr id="39" name="text i"/>
          <p:cNvSpPr txBox="1"/>
          <p:nvPr/>
        </p:nvSpPr>
        <p:spPr>
          <a:xfrm>
            <a:off x="9890373" y="5308789"/>
            <a:ext cx="18365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6</a:t>
            </a:r>
            <a:endParaRPr lang="en-US" sz="830" dirty="0"/>
          </a:p>
        </p:txBody>
      </p:sp>
      <p:sp>
        <p:nvSpPr>
          <p:cNvPr id="40" name="text span"/>
          <p:cNvSpPr txBox="1"/>
          <p:nvPr/>
        </p:nvSpPr>
        <p:spPr>
          <a:xfrm>
            <a:off x="10096500" y="529396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Minji nhận thông báo bằng tiếng Hàn: bàn đã được giữ</a:t>
            </a:r>
            <a:endParaRPr lang="en-US" sz="940" dirty="0"/>
          </a:p>
        </p:txBody>
      </p:sp>
      <p:sp>
        <p:nvSpPr>
          <p:cNvPr id="41" name="text source"/>
          <p:cNvSpPr txBox="1"/>
          <p:nvPr/>
        </p:nvSpPr>
        <p:spPr>
          <a:xfrm>
            <a:off x="609600" y="6492601"/>
            <a:ext cx="7589255" cy="151857"/>
          </a:xfrm>
          <a:prstGeom prst="rect">
            <a:avLst/>
          </a:prstGeom>
          <a:noFill/>
          <a:ln/>
        </p:spPr>
        <p:txBody>
          <a:bodyPr wrap="none" lIns="0" tIns="0" rIns="0" bIns="0" rtlCol="0" anchor="ctr"/>
          <a:lstStyle/>
          <a:p>
            <a:pPr algn="l" indent="0" marL="0">
              <a:buNone/>
            </a:pPr>
            <a:r>
              <a:rPr lang="en-US" sz="820" dirty="0">
                <a:solidFill>
                  <a:srgbClr val="94A3B8"/>
                </a:solidFill>
                <a:latin typeface="Segoe UI Semibold" pitchFamily="34" charset="0"/>
                <a:ea typeface="Segoe UI Semibold" pitchFamily="34" charset="-122"/>
                <a:cs typeface="Segoe UI Semibold" pitchFamily="34" charset="-120"/>
              </a:rPr>
              <a:t>Minh họa. Minji, các quán và khách sạn trong demo đều là giả định. Dòng chữ nghiêng nhỏ trên màn hình là bản dịch tiếng Việt cho người xem.</a:t>
            </a:r>
            <a:endParaRPr lang="en-US" sz="820" dirty="0"/>
          </a:p>
        </p:txBody>
      </p:sp>
      <p:sp>
        <p:nvSpPr>
          <p:cNvPr id="42" name="mk"/>
          <p:cNvSpPr/>
          <p:nvPr/>
        </p:nvSpPr>
        <p:spPr>
          <a:xfrm>
            <a:off x="10796588" y="6343650"/>
            <a:ext cx="323850" cy="323850"/>
          </a:xfrm>
          <a:prstGeom prst="ellipse">
            <a:avLst/>
          </a:prstGeom>
          <a:solidFill>
            <a:srgbClr val="F0001E"/>
          </a:solidFill>
          <a:ln/>
        </p:spPr>
      </p:sp>
      <p:sp>
        <p:nvSpPr>
          <p:cNvPr id="43" name="Shape 35"/>
          <p:cNvSpPr/>
          <p:nvPr/>
        </p:nvSpPr>
        <p:spPr>
          <a:xfrm>
            <a:off x="10910888" y="6424613"/>
            <a:ext cx="95250" cy="161925"/>
          </a:xfrm>
          <a:prstGeom prst="roundRect">
            <a:avLst>
              <a:gd name="adj" fmla="val 25000"/>
            </a:avLst>
          </a:prstGeom>
          <a:ln w="19050">
            <a:solidFill>
              <a:srgbClr val="FFFFFF"/>
            </a:solidFill>
            <a:prstDash val="solid"/>
          </a:ln>
        </p:spPr>
      </p:sp>
      <p:sp>
        <p:nvSpPr>
          <p:cNvPr id="44"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45"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46" name="text pno"/>
          <p:cNvSpPr txBox="1"/>
          <p:nvPr/>
        </p:nvSpPr>
        <p:spPr>
          <a:xfrm>
            <a:off x="10522744" y="6416351"/>
            <a:ext cx="240506" cy="168922"/>
          </a:xfrm>
          <a:prstGeom prst="rect">
            <a:avLst/>
          </a:prstGeom>
          <a:noFill/>
          <a:ln/>
        </p:spPr>
        <p:txBody>
          <a:bodyPr wrap="none" lIns="0" tIns="0" rIns="0" bIns="0" rtlCol="0" anchor="ctr"/>
          <a:lstStyle/>
          <a:p>
            <a:pPr algn="l" indent="0" marL="0">
              <a:buNone/>
            </a:pPr>
            <a:r>
              <a:rPr lang="en-US" sz="920" b="1" dirty="0">
                <a:solidFill>
                  <a:srgbClr val="CBD5E1"/>
                </a:solidFill>
                <a:latin typeface="Segoe UI" pitchFamily="34" charset="0"/>
                <a:ea typeface="Segoe UI" pitchFamily="34" charset="-122"/>
                <a:cs typeface="Segoe UI" pitchFamily="34" charset="-120"/>
              </a:rPr>
              <a:t>19</a:t>
            </a:r>
            <a:endParaRPr lang="en-US" sz="9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graphic svg" descr="svg">    </p:cNvPr>
          <p:cNvPicPr>
            <a:picLocks noChangeAspect="1"/>
          </p:cNvPicPr>
          <p:nvPr/>
        </p:nvPicPr>
        <p:blipFill>
          <a:blip r:embed="rId2"/>
          <a:stretch>
            <a:fillRect/>
          </a:stretch>
        </p:blipFill>
        <p:spPr>
          <a:xfrm>
            <a:off x="0" y="0"/>
            <a:ext cx="12192000" cy="6858000"/>
          </a:xfrm>
          <a:prstGeom prst="rect">
            <a:avLst/>
          </a:prstGeom>
        </p:spPr>
      </p:pic>
      <p:sp>
        <p:nvSpPr>
          <p:cNvPr id="3" name="text dnum"/>
          <p:cNvSpPr txBox="1"/>
          <p:nvPr/>
        </p:nvSpPr>
        <p:spPr>
          <a:xfrm>
            <a:off x="742950" y="3371500"/>
            <a:ext cx="2488945" cy="2067625"/>
          </a:xfrm>
          <a:prstGeom prst="rect">
            <a:avLst/>
          </a:prstGeom>
          <a:noFill/>
          <a:ln/>
        </p:spPr>
        <p:txBody>
          <a:bodyPr wrap="none" lIns="0" tIns="0" rIns="0" bIns="0" rtlCol="0" anchor="ctr"/>
          <a:lstStyle/>
          <a:p>
            <a:pPr algn="l" indent="0" marL="0">
              <a:buNone/>
            </a:pPr>
            <a:r>
              <a:rPr lang="en-US" sz="11230" spc="-340" kern="0" dirty="0">
                <a:solidFill>
                  <a:srgbClr val="F0001E"/>
                </a:solidFill>
                <a:latin typeface="Segoe UI Black" pitchFamily="34" charset="0"/>
                <a:ea typeface="Segoe UI Black" pitchFamily="34" charset="-122"/>
                <a:cs typeface="Segoe UI Black" pitchFamily="34" charset="-120"/>
              </a:rPr>
              <a:t>03.</a:t>
            </a:r>
            <a:endParaRPr lang="en-US" sz="11230" dirty="0"/>
          </a:p>
        </p:txBody>
      </p:sp>
      <p:sp>
        <p:nvSpPr>
          <p:cNvPr id="4" name="text dtitle"/>
          <p:cNvSpPr txBox="1"/>
          <p:nvPr/>
        </p:nvSpPr>
        <p:spPr>
          <a:xfrm>
            <a:off x="781050" y="5274932"/>
            <a:ext cx="8966008" cy="718210"/>
          </a:xfrm>
          <a:prstGeom prst="rect">
            <a:avLst/>
          </a:prstGeom>
          <a:noFill/>
          <a:ln/>
        </p:spPr>
        <p:txBody>
          <a:bodyPr wrap="none" lIns="0" tIns="0" rIns="0" bIns="0" rtlCol="0" anchor="ctr"/>
          <a:lstStyle/>
          <a:p>
            <a:pPr algn="l" indent="0" marL="0">
              <a:buNone/>
            </a:pPr>
            <a:r>
              <a:rPr lang="en-US" sz="3900" b="1" spc="-80" kern="0" dirty="0">
                <a:solidFill>
                  <a:srgbClr val="0F172A"/>
                </a:solidFill>
                <a:latin typeface="Segoe UI" pitchFamily="34" charset="0"/>
                <a:ea typeface="Segoe UI" pitchFamily="34" charset="-122"/>
                <a:cs typeface="Segoe UI" pitchFamily="34" charset="-120"/>
              </a:rPr>
              <a:t>Mô hình hợp tác và lộ trình triển khai</a:t>
            </a:r>
            <a:endParaRPr lang="en-US" sz="3900" dirty="0"/>
          </a:p>
        </p:txBody>
      </p:sp>
      <p:sp>
        <p:nvSpPr>
          <p:cNvPr id="5" name="mk"/>
          <p:cNvSpPr/>
          <p:nvPr/>
        </p:nvSpPr>
        <p:spPr>
          <a:xfrm>
            <a:off x="10796588" y="6343650"/>
            <a:ext cx="323850" cy="323850"/>
          </a:xfrm>
          <a:prstGeom prst="ellipse">
            <a:avLst/>
          </a:prstGeom>
          <a:solidFill>
            <a:srgbClr val="F0001E"/>
          </a:solidFill>
          <a:ln/>
        </p:spPr>
      </p:sp>
      <p:sp>
        <p:nvSpPr>
          <p:cNvPr id="6" name="Shape 3"/>
          <p:cNvSpPr/>
          <p:nvPr/>
        </p:nvSpPr>
        <p:spPr>
          <a:xfrm>
            <a:off x="10910888" y="6424613"/>
            <a:ext cx="95250" cy="161925"/>
          </a:xfrm>
          <a:prstGeom prst="roundRect">
            <a:avLst>
              <a:gd name="adj" fmla="val 25000"/>
            </a:avLst>
          </a:prstGeom>
          <a:ln w="19050">
            <a:solidFill>
              <a:srgbClr val="FFFFFF"/>
            </a:solidFill>
            <a:prstDash val="solid"/>
          </a:ln>
        </p:spPr>
      </p:sp>
      <p:sp>
        <p:nvSpPr>
          <p:cNvPr id="7"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8"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3095839"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MÔ HÌNH HỢP TÁC · PHÂN VAI VTT VÀ VDF</a:t>
            </a:r>
            <a:endParaRPr lang="en-US" sz="1050" dirty="0"/>
          </a:p>
        </p:txBody>
      </p:sp>
      <p:sp>
        <p:nvSpPr>
          <p:cNvPr id="3" name="text title"/>
          <p:cNvSpPr txBox="1"/>
          <p:nvPr/>
        </p:nvSpPr>
        <p:spPr>
          <a:xfrm>
            <a:off x="609600" y="581263"/>
            <a:ext cx="8840275"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VDF lo giải pháp và dòng tiền, </a:t>
            </a:r>
            <a:pPr algn="l" indent="0" marL="0">
              <a:buNone/>
            </a:pPr>
            <a:r>
              <a:rPr lang="en-US" sz="2330" b="1" spc="-30" kern="0" dirty="0">
                <a:solidFill>
                  <a:srgbClr val="E11D48"/>
                </a:solidFill>
                <a:latin typeface="Segoe UI" pitchFamily="34" charset="0"/>
                <a:ea typeface="Segoe UI" pitchFamily="34" charset="-122"/>
                <a:cs typeface="Segoe UI" pitchFamily="34" charset="-120"/>
              </a:rPr>
              <a:t>VTT lo merchant trên Tendoo</a:t>
            </a:r>
            <a:endParaRPr lang="en-US" sz="2330" dirty="0"/>
          </a:p>
        </p:txBody>
      </p:sp>
      <p:sp>
        <p:nvSpPr>
          <p:cNvPr id="4" name="pvl off"/>
          <p:cNvSpPr/>
          <p:nvPr/>
        </p:nvSpPr>
        <p:spPr>
          <a:xfrm>
            <a:off x="614363" y="1174552"/>
            <a:ext cx="10963275" cy="2415480"/>
          </a:xfrm>
          <a:prstGeom prst="roundRect">
            <a:avLst>
              <a:gd name="adj" fmla="val 5323"/>
            </a:avLst>
          </a:prstGeom>
          <a:solidFill>
            <a:srgbClr val="FFFFFF"/>
          </a:solidFill>
          <a:ln w="9525">
            <a:solidFill>
              <a:srgbClr val="E2E8F0"/>
            </a:solidFill>
            <a:prstDash val="solid"/>
          </a:ln>
        </p:spPr>
      </p:sp>
      <p:sp>
        <p:nvSpPr>
          <p:cNvPr id="5" name="pvh"/>
          <p:cNvSpPr/>
          <p:nvPr/>
        </p:nvSpPr>
        <p:spPr>
          <a:xfrm>
            <a:off x="619125" y="1179314"/>
            <a:ext cx="1581150" cy="2405955"/>
          </a:xfrm>
          <a:prstGeom prst="rect">
            <a:avLst/>
          </a:prstGeom>
          <a:solidFill>
            <a:srgbClr val="E11D48"/>
          </a:solidFill>
          <a:ln/>
        </p:spPr>
      </p:sp>
      <p:sp>
        <p:nvSpPr>
          <p:cNvPr id="6" name="text b"/>
          <p:cNvSpPr txBox="1"/>
          <p:nvPr/>
        </p:nvSpPr>
        <p:spPr>
          <a:xfrm>
            <a:off x="790575" y="2072729"/>
            <a:ext cx="999530" cy="276225"/>
          </a:xfrm>
          <a:prstGeom prst="rect">
            <a:avLst/>
          </a:prstGeom>
          <a:noFill/>
          <a:ln/>
        </p:spPr>
        <p:txBody>
          <a:bodyPr wrap="none" lIns="0" tIns="0" rIns="0" bIns="0" rtlCol="0" anchor="ctr"/>
          <a:lstStyle/>
          <a:p>
            <a:pPr algn="l" indent="0" marL="0">
              <a:buNone/>
            </a:pPr>
            <a:r>
              <a:rPr lang="en-US" sz="1500" dirty="0">
                <a:solidFill>
                  <a:srgbClr val="FFFFFF"/>
                </a:solidFill>
                <a:latin typeface="Segoe UI Black" pitchFamily="34" charset="0"/>
                <a:ea typeface="Segoe UI Black" pitchFamily="34" charset="-122"/>
                <a:cs typeface="Segoe UI Black" pitchFamily="34" charset="-120"/>
              </a:rPr>
              <a:t>1 · Offline</a:t>
            </a:r>
            <a:endParaRPr lang="en-US" sz="1500" dirty="0"/>
          </a:p>
        </p:txBody>
      </p:sp>
      <p:sp>
        <p:nvSpPr>
          <p:cNvPr id="7" name="text span"/>
          <p:cNvSpPr txBox="1"/>
          <p:nvPr/>
        </p:nvSpPr>
        <p:spPr>
          <a:xfrm>
            <a:off x="790575" y="2360861"/>
            <a:ext cx="1276350" cy="309562"/>
          </a:xfrm>
          <a:prstGeom prst="rect">
            <a:avLst/>
          </a:prstGeom>
          <a:noFill/>
          <a:ln/>
        </p:spPr>
        <p:txBody>
          <a:bodyPr wrap="square" lIns="0" tIns="0" rIns="0" bIns="0" rtlCol="0" anchor="ctr"/>
          <a:lstStyle/>
          <a:p>
            <a:pPr algn="l" indent="0" marL="0">
              <a:lnSpc>
                <a:spcPts val="1220"/>
              </a:lnSpc>
              <a:buNone/>
            </a:pPr>
            <a:r>
              <a:rPr lang="en-US" sz="980" b="1" dirty="0">
                <a:solidFill>
                  <a:srgbClr val="FFFFFF">
                    <a:alpha val="72000"/>
                  </a:srgbClr>
                </a:solidFill>
                <a:latin typeface="Segoe UI" pitchFamily="34" charset="0"/>
                <a:ea typeface="Segoe UI" pitchFamily="34" charset="-122"/>
                <a:cs typeface="Segoe UI" pitchFamily="34" charset="-120"/>
              </a:rPr>
              <a:t>Visa Accept, VietQR Global</a:t>
            </a:r>
            <a:endParaRPr lang="en-US" sz="980" dirty="0"/>
          </a:p>
        </p:txBody>
      </p:sp>
      <p:pic>
        <p:nvPicPr>
          <p:cNvPr id="8" name="graphic svg" descr="svg">    </p:cNvPr>
          <p:cNvPicPr>
            <a:picLocks noChangeAspect="1"/>
          </p:cNvPicPr>
          <p:nvPr/>
        </p:nvPicPr>
        <p:blipFill>
          <a:blip r:embed="rId1"/>
          <a:stretch>
            <a:fillRect/>
          </a:stretch>
        </p:blipFill>
        <p:spPr>
          <a:xfrm>
            <a:off x="2438400" y="2041773"/>
            <a:ext cx="438150" cy="438150"/>
          </a:xfrm>
          <a:prstGeom prst="rect">
            <a:avLst/>
          </a:prstGeom>
        </p:spPr>
      </p:pic>
      <p:sp>
        <p:nvSpPr>
          <p:cNvPr id="9" name="text span"/>
          <p:cNvSpPr txBox="1"/>
          <p:nvPr/>
        </p:nvSpPr>
        <p:spPr>
          <a:xfrm>
            <a:off x="2282130" y="2540677"/>
            <a:ext cx="750689" cy="192816"/>
          </a:xfrm>
          <a:prstGeom prst="rect">
            <a:avLst/>
          </a:prstGeom>
          <a:noFill/>
          <a:ln/>
        </p:spPr>
        <p:txBody>
          <a:bodyPr wrap="none" lIns="0" tIns="0" rIns="0" bIns="0" rtlCol="0" anchor="ctr"/>
          <a:lstStyle/>
          <a:p>
            <a:pPr algn="ctr" indent="0" marL="0">
              <a:buNone/>
            </a:pPr>
            <a:r>
              <a:rPr lang="en-US" sz="1050" b="1" dirty="0">
                <a:solidFill>
                  <a:srgbClr val="0F172A"/>
                </a:solidFill>
                <a:latin typeface="Segoe UI" pitchFamily="34" charset="0"/>
                <a:ea typeface="Segoe UI" pitchFamily="34" charset="-122"/>
                <a:cs typeface="Segoe UI" pitchFamily="34" charset="-120"/>
              </a:rPr>
              <a:t>Merchant</a:t>
            </a:r>
            <a:endParaRPr lang="en-US" sz="1050" dirty="0"/>
          </a:p>
        </p:txBody>
      </p:sp>
      <p:sp>
        <p:nvSpPr>
          <p:cNvPr id="10" name="Shape 7"/>
          <p:cNvSpPr/>
          <p:nvPr/>
        </p:nvSpPr>
        <p:spPr>
          <a:xfrm>
            <a:off x="3152775" y="2372767"/>
            <a:ext cx="190500" cy="23812"/>
          </a:xfrm>
          <a:prstGeom prst="rect">
            <a:avLst/>
          </a:prstGeom>
          <a:solidFill>
            <a:srgbClr val="E11D48"/>
          </a:solidFill>
          <a:ln/>
        </p:spPr>
      </p:sp>
      <p:pic>
        <p:nvPicPr>
          <p:cNvPr id="11" name="graphic SPAN" descr="SPAN">    </p:cNvPr>
          <p:cNvPicPr>
            <a:picLocks noChangeAspect="1"/>
          </p:cNvPicPr>
          <p:nvPr/>
        </p:nvPicPr>
        <p:blipFill>
          <a:blip r:embed="rId2"/>
          <a:stretch>
            <a:fillRect/>
          </a:stretch>
        </p:blipFill>
        <p:spPr>
          <a:xfrm>
            <a:off x="3314700" y="2315617"/>
            <a:ext cx="104775" cy="133350"/>
          </a:xfrm>
          <a:prstGeom prst="rect">
            <a:avLst/>
          </a:prstGeom>
        </p:spPr>
      </p:pic>
      <p:sp>
        <p:nvSpPr>
          <p:cNvPr id="12" name="pvb vtt"/>
          <p:cNvSpPr/>
          <p:nvPr/>
        </p:nvSpPr>
        <p:spPr>
          <a:xfrm>
            <a:off x="3443288" y="1336477"/>
            <a:ext cx="2428875" cy="2091630"/>
          </a:xfrm>
          <a:prstGeom prst="roundRect">
            <a:avLst>
              <a:gd name="adj" fmla="val 5237"/>
            </a:avLst>
          </a:prstGeom>
          <a:solidFill>
            <a:srgbClr val="FFFFFF"/>
          </a:solidFill>
          <a:ln w="9525">
            <a:solidFill>
              <a:srgbClr val="E11D48"/>
            </a:solidFill>
            <a:prstDash val="solid"/>
          </a:ln>
        </p:spPr>
      </p:sp>
      <p:sp>
        <p:nvSpPr>
          <p:cNvPr id="13" name="ow"/>
          <p:cNvSpPr/>
          <p:nvPr/>
        </p:nvSpPr>
        <p:spPr>
          <a:xfrm>
            <a:off x="3448050" y="1341239"/>
            <a:ext cx="2419350" cy="285750"/>
          </a:xfrm>
          <a:prstGeom prst="roundRect">
            <a:avLst>
              <a:gd name="adj" fmla="val 36667"/>
            </a:avLst>
          </a:prstGeom>
          <a:solidFill>
            <a:srgbClr val="FFF1F2"/>
          </a:solidFill>
          <a:ln/>
        </p:spPr>
      </p:sp>
      <p:sp>
        <p:nvSpPr>
          <p:cNvPr id="14" name="ow"/>
          <p:cNvSpPr/>
          <p:nvPr/>
        </p:nvSpPr>
        <p:spPr>
          <a:xfrm>
            <a:off x="3448050" y="1446014"/>
            <a:ext cx="2419350" cy="180975"/>
          </a:xfrm>
          <a:prstGeom prst="rect">
            <a:avLst/>
          </a:prstGeom>
          <a:solidFill>
            <a:srgbClr val="FFF1F2"/>
          </a:solidFill>
          <a:ln/>
        </p:spPr>
      </p:sp>
      <p:sp>
        <p:nvSpPr>
          <p:cNvPr id="15" name="ow-border"/>
          <p:cNvSpPr/>
          <p:nvPr/>
        </p:nvSpPr>
        <p:spPr>
          <a:xfrm>
            <a:off x="3448050" y="1617464"/>
            <a:ext cx="2419350" cy="9525"/>
          </a:xfrm>
          <a:prstGeom prst="rect">
            <a:avLst/>
          </a:prstGeom>
          <a:solidFill>
            <a:srgbClr val="FECDD3"/>
          </a:solidFill>
          <a:ln/>
        </p:spPr>
      </p:sp>
      <p:sp>
        <p:nvSpPr>
          <p:cNvPr id="16" name="text ow"/>
          <p:cNvSpPr txBox="1"/>
          <p:nvPr/>
        </p:nvSpPr>
        <p:spPr>
          <a:xfrm>
            <a:off x="3600450" y="1382673"/>
            <a:ext cx="427434" cy="193358"/>
          </a:xfrm>
          <a:prstGeom prst="rect">
            <a:avLst/>
          </a:prstGeom>
          <a:noFill/>
          <a:ln/>
        </p:spPr>
        <p:txBody>
          <a:bodyPr wrap="none" lIns="0" tIns="0" rIns="0" bIns="0" rtlCol="0" anchor="ctr"/>
          <a:lstStyle/>
          <a:p>
            <a:pPr algn="l" indent="0" marL="0">
              <a:buNone/>
            </a:pPr>
            <a:r>
              <a:rPr lang="en-US" sz="1050" spc="60" kern="0" dirty="0">
                <a:solidFill>
                  <a:srgbClr val="E11D48"/>
                </a:solidFill>
                <a:latin typeface="Segoe UI Black" pitchFamily="34" charset="0"/>
                <a:ea typeface="Segoe UI Black" pitchFamily="34" charset="-122"/>
                <a:cs typeface="Segoe UI Black" pitchFamily="34" charset="-120"/>
              </a:rPr>
              <a:t>VTT</a:t>
            </a:r>
            <a:endParaRPr lang="en-US" sz="1050" dirty="0"/>
          </a:p>
        </p:txBody>
      </p:sp>
      <p:sp>
        <p:nvSpPr>
          <p:cNvPr id="17" name="text r"/>
          <p:cNvSpPr txBox="1"/>
          <p:nvPr/>
        </p:nvSpPr>
        <p:spPr>
          <a:xfrm>
            <a:off x="3638550" y="2464305"/>
            <a:ext cx="1673572" cy="446913"/>
          </a:xfrm>
          <a:prstGeom prst="rect">
            <a:avLst/>
          </a:prstGeom>
          <a:noFill/>
          <a:ln/>
        </p:spPr>
        <p:txBody>
          <a:bodyPr wrap="none" lIns="0" tIns="0" rIns="0" bIns="0" rtlCol="0" anchor="ctr"/>
          <a:lstStyle/>
          <a:p>
            <a:pPr algn="l" indent="0" marL="0">
              <a:lnSpc>
                <a:spcPts val="1760"/>
              </a:lnSpc>
              <a:buNone/>
            </a:pPr>
            <a:r>
              <a:rPr lang="en-US" sz="1280" dirty="0">
                <a:solidFill>
                  <a:srgbClr val="334155"/>
                </a:solidFill>
                <a:latin typeface="Segoe UI Semibold" pitchFamily="34" charset="0"/>
                <a:ea typeface="Segoe UI Semibold" pitchFamily="34" charset="-122"/>
                <a:cs typeface="Segoe UI Semibold" pitchFamily="34" charset="-120"/>
              </a:rPr>
              <a:t>Tích hợp thanh toán</a:t>
            </a:r>
            <a:endParaRPr lang="en-US" sz="1280" dirty="0"/>
          </a:p>
          <a:p>
            <a:pPr algn="l" indent="0" marL="0">
              <a:lnSpc>
                <a:spcPts val="1760"/>
              </a:lnSpc>
              <a:buNone/>
            </a:pPr>
            <a:r>
              <a:rPr lang="en-US" sz="1280" dirty="0">
                <a:solidFill>
                  <a:srgbClr val="334155"/>
                </a:solidFill>
                <a:latin typeface="Segoe UI Semibold" pitchFamily="34" charset="0"/>
                <a:ea typeface="Segoe UI Semibold" pitchFamily="34" charset="-122"/>
                <a:cs typeface="Segoe UI Semibold" pitchFamily="34" charset="-120"/>
              </a:rPr>
              <a:t>Phát triển merchant</a:t>
            </a:r>
            <a:endParaRPr lang="en-US" sz="1280" dirty="0"/>
          </a:p>
        </p:txBody>
      </p:sp>
      <p:sp>
        <p:nvSpPr>
          <p:cNvPr id="18" name="text sys"/>
          <p:cNvSpPr txBox="1"/>
          <p:nvPr/>
        </p:nvSpPr>
        <p:spPr>
          <a:xfrm>
            <a:off x="3638550" y="2095491"/>
            <a:ext cx="960090" cy="330713"/>
          </a:xfrm>
          <a:prstGeom prst="rect">
            <a:avLst/>
          </a:prstGeom>
          <a:noFill/>
          <a:ln/>
        </p:spPr>
        <p:txBody>
          <a:bodyPr wrap="none" lIns="0" tIns="0" rIns="0" bIns="0" rtlCol="0" anchor="ctr"/>
          <a:lstStyle/>
          <a:p>
            <a:pPr algn="l" indent="0" marL="0">
              <a:buNone/>
            </a:pPr>
            <a:r>
              <a:rPr lang="en-US" sz="1800" spc="-20" kern="0" dirty="0">
                <a:solidFill>
                  <a:srgbClr val="E11D48"/>
                </a:solidFill>
                <a:latin typeface="Segoe UI Black" pitchFamily="34" charset="0"/>
                <a:ea typeface="Segoe UI Black" pitchFamily="34" charset="-122"/>
                <a:cs typeface="Segoe UI Black" pitchFamily="34" charset="-120"/>
              </a:rPr>
              <a:t>Tendoo</a:t>
            </a:r>
            <a:endParaRPr lang="en-US" sz="1800" dirty="0"/>
          </a:p>
        </p:txBody>
      </p:sp>
      <p:sp>
        <p:nvSpPr>
          <p:cNvPr id="19" name="Shape 15"/>
          <p:cNvSpPr/>
          <p:nvPr/>
        </p:nvSpPr>
        <p:spPr>
          <a:xfrm>
            <a:off x="5915025" y="2372767"/>
            <a:ext cx="190500" cy="23812"/>
          </a:xfrm>
          <a:prstGeom prst="rect">
            <a:avLst/>
          </a:prstGeom>
          <a:solidFill>
            <a:srgbClr val="E11D48"/>
          </a:solidFill>
          <a:ln/>
        </p:spPr>
      </p:sp>
      <p:pic>
        <p:nvPicPr>
          <p:cNvPr id="20" name="graphic SPAN" descr="SPAN">    </p:cNvPr>
          <p:cNvPicPr>
            <a:picLocks noChangeAspect="1"/>
          </p:cNvPicPr>
          <p:nvPr/>
        </p:nvPicPr>
        <p:blipFill>
          <a:blip r:embed="rId3"/>
          <a:stretch>
            <a:fillRect/>
          </a:stretch>
        </p:blipFill>
        <p:spPr>
          <a:xfrm>
            <a:off x="6076950" y="2315617"/>
            <a:ext cx="104775" cy="133350"/>
          </a:xfrm>
          <a:prstGeom prst="rect">
            <a:avLst/>
          </a:prstGeom>
        </p:spPr>
      </p:pic>
      <p:sp>
        <p:nvSpPr>
          <p:cNvPr id="21" name="pvb vdf span"/>
          <p:cNvSpPr/>
          <p:nvPr/>
        </p:nvSpPr>
        <p:spPr>
          <a:xfrm>
            <a:off x="6205538" y="1336477"/>
            <a:ext cx="5191125" cy="2091630"/>
          </a:xfrm>
          <a:prstGeom prst="roundRect">
            <a:avLst>
              <a:gd name="adj" fmla="val 5237"/>
            </a:avLst>
          </a:prstGeom>
          <a:solidFill>
            <a:srgbClr val="FFFFFF"/>
          </a:solidFill>
          <a:ln w="9525">
            <a:solidFill>
              <a:srgbClr val="0F172A"/>
            </a:solidFill>
            <a:prstDash val="solid"/>
          </a:ln>
        </p:spPr>
      </p:sp>
      <p:sp>
        <p:nvSpPr>
          <p:cNvPr id="22" name="ow"/>
          <p:cNvSpPr/>
          <p:nvPr/>
        </p:nvSpPr>
        <p:spPr>
          <a:xfrm>
            <a:off x="6210300" y="1341239"/>
            <a:ext cx="5181600" cy="276225"/>
          </a:xfrm>
          <a:prstGeom prst="roundRect">
            <a:avLst>
              <a:gd name="adj" fmla="val 37931"/>
            </a:avLst>
          </a:prstGeom>
          <a:solidFill>
            <a:srgbClr val="0F172A"/>
          </a:solidFill>
          <a:ln/>
        </p:spPr>
      </p:sp>
      <p:sp>
        <p:nvSpPr>
          <p:cNvPr id="23" name="ow"/>
          <p:cNvSpPr/>
          <p:nvPr/>
        </p:nvSpPr>
        <p:spPr>
          <a:xfrm>
            <a:off x="6210300" y="1446014"/>
            <a:ext cx="5181600" cy="171450"/>
          </a:xfrm>
          <a:prstGeom prst="rect">
            <a:avLst/>
          </a:prstGeom>
          <a:solidFill>
            <a:srgbClr val="0F172A"/>
          </a:solidFill>
          <a:ln/>
        </p:spPr>
      </p:sp>
      <p:sp>
        <p:nvSpPr>
          <p:cNvPr id="24" name="text ow"/>
          <p:cNvSpPr txBox="1"/>
          <p:nvPr/>
        </p:nvSpPr>
        <p:spPr>
          <a:xfrm>
            <a:off x="6362700" y="1382673"/>
            <a:ext cx="418654" cy="193358"/>
          </a:xfrm>
          <a:prstGeom prst="rect">
            <a:avLst/>
          </a:prstGeom>
          <a:noFill/>
          <a:ln/>
        </p:spPr>
        <p:txBody>
          <a:bodyPr wrap="none" lIns="0" tIns="0" rIns="0" bIns="0" rtlCol="0" anchor="ctr"/>
          <a:lstStyle/>
          <a:p>
            <a:pPr algn="l" indent="0" marL="0">
              <a:buNone/>
            </a:pPr>
            <a:r>
              <a:rPr lang="en-US" sz="1050" spc="60" kern="0" dirty="0">
                <a:solidFill>
                  <a:srgbClr val="FFFFFF"/>
                </a:solidFill>
                <a:latin typeface="Segoe UI Black" pitchFamily="34" charset="0"/>
                <a:ea typeface="Segoe UI Black" pitchFamily="34" charset="-122"/>
                <a:cs typeface="Segoe UI Black" pitchFamily="34" charset="-120"/>
              </a:rPr>
              <a:t>VDF</a:t>
            </a:r>
            <a:endParaRPr lang="en-US" sz="1050" dirty="0"/>
          </a:p>
        </p:txBody>
      </p:sp>
      <p:sp>
        <p:nvSpPr>
          <p:cNvPr id="25" name="sub own"/>
          <p:cNvSpPr/>
          <p:nvPr/>
        </p:nvSpPr>
        <p:spPr>
          <a:xfrm>
            <a:off x="6367462" y="1755577"/>
            <a:ext cx="1892052" cy="1529655"/>
          </a:xfrm>
          <a:prstGeom prst="roundRect">
            <a:avLst>
              <a:gd name="adj" fmla="val 5916"/>
            </a:avLst>
          </a:prstGeom>
          <a:solidFill>
            <a:srgbClr val="FFFFFF"/>
          </a:solidFill>
          <a:ln w="9525">
            <a:solidFill>
              <a:srgbClr val="E2E8F0"/>
            </a:solidFill>
            <a:prstDash val="solid"/>
          </a:ln>
        </p:spPr>
      </p:sp>
      <p:sp>
        <p:nvSpPr>
          <p:cNvPr id="26" name="text r"/>
          <p:cNvSpPr txBox="1"/>
          <p:nvPr/>
        </p:nvSpPr>
        <p:spPr>
          <a:xfrm>
            <a:off x="6524625" y="2454162"/>
            <a:ext cx="1291233" cy="234283"/>
          </a:xfrm>
          <a:prstGeom prst="rect">
            <a:avLst/>
          </a:prstGeom>
          <a:noFill/>
          <a:ln/>
        </p:spPr>
        <p:txBody>
          <a:bodyPr wrap="none" lIns="0" tIns="0" rIns="0" bIns="0" rtlCol="0" anchor="ctr"/>
          <a:lstStyle/>
          <a:p>
            <a:pPr algn="l" indent="0" marL="0">
              <a:buNone/>
            </a:pPr>
            <a:r>
              <a:rPr lang="en-US" sz="1270" dirty="0">
                <a:solidFill>
                  <a:srgbClr val="334155"/>
                </a:solidFill>
                <a:latin typeface="Segoe UI Semibold" pitchFamily="34" charset="0"/>
                <a:ea typeface="Segoe UI Semibold" pitchFamily="34" charset="-122"/>
                <a:cs typeface="Segoe UI Semibold" pitchFamily="34" charset="-120"/>
              </a:rPr>
              <a:t>Xử lý dòng tiền</a:t>
            </a:r>
            <a:endParaRPr lang="en-US" sz="1270" dirty="0"/>
          </a:p>
        </p:txBody>
      </p:sp>
      <p:sp>
        <p:nvSpPr>
          <p:cNvPr id="27" name="text sys"/>
          <p:cNvSpPr txBox="1"/>
          <p:nvPr/>
        </p:nvSpPr>
        <p:spPr>
          <a:xfrm>
            <a:off x="6524625" y="2089880"/>
            <a:ext cx="1690390" cy="332412"/>
          </a:xfrm>
          <a:prstGeom prst="rect">
            <a:avLst/>
          </a:prstGeom>
          <a:noFill/>
          <a:ln/>
        </p:spPr>
        <p:txBody>
          <a:bodyPr wrap="none" lIns="0" tIns="0" rIns="0" bIns="0" rtlCol="0" anchor="ctr"/>
          <a:lstStyle/>
          <a:p>
            <a:pPr algn="l" indent="0" marL="0">
              <a:buNone/>
            </a:pPr>
            <a:r>
              <a:rPr lang="en-US" sz="1810" spc="-20" kern="0" dirty="0">
                <a:solidFill>
                  <a:srgbClr val="0F172A"/>
                </a:solidFill>
                <a:latin typeface="Segoe UI Black" pitchFamily="34" charset="0"/>
                <a:ea typeface="Segoe UI Black" pitchFamily="34" charset="-122"/>
                <a:cs typeface="Segoe UI Black" pitchFamily="34" charset="-120"/>
              </a:rPr>
              <a:t>Viettel Money</a:t>
            </a:r>
            <a:endParaRPr lang="en-US" sz="1810" dirty="0"/>
          </a:p>
        </p:txBody>
      </p:sp>
      <p:sp>
        <p:nvSpPr>
          <p:cNvPr id="28" name="-border"/>
          <p:cNvSpPr/>
          <p:nvPr/>
        </p:nvSpPr>
        <p:spPr>
          <a:xfrm>
            <a:off x="8264277" y="2520404"/>
            <a:ext cx="381000" cy="19050"/>
          </a:xfrm>
          <a:prstGeom prst="rect">
            <a:avLst/>
          </a:prstGeom>
          <a:solidFill>
            <a:srgbClr val="0F172A"/>
          </a:solidFill>
          <a:ln/>
        </p:spPr>
      </p:sp>
      <p:sp>
        <p:nvSpPr>
          <p:cNvPr id="29" name="sub ptn"/>
          <p:cNvSpPr/>
          <p:nvPr/>
        </p:nvSpPr>
        <p:spPr>
          <a:xfrm>
            <a:off x="8650039" y="1755577"/>
            <a:ext cx="2584698" cy="1529655"/>
          </a:xfrm>
          <a:prstGeom prst="roundRect">
            <a:avLst>
              <a:gd name="adj" fmla="val 5916"/>
            </a:avLst>
          </a:prstGeom>
          <a:solidFill>
            <a:srgbClr val="F8FAFC"/>
          </a:solidFill>
          <a:ln w="9525">
            <a:solidFill>
              <a:srgbClr val="CBD5E1"/>
            </a:solidFill>
            <a:prstDash val="dash"/>
          </a:ln>
        </p:spPr>
      </p:sp>
      <p:sp>
        <p:nvSpPr>
          <p:cNvPr id="30" name="text label"/>
          <p:cNvSpPr txBox="1"/>
          <p:nvPr/>
        </p:nvSpPr>
        <p:spPr>
          <a:xfrm>
            <a:off x="8788152" y="1836456"/>
            <a:ext cx="573435" cy="152567"/>
          </a:xfrm>
          <a:prstGeom prst="rect">
            <a:avLst/>
          </a:prstGeom>
          <a:noFill/>
          <a:ln/>
        </p:spPr>
        <p:txBody>
          <a:bodyPr wrap="none" lIns="0" tIns="0" rIns="0" bIns="0" rtlCol="0" anchor="ctr"/>
          <a:lstStyle/>
          <a:p>
            <a:pPr algn="l" indent="0" marL="0">
              <a:buNone/>
            </a:pPr>
            <a:r>
              <a:rPr lang="en-US" sz="830" b="1" spc="30" kern="0" dirty="0">
                <a:solidFill>
                  <a:srgbClr val="64748B"/>
                </a:solidFill>
                <a:latin typeface="Segoe UI" pitchFamily="34" charset="0"/>
                <a:ea typeface="Segoe UI" pitchFamily="34" charset="-122"/>
                <a:cs typeface="Segoe UI" pitchFamily="34" charset="-120"/>
              </a:rPr>
              <a:t>ĐỐI TÁC</a:t>
            </a:r>
            <a:endParaRPr lang="en-US" sz="830" dirty="0"/>
          </a:p>
        </p:txBody>
      </p:sp>
      <p:sp>
        <p:nvSpPr>
          <p:cNvPr id="31" name="text r"/>
          <p:cNvSpPr txBox="1"/>
          <p:nvPr/>
        </p:nvSpPr>
        <p:spPr>
          <a:xfrm>
            <a:off x="8807202" y="2453731"/>
            <a:ext cx="1461492" cy="235146"/>
          </a:xfrm>
          <a:prstGeom prst="rect">
            <a:avLst/>
          </a:prstGeom>
          <a:noFill/>
          <a:ln/>
        </p:spPr>
        <p:txBody>
          <a:bodyPr wrap="none" lIns="0" tIns="0" rIns="0" bIns="0" rtlCol="0" anchor="ctr"/>
          <a:lstStyle/>
          <a:p>
            <a:pPr algn="l" indent="0" marL="0">
              <a:buNone/>
            </a:pPr>
            <a:r>
              <a:rPr lang="en-US" sz="1280" dirty="0">
                <a:solidFill>
                  <a:srgbClr val="334155"/>
                </a:solidFill>
                <a:latin typeface="Segoe UI Semibold" pitchFamily="34" charset="0"/>
                <a:ea typeface="Segoe UI Semibold" pitchFamily="34" charset="-122"/>
                <a:cs typeface="Segoe UI Semibold" pitchFamily="34" charset="-120"/>
              </a:rPr>
              <a:t>Giải pháp thẻ, QR</a:t>
            </a:r>
            <a:endParaRPr lang="en-US" sz="1280" dirty="0"/>
          </a:p>
        </p:txBody>
      </p:sp>
      <p:sp>
        <p:nvSpPr>
          <p:cNvPr id="32" name="text sys"/>
          <p:cNvSpPr txBox="1"/>
          <p:nvPr/>
        </p:nvSpPr>
        <p:spPr>
          <a:xfrm>
            <a:off x="8807202" y="2090616"/>
            <a:ext cx="1597819" cy="330939"/>
          </a:xfrm>
          <a:prstGeom prst="rect">
            <a:avLst/>
          </a:prstGeom>
          <a:noFill/>
          <a:ln/>
        </p:spPr>
        <p:txBody>
          <a:bodyPr wrap="none" lIns="0" tIns="0" rIns="0" bIns="0" rtlCol="0" anchor="ctr"/>
          <a:lstStyle/>
          <a:p>
            <a:pPr algn="l" indent="0" marL="0">
              <a:buNone/>
            </a:pPr>
            <a:r>
              <a:rPr lang="en-US" sz="1800" spc="-20" kern="0" dirty="0">
                <a:solidFill>
                  <a:srgbClr val="0F172A"/>
                </a:solidFill>
                <a:latin typeface="Segoe UI Black" pitchFamily="34" charset="0"/>
                <a:ea typeface="Segoe UI Black" pitchFamily="34" charset="-122"/>
                <a:cs typeface="Segoe UI Black" pitchFamily="34" charset="-120"/>
              </a:rPr>
              <a:t>Visa · NAPAS</a:t>
            </a:r>
            <a:endParaRPr lang="en-US" sz="1800" dirty="0"/>
          </a:p>
        </p:txBody>
      </p:sp>
      <p:sp>
        <p:nvSpPr>
          <p:cNvPr id="33" name="pvl on"/>
          <p:cNvSpPr/>
          <p:nvPr/>
        </p:nvSpPr>
        <p:spPr>
          <a:xfrm>
            <a:off x="614363" y="3732907"/>
            <a:ext cx="10963275" cy="2415480"/>
          </a:xfrm>
          <a:prstGeom prst="roundRect">
            <a:avLst>
              <a:gd name="adj" fmla="val 5323"/>
            </a:avLst>
          </a:prstGeom>
          <a:solidFill>
            <a:srgbClr val="FFFFFF"/>
          </a:solidFill>
          <a:ln w="9525">
            <a:solidFill>
              <a:srgbClr val="E2E8F0"/>
            </a:solidFill>
            <a:prstDash val="solid"/>
          </a:ln>
        </p:spPr>
      </p:sp>
      <p:sp>
        <p:nvSpPr>
          <p:cNvPr id="34" name="pvh"/>
          <p:cNvSpPr/>
          <p:nvPr/>
        </p:nvSpPr>
        <p:spPr>
          <a:xfrm>
            <a:off x="619125" y="3737670"/>
            <a:ext cx="1581150" cy="2405955"/>
          </a:xfrm>
          <a:prstGeom prst="rect">
            <a:avLst/>
          </a:prstGeom>
          <a:solidFill>
            <a:srgbClr val="1E3A8A"/>
          </a:solidFill>
          <a:ln/>
        </p:spPr>
      </p:sp>
      <p:sp>
        <p:nvSpPr>
          <p:cNvPr id="35" name="text b"/>
          <p:cNvSpPr txBox="1"/>
          <p:nvPr/>
        </p:nvSpPr>
        <p:spPr>
          <a:xfrm>
            <a:off x="790575" y="4707285"/>
            <a:ext cx="1007864" cy="276225"/>
          </a:xfrm>
          <a:prstGeom prst="rect">
            <a:avLst/>
          </a:prstGeom>
          <a:noFill/>
          <a:ln/>
        </p:spPr>
        <p:txBody>
          <a:bodyPr wrap="none" lIns="0" tIns="0" rIns="0" bIns="0" rtlCol="0" anchor="ctr"/>
          <a:lstStyle/>
          <a:p>
            <a:pPr algn="l" indent="0" marL="0">
              <a:buNone/>
            </a:pPr>
            <a:r>
              <a:rPr lang="en-US" sz="1500" dirty="0">
                <a:solidFill>
                  <a:srgbClr val="FFFFFF"/>
                </a:solidFill>
                <a:latin typeface="Segoe UI Black" pitchFamily="34" charset="0"/>
                <a:ea typeface="Segoe UI Black" pitchFamily="34" charset="-122"/>
                <a:cs typeface="Segoe UI Black" pitchFamily="34" charset="-120"/>
              </a:rPr>
              <a:t>2 · Online</a:t>
            </a:r>
            <a:endParaRPr lang="en-US" sz="1500" dirty="0"/>
          </a:p>
        </p:txBody>
      </p:sp>
      <p:sp>
        <p:nvSpPr>
          <p:cNvPr id="36" name="text span"/>
          <p:cNvSpPr txBox="1"/>
          <p:nvPr/>
        </p:nvSpPr>
        <p:spPr>
          <a:xfrm>
            <a:off x="790575" y="4984224"/>
            <a:ext cx="1208038" cy="179546"/>
          </a:xfrm>
          <a:prstGeom prst="rect">
            <a:avLst/>
          </a:prstGeom>
          <a:noFill/>
          <a:ln/>
        </p:spPr>
        <p:txBody>
          <a:bodyPr wrap="none" lIns="0" tIns="0" rIns="0" bIns="0" rtlCol="0" anchor="ctr"/>
          <a:lstStyle/>
          <a:p>
            <a:pPr algn="l" indent="0" marL="0">
              <a:buNone/>
            </a:pPr>
            <a:r>
              <a:rPr lang="en-US" sz="980" b="1" dirty="0">
                <a:solidFill>
                  <a:srgbClr val="FFFFFF">
                    <a:alpha val="72000"/>
                  </a:srgbClr>
                </a:solidFill>
                <a:latin typeface="Segoe UI" pitchFamily="34" charset="0"/>
                <a:ea typeface="Segoe UI" pitchFamily="34" charset="-122"/>
                <a:cs typeface="Segoe UI" pitchFamily="34" charset="-120"/>
              </a:rPr>
              <a:t>AI tư vấn, booking</a:t>
            </a:r>
            <a:endParaRPr lang="en-US" sz="980" dirty="0"/>
          </a:p>
        </p:txBody>
      </p:sp>
      <p:pic>
        <p:nvPicPr>
          <p:cNvPr id="37" name="graphic svg" descr="svg">    </p:cNvPr>
          <p:cNvPicPr>
            <a:picLocks noChangeAspect="1"/>
          </p:cNvPicPr>
          <p:nvPr/>
        </p:nvPicPr>
        <p:blipFill>
          <a:blip r:embed="rId4"/>
          <a:stretch>
            <a:fillRect/>
          </a:stretch>
        </p:blipFill>
        <p:spPr>
          <a:xfrm>
            <a:off x="2438400" y="4600129"/>
            <a:ext cx="438150" cy="438150"/>
          </a:xfrm>
          <a:prstGeom prst="rect">
            <a:avLst/>
          </a:prstGeom>
        </p:spPr>
      </p:pic>
      <p:sp>
        <p:nvSpPr>
          <p:cNvPr id="38" name="text span"/>
          <p:cNvSpPr txBox="1"/>
          <p:nvPr/>
        </p:nvSpPr>
        <p:spPr>
          <a:xfrm>
            <a:off x="2291953" y="5099157"/>
            <a:ext cx="730895" cy="192567"/>
          </a:xfrm>
          <a:prstGeom prst="rect">
            <a:avLst/>
          </a:prstGeom>
          <a:noFill/>
          <a:ln/>
        </p:spPr>
        <p:txBody>
          <a:bodyPr wrap="none" lIns="0" tIns="0" rIns="0" bIns="0" rtlCol="0" anchor="ctr"/>
          <a:lstStyle/>
          <a:p>
            <a:pPr algn="ctr" indent="0" marL="0">
              <a:buNone/>
            </a:pPr>
            <a:r>
              <a:rPr lang="en-US" sz="1050" b="1" dirty="0">
                <a:solidFill>
                  <a:srgbClr val="0F172A"/>
                </a:solidFill>
                <a:latin typeface="Segoe UI" pitchFamily="34" charset="0"/>
                <a:ea typeface="Segoe UI" pitchFamily="34" charset="-122"/>
                <a:cs typeface="Segoe UI" pitchFamily="34" charset="-120"/>
              </a:rPr>
              <a:t>Du khách</a:t>
            </a:r>
            <a:endParaRPr lang="en-US" sz="1050" dirty="0"/>
          </a:p>
        </p:txBody>
      </p:sp>
      <p:sp>
        <p:nvSpPr>
          <p:cNvPr id="39" name="Shape 33"/>
          <p:cNvSpPr/>
          <p:nvPr/>
        </p:nvSpPr>
        <p:spPr>
          <a:xfrm>
            <a:off x="3152775" y="4931122"/>
            <a:ext cx="190500" cy="23812"/>
          </a:xfrm>
          <a:prstGeom prst="rect">
            <a:avLst/>
          </a:prstGeom>
          <a:solidFill>
            <a:srgbClr val="1E3A8A"/>
          </a:solidFill>
          <a:ln/>
        </p:spPr>
      </p:sp>
      <p:pic>
        <p:nvPicPr>
          <p:cNvPr id="40" name="graphic SPAN" descr="SPAN">    </p:cNvPr>
          <p:cNvPicPr>
            <a:picLocks noChangeAspect="1"/>
          </p:cNvPicPr>
          <p:nvPr/>
        </p:nvPicPr>
        <p:blipFill>
          <a:blip r:embed="rId5"/>
          <a:stretch>
            <a:fillRect/>
          </a:stretch>
        </p:blipFill>
        <p:spPr>
          <a:xfrm>
            <a:off x="3314700" y="4873972"/>
            <a:ext cx="104775" cy="133350"/>
          </a:xfrm>
          <a:prstGeom prst="rect">
            <a:avLst/>
          </a:prstGeom>
        </p:spPr>
      </p:pic>
      <p:sp>
        <p:nvSpPr>
          <p:cNvPr id="41" name="pvb vdf"/>
          <p:cNvSpPr/>
          <p:nvPr/>
        </p:nvSpPr>
        <p:spPr>
          <a:xfrm>
            <a:off x="3443288" y="3894832"/>
            <a:ext cx="2428875" cy="2091630"/>
          </a:xfrm>
          <a:prstGeom prst="roundRect">
            <a:avLst>
              <a:gd name="adj" fmla="val 5237"/>
            </a:avLst>
          </a:prstGeom>
          <a:solidFill>
            <a:srgbClr val="FFFFFF"/>
          </a:solidFill>
          <a:ln w="9525">
            <a:solidFill>
              <a:srgbClr val="0F172A"/>
            </a:solidFill>
            <a:prstDash val="solid"/>
          </a:ln>
        </p:spPr>
      </p:sp>
      <p:sp>
        <p:nvSpPr>
          <p:cNvPr id="42" name="ow"/>
          <p:cNvSpPr/>
          <p:nvPr/>
        </p:nvSpPr>
        <p:spPr>
          <a:xfrm>
            <a:off x="3448050" y="3899595"/>
            <a:ext cx="2419350" cy="276225"/>
          </a:xfrm>
          <a:prstGeom prst="roundRect">
            <a:avLst>
              <a:gd name="adj" fmla="val 37931"/>
            </a:avLst>
          </a:prstGeom>
          <a:solidFill>
            <a:srgbClr val="0F172A"/>
          </a:solidFill>
          <a:ln/>
        </p:spPr>
      </p:sp>
      <p:sp>
        <p:nvSpPr>
          <p:cNvPr id="43" name="ow"/>
          <p:cNvSpPr/>
          <p:nvPr/>
        </p:nvSpPr>
        <p:spPr>
          <a:xfrm>
            <a:off x="3448050" y="4004370"/>
            <a:ext cx="2419350" cy="171450"/>
          </a:xfrm>
          <a:prstGeom prst="rect">
            <a:avLst/>
          </a:prstGeom>
          <a:solidFill>
            <a:srgbClr val="0F172A"/>
          </a:solidFill>
          <a:ln/>
        </p:spPr>
      </p:sp>
      <p:sp>
        <p:nvSpPr>
          <p:cNvPr id="44" name="text ow"/>
          <p:cNvSpPr txBox="1"/>
          <p:nvPr/>
        </p:nvSpPr>
        <p:spPr>
          <a:xfrm>
            <a:off x="3600450" y="3941028"/>
            <a:ext cx="418654" cy="193358"/>
          </a:xfrm>
          <a:prstGeom prst="rect">
            <a:avLst/>
          </a:prstGeom>
          <a:noFill/>
          <a:ln/>
        </p:spPr>
        <p:txBody>
          <a:bodyPr wrap="none" lIns="0" tIns="0" rIns="0" bIns="0" rtlCol="0" anchor="ctr"/>
          <a:lstStyle/>
          <a:p>
            <a:pPr algn="l" indent="0" marL="0">
              <a:buNone/>
            </a:pPr>
            <a:r>
              <a:rPr lang="en-US" sz="1050" spc="60" kern="0" dirty="0">
                <a:solidFill>
                  <a:srgbClr val="FFFFFF"/>
                </a:solidFill>
                <a:latin typeface="Segoe UI Black" pitchFamily="34" charset="0"/>
                <a:ea typeface="Segoe UI Black" pitchFamily="34" charset="-122"/>
                <a:cs typeface="Segoe UI Black" pitchFamily="34" charset="-120"/>
              </a:rPr>
              <a:t>VDF</a:t>
            </a:r>
            <a:endParaRPr lang="en-US" sz="1050" dirty="0"/>
          </a:p>
        </p:txBody>
      </p:sp>
      <p:sp>
        <p:nvSpPr>
          <p:cNvPr id="45" name="text r"/>
          <p:cNvSpPr txBox="1"/>
          <p:nvPr/>
        </p:nvSpPr>
        <p:spPr>
          <a:xfrm>
            <a:off x="3638550" y="5012263"/>
            <a:ext cx="1356717" cy="234791"/>
          </a:xfrm>
          <a:prstGeom prst="rect">
            <a:avLst/>
          </a:prstGeom>
          <a:noFill/>
          <a:ln/>
        </p:spPr>
        <p:txBody>
          <a:bodyPr wrap="none" lIns="0" tIns="0" rIns="0" bIns="0" rtlCol="0" anchor="ctr"/>
          <a:lstStyle/>
          <a:p>
            <a:pPr algn="l" indent="0" marL="0">
              <a:buNone/>
            </a:pPr>
            <a:r>
              <a:rPr lang="en-US" sz="1280" dirty="0">
                <a:solidFill>
                  <a:srgbClr val="334155"/>
                </a:solidFill>
                <a:latin typeface="Segoe UI Semibold" pitchFamily="34" charset="0"/>
                <a:ea typeface="Segoe UI Semibold" pitchFamily="34" charset="-122"/>
                <a:cs typeface="Segoe UI Semibold" pitchFamily="34" charset="-120"/>
              </a:rPr>
              <a:t>Tư vấn địa điểm</a:t>
            </a:r>
            <a:endParaRPr lang="en-US" sz="1280" dirty="0"/>
          </a:p>
        </p:txBody>
      </p:sp>
      <p:sp>
        <p:nvSpPr>
          <p:cNvPr id="46" name="text sys"/>
          <p:cNvSpPr txBox="1"/>
          <p:nvPr/>
        </p:nvSpPr>
        <p:spPr>
          <a:xfrm>
            <a:off x="3638550" y="4648359"/>
            <a:ext cx="1326505" cy="332163"/>
          </a:xfrm>
          <a:prstGeom prst="rect">
            <a:avLst/>
          </a:prstGeom>
          <a:noFill/>
          <a:ln/>
        </p:spPr>
        <p:txBody>
          <a:bodyPr wrap="none" lIns="0" tIns="0" rIns="0" bIns="0" rtlCol="0" anchor="ctr"/>
          <a:lstStyle/>
          <a:p>
            <a:pPr algn="l" indent="0" marL="0">
              <a:buNone/>
            </a:pPr>
            <a:r>
              <a:rPr lang="en-US" sz="1800" spc="-20" kern="0" dirty="0">
                <a:solidFill>
                  <a:srgbClr val="0F172A"/>
                </a:solidFill>
                <a:latin typeface="Segoe UI Black" pitchFamily="34" charset="0"/>
                <a:ea typeface="Segoe UI Black" pitchFamily="34" charset="-122"/>
                <a:cs typeface="Segoe UI Black" pitchFamily="34" charset="-120"/>
              </a:rPr>
              <a:t>AI Booking</a:t>
            </a:r>
            <a:endParaRPr lang="en-US" sz="1800" dirty="0"/>
          </a:p>
        </p:txBody>
      </p:sp>
      <p:sp>
        <p:nvSpPr>
          <p:cNvPr id="47" name="Shape 40"/>
          <p:cNvSpPr/>
          <p:nvPr/>
        </p:nvSpPr>
        <p:spPr>
          <a:xfrm>
            <a:off x="5915025" y="4931122"/>
            <a:ext cx="190500" cy="23812"/>
          </a:xfrm>
          <a:prstGeom prst="rect">
            <a:avLst/>
          </a:prstGeom>
          <a:solidFill>
            <a:srgbClr val="1E3A8A"/>
          </a:solidFill>
          <a:ln/>
        </p:spPr>
      </p:sp>
      <p:pic>
        <p:nvPicPr>
          <p:cNvPr id="48" name="graphic SPAN" descr="SPAN">    </p:cNvPr>
          <p:cNvPicPr>
            <a:picLocks noChangeAspect="1"/>
          </p:cNvPicPr>
          <p:nvPr/>
        </p:nvPicPr>
        <p:blipFill>
          <a:blip r:embed="rId6"/>
          <a:stretch>
            <a:fillRect/>
          </a:stretch>
        </p:blipFill>
        <p:spPr>
          <a:xfrm>
            <a:off x="6076950" y="4873972"/>
            <a:ext cx="104775" cy="133350"/>
          </a:xfrm>
          <a:prstGeom prst="rect">
            <a:avLst/>
          </a:prstGeom>
        </p:spPr>
      </p:pic>
      <p:sp>
        <p:nvSpPr>
          <p:cNvPr id="49" name="pvb vtt"/>
          <p:cNvSpPr/>
          <p:nvPr/>
        </p:nvSpPr>
        <p:spPr>
          <a:xfrm>
            <a:off x="6205538" y="3894832"/>
            <a:ext cx="2428875" cy="2091630"/>
          </a:xfrm>
          <a:prstGeom prst="roundRect">
            <a:avLst>
              <a:gd name="adj" fmla="val 5237"/>
            </a:avLst>
          </a:prstGeom>
          <a:solidFill>
            <a:srgbClr val="FFFFFF"/>
          </a:solidFill>
          <a:ln w="9525">
            <a:solidFill>
              <a:srgbClr val="E11D48"/>
            </a:solidFill>
            <a:prstDash val="solid"/>
          </a:ln>
        </p:spPr>
      </p:sp>
      <p:sp>
        <p:nvSpPr>
          <p:cNvPr id="50" name="ow"/>
          <p:cNvSpPr/>
          <p:nvPr/>
        </p:nvSpPr>
        <p:spPr>
          <a:xfrm>
            <a:off x="6210300" y="3899595"/>
            <a:ext cx="2419350" cy="285750"/>
          </a:xfrm>
          <a:prstGeom prst="roundRect">
            <a:avLst>
              <a:gd name="adj" fmla="val 36667"/>
            </a:avLst>
          </a:prstGeom>
          <a:solidFill>
            <a:srgbClr val="FFF1F2"/>
          </a:solidFill>
          <a:ln/>
        </p:spPr>
      </p:sp>
      <p:sp>
        <p:nvSpPr>
          <p:cNvPr id="51" name="ow"/>
          <p:cNvSpPr/>
          <p:nvPr/>
        </p:nvSpPr>
        <p:spPr>
          <a:xfrm>
            <a:off x="6210300" y="4004370"/>
            <a:ext cx="2419350" cy="180975"/>
          </a:xfrm>
          <a:prstGeom prst="rect">
            <a:avLst/>
          </a:prstGeom>
          <a:solidFill>
            <a:srgbClr val="FFF1F2"/>
          </a:solidFill>
          <a:ln/>
        </p:spPr>
      </p:sp>
      <p:sp>
        <p:nvSpPr>
          <p:cNvPr id="52" name="ow-border"/>
          <p:cNvSpPr/>
          <p:nvPr/>
        </p:nvSpPr>
        <p:spPr>
          <a:xfrm>
            <a:off x="6210300" y="4175820"/>
            <a:ext cx="2419350" cy="9525"/>
          </a:xfrm>
          <a:prstGeom prst="rect">
            <a:avLst/>
          </a:prstGeom>
          <a:solidFill>
            <a:srgbClr val="FECDD3"/>
          </a:solidFill>
          <a:ln/>
        </p:spPr>
      </p:sp>
      <p:sp>
        <p:nvSpPr>
          <p:cNvPr id="53" name="text ow"/>
          <p:cNvSpPr txBox="1"/>
          <p:nvPr/>
        </p:nvSpPr>
        <p:spPr>
          <a:xfrm>
            <a:off x="6362700" y="3941028"/>
            <a:ext cx="427434" cy="193358"/>
          </a:xfrm>
          <a:prstGeom prst="rect">
            <a:avLst/>
          </a:prstGeom>
          <a:noFill/>
          <a:ln/>
        </p:spPr>
        <p:txBody>
          <a:bodyPr wrap="none" lIns="0" tIns="0" rIns="0" bIns="0" rtlCol="0" anchor="ctr"/>
          <a:lstStyle/>
          <a:p>
            <a:pPr algn="l" indent="0" marL="0">
              <a:buNone/>
            </a:pPr>
            <a:r>
              <a:rPr lang="en-US" sz="1050" spc="60" kern="0" dirty="0">
                <a:solidFill>
                  <a:srgbClr val="E11D48"/>
                </a:solidFill>
                <a:latin typeface="Segoe UI Black" pitchFamily="34" charset="0"/>
                <a:ea typeface="Segoe UI Black" pitchFamily="34" charset="-122"/>
                <a:cs typeface="Segoe UI Black" pitchFamily="34" charset="-120"/>
              </a:rPr>
              <a:t>VTT</a:t>
            </a:r>
            <a:endParaRPr lang="en-US" sz="1050" dirty="0"/>
          </a:p>
        </p:txBody>
      </p:sp>
      <p:sp>
        <p:nvSpPr>
          <p:cNvPr id="54" name="text r"/>
          <p:cNvSpPr txBox="1"/>
          <p:nvPr/>
        </p:nvSpPr>
        <p:spPr>
          <a:xfrm>
            <a:off x="6400800" y="5022660"/>
            <a:ext cx="1654373" cy="446913"/>
          </a:xfrm>
          <a:prstGeom prst="rect">
            <a:avLst/>
          </a:prstGeom>
          <a:noFill/>
          <a:ln/>
        </p:spPr>
        <p:txBody>
          <a:bodyPr wrap="none" lIns="0" tIns="0" rIns="0" bIns="0" rtlCol="0" anchor="ctr"/>
          <a:lstStyle/>
          <a:p>
            <a:pPr algn="l" indent="0" marL="0">
              <a:lnSpc>
                <a:spcPts val="1760"/>
              </a:lnSpc>
              <a:buNone/>
            </a:pPr>
            <a:r>
              <a:rPr lang="en-US" sz="1280" dirty="0">
                <a:solidFill>
                  <a:srgbClr val="334155"/>
                </a:solidFill>
                <a:latin typeface="Segoe UI Semibold" pitchFamily="34" charset="0"/>
                <a:ea typeface="Segoe UI Semibold" pitchFamily="34" charset="-122"/>
                <a:cs typeface="Segoe UI Semibold" pitchFamily="34" charset="-120"/>
              </a:rPr>
              <a:t>Phát triển merchant</a:t>
            </a:r>
            <a:endParaRPr lang="en-US" sz="1280" dirty="0"/>
          </a:p>
          <a:p>
            <a:pPr algn="l" indent="0" marL="0">
              <a:lnSpc>
                <a:spcPts val="1760"/>
              </a:lnSpc>
              <a:buNone/>
            </a:pPr>
            <a:r>
              <a:rPr lang="en-US" sz="1280" dirty="0">
                <a:solidFill>
                  <a:srgbClr val="334155"/>
                </a:solidFill>
                <a:latin typeface="Segoe UI Semibold" pitchFamily="34" charset="0"/>
                <a:ea typeface="Segoe UI Semibold" pitchFamily="34" charset="-122"/>
                <a:cs typeface="Segoe UI Semibold" pitchFamily="34" charset="-120"/>
              </a:rPr>
              <a:t>Ghi nhận booking</a:t>
            </a:r>
            <a:endParaRPr lang="en-US" sz="1280" dirty="0"/>
          </a:p>
        </p:txBody>
      </p:sp>
      <p:sp>
        <p:nvSpPr>
          <p:cNvPr id="55" name="text sys"/>
          <p:cNvSpPr txBox="1"/>
          <p:nvPr/>
        </p:nvSpPr>
        <p:spPr>
          <a:xfrm>
            <a:off x="6400800" y="4653847"/>
            <a:ext cx="960090" cy="330713"/>
          </a:xfrm>
          <a:prstGeom prst="rect">
            <a:avLst/>
          </a:prstGeom>
          <a:noFill/>
          <a:ln/>
        </p:spPr>
        <p:txBody>
          <a:bodyPr wrap="none" lIns="0" tIns="0" rIns="0" bIns="0" rtlCol="0" anchor="ctr"/>
          <a:lstStyle/>
          <a:p>
            <a:pPr algn="l" indent="0" marL="0">
              <a:buNone/>
            </a:pPr>
            <a:r>
              <a:rPr lang="en-US" sz="1800" spc="-20" kern="0" dirty="0">
                <a:solidFill>
                  <a:srgbClr val="E11D48"/>
                </a:solidFill>
                <a:latin typeface="Segoe UI Black" pitchFamily="34" charset="0"/>
                <a:ea typeface="Segoe UI Black" pitchFamily="34" charset="-122"/>
                <a:cs typeface="Segoe UI Black" pitchFamily="34" charset="-120"/>
              </a:rPr>
              <a:t>Tendoo</a:t>
            </a:r>
            <a:endParaRPr lang="en-US" sz="1800" dirty="0"/>
          </a:p>
        </p:txBody>
      </p:sp>
      <p:sp>
        <p:nvSpPr>
          <p:cNvPr id="56" name="Shape 48"/>
          <p:cNvSpPr/>
          <p:nvPr/>
        </p:nvSpPr>
        <p:spPr>
          <a:xfrm>
            <a:off x="8677275" y="4931122"/>
            <a:ext cx="190500" cy="23812"/>
          </a:xfrm>
          <a:prstGeom prst="rect">
            <a:avLst/>
          </a:prstGeom>
          <a:solidFill>
            <a:srgbClr val="1E3A8A"/>
          </a:solidFill>
          <a:ln/>
        </p:spPr>
      </p:sp>
      <p:pic>
        <p:nvPicPr>
          <p:cNvPr id="57" name="graphic SPAN" descr="SPAN">    </p:cNvPr>
          <p:cNvPicPr>
            <a:picLocks noChangeAspect="1"/>
          </p:cNvPicPr>
          <p:nvPr/>
        </p:nvPicPr>
        <p:blipFill>
          <a:blip r:embed="rId7"/>
          <a:stretch>
            <a:fillRect/>
          </a:stretch>
        </p:blipFill>
        <p:spPr>
          <a:xfrm>
            <a:off x="8839200" y="4873972"/>
            <a:ext cx="104775" cy="133350"/>
          </a:xfrm>
          <a:prstGeom prst="rect">
            <a:avLst/>
          </a:prstGeom>
        </p:spPr>
      </p:pic>
      <p:sp>
        <p:nvSpPr>
          <p:cNvPr id="58" name="pvb vdf"/>
          <p:cNvSpPr/>
          <p:nvPr/>
        </p:nvSpPr>
        <p:spPr>
          <a:xfrm>
            <a:off x="8967788" y="3894832"/>
            <a:ext cx="2428875" cy="2091630"/>
          </a:xfrm>
          <a:prstGeom prst="roundRect">
            <a:avLst>
              <a:gd name="adj" fmla="val 5237"/>
            </a:avLst>
          </a:prstGeom>
          <a:solidFill>
            <a:srgbClr val="FFFFFF"/>
          </a:solidFill>
          <a:ln w="9525">
            <a:solidFill>
              <a:srgbClr val="0F172A"/>
            </a:solidFill>
            <a:prstDash val="solid"/>
          </a:ln>
        </p:spPr>
      </p:sp>
      <p:sp>
        <p:nvSpPr>
          <p:cNvPr id="59" name="ow"/>
          <p:cNvSpPr/>
          <p:nvPr/>
        </p:nvSpPr>
        <p:spPr>
          <a:xfrm>
            <a:off x="8972550" y="3899595"/>
            <a:ext cx="2419350" cy="276225"/>
          </a:xfrm>
          <a:prstGeom prst="roundRect">
            <a:avLst>
              <a:gd name="adj" fmla="val 37931"/>
            </a:avLst>
          </a:prstGeom>
          <a:solidFill>
            <a:srgbClr val="0F172A"/>
          </a:solidFill>
          <a:ln/>
        </p:spPr>
      </p:sp>
      <p:sp>
        <p:nvSpPr>
          <p:cNvPr id="60" name="ow"/>
          <p:cNvSpPr/>
          <p:nvPr/>
        </p:nvSpPr>
        <p:spPr>
          <a:xfrm>
            <a:off x="8972550" y="4004370"/>
            <a:ext cx="2419350" cy="171450"/>
          </a:xfrm>
          <a:prstGeom prst="rect">
            <a:avLst/>
          </a:prstGeom>
          <a:solidFill>
            <a:srgbClr val="0F172A"/>
          </a:solidFill>
          <a:ln/>
        </p:spPr>
      </p:sp>
      <p:sp>
        <p:nvSpPr>
          <p:cNvPr id="61" name="text ow"/>
          <p:cNvSpPr txBox="1"/>
          <p:nvPr/>
        </p:nvSpPr>
        <p:spPr>
          <a:xfrm>
            <a:off x="9124950" y="3941028"/>
            <a:ext cx="418654" cy="193358"/>
          </a:xfrm>
          <a:prstGeom prst="rect">
            <a:avLst/>
          </a:prstGeom>
          <a:noFill/>
          <a:ln/>
        </p:spPr>
        <p:txBody>
          <a:bodyPr wrap="none" lIns="0" tIns="0" rIns="0" bIns="0" rtlCol="0" anchor="ctr"/>
          <a:lstStyle/>
          <a:p>
            <a:pPr algn="l" indent="0" marL="0">
              <a:buNone/>
            </a:pPr>
            <a:r>
              <a:rPr lang="en-US" sz="1050" spc="60" kern="0" dirty="0">
                <a:solidFill>
                  <a:srgbClr val="FFFFFF"/>
                </a:solidFill>
                <a:latin typeface="Segoe UI Black" pitchFamily="34" charset="0"/>
                <a:ea typeface="Segoe UI Black" pitchFamily="34" charset="-122"/>
                <a:cs typeface="Segoe UI Black" pitchFamily="34" charset="-120"/>
              </a:rPr>
              <a:t>VDF</a:t>
            </a:r>
            <a:endParaRPr lang="en-US" sz="1050" dirty="0"/>
          </a:p>
        </p:txBody>
      </p:sp>
      <p:sp>
        <p:nvSpPr>
          <p:cNvPr id="62" name="text r"/>
          <p:cNvSpPr txBox="1"/>
          <p:nvPr/>
        </p:nvSpPr>
        <p:spPr>
          <a:xfrm>
            <a:off x="9163050" y="5012263"/>
            <a:ext cx="1291233" cy="234791"/>
          </a:xfrm>
          <a:prstGeom prst="rect">
            <a:avLst/>
          </a:prstGeom>
          <a:noFill/>
          <a:ln/>
        </p:spPr>
        <p:txBody>
          <a:bodyPr wrap="none" lIns="0" tIns="0" rIns="0" bIns="0" rtlCol="0" anchor="ctr"/>
          <a:lstStyle/>
          <a:p>
            <a:pPr algn="l" indent="0" marL="0">
              <a:buNone/>
            </a:pPr>
            <a:r>
              <a:rPr lang="en-US" sz="1280" dirty="0">
                <a:solidFill>
                  <a:srgbClr val="334155"/>
                </a:solidFill>
                <a:latin typeface="Segoe UI Semibold" pitchFamily="34" charset="0"/>
                <a:ea typeface="Segoe UI Semibold" pitchFamily="34" charset="-122"/>
                <a:cs typeface="Segoe UI Semibold" pitchFamily="34" charset="-120"/>
              </a:rPr>
              <a:t>Xử lý dòng tiền</a:t>
            </a:r>
            <a:endParaRPr lang="en-US" sz="1280" dirty="0"/>
          </a:p>
        </p:txBody>
      </p:sp>
      <p:sp>
        <p:nvSpPr>
          <p:cNvPr id="63" name="text sys"/>
          <p:cNvSpPr txBox="1"/>
          <p:nvPr/>
        </p:nvSpPr>
        <p:spPr>
          <a:xfrm>
            <a:off x="9163050" y="4648235"/>
            <a:ext cx="1690390" cy="332412"/>
          </a:xfrm>
          <a:prstGeom prst="rect">
            <a:avLst/>
          </a:prstGeom>
          <a:noFill/>
          <a:ln/>
        </p:spPr>
        <p:txBody>
          <a:bodyPr wrap="none" lIns="0" tIns="0" rIns="0" bIns="0" rtlCol="0" anchor="ctr"/>
          <a:lstStyle/>
          <a:p>
            <a:pPr algn="l" indent="0" marL="0">
              <a:buNone/>
            </a:pPr>
            <a:r>
              <a:rPr lang="en-US" sz="1810" spc="-20" kern="0" dirty="0">
                <a:solidFill>
                  <a:srgbClr val="0F172A"/>
                </a:solidFill>
                <a:latin typeface="Segoe UI Black" pitchFamily="34" charset="0"/>
                <a:ea typeface="Segoe UI Black" pitchFamily="34" charset="-122"/>
                <a:cs typeface="Segoe UI Black" pitchFamily="34" charset="-120"/>
              </a:rPr>
              <a:t>Viettel Money</a:t>
            </a:r>
            <a:endParaRPr lang="en-US" sz="1810" dirty="0"/>
          </a:p>
        </p:txBody>
      </p:sp>
      <p:sp>
        <p:nvSpPr>
          <p:cNvPr id="64" name="mk"/>
          <p:cNvSpPr/>
          <p:nvPr/>
        </p:nvSpPr>
        <p:spPr>
          <a:xfrm>
            <a:off x="10796588" y="6343650"/>
            <a:ext cx="323850" cy="323850"/>
          </a:xfrm>
          <a:prstGeom prst="ellipse">
            <a:avLst/>
          </a:prstGeom>
          <a:solidFill>
            <a:srgbClr val="F0001E"/>
          </a:solidFill>
          <a:ln/>
        </p:spPr>
      </p:sp>
      <p:sp>
        <p:nvSpPr>
          <p:cNvPr id="65" name="Shape 56"/>
          <p:cNvSpPr/>
          <p:nvPr/>
        </p:nvSpPr>
        <p:spPr>
          <a:xfrm>
            <a:off x="10910888" y="6424613"/>
            <a:ext cx="95250" cy="161925"/>
          </a:xfrm>
          <a:prstGeom prst="roundRect">
            <a:avLst>
              <a:gd name="adj" fmla="val 25000"/>
            </a:avLst>
          </a:prstGeom>
          <a:ln w="19050">
            <a:solidFill>
              <a:srgbClr val="FFFFFF"/>
            </a:solidFill>
            <a:prstDash val="solid"/>
          </a:ln>
        </p:spPr>
      </p:sp>
      <p:sp>
        <p:nvSpPr>
          <p:cNvPr id="66"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67"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68" name="text pno"/>
          <p:cNvSpPr txBox="1"/>
          <p:nvPr/>
        </p:nvSpPr>
        <p:spPr>
          <a:xfrm>
            <a:off x="10525571" y="6418244"/>
            <a:ext cx="237679" cy="165137"/>
          </a:xfrm>
          <a:prstGeom prst="rect">
            <a:avLst/>
          </a:prstGeom>
          <a:noFill/>
          <a:ln/>
        </p:spPr>
        <p:txBody>
          <a:bodyPr wrap="none" lIns="0" tIns="0" rIns="0" bIns="0" rtlCol="0" anchor="ctr"/>
          <a:lstStyle/>
          <a:p>
            <a:pPr algn="l" indent="0" marL="0">
              <a:buNone/>
            </a:pPr>
            <a:r>
              <a:rPr lang="en-US" sz="900" b="1" dirty="0">
                <a:solidFill>
                  <a:srgbClr val="CBD5E1"/>
                </a:solidFill>
                <a:latin typeface="Segoe UI" pitchFamily="34" charset="0"/>
                <a:ea typeface="Segoe UI" pitchFamily="34" charset="-122"/>
                <a:cs typeface="Segoe U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3090791"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MÔ HÌNH HỢP TÁC · MÔ HÌNH KINH DOANH</a:t>
            </a:r>
            <a:endParaRPr lang="en-US" sz="1050" dirty="0"/>
          </a:p>
        </p:txBody>
      </p:sp>
      <p:sp>
        <p:nvSpPr>
          <p:cNvPr id="3" name="text title"/>
          <p:cNvSpPr txBox="1"/>
          <p:nvPr/>
        </p:nvSpPr>
        <p:spPr>
          <a:xfrm>
            <a:off x="609600" y="581263"/>
            <a:ext cx="6759291" cy="428149"/>
          </a:xfrm>
          <a:prstGeom prst="rect">
            <a:avLst/>
          </a:prstGeom>
          <a:noFill/>
          <a:ln/>
        </p:spPr>
        <p:txBody>
          <a:bodyPr wrap="none" lIns="0" tIns="0" rIns="0" bIns="0" rtlCol="0" anchor="ctr"/>
          <a:lstStyle/>
          <a:p>
            <a:pPr algn="l" indent="0" marL="0">
              <a:buNone/>
            </a:pPr>
            <a:r>
              <a:rPr lang="en-US" sz="2330" b="1" spc="-30" kern="0" dirty="0">
                <a:solidFill>
                  <a:srgbClr val="0F172A"/>
                </a:solidFill>
                <a:latin typeface="Segoe UI" pitchFamily="34" charset="0"/>
                <a:ea typeface="Segoe UI" pitchFamily="34" charset="-122"/>
                <a:cs typeface="Segoe UI" pitchFamily="34" charset="-120"/>
              </a:rPr>
              <a:t>Mô hình kinh doanh </a:t>
            </a:r>
            <a:pPr algn="l" indent="0" marL="0">
              <a:buNone/>
            </a:pPr>
            <a:r>
              <a:rPr lang="en-US" sz="2330" b="1" spc="-30" kern="0" dirty="0">
                <a:solidFill>
                  <a:srgbClr val="E11D48"/>
                </a:solidFill>
                <a:latin typeface="Segoe UI" pitchFamily="34" charset="0"/>
                <a:ea typeface="Segoe UI" pitchFamily="34" charset="-122"/>
                <a:cs typeface="Segoe UI" pitchFamily="34" charset="-120"/>
              </a:rPr>
              <a:t>VTT – VDF – Visa, NAPAS</a:t>
            </a:r>
            <a:endParaRPr lang="en-US" sz="2330" dirty="0"/>
          </a:p>
        </p:txBody>
      </p:sp>
      <p:sp>
        <p:nvSpPr>
          <p:cNvPr id="4" name="bm"/>
          <p:cNvSpPr/>
          <p:nvPr/>
        </p:nvSpPr>
        <p:spPr>
          <a:xfrm>
            <a:off x="614363" y="1174552"/>
            <a:ext cx="10963275" cy="4726186"/>
          </a:xfrm>
          <a:prstGeom prst="roundRect">
            <a:avLst>
              <a:gd name="adj" fmla="val 2721"/>
            </a:avLst>
          </a:prstGeom>
          <a:solidFill>
            <a:srgbClr val="FFFFFF"/>
          </a:solidFill>
          <a:ln w="9525">
            <a:solidFill>
              <a:srgbClr val="E2E8F0"/>
            </a:solidFill>
            <a:prstDash val="solid"/>
          </a:ln>
        </p:spPr>
      </p:sp>
      <p:sp>
        <p:nvSpPr>
          <p:cNvPr id="5" name="hd e"/>
          <p:cNvSpPr/>
          <p:nvPr/>
        </p:nvSpPr>
        <p:spPr>
          <a:xfrm>
            <a:off x="619125" y="1179314"/>
            <a:ext cx="1219200" cy="381149"/>
          </a:xfrm>
          <a:prstGeom prst="rect">
            <a:avLst/>
          </a:prstGeom>
          <a:solidFill>
            <a:srgbClr val="F1F5F9"/>
          </a:solidFill>
          <a:ln/>
        </p:spPr>
      </p:sp>
      <p:sp>
        <p:nvSpPr>
          <p:cNvPr id="6" name="hd e-border"/>
          <p:cNvSpPr/>
          <p:nvPr/>
        </p:nvSpPr>
        <p:spPr>
          <a:xfrm>
            <a:off x="619125" y="1550938"/>
            <a:ext cx="1219200" cy="9525"/>
          </a:xfrm>
          <a:prstGeom prst="rect">
            <a:avLst/>
          </a:prstGeom>
          <a:solidFill>
            <a:srgbClr val="E2E8F0"/>
          </a:solidFill>
          <a:ln/>
        </p:spPr>
      </p:sp>
      <p:pic>
        <p:nvPicPr>
          <p:cNvPr id="7" name="graphic hd ar vtt-ar" descr="hd ar vtt-ar">    </p:cNvPr>
          <p:cNvPicPr>
            <a:picLocks noChangeAspect="1"/>
          </p:cNvPicPr>
          <p:nvPr/>
        </p:nvPicPr>
        <p:blipFill>
          <a:blip r:embed="rId1"/>
          <a:stretch>
            <a:fillRect/>
          </a:stretch>
        </p:blipFill>
        <p:spPr>
          <a:xfrm>
            <a:off x="1838325" y="1179314"/>
            <a:ext cx="476250" cy="381149"/>
          </a:xfrm>
          <a:prstGeom prst="rect">
            <a:avLst/>
          </a:prstGeom>
        </p:spPr>
      </p:pic>
      <p:sp>
        <p:nvSpPr>
          <p:cNvPr id="8" name="hd vtt"/>
          <p:cNvSpPr/>
          <p:nvPr/>
        </p:nvSpPr>
        <p:spPr>
          <a:xfrm>
            <a:off x="2314575" y="1179314"/>
            <a:ext cx="2768501" cy="381149"/>
          </a:xfrm>
          <a:prstGeom prst="rect">
            <a:avLst/>
          </a:prstGeom>
          <a:solidFill>
            <a:srgbClr val="FFF1F2"/>
          </a:solidFill>
          <a:ln/>
        </p:spPr>
      </p:sp>
      <p:sp>
        <p:nvSpPr>
          <p:cNvPr id="9" name="hd vtt-border"/>
          <p:cNvSpPr/>
          <p:nvPr/>
        </p:nvSpPr>
        <p:spPr>
          <a:xfrm>
            <a:off x="2314575" y="1550938"/>
            <a:ext cx="2768501" cy="9525"/>
          </a:xfrm>
          <a:prstGeom prst="rect">
            <a:avLst/>
          </a:prstGeom>
          <a:solidFill>
            <a:srgbClr val="E2E8F0"/>
          </a:solidFill>
          <a:ln/>
        </p:spPr>
      </p:sp>
      <p:sp>
        <p:nvSpPr>
          <p:cNvPr id="10" name="text hd vtt"/>
          <p:cNvSpPr txBox="1"/>
          <p:nvPr/>
        </p:nvSpPr>
        <p:spPr>
          <a:xfrm>
            <a:off x="3287762" y="1261590"/>
            <a:ext cx="441275" cy="206924"/>
          </a:xfrm>
          <a:prstGeom prst="rect">
            <a:avLst/>
          </a:prstGeom>
          <a:noFill/>
          <a:ln/>
        </p:spPr>
        <p:txBody>
          <a:bodyPr wrap="none" lIns="0" tIns="0" rIns="0" bIns="0" rtlCol="0" anchor="ctr"/>
          <a:lstStyle/>
          <a:p>
            <a:pPr algn="l" indent="0" marL="0">
              <a:buNone/>
            </a:pPr>
            <a:r>
              <a:rPr lang="en-US" sz="1120" spc="50" kern="0" dirty="0">
                <a:solidFill>
                  <a:srgbClr val="E11D48"/>
                </a:solidFill>
                <a:latin typeface="Segoe UI Black" pitchFamily="34" charset="0"/>
                <a:ea typeface="Segoe UI Black" pitchFamily="34" charset="-122"/>
                <a:cs typeface="Segoe UI Black" pitchFamily="34" charset="-120"/>
              </a:rPr>
              <a:t>VTT</a:t>
            </a:r>
            <a:endParaRPr lang="en-US" sz="1120" dirty="0"/>
          </a:p>
        </p:txBody>
      </p:sp>
      <p:sp>
        <p:nvSpPr>
          <p:cNvPr id="11" name="text small"/>
          <p:cNvSpPr txBox="1"/>
          <p:nvPr/>
        </p:nvSpPr>
        <p:spPr>
          <a:xfrm>
            <a:off x="3690937" y="1282213"/>
            <a:ext cx="533251" cy="165676"/>
          </a:xfrm>
          <a:prstGeom prst="rect">
            <a:avLst/>
          </a:prstGeom>
          <a:noFill/>
          <a:ln/>
        </p:spPr>
        <p:txBody>
          <a:bodyPr wrap="none" lIns="0" tIns="0" rIns="0" bIns="0" rtlCol="0" anchor="ctr"/>
          <a:lstStyle/>
          <a:p>
            <a:pPr algn="l" indent="0" marL="0">
              <a:buNone/>
            </a:pPr>
            <a:r>
              <a:rPr lang="en-US" sz="900" b="1" dirty="0">
                <a:solidFill>
                  <a:srgbClr val="E11D48">
                    <a:alpha val="64000"/>
                  </a:srgbClr>
                </a:solidFill>
                <a:latin typeface="Segoe UI" pitchFamily="34" charset="0"/>
                <a:ea typeface="Segoe UI" pitchFamily="34" charset="-122"/>
                <a:cs typeface="Segoe UI" pitchFamily="34" charset="-120"/>
              </a:rPr>
              <a:t>Tendoo</a:t>
            </a:r>
            <a:endParaRPr lang="en-US" sz="900" dirty="0"/>
          </a:p>
        </p:txBody>
      </p:sp>
      <p:sp>
        <p:nvSpPr>
          <p:cNvPr id="12" name="hd ar"/>
          <p:cNvSpPr/>
          <p:nvPr/>
        </p:nvSpPr>
        <p:spPr>
          <a:xfrm>
            <a:off x="5083076" y="1179314"/>
            <a:ext cx="476250" cy="381149"/>
          </a:xfrm>
          <a:prstGeom prst="rect">
            <a:avLst/>
          </a:prstGeom>
          <a:solidFill>
            <a:srgbClr val="F1F5F9"/>
          </a:solidFill>
          <a:ln/>
        </p:spPr>
      </p:sp>
      <p:sp>
        <p:nvSpPr>
          <p:cNvPr id="13" name="hd ar-border"/>
          <p:cNvSpPr/>
          <p:nvPr/>
        </p:nvSpPr>
        <p:spPr>
          <a:xfrm>
            <a:off x="5083076" y="1550938"/>
            <a:ext cx="476250" cy="9525"/>
          </a:xfrm>
          <a:prstGeom prst="rect">
            <a:avLst/>
          </a:prstGeom>
          <a:solidFill>
            <a:srgbClr val="E2E8F0"/>
          </a:solidFill>
          <a:ln/>
        </p:spPr>
      </p:sp>
      <p:sp>
        <p:nvSpPr>
          <p:cNvPr id="14" name="hd vdf"/>
          <p:cNvSpPr/>
          <p:nvPr/>
        </p:nvSpPr>
        <p:spPr>
          <a:xfrm>
            <a:off x="5559326" y="1179314"/>
            <a:ext cx="2768650" cy="381149"/>
          </a:xfrm>
          <a:prstGeom prst="rect">
            <a:avLst/>
          </a:prstGeom>
          <a:solidFill>
            <a:srgbClr val="0F172A"/>
          </a:solidFill>
          <a:ln/>
        </p:spPr>
      </p:sp>
      <p:sp>
        <p:nvSpPr>
          <p:cNvPr id="15" name="hd vdf-border"/>
          <p:cNvSpPr/>
          <p:nvPr/>
        </p:nvSpPr>
        <p:spPr>
          <a:xfrm>
            <a:off x="5559326" y="1550938"/>
            <a:ext cx="2768650" cy="9525"/>
          </a:xfrm>
          <a:prstGeom prst="rect">
            <a:avLst/>
          </a:prstGeom>
          <a:solidFill>
            <a:srgbClr val="E2E8F0"/>
          </a:solidFill>
          <a:ln/>
        </p:spPr>
      </p:sp>
      <p:sp>
        <p:nvSpPr>
          <p:cNvPr id="16" name="text hd vdf"/>
          <p:cNvSpPr txBox="1"/>
          <p:nvPr/>
        </p:nvSpPr>
        <p:spPr>
          <a:xfrm>
            <a:off x="6359426" y="1261584"/>
            <a:ext cx="431750" cy="206935"/>
          </a:xfrm>
          <a:prstGeom prst="rect">
            <a:avLst/>
          </a:prstGeom>
          <a:noFill/>
          <a:ln/>
        </p:spPr>
        <p:txBody>
          <a:bodyPr wrap="none" lIns="0" tIns="0" rIns="0" bIns="0" rtlCol="0" anchor="ctr"/>
          <a:lstStyle/>
          <a:p>
            <a:pPr algn="l" indent="0" marL="0">
              <a:buNone/>
            </a:pPr>
            <a:r>
              <a:rPr lang="en-US" sz="1120" spc="50" kern="0" dirty="0">
                <a:solidFill>
                  <a:srgbClr val="FFFFFF"/>
                </a:solidFill>
                <a:latin typeface="Segoe UI Black" pitchFamily="34" charset="0"/>
                <a:ea typeface="Segoe UI Black" pitchFamily="34" charset="-122"/>
                <a:cs typeface="Segoe UI Black" pitchFamily="34" charset="-120"/>
              </a:rPr>
              <a:t>VDF</a:t>
            </a:r>
            <a:endParaRPr lang="en-US" sz="1120" dirty="0"/>
          </a:p>
        </p:txBody>
      </p:sp>
      <p:sp>
        <p:nvSpPr>
          <p:cNvPr id="17" name="text small"/>
          <p:cNvSpPr txBox="1"/>
          <p:nvPr/>
        </p:nvSpPr>
        <p:spPr>
          <a:xfrm>
            <a:off x="6753076" y="1281848"/>
            <a:ext cx="888950" cy="166406"/>
          </a:xfrm>
          <a:prstGeom prst="rect">
            <a:avLst/>
          </a:prstGeom>
          <a:noFill/>
          <a:ln/>
        </p:spPr>
        <p:txBody>
          <a:bodyPr wrap="none" lIns="0" tIns="0" rIns="0" bIns="0" rtlCol="0" anchor="ctr"/>
          <a:lstStyle/>
          <a:p>
            <a:pPr algn="l" indent="0" marL="0">
              <a:buNone/>
            </a:pPr>
            <a:r>
              <a:rPr lang="en-US" sz="900" b="1" dirty="0">
                <a:solidFill>
                  <a:srgbClr val="FFFFFF">
                    <a:alpha val="64000"/>
                  </a:srgbClr>
                </a:solidFill>
                <a:latin typeface="Segoe UI" pitchFamily="34" charset="0"/>
                <a:ea typeface="Segoe UI" pitchFamily="34" charset="-122"/>
                <a:cs typeface="Segoe UI" pitchFamily="34" charset="-120"/>
              </a:rPr>
              <a:t>Viettel Money</a:t>
            </a:r>
            <a:endParaRPr lang="en-US" sz="900" dirty="0"/>
          </a:p>
        </p:txBody>
      </p:sp>
      <p:sp>
        <p:nvSpPr>
          <p:cNvPr id="18" name="hd ar"/>
          <p:cNvSpPr/>
          <p:nvPr/>
        </p:nvSpPr>
        <p:spPr>
          <a:xfrm>
            <a:off x="8327975" y="1179314"/>
            <a:ext cx="476250" cy="381149"/>
          </a:xfrm>
          <a:prstGeom prst="rect">
            <a:avLst/>
          </a:prstGeom>
          <a:solidFill>
            <a:srgbClr val="F1F5F9"/>
          </a:solidFill>
          <a:ln/>
        </p:spPr>
      </p:sp>
      <p:sp>
        <p:nvSpPr>
          <p:cNvPr id="19" name="hd ar-border"/>
          <p:cNvSpPr/>
          <p:nvPr/>
        </p:nvSpPr>
        <p:spPr>
          <a:xfrm>
            <a:off x="8327975" y="1550938"/>
            <a:ext cx="476250" cy="9525"/>
          </a:xfrm>
          <a:prstGeom prst="rect">
            <a:avLst/>
          </a:prstGeom>
          <a:solidFill>
            <a:srgbClr val="E2E8F0"/>
          </a:solidFill>
          <a:ln/>
        </p:spPr>
      </p:sp>
      <p:sp>
        <p:nvSpPr>
          <p:cNvPr id="20" name="hd visa"/>
          <p:cNvSpPr/>
          <p:nvPr/>
        </p:nvSpPr>
        <p:spPr>
          <a:xfrm>
            <a:off x="8804225" y="1179314"/>
            <a:ext cx="2768501" cy="381149"/>
          </a:xfrm>
          <a:prstGeom prst="rect">
            <a:avLst/>
          </a:prstGeom>
          <a:solidFill>
            <a:srgbClr val="1434CB"/>
          </a:solidFill>
          <a:ln/>
        </p:spPr>
      </p:sp>
      <p:sp>
        <p:nvSpPr>
          <p:cNvPr id="21" name="hd visa-border"/>
          <p:cNvSpPr/>
          <p:nvPr/>
        </p:nvSpPr>
        <p:spPr>
          <a:xfrm>
            <a:off x="8804225" y="1550938"/>
            <a:ext cx="2768501" cy="9525"/>
          </a:xfrm>
          <a:prstGeom prst="rect">
            <a:avLst/>
          </a:prstGeom>
          <a:solidFill>
            <a:srgbClr val="E2E8F0"/>
          </a:solidFill>
          <a:ln/>
        </p:spPr>
      </p:sp>
      <p:sp>
        <p:nvSpPr>
          <p:cNvPr id="22" name="text hd visa"/>
          <p:cNvSpPr txBox="1"/>
          <p:nvPr/>
        </p:nvSpPr>
        <p:spPr>
          <a:xfrm>
            <a:off x="9664601" y="1261590"/>
            <a:ext cx="1162050" cy="206924"/>
          </a:xfrm>
          <a:prstGeom prst="rect">
            <a:avLst/>
          </a:prstGeom>
          <a:noFill/>
          <a:ln/>
        </p:spPr>
        <p:txBody>
          <a:bodyPr wrap="none" lIns="0" tIns="0" rIns="0" bIns="0" rtlCol="0" anchor="ctr"/>
          <a:lstStyle/>
          <a:p>
            <a:pPr algn="l" indent="0" marL="0">
              <a:buNone/>
            </a:pPr>
            <a:r>
              <a:rPr lang="en-US" sz="1120" spc="50" kern="0" dirty="0">
                <a:solidFill>
                  <a:srgbClr val="FFFFFF"/>
                </a:solidFill>
                <a:latin typeface="Segoe UI Black" pitchFamily="34" charset="0"/>
                <a:ea typeface="Segoe UI Black" pitchFamily="34" charset="-122"/>
                <a:cs typeface="Segoe UI Black" pitchFamily="34" charset="-120"/>
              </a:rPr>
              <a:t>VISA · NAPAS</a:t>
            </a:r>
            <a:endParaRPr lang="en-US" sz="1120" dirty="0"/>
          </a:p>
        </p:txBody>
      </p:sp>
      <p:sp>
        <p:nvSpPr>
          <p:cNvPr id="23" name="seg m"/>
          <p:cNvSpPr/>
          <p:nvPr/>
        </p:nvSpPr>
        <p:spPr>
          <a:xfrm>
            <a:off x="619125" y="1560463"/>
            <a:ext cx="1219200" cy="2601367"/>
          </a:xfrm>
          <a:prstGeom prst="rect">
            <a:avLst/>
          </a:prstGeom>
          <a:solidFill>
            <a:srgbClr val="E11D48"/>
          </a:solidFill>
          <a:ln/>
        </p:spPr>
      </p:sp>
      <p:sp>
        <p:nvSpPr>
          <p:cNvPr id="24" name="seg m-border"/>
          <p:cNvSpPr/>
          <p:nvPr/>
        </p:nvSpPr>
        <p:spPr>
          <a:xfrm>
            <a:off x="619125" y="4152305"/>
            <a:ext cx="1219200" cy="9525"/>
          </a:xfrm>
          <a:prstGeom prst="rect">
            <a:avLst/>
          </a:prstGeom>
          <a:solidFill>
            <a:srgbClr val="FFFFFF">
              <a:alpha val="25000"/>
            </a:srgbClr>
          </a:solidFill>
          <a:ln/>
        </p:spPr>
      </p:sp>
      <p:sp>
        <p:nvSpPr>
          <p:cNvPr id="25" name="text seg m"/>
          <p:cNvSpPr txBox="1"/>
          <p:nvPr/>
        </p:nvSpPr>
        <p:spPr>
          <a:xfrm>
            <a:off x="777776" y="2567464"/>
            <a:ext cx="901750" cy="234791"/>
          </a:xfrm>
          <a:prstGeom prst="rect">
            <a:avLst/>
          </a:prstGeom>
          <a:noFill/>
          <a:ln/>
        </p:spPr>
        <p:txBody>
          <a:bodyPr wrap="none" lIns="0" tIns="0" rIns="0" bIns="0" rtlCol="0" anchor="ctr"/>
          <a:lstStyle/>
          <a:p>
            <a:pPr algn="ctr" indent="0" marL="0">
              <a:buNone/>
            </a:pPr>
            <a:r>
              <a:rPr lang="en-US" sz="1280" dirty="0">
                <a:solidFill>
                  <a:srgbClr val="FFFFFF"/>
                </a:solidFill>
                <a:latin typeface="Segoe UI Black" pitchFamily="34" charset="0"/>
                <a:ea typeface="Segoe UI Black" pitchFamily="34" charset="-122"/>
                <a:cs typeface="Segoe UI Black" pitchFamily="34" charset="-120"/>
              </a:rPr>
              <a:t>Merchant</a:t>
            </a:r>
            <a:endParaRPr lang="en-US" sz="1280" dirty="0"/>
          </a:p>
        </p:txBody>
      </p:sp>
      <p:sp>
        <p:nvSpPr>
          <p:cNvPr id="26" name="text span"/>
          <p:cNvSpPr txBox="1"/>
          <p:nvPr/>
        </p:nvSpPr>
        <p:spPr>
          <a:xfrm>
            <a:off x="619125" y="2837259"/>
            <a:ext cx="1257300" cy="285750"/>
          </a:xfrm>
          <a:prstGeom prst="rect">
            <a:avLst/>
          </a:prstGeom>
          <a:noFill/>
          <a:ln/>
        </p:spPr>
        <p:txBody>
          <a:bodyPr wrap="square" lIns="0" tIns="0" rIns="0" bIns="0" rtlCol="0" anchor="ctr"/>
          <a:lstStyle/>
          <a:p>
            <a:pPr algn="ctr" indent="0" marL="0">
              <a:lnSpc>
                <a:spcPts val="1130"/>
              </a:lnSpc>
              <a:buNone/>
            </a:pPr>
            <a:r>
              <a:rPr lang="en-US" sz="900" b="1" dirty="0">
                <a:solidFill>
                  <a:srgbClr val="FFFFFF">
                    <a:alpha val="72000"/>
                  </a:srgbClr>
                </a:solidFill>
                <a:latin typeface="Segoe UI" pitchFamily="34" charset="0"/>
                <a:ea typeface="Segoe UI" pitchFamily="34" charset="-122"/>
                <a:cs typeface="Segoe UI" pitchFamily="34" charset="-120"/>
              </a:rPr>
              <a:t>Hộ kinh doanh trên Tendoo</a:t>
            </a:r>
            <a:endParaRPr lang="en-US" sz="900" dirty="0"/>
          </a:p>
        </p:txBody>
      </p:sp>
      <p:sp>
        <p:nvSpPr>
          <p:cNvPr id="27" name="a l __nops-border"/>
          <p:cNvSpPr/>
          <p:nvPr/>
        </p:nvSpPr>
        <p:spPr>
          <a:xfrm>
            <a:off x="1838325" y="2418011"/>
            <a:ext cx="476250" cy="9525"/>
          </a:xfrm>
          <a:prstGeom prst="rect">
            <a:avLst/>
          </a:prstGeom>
          <a:solidFill>
            <a:srgbClr val="E2E8F0"/>
          </a:solidFill>
          <a:ln/>
        </p:spPr>
      </p:sp>
      <p:sp>
        <p:nvSpPr>
          <p:cNvPr id="28" name="Shape 25"/>
          <p:cNvSpPr/>
          <p:nvPr/>
        </p:nvSpPr>
        <p:spPr>
          <a:xfrm>
            <a:off x="1933575" y="1979563"/>
            <a:ext cx="285750" cy="23812"/>
          </a:xfrm>
          <a:prstGeom prst="rect">
            <a:avLst/>
          </a:prstGeom>
          <a:solidFill>
            <a:srgbClr val="E11D48"/>
          </a:solidFill>
          <a:ln/>
        </p:spPr>
      </p:sp>
      <p:pic>
        <p:nvPicPr>
          <p:cNvPr id="29" name="graphic SPAN" descr="SPAN">    </p:cNvPr>
          <p:cNvPicPr>
            <a:picLocks noChangeAspect="1"/>
          </p:cNvPicPr>
          <p:nvPr/>
        </p:nvPicPr>
        <p:blipFill>
          <a:blip r:embed="rId2"/>
          <a:stretch>
            <a:fillRect/>
          </a:stretch>
        </p:blipFill>
        <p:spPr>
          <a:xfrm>
            <a:off x="1895475" y="1922413"/>
            <a:ext cx="104775" cy="133350"/>
          </a:xfrm>
          <a:prstGeom prst="rect">
            <a:avLst/>
          </a:prstGeom>
        </p:spPr>
      </p:pic>
      <p:sp>
        <p:nvSpPr>
          <p:cNvPr id="30" name="c-border"/>
          <p:cNvSpPr/>
          <p:nvPr/>
        </p:nvSpPr>
        <p:spPr>
          <a:xfrm>
            <a:off x="2314575" y="2418011"/>
            <a:ext cx="2768501" cy="9525"/>
          </a:xfrm>
          <a:prstGeom prst="rect">
            <a:avLst/>
          </a:prstGeom>
          <a:solidFill>
            <a:srgbClr val="E2E8F0"/>
          </a:solidFill>
          <a:ln/>
        </p:spPr>
      </p:sp>
      <p:sp>
        <p:nvSpPr>
          <p:cNvPr id="31" name="text c"/>
          <p:cNvSpPr txBox="1"/>
          <p:nvPr/>
        </p:nvSpPr>
        <p:spPr>
          <a:xfrm>
            <a:off x="2447925" y="1881905"/>
            <a:ext cx="2250573" cy="206924"/>
          </a:xfrm>
          <a:prstGeom prst="rect">
            <a:avLst/>
          </a:prstGeom>
          <a:noFill/>
          <a:ln/>
        </p:spPr>
        <p:txBody>
          <a:bodyPr wrap="none" lIns="0" tIns="0" rIns="0" bIns="0" rtlCol="0" anchor="ctr"/>
          <a:lstStyle/>
          <a:p>
            <a:pPr algn="l" indent="0" marL="0">
              <a:buNone/>
            </a:pPr>
            <a:r>
              <a:rPr lang="en-US" sz="1120" b="1" dirty="0">
                <a:solidFill>
                  <a:srgbClr val="0F172A"/>
                </a:solidFill>
                <a:latin typeface="Segoe UI" pitchFamily="34" charset="0"/>
                <a:ea typeface="Segoe UI" pitchFamily="34" charset="-122"/>
                <a:cs typeface="Segoe UI" pitchFamily="34" charset="-120"/>
              </a:rPr>
              <a:t>Cung cấp ưu đãi cho merchant</a:t>
            </a:r>
            <a:endParaRPr lang="en-US" sz="1120" dirty="0"/>
          </a:p>
        </p:txBody>
      </p:sp>
      <p:sp>
        <p:nvSpPr>
          <p:cNvPr id="32" name="a l __nops-border"/>
          <p:cNvSpPr/>
          <p:nvPr/>
        </p:nvSpPr>
        <p:spPr>
          <a:xfrm>
            <a:off x="5083076" y="2418011"/>
            <a:ext cx="476250" cy="9525"/>
          </a:xfrm>
          <a:prstGeom prst="rect">
            <a:avLst/>
          </a:prstGeom>
          <a:solidFill>
            <a:srgbClr val="E2E8F0"/>
          </a:solidFill>
          <a:ln/>
        </p:spPr>
      </p:sp>
      <p:sp>
        <p:nvSpPr>
          <p:cNvPr id="33" name="Shape 29"/>
          <p:cNvSpPr/>
          <p:nvPr/>
        </p:nvSpPr>
        <p:spPr>
          <a:xfrm>
            <a:off x="5178326" y="1979563"/>
            <a:ext cx="285750" cy="23812"/>
          </a:xfrm>
          <a:prstGeom prst="rect">
            <a:avLst/>
          </a:prstGeom>
          <a:solidFill>
            <a:srgbClr val="E11D48"/>
          </a:solidFill>
          <a:ln/>
        </p:spPr>
      </p:sp>
      <p:pic>
        <p:nvPicPr>
          <p:cNvPr id="34" name="graphic SPAN" descr="SPAN">    </p:cNvPr>
          <p:cNvPicPr>
            <a:picLocks noChangeAspect="1"/>
          </p:cNvPicPr>
          <p:nvPr/>
        </p:nvPicPr>
        <p:blipFill>
          <a:blip r:embed="rId3"/>
          <a:stretch>
            <a:fillRect/>
          </a:stretch>
        </p:blipFill>
        <p:spPr>
          <a:xfrm>
            <a:off x="5140226" y="1922413"/>
            <a:ext cx="104775" cy="133350"/>
          </a:xfrm>
          <a:prstGeom prst="rect">
            <a:avLst/>
          </a:prstGeom>
        </p:spPr>
      </p:pic>
      <p:sp>
        <p:nvSpPr>
          <p:cNvPr id="35" name="c-border"/>
          <p:cNvSpPr/>
          <p:nvPr/>
        </p:nvSpPr>
        <p:spPr>
          <a:xfrm>
            <a:off x="5559326" y="2418011"/>
            <a:ext cx="2768650" cy="9525"/>
          </a:xfrm>
          <a:prstGeom prst="rect">
            <a:avLst/>
          </a:prstGeom>
          <a:solidFill>
            <a:srgbClr val="E2E8F0"/>
          </a:solidFill>
          <a:ln/>
        </p:spPr>
      </p:sp>
      <p:sp>
        <p:nvSpPr>
          <p:cNvPr id="36" name="text c"/>
          <p:cNvSpPr txBox="1"/>
          <p:nvPr/>
        </p:nvSpPr>
        <p:spPr>
          <a:xfrm>
            <a:off x="5692676" y="1881900"/>
            <a:ext cx="2001441" cy="206935"/>
          </a:xfrm>
          <a:prstGeom prst="rect">
            <a:avLst/>
          </a:prstGeom>
          <a:noFill/>
          <a:ln/>
        </p:spPr>
        <p:txBody>
          <a:bodyPr wrap="none" lIns="0" tIns="0" rIns="0" bIns="0" rtlCol="0" anchor="ctr"/>
          <a:lstStyle/>
          <a:p>
            <a:pPr algn="l" indent="0" marL="0">
              <a:buNone/>
            </a:pPr>
            <a:r>
              <a:rPr lang="en-US" sz="1120" b="1" dirty="0">
                <a:solidFill>
                  <a:srgbClr val="0F172A"/>
                </a:solidFill>
                <a:latin typeface="Segoe UI" pitchFamily="34" charset="0"/>
                <a:ea typeface="Segoe UI" pitchFamily="34" charset="-122"/>
                <a:cs typeface="Segoe UI" pitchFamily="34" charset="-120"/>
              </a:rPr>
              <a:t>Trả phí phát triển merchant</a:t>
            </a:r>
            <a:endParaRPr lang="en-US" sz="1120" dirty="0"/>
          </a:p>
        </p:txBody>
      </p:sp>
      <p:sp>
        <p:nvSpPr>
          <p:cNvPr id="37" name="a l __nops-border"/>
          <p:cNvSpPr/>
          <p:nvPr/>
        </p:nvSpPr>
        <p:spPr>
          <a:xfrm>
            <a:off x="8327975" y="2418011"/>
            <a:ext cx="476250" cy="9525"/>
          </a:xfrm>
          <a:prstGeom prst="rect">
            <a:avLst/>
          </a:prstGeom>
          <a:solidFill>
            <a:srgbClr val="E2E8F0"/>
          </a:solidFill>
          <a:ln/>
        </p:spPr>
      </p:sp>
      <p:sp>
        <p:nvSpPr>
          <p:cNvPr id="38" name="Shape 33"/>
          <p:cNvSpPr/>
          <p:nvPr/>
        </p:nvSpPr>
        <p:spPr>
          <a:xfrm>
            <a:off x="8423225" y="1979563"/>
            <a:ext cx="285750" cy="23812"/>
          </a:xfrm>
          <a:prstGeom prst="rect">
            <a:avLst/>
          </a:prstGeom>
          <a:solidFill>
            <a:srgbClr val="E11D48"/>
          </a:solidFill>
          <a:ln/>
        </p:spPr>
      </p:sp>
      <p:pic>
        <p:nvPicPr>
          <p:cNvPr id="39" name="graphic SPAN" descr="SPAN">    </p:cNvPr>
          <p:cNvPicPr>
            <a:picLocks noChangeAspect="1"/>
          </p:cNvPicPr>
          <p:nvPr/>
        </p:nvPicPr>
        <p:blipFill>
          <a:blip r:embed="rId4"/>
          <a:stretch>
            <a:fillRect/>
          </a:stretch>
        </p:blipFill>
        <p:spPr>
          <a:xfrm>
            <a:off x="8385125" y="1922413"/>
            <a:ext cx="104775" cy="133350"/>
          </a:xfrm>
          <a:prstGeom prst="rect">
            <a:avLst/>
          </a:prstGeom>
        </p:spPr>
      </p:pic>
      <p:sp>
        <p:nvSpPr>
          <p:cNvPr id="40" name="c-border"/>
          <p:cNvSpPr/>
          <p:nvPr/>
        </p:nvSpPr>
        <p:spPr>
          <a:xfrm>
            <a:off x="8804225" y="2418011"/>
            <a:ext cx="2768501" cy="9525"/>
          </a:xfrm>
          <a:prstGeom prst="rect">
            <a:avLst/>
          </a:prstGeom>
          <a:solidFill>
            <a:srgbClr val="E2E8F0"/>
          </a:solidFill>
          <a:ln/>
        </p:spPr>
      </p:sp>
      <p:sp>
        <p:nvSpPr>
          <p:cNvPr id="41" name="text c"/>
          <p:cNvSpPr txBox="1"/>
          <p:nvPr/>
        </p:nvSpPr>
        <p:spPr>
          <a:xfrm>
            <a:off x="8937575" y="1881905"/>
            <a:ext cx="2483266" cy="206924"/>
          </a:xfrm>
          <a:prstGeom prst="rect">
            <a:avLst/>
          </a:prstGeom>
          <a:noFill/>
          <a:ln/>
        </p:spPr>
        <p:txBody>
          <a:bodyPr wrap="none" lIns="0" tIns="0" rIns="0" bIns="0" rtlCol="0" anchor="ctr"/>
          <a:lstStyle/>
          <a:p>
            <a:pPr algn="l" indent="0" marL="0">
              <a:buNone/>
            </a:pPr>
            <a:r>
              <a:rPr lang="en-US" sz="1120" b="1" dirty="0">
                <a:solidFill>
                  <a:srgbClr val="0F172A"/>
                </a:solidFill>
                <a:latin typeface="Segoe UI" pitchFamily="34" charset="0"/>
                <a:ea typeface="Segoe UI" pitchFamily="34" charset="-122"/>
                <a:cs typeface="Segoe UI" pitchFamily="34" charset="-120"/>
              </a:rPr>
              <a:t>Tài trợ chi phí phát triển merchant</a:t>
            </a:r>
            <a:endParaRPr lang="en-US" sz="1120" dirty="0"/>
          </a:p>
        </p:txBody>
      </p:sp>
      <p:sp>
        <p:nvSpPr>
          <p:cNvPr id="42" name="a r __nops-border"/>
          <p:cNvSpPr/>
          <p:nvPr/>
        </p:nvSpPr>
        <p:spPr>
          <a:xfrm>
            <a:off x="1838325" y="3285083"/>
            <a:ext cx="476250" cy="9525"/>
          </a:xfrm>
          <a:prstGeom prst="rect">
            <a:avLst/>
          </a:prstGeom>
          <a:solidFill>
            <a:srgbClr val="E2E8F0"/>
          </a:solidFill>
          <a:ln/>
        </p:spPr>
      </p:sp>
      <p:sp>
        <p:nvSpPr>
          <p:cNvPr id="43" name="Shape 37"/>
          <p:cNvSpPr/>
          <p:nvPr/>
        </p:nvSpPr>
        <p:spPr>
          <a:xfrm>
            <a:off x="1933575" y="2846636"/>
            <a:ext cx="285750" cy="23812"/>
          </a:xfrm>
          <a:prstGeom prst="rect">
            <a:avLst/>
          </a:prstGeom>
          <a:solidFill>
            <a:srgbClr val="E11D48"/>
          </a:solidFill>
          <a:ln/>
        </p:spPr>
      </p:sp>
      <p:pic>
        <p:nvPicPr>
          <p:cNvPr id="44" name="graphic SPAN" descr="SPAN">    </p:cNvPr>
          <p:cNvPicPr>
            <a:picLocks noChangeAspect="1"/>
          </p:cNvPicPr>
          <p:nvPr/>
        </p:nvPicPr>
        <p:blipFill>
          <a:blip r:embed="rId5"/>
          <a:stretch>
            <a:fillRect/>
          </a:stretch>
        </p:blipFill>
        <p:spPr>
          <a:xfrm>
            <a:off x="2152650" y="2789486"/>
            <a:ext cx="104775" cy="133350"/>
          </a:xfrm>
          <a:prstGeom prst="rect">
            <a:avLst/>
          </a:prstGeom>
        </p:spPr>
      </p:pic>
      <p:sp>
        <p:nvSpPr>
          <p:cNvPr id="45" name="c-border"/>
          <p:cNvSpPr/>
          <p:nvPr/>
        </p:nvSpPr>
        <p:spPr>
          <a:xfrm>
            <a:off x="2314575" y="3285083"/>
            <a:ext cx="2768501" cy="9525"/>
          </a:xfrm>
          <a:prstGeom prst="rect">
            <a:avLst/>
          </a:prstGeom>
          <a:solidFill>
            <a:srgbClr val="E2E8F0"/>
          </a:solidFill>
          <a:ln/>
        </p:spPr>
      </p:sp>
      <p:sp>
        <p:nvSpPr>
          <p:cNvPr id="46" name="text c"/>
          <p:cNvSpPr txBox="1"/>
          <p:nvPr/>
        </p:nvSpPr>
        <p:spPr>
          <a:xfrm>
            <a:off x="2447925" y="2664142"/>
            <a:ext cx="2539901" cy="376744"/>
          </a:xfrm>
          <a:prstGeom prst="rect">
            <a:avLst/>
          </a:prstGeom>
          <a:noFill/>
          <a:ln/>
        </p:spPr>
        <p:txBody>
          <a:bodyPr wrap="square" lIns="0" tIns="0" rIns="0" bIns="0" rtlCol="0" anchor="ctr"/>
          <a:lstStyle/>
          <a:p>
            <a:pPr algn="l" indent="0" marL="0">
              <a:lnSpc>
                <a:spcPts val="1480"/>
              </a:lnSpc>
              <a:buNone/>
            </a:pPr>
            <a:r>
              <a:rPr lang="en-US" sz="1120" b="1" dirty="0">
                <a:solidFill>
                  <a:srgbClr val="0F172A"/>
                </a:solidFill>
                <a:latin typeface="Segoe UI" pitchFamily="34" charset="0"/>
                <a:ea typeface="Segoe UI" pitchFamily="34" charset="-122"/>
                <a:cs typeface="Segoe UI" pitchFamily="34" charset="-120"/>
              </a:rPr>
              <a:t>Cung cấp gói thanh toán trên Tendoo</a:t>
            </a:r>
            <a:endParaRPr lang="en-US" sz="1120" dirty="0"/>
          </a:p>
        </p:txBody>
      </p:sp>
      <p:sp>
        <p:nvSpPr>
          <p:cNvPr id="47" name="a r __nops-border"/>
          <p:cNvSpPr/>
          <p:nvPr/>
        </p:nvSpPr>
        <p:spPr>
          <a:xfrm>
            <a:off x="5083076" y="3285083"/>
            <a:ext cx="476250" cy="9525"/>
          </a:xfrm>
          <a:prstGeom prst="rect">
            <a:avLst/>
          </a:prstGeom>
          <a:solidFill>
            <a:srgbClr val="E2E8F0"/>
          </a:solidFill>
          <a:ln/>
        </p:spPr>
      </p:sp>
      <p:sp>
        <p:nvSpPr>
          <p:cNvPr id="48" name="Shape 41"/>
          <p:cNvSpPr/>
          <p:nvPr/>
        </p:nvSpPr>
        <p:spPr>
          <a:xfrm>
            <a:off x="5178326" y="2846636"/>
            <a:ext cx="285750" cy="23812"/>
          </a:xfrm>
          <a:prstGeom prst="rect">
            <a:avLst/>
          </a:prstGeom>
          <a:solidFill>
            <a:srgbClr val="E11D48"/>
          </a:solidFill>
          <a:ln/>
        </p:spPr>
      </p:sp>
      <p:pic>
        <p:nvPicPr>
          <p:cNvPr id="49" name="graphic SPAN" descr="SPAN">    </p:cNvPr>
          <p:cNvPicPr>
            <a:picLocks noChangeAspect="1"/>
          </p:cNvPicPr>
          <p:nvPr/>
        </p:nvPicPr>
        <p:blipFill>
          <a:blip r:embed="rId6"/>
          <a:stretch>
            <a:fillRect/>
          </a:stretch>
        </p:blipFill>
        <p:spPr>
          <a:xfrm>
            <a:off x="5397401" y="2789486"/>
            <a:ext cx="104775" cy="133350"/>
          </a:xfrm>
          <a:prstGeom prst="rect">
            <a:avLst/>
          </a:prstGeom>
        </p:spPr>
      </p:pic>
      <p:sp>
        <p:nvSpPr>
          <p:cNvPr id="50" name="c-border"/>
          <p:cNvSpPr/>
          <p:nvPr/>
        </p:nvSpPr>
        <p:spPr>
          <a:xfrm>
            <a:off x="5559326" y="3285083"/>
            <a:ext cx="2768650" cy="9525"/>
          </a:xfrm>
          <a:prstGeom prst="rect">
            <a:avLst/>
          </a:prstGeom>
          <a:solidFill>
            <a:srgbClr val="E2E8F0"/>
          </a:solidFill>
          <a:ln/>
        </p:spPr>
      </p:sp>
      <p:sp>
        <p:nvSpPr>
          <p:cNvPr id="51" name="text c"/>
          <p:cNvSpPr txBox="1"/>
          <p:nvPr/>
        </p:nvSpPr>
        <p:spPr>
          <a:xfrm>
            <a:off x="5692676" y="2748972"/>
            <a:ext cx="2318724" cy="206935"/>
          </a:xfrm>
          <a:prstGeom prst="rect">
            <a:avLst/>
          </a:prstGeom>
          <a:noFill/>
          <a:ln/>
        </p:spPr>
        <p:txBody>
          <a:bodyPr wrap="none" lIns="0" tIns="0" rIns="0" bIns="0" rtlCol="0" anchor="ctr"/>
          <a:lstStyle/>
          <a:p>
            <a:pPr algn="l" indent="0" marL="0">
              <a:buNone/>
            </a:pPr>
            <a:r>
              <a:rPr lang="en-US" sz="1120" b="1" dirty="0">
                <a:solidFill>
                  <a:srgbClr val="0F172A"/>
                </a:solidFill>
                <a:latin typeface="Segoe UI" pitchFamily="34" charset="0"/>
                <a:ea typeface="Segoe UI" pitchFamily="34" charset="-122"/>
                <a:cs typeface="Segoe UI" pitchFamily="34" charset="-120"/>
              </a:rPr>
              <a:t>Thu phí trên giao dịch phát sinh</a:t>
            </a:r>
            <a:endParaRPr lang="en-US" sz="1120" dirty="0"/>
          </a:p>
        </p:txBody>
      </p:sp>
      <p:sp>
        <p:nvSpPr>
          <p:cNvPr id="52" name="a r __nops-border"/>
          <p:cNvSpPr/>
          <p:nvPr/>
        </p:nvSpPr>
        <p:spPr>
          <a:xfrm>
            <a:off x="8327975" y="3285083"/>
            <a:ext cx="476250" cy="9525"/>
          </a:xfrm>
          <a:prstGeom prst="rect">
            <a:avLst/>
          </a:prstGeom>
          <a:solidFill>
            <a:srgbClr val="E2E8F0"/>
          </a:solidFill>
          <a:ln/>
        </p:spPr>
      </p:sp>
      <p:sp>
        <p:nvSpPr>
          <p:cNvPr id="53" name="Shape 45"/>
          <p:cNvSpPr/>
          <p:nvPr/>
        </p:nvSpPr>
        <p:spPr>
          <a:xfrm>
            <a:off x="8423225" y="2846636"/>
            <a:ext cx="285750" cy="23812"/>
          </a:xfrm>
          <a:prstGeom prst="rect">
            <a:avLst/>
          </a:prstGeom>
          <a:solidFill>
            <a:srgbClr val="E11D48"/>
          </a:solidFill>
          <a:ln/>
        </p:spPr>
      </p:sp>
      <p:pic>
        <p:nvPicPr>
          <p:cNvPr id="54" name="graphic SPAN" descr="SPAN">    </p:cNvPr>
          <p:cNvPicPr>
            <a:picLocks noChangeAspect="1"/>
          </p:cNvPicPr>
          <p:nvPr/>
        </p:nvPicPr>
        <p:blipFill>
          <a:blip r:embed="rId7"/>
          <a:stretch>
            <a:fillRect/>
          </a:stretch>
        </p:blipFill>
        <p:spPr>
          <a:xfrm>
            <a:off x="8642300" y="2789486"/>
            <a:ext cx="104775" cy="133350"/>
          </a:xfrm>
          <a:prstGeom prst="rect">
            <a:avLst/>
          </a:prstGeom>
        </p:spPr>
      </p:pic>
      <p:sp>
        <p:nvSpPr>
          <p:cNvPr id="55" name="c-border"/>
          <p:cNvSpPr/>
          <p:nvPr/>
        </p:nvSpPr>
        <p:spPr>
          <a:xfrm>
            <a:off x="8804225" y="3285083"/>
            <a:ext cx="2768501" cy="9525"/>
          </a:xfrm>
          <a:prstGeom prst="rect">
            <a:avLst/>
          </a:prstGeom>
          <a:solidFill>
            <a:srgbClr val="E2E8F0"/>
          </a:solidFill>
          <a:ln/>
        </p:spPr>
      </p:sp>
      <p:sp>
        <p:nvSpPr>
          <p:cNvPr id="56" name="text c"/>
          <p:cNvSpPr txBox="1"/>
          <p:nvPr/>
        </p:nvSpPr>
        <p:spPr>
          <a:xfrm>
            <a:off x="8937575" y="2748978"/>
            <a:ext cx="2374255" cy="206924"/>
          </a:xfrm>
          <a:prstGeom prst="rect">
            <a:avLst/>
          </a:prstGeom>
          <a:noFill/>
          <a:ln/>
        </p:spPr>
        <p:txBody>
          <a:bodyPr wrap="none" lIns="0" tIns="0" rIns="0" bIns="0" rtlCol="0" anchor="ctr"/>
          <a:lstStyle/>
          <a:p>
            <a:pPr algn="l" indent="0" marL="0">
              <a:buNone/>
            </a:pPr>
            <a:r>
              <a:rPr lang="en-US" sz="1120" b="1" dirty="0">
                <a:solidFill>
                  <a:srgbClr val="0F172A"/>
                </a:solidFill>
                <a:latin typeface="Segoe UI" pitchFamily="34" charset="0"/>
                <a:ea typeface="Segoe UI" pitchFamily="34" charset="-122"/>
                <a:cs typeface="Segoe UI" pitchFamily="34" charset="-120"/>
              </a:rPr>
              <a:t>Nhận MDR cho giao dịch thẻ, QR</a:t>
            </a:r>
            <a:endParaRPr lang="en-US" sz="1120" dirty="0"/>
          </a:p>
        </p:txBody>
      </p:sp>
      <p:sp>
        <p:nvSpPr>
          <p:cNvPr id="57" name="a l __nops-border"/>
          <p:cNvSpPr/>
          <p:nvPr/>
        </p:nvSpPr>
        <p:spPr>
          <a:xfrm>
            <a:off x="1838325" y="4152305"/>
            <a:ext cx="476250" cy="9525"/>
          </a:xfrm>
          <a:prstGeom prst="rect">
            <a:avLst/>
          </a:prstGeom>
          <a:solidFill>
            <a:srgbClr val="E2E8F0"/>
          </a:solidFill>
          <a:ln/>
        </p:spPr>
      </p:sp>
      <p:sp>
        <p:nvSpPr>
          <p:cNvPr id="58" name="Shape 49"/>
          <p:cNvSpPr/>
          <p:nvPr/>
        </p:nvSpPr>
        <p:spPr>
          <a:xfrm>
            <a:off x="1933575" y="3713708"/>
            <a:ext cx="285750" cy="23812"/>
          </a:xfrm>
          <a:prstGeom prst="rect">
            <a:avLst/>
          </a:prstGeom>
          <a:solidFill>
            <a:srgbClr val="E11D48"/>
          </a:solidFill>
          <a:ln/>
        </p:spPr>
      </p:sp>
      <p:pic>
        <p:nvPicPr>
          <p:cNvPr id="59" name="graphic SPAN" descr="SPAN">    </p:cNvPr>
          <p:cNvPicPr>
            <a:picLocks noChangeAspect="1"/>
          </p:cNvPicPr>
          <p:nvPr/>
        </p:nvPicPr>
        <p:blipFill>
          <a:blip r:embed="rId8"/>
          <a:stretch>
            <a:fillRect/>
          </a:stretch>
        </p:blipFill>
        <p:spPr>
          <a:xfrm>
            <a:off x="1895475" y="3656558"/>
            <a:ext cx="104775" cy="133350"/>
          </a:xfrm>
          <a:prstGeom prst="rect">
            <a:avLst/>
          </a:prstGeom>
        </p:spPr>
      </p:pic>
      <p:sp>
        <p:nvSpPr>
          <p:cNvPr id="60" name="c-border"/>
          <p:cNvSpPr/>
          <p:nvPr/>
        </p:nvSpPr>
        <p:spPr>
          <a:xfrm>
            <a:off x="2314575" y="4152305"/>
            <a:ext cx="2768501" cy="9525"/>
          </a:xfrm>
          <a:prstGeom prst="rect">
            <a:avLst/>
          </a:prstGeom>
          <a:solidFill>
            <a:srgbClr val="E2E8F0"/>
          </a:solidFill>
          <a:ln/>
        </p:spPr>
      </p:sp>
      <p:sp>
        <p:nvSpPr>
          <p:cNvPr id="61" name="text c"/>
          <p:cNvSpPr txBox="1"/>
          <p:nvPr/>
        </p:nvSpPr>
        <p:spPr>
          <a:xfrm>
            <a:off x="2447925" y="3616199"/>
            <a:ext cx="1328738" cy="206924"/>
          </a:xfrm>
          <a:prstGeom prst="rect">
            <a:avLst/>
          </a:prstGeom>
          <a:noFill/>
          <a:ln/>
        </p:spPr>
        <p:txBody>
          <a:bodyPr wrap="none" lIns="0" tIns="0" rIns="0" bIns="0" rtlCol="0" anchor="ctr"/>
          <a:lstStyle/>
          <a:p>
            <a:pPr algn="l" indent="0" marL="0">
              <a:buNone/>
            </a:pPr>
            <a:r>
              <a:rPr lang="en-US" sz="1120" b="1" dirty="0">
                <a:solidFill>
                  <a:srgbClr val="0F172A"/>
                </a:solidFill>
                <a:latin typeface="Segoe UI" pitchFamily="34" charset="0"/>
                <a:ea typeface="Segoe UI" pitchFamily="34" charset="-122"/>
                <a:cs typeface="Segoe UI" pitchFamily="34" charset="-120"/>
              </a:rPr>
              <a:t>Offer gói tín dụng</a:t>
            </a:r>
            <a:endParaRPr lang="en-US" sz="1120" dirty="0"/>
          </a:p>
        </p:txBody>
      </p:sp>
      <p:sp>
        <p:nvSpPr>
          <p:cNvPr id="62" name="tg"/>
          <p:cNvSpPr/>
          <p:nvPr/>
        </p:nvSpPr>
        <p:spPr>
          <a:xfrm>
            <a:off x="3743325" y="3624263"/>
            <a:ext cx="700534" cy="198388"/>
          </a:xfrm>
          <a:prstGeom prst="roundRect">
            <a:avLst>
              <a:gd name="adj" fmla="val 26407"/>
            </a:avLst>
          </a:prstGeom>
          <a:solidFill>
            <a:srgbClr val="FEF3C7"/>
          </a:solidFill>
          <a:ln w="9525">
            <a:solidFill>
              <a:srgbClr val="FBBF24"/>
            </a:solidFill>
            <a:prstDash val="solid"/>
          </a:ln>
        </p:spPr>
      </p:sp>
      <p:sp>
        <p:nvSpPr>
          <p:cNvPr id="63" name="text tg"/>
          <p:cNvSpPr txBox="1"/>
          <p:nvPr/>
        </p:nvSpPr>
        <p:spPr>
          <a:xfrm>
            <a:off x="3824287" y="3637146"/>
            <a:ext cx="652909" cy="164734"/>
          </a:xfrm>
          <a:prstGeom prst="rect">
            <a:avLst/>
          </a:prstGeom>
          <a:noFill/>
          <a:ln/>
        </p:spPr>
        <p:txBody>
          <a:bodyPr wrap="none" lIns="0" tIns="0" rIns="0" bIns="0" rtlCol="0" anchor="ctr"/>
          <a:lstStyle/>
          <a:p>
            <a:pPr algn="l" indent="0" marL="0">
              <a:buNone/>
            </a:pPr>
            <a:r>
              <a:rPr lang="en-US" sz="890" b="1" dirty="0">
                <a:solidFill>
                  <a:srgbClr val="B45309"/>
                </a:solidFill>
                <a:latin typeface="Segoe UI" pitchFamily="34" charset="0"/>
                <a:ea typeface="Segoe UI" pitchFamily="34" charset="-122"/>
                <a:cs typeface="Segoe UI" pitchFamily="34" charset="-120"/>
              </a:rPr>
              <a:t>Ăn chia Δ</a:t>
            </a:r>
            <a:endParaRPr lang="en-US" sz="890" dirty="0"/>
          </a:p>
        </p:txBody>
      </p:sp>
      <p:sp>
        <p:nvSpPr>
          <p:cNvPr id="64" name="a l __nops-border"/>
          <p:cNvSpPr/>
          <p:nvPr/>
        </p:nvSpPr>
        <p:spPr>
          <a:xfrm>
            <a:off x="5083076" y="4152305"/>
            <a:ext cx="476250" cy="9525"/>
          </a:xfrm>
          <a:prstGeom prst="rect">
            <a:avLst/>
          </a:prstGeom>
          <a:solidFill>
            <a:srgbClr val="E2E8F0"/>
          </a:solidFill>
          <a:ln/>
        </p:spPr>
      </p:sp>
      <p:sp>
        <p:nvSpPr>
          <p:cNvPr id="65" name="Shape 55"/>
          <p:cNvSpPr/>
          <p:nvPr/>
        </p:nvSpPr>
        <p:spPr>
          <a:xfrm>
            <a:off x="5178326" y="3713708"/>
            <a:ext cx="285750" cy="23812"/>
          </a:xfrm>
          <a:prstGeom prst="rect">
            <a:avLst/>
          </a:prstGeom>
          <a:solidFill>
            <a:srgbClr val="E11D48"/>
          </a:solidFill>
          <a:ln/>
        </p:spPr>
      </p:sp>
      <p:pic>
        <p:nvPicPr>
          <p:cNvPr id="66" name="graphic SPAN" descr="SPAN">    </p:cNvPr>
          <p:cNvPicPr>
            <a:picLocks noChangeAspect="1"/>
          </p:cNvPicPr>
          <p:nvPr/>
        </p:nvPicPr>
        <p:blipFill>
          <a:blip r:embed="rId9"/>
          <a:stretch>
            <a:fillRect/>
          </a:stretch>
        </p:blipFill>
        <p:spPr>
          <a:xfrm>
            <a:off x="5140226" y="3656558"/>
            <a:ext cx="104775" cy="133350"/>
          </a:xfrm>
          <a:prstGeom prst="rect">
            <a:avLst/>
          </a:prstGeom>
        </p:spPr>
      </p:pic>
      <p:sp>
        <p:nvSpPr>
          <p:cNvPr id="67" name="c-border"/>
          <p:cNvSpPr/>
          <p:nvPr/>
        </p:nvSpPr>
        <p:spPr>
          <a:xfrm>
            <a:off x="5559326" y="4152305"/>
            <a:ext cx="2768650" cy="9525"/>
          </a:xfrm>
          <a:prstGeom prst="rect">
            <a:avLst/>
          </a:prstGeom>
          <a:solidFill>
            <a:srgbClr val="E2E8F0"/>
          </a:solidFill>
          <a:ln/>
        </p:spPr>
      </p:sp>
      <p:sp>
        <p:nvSpPr>
          <p:cNvPr id="68" name="text c"/>
          <p:cNvSpPr txBox="1"/>
          <p:nvPr/>
        </p:nvSpPr>
        <p:spPr>
          <a:xfrm>
            <a:off x="5692676" y="3616194"/>
            <a:ext cx="1596628" cy="206935"/>
          </a:xfrm>
          <a:prstGeom prst="rect">
            <a:avLst/>
          </a:prstGeom>
          <a:noFill/>
          <a:ln/>
        </p:spPr>
        <p:txBody>
          <a:bodyPr wrap="none" lIns="0" tIns="0" rIns="0" bIns="0" rtlCol="0" anchor="ctr"/>
          <a:lstStyle/>
          <a:p>
            <a:pPr algn="l" indent="0" marL="0">
              <a:buNone/>
            </a:pPr>
            <a:r>
              <a:rPr lang="en-US" sz="1120" b="1" dirty="0">
                <a:solidFill>
                  <a:srgbClr val="0F172A"/>
                </a:solidFill>
                <a:latin typeface="Segoe UI" pitchFamily="34" charset="0"/>
                <a:ea typeface="Segoe UI" pitchFamily="34" charset="-122"/>
                <a:cs typeface="Segoe UI" pitchFamily="34" charset="-120"/>
              </a:rPr>
              <a:t>Cấp gói tín dụng SME</a:t>
            </a:r>
            <a:endParaRPr lang="en-US" sz="1120" dirty="0"/>
          </a:p>
        </p:txBody>
      </p:sp>
      <p:sp>
        <p:nvSpPr>
          <p:cNvPr id="69" name="tg"/>
          <p:cNvSpPr/>
          <p:nvPr/>
        </p:nvSpPr>
        <p:spPr>
          <a:xfrm>
            <a:off x="7255966" y="3624263"/>
            <a:ext cx="700534" cy="198388"/>
          </a:xfrm>
          <a:prstGeom prst="roundRect">
            <a:avLst>
              <a:gd name="adj" fmla="val 26407"/>
            </a:avLst>
          </a:prstGeom>
          <a:solidFill>
            <a:srgbClr val="FEF3C7"/>
          </a:solidFill>
          <a:ln w="9525">
            <a:solidFill>
              <a:srgbClr val="FBBF24"/>
            </a:solidFill>
            <a:prstDash val="solid"/>
          </a:ln>
        </p:spPr>
      </p:sp>
      <p:sp>
        <p:nvSpPr>
          <p:cNvPr id="70" name="text tg"/>
          <p:cNvSpPr txBox="1"/>
          <p:nvPr/>
        </p:nvSpPr>
        <p:spPr>
          <a:xfrm>
            <a:off x="7336929" y="3637146"/>
            <a:ext cx="652909" cy="164734"/>
          </a:xfrm>
          <a:prstGeom prst="rect">
            <a:avLst/>
          </a:prstGeom>
          <a:noFill/>
          <a:ln/>
        </p:spPr>
        <p:txBody>
          <a:bodyPr wrap="none" lIns="0" tIns="0" rIns="0" bIns="0" rtlCol="0" anchor="ctr"/>
          <a:lstStyle/>
          <a:p>
            <a:pPr algn="l" indent="0" marL="0">
              <a:buNone/>
            </a:pPr>
            <a:r>
              <a:rPr lang="en-US" sz="890" b="1" dirty="0">
                <a:solidFill>
                  <a:srgbClr val="B45309"/>
                </a:solidFill>
                <a:latin typeface="Segoe UI" pitchFamily="34" charset="0"/>
                <a:ea typeface="Segoe UI" pitchFamily="34" charset="-122"/>
                <a:cs typeface="Segoe UI" pitchFamily="34" charset="-120"/>
              </a:rPr>
              <a:t>Ăn chia Δ</a:t>
            </a:r>
            <a:endParaRPr lang="en-US" sz="890" dirty="0"/>
          </a:p>
        </p:txBody>
      </p:sp>
      <p:sp>
        <p:nvSpPr>
          <p:cNvPr id="71" name="a x-border"/>
          <p:cNvSpPr/>
          <p:nvPr/>
        </p:nvSpPr>
        <p:spPr>
          <a:xfrm>
            <a:off x="8327975" y="4152305"/>
            <a:ext cx="476250" cy="9525"/>
          </a:xfrm>
          <a:prstGeom prst="rect">
            <a:avLst/>
          </a:prstGeom>
          <a:solidFill>
            <a:srgbClr val="E2E8F0"/>
          </a:solidFill>
          <a:ln/>
        </p:spPr>
      </p:sp>
      <p:sp>
        <p:nvSpPr>
          <p:cNvPr id="72" name="c no"/>
          <p:cNvSpPr/>
          <p:nvPr/>
        </p:nvSpPr>
        <p:spPr>
          <a:xfrm>
            <a:off x="8804225" y="3294608"/>
            <a:ext cx="2768501" cy="867221"/>
          </a:xfrm>
          <a:prstGeom prst="rect">
            <a:avLst/>
          </a:prstGeom>
          <a:solidFill>
            <a:srgbClr val="F8FAFC"/>
          </a:solidFill>
          <a:ln/>
        </p:spPr>
      </p:sp>
      <p:sp>
        <p:nvSpPr>
          <p:cNvPr id="73" name="c no-border"/>
          <p:cNvSpPr/>
          <p:nvPr/>
        </p:nvSpPr>
        <p:spPr>
          <a:xfrm>
            <a:off x="8804225" y="4152305"/>
            <a:ext cx="2768501" cy="9525"/>
          </a:xfrm>
          <a:prstGeom prst="rect">
            <a:avLst/>
          </a:prstGeom>
          <a:solidFill>
            <a:srgbClr val="E2E8F0"/>
          </a:solidFill>
          <a:ln/>
        </p:spPr>
      </p:sp>
      <p:sp>
        <p:nvSpPr>
          <p:cNvPr id="74" name="seg k last"/>
          <p:cNvSpPr/>
          <p:nvPr/>
        </p:nvSpPr>
        <p:spPr>
          <a:xfrm>
            <a:off x="619125" y="4161830"/>
            <a:ext cx="1219200" cy="1734145"/>
          </a:xfrm>
          <a:prstGeom prst="rect">
            <a:avLst/>
          </a:prstGeom>
          <a:solidFill>
            <a:srgbClr val="1E3A8A"/>
          </a:solidFill>
          <a:ln/>
        </p:spPr>
      </p:sp>
      <p:sp>
        <p:nvSpPr>
          <p:cNvPr id="75" name="text seg k last"/>
          <p:cNvSpPr txBox="1"/>
          <p:nvPr/>
        </p:nvSpPr>
        <p:spPr>
          <a:xfrm>
            <a:off x="792956" y="4740057"/>
            <a:ext cx="871538" cy="234791"/>
          </a:xfrm>
          <a:prstGeom prst="rect">
            <a:avLst/>
          </a:prstGeom>
          <a:noFill/>
          <a:ln/>
        </p:spPr>
        <p:txBody>
          <a:bodyPr wrap="none" lIns="0" tIns="0" rIns="0" bIns="0" rtlCol="0" anchor="ctr"/>
          <a:lstStyle/>
          <a:p>
            <a:pPr algn="ctr" indent="0" marL="0">
              <a:buNone/>
            </a:pPr>
            <a:r>
              <a:rPr lang="en-US" sz="1280" dirty="0">
                <a:solidFill>
                  <a:srgbClr val="FFFFFF"/>
                </a:solidFill>
                <a:latin typeface="Segoe UI Black" pitchFamily="34" charset="0"/>
                <a:ea typeface="Segoe UI Black" pitchFamily="34" charset="-122"/>
                <a:cs typeface="Segoe UI Black" pitchFamily="34" charset="-120"/>
              </a:rPr>
              <a:t>Du khách</a:t>
            </a:r>
            <a:endParaRPr lang="en-US" sz="1280" dirty="0"/>
          </a:p>
        </p:txBody>
      </p:sp>
      <p:sp>
        <p:nvSpPr>
          <p:cNvPr id="76" name="text span"/>
          <p:cNvSpPr txBox="1"/>
          <p:nvPr/>
        </p:nvSpPr>
        <p:spPr>
          <a:xfrm>
            <a:off x="619125" y="5009852"/>
            <a:ext cx="1257300" cy="285750"/>
          </a:xfrm>
          <a:prstGeom prst="rect">
            <a:avLst/>
          </a:prstGeom>
          <a:noFill/>
          <a:ln/>
        </p:spPr>
        <p:txBody>
          <a:bodyPr wrap="square" lIns="0" tIns="0" rIns="0" bIns="0" rtlCol="0" anchor="ctr"/>
          <a:lstStyle/>
          <a:p>
            <a:pPr algn="ctr" indent="0" marL="0">
              <a:lnSpc>
                <a:spcPts val="1130"/>
              </a:lnSpc>
              <a:buNone/>
            </a:pPr>
            <a:r>
              <a:rPr lang="en-US" sz="900" b="1" dirty="0">
                <a:solidFill>
                  <a:srgbClr val="FFFFFF">
                    <a:alpha val="72000"/>
                  </a:srgbClr>
                </a:solidFill>
                <a:latin typeface="Segoe UI" pitchFamily="34" charset="0"/>
                <a:ea typeface="Segoe UI" pitchFamily="34" charset="-122"/>
                <a:cs typeface="Segoe UI" pitchFamily="34" charset="-120"/>
              </a:rPr>
              <a:t>Thanh toán thẻ, dùng AI Booking</a:t>
            </a:r>
            <a:endParaRPr lang="en-US" sz="900" dirty="0"/>
          </a:p>
        </p:txBody>
      </p:sp>
      <p:sp>
        <p:nvSpPr>
          <p:cNvPr id="77" name="a l k __nops-border"/>
          <p:cNvSpPr/>
          <p:nvPr/>
        </p:nvSpPr>
        <p:spPr>
          <a:xfrm>
            <a:off x="1838325" y="5019377"/>
            <a:ext cx="476250" cy="9525"/>
          </a:xfrm>
          <a:prstGeom prst="rect">
            <a:avLst/>
          </a:prstGeom>
          <a:solidFill>
            <a:srgbClr val="E2E8F0"/>
          </a:solidFill>
          <a:ln/>
        </p:spPr>
      </p:sp>
      <p:sp>
        <p:nvSpPr>
          <p:cNvPr id="78" name="Shape 67"/>
          <p:cNvSpPr/>
          <p:nvPr/>
        </p:nvSpPr>
        <p:spPr>
          <a:xfrm>
            <a:off x="1933575" y="4580930"/>
            <a:ext cx="285750" cy="23812"/>
          </a:xfrm>
          <a:prstGeom prst="rect">
            <a:avLst/>
          </a:prstGeom>
          <a:solidFill>
            <a:srgbClr val="1E3A8A"/>
          </a:solidFill>
          <a:ln/>
        </p:spPr>
      </p:sp>
      <p:pic>
        <p:nvPicPr>
          <p:cNvPr id="79" name="graphic SPAN" descr="SPAN">    </p:cNvPr>
          <p:cNvPicPr>
            <a:picLocks noChangeAspect="1"/>
          </p:cNvPicPr>
          <p:nvPr/>
        </p:nvPicPr>
        <p:blipFill>
          <a:blip r:embed="rId10"/>
          <a:stretch>
            <a:fillRect/>
          </a:stretch>
        </p:blipFill>
        <p:spPr>
          <a:xfrm>
            <a:off x="1895475" y="4523780"/>
            <a:ext cx="104775" cy="133350"/>
          </a:xfrm>
          <a:prstGeom prst="rect">
            <a:avLst/>
          </a:prstGeom>
        </p:spPr>
      </p:pic>
      <p:sp>
        <p:nvSpPr>
          <p:cNvPr id="80" name="c-border"/>
          <p:cNvSpPr/>
          <p:nvPr/>
        </p:nvSpPr>
        <p:spPr>
          <a:xfrm>
            <a:off x="2314575" y="5019377"/>
            <a:ext cx="2768501" cy="9525"/>
          </a:xfrm>
          <a:prstGeom prst="rect">
            <a:avLst/>
          </a:prstGeom>
          <a:solidFill>
            <a:srgbClr val="E2E8F0"/>
          </a:solidFill>
          <a:ln/>
        </p:spPr>
      </p:sp>
      <p:sp>
        <p:nvSpPr>
          <p:cNvPr id="81" name="text c"/>
          <p:cNvSpPr txBox="1"/>
          <p:nvPr/>
        </p:nvSpPr>
        <p:spPr>
          <a:xfrm>
            <a:off x="2447925" y="4292623"/>
            <a:ext cx="2387980" cy="206924"/>
          </a:xfrm>
          <a:prstGeom prst="rect">
            <a:avLst/>
          </a:prstGeom>
          <a:noFill/>
          <a:ln/>
        </p:spPr>
        <p:txBody>
          <a:bodyPr wrap="none" lIns="0" tIns="0" rIns="0" bIns="0" rtlCol="0" anchor="ctr"/>
          <a:lstStyle/>
          <a:p>
            <a:pPr algn="l" indent="0" marL="0">
              <a:buNone/>
            </a:pPr>
            <a:r>
              <a:rPr lang="en-US" sz="1120" b="1" dirty="0">
                <a:solidFill>
                  <a:srgbClr val="0F172A"/>
                </a:solidFill>
                <a:latin typeface="Segoe UI" pitchFamily="34" charset="0"/>
                <a:ea typeface="Segoe UI" pitchFamily="34" charset="-122"/>
                <a:cs typeface="Segoe UI" pitchFamily="34" charset="-120"/>
              </a:rPr>
              <a:t>Cấp ưu đãi khi dùng Visa Accept</a:t>
            </a:r>
            <a:endParaRPr lang="en-US" sz="1120" dirty="0"/>
          </a:p>
        </p:txBody>
      </p:sp>
      <p:sp>
        <p:nvSpPr>
          <p:cNvPr id="82" name="tg"/>
          <p:cNvSpPr/>
          <p:nvPr/>
        </p:nvSpPr>
        <p:spPr>
          <a:xfrm>
            <a:off x="2452688" y="4672310"/>
            <a:ext cx="547390" cy="198388"/>
          </a:xfrm>
          <a:prstGeom prst="roundRect">
            <a:avLst>
              <a:gd name="adj" fmla="val 26407"/>
            </a:avLst>
          </a:prstGeom>
          <a:solidFill>
            <a:srgbClr val="FEF3C7"/>
          </a:solidFill>
          <a:ln w="9525">
            <a:solidFill>
              <a:srgbClr val="FBBF24"/>
            </a:solidFill>
            <a:prstDash val="solid"/>
          </a:ln>
        </p:spPr>
      </p:sp>
      <p:sp>
        <p:nvSpPr>
          <p:cNvPr id="83" name="text tg"/>
          <p:cNvSpPr txBox="1"/>
          <p:nvPr/>
        </p:nvSpPr>
        <p:spPr>
          <a:xfrm>
            <a:off x="2533650" y="4684023"/>
            <a:ext cx="499765" cy="167074"/>
          </a:xfrm>
          <a:prstGeom prst="rect">
            <a:avLst/>
          </a:prstGeom>
          <a:noFill/>
          <a:ln/>
        </p:spPr>
        <p:txBody>
          <a:bodyPr wrap="none" lIns="0" tIns="0" rIns="0" bIns="0" rtlCol="0" anchor="ctr"/>
          <a:lstStyle/>
          <a:p>
            <a:pPr algn="l" indent="0" marL="0">
              <a:buNone/>
            </a:pPr>
            <a:r>
              <a:rPr lang="en-US" sz="910" b="1" dirty="0">
                <a:solidFill>
                  <a:srgbClr val="B45309"/>
                </a:solidFill>
                <a:latin typeface="Segoe UI" pitchFamily="34" charset="0"/>
                <a:ea typeface="Segoe UI" pitchFamily="34" charset="-122"/>
                <a:cs typeface="Segoe UI" pitchFamily="34" charset="-120"/>
              </a:rPr>
              <a:t>80% Δ</a:t>
            </a:r>
            <a:endParaRPr lang="en-US" sz="910" dirty="0"/>
          </a:p>
        </p:txBody>
      </p:sp>
      <p:sp>
        <p:nvSpPr>
          <p:cNvPr id="84" name="a l k __nops-border"/>
          <p:cNvSpPr/>
          <p:nvPr/>
        </p:nvSpPr>
        <p:spPr>
          <a:xfrm>
            <a:off x="5083076" y="5019377"/>
            <a:ext cx="476250" cy="9525"/>
          </a:xfrm>
          <a:prstGeom prst="rect">
            <a:avLst/>
          </a:prstGeom>
          <a:solidFill>
            <a:srgbClr val="E2E8F0"/>
          </a:solidFill>
          <a:ln/>
        </p:spPr>
      </p:sp>
      <p:sp>
        <p:nvSpPr>
          <p:cNvPr id="85" name="Shape 73"/>
          <p:cNvSpPr/>
          <p:nvPr/>
        </p:nvSpPr>
        <p:spPr>
          <a:xfrm>
            <a:off x="5178326" y="4580930"/>
            <a:ext cx="285750" cy="23812"/>
          </a:xfrm>
          <a:prstGeom prst="rect">
            <a:avLst/>
          </a:prstGeom>
          <a:solidFill>
            <a:srgbClr val="1E3A8A"/>
          </a:solidFill>
          <a:ln/>
        </p:spPr>
      </p:sp>
      <p:pic>
        <p:nvPicPr>
          <p:cNvPr id="86" name="graphic SPAN" descr="SPAN">    </p:cNvPr>
          <p:cNvPicPr>
            <a:picLocks noChangeAspect="1"/>
          </p:cNvPicPr>
          <p:nvPr/>
        </p:nvPicPr>
        <p:blipFill>
          <a:blip r:embed="rId11"/>
          <a:stretch>
            <a:fillRect/>
          </a:stretch>
        </p:blipFill>
        <p:spPr>
          <a:xfrm>
            <a:off x="5140226" y="4523780"/>
            <a:ext cx="104775" cy="133350"/>
          </a:xfrm>
          <a:prstGeom prst="rect">
            <a:avLst/>
          </a:prstGeom>
        </p:spPr>
      </p:pic>
      <p:sp>
        <p:nvSpPr>
          <p:cNvPr id="87" name="c-border"/>
          <p:cNvSpPr/>
          <p:nvPr/>
        </p:nvSpPr>
        <p:spPr>
          <a:xfrm>
            <a:off x="5559326" y="5019377"/>
            <a:ext cx="2768650" cy="9525"/>
          </a:xfrm>
          <a:prstGeom prst="rect">
            <a:avLst/>
          </a:prstGeom>
          <a:solidFill>
            <a:srgbClr val="E2E8F0"/>
          </a:solidFill>
          <a:ln/>
        </p:spPr>
      </p:sp>
      <p:sp>
        <p:nvSpPr>
          <p:cNvPr id="88" name="text c"/>
          <p:cNvSpPr txBox="1"/>
          <p:nvPr/>
        </p:nvSpPr>
        <p:spPr>
          <a:xfrm>
            <a:off x="5692676" y="4292618"/>
            <a:ext cx="2620831" cy="206935"/>
          </a:xfrm>
          <a:prstGeom prst="rect">
            <a:avLst/>
          </a:prstGeom>
          <a:noFill/>
          <a:ln/>
        </p:spPr>
        <p:txBody>
          <a:bodyPr wrap="none" lIns="0" tIns="0" rIns="0" bIns="0" rtlCol="0" anchor="ctr"/>
          <a:lstStyle/>
          <a:p>
            <a:pPr algn="l" indent="0" marL="0">
              <a:buNone/>
            </a:pPr>
            <a:r>
              <a:rPr lang="en-US" sz="1120" b="1" dirty="0">
                <a:solidFill>
                  <a:srgbClr val="0F172A"/>
                </a:solidFill>
                <a:latin typeface="Segoe UI" pitchFamily="34" charset="0"/>
                <a:ea typeface="Segoe UI" pitchFamily="34" charset="-122"/>
                <a:cs typeface="Segoe UI" pitchFamily="34" charset="-120"/>
              </a:rPr>
              <a:t>Thu phí giao dịch booking phát sinh</a:t>
            </a:r>
            <a:endParaRPr lang="en-US" sz="1120" dirty="0"/>
          </a:p>
        </p:txBody>
      </p:sp>
      <p:sp>
        <p:nvSpPr>
          <p:cNvPr id="89" name="tg"/>
          <p:cNvSpPr/>
          <p:nvPr/>
        </p:nvSpPr>
        <p:spPr>
          <a:xfrm>
            <a:off x="5697438" y="4672310"/>
            <a:ext cx="994767" cy="198388"/>
          </a:xfrm>
          <a:prstGeom prst="roundRect">
            <a:avLst>
              <a:gd name="adj" fmla="val 26407"/>
            </a:avLst>
          </a:prstGeom>
          <a:solidFill>
            <a:srgbClr val="FEF3C7"/>
          </a:solidFill>
          <a:ln w="9525">
            <a:solidFill>
              <a:srgbClr val="FBBF24"/>
            </a:solidFill>
            <a:prstDash val="solid"/>
          </a:ln>
        </p:spPr>
      </p:sp>
      <p:sp>
        <p:nvSpPr>
          <p:cNvPr id="90" name="text tg"/>
          <p:cNvSpPr txBox="1"/>
          <p:nvPr/>
        </p:nvSpPr>
        <p:spPr>
          <a:xfrm>
            <a:off x="5778401" y="4684347"/>
            <a:ext cx="947142" cy="166426"/>
          </a:xfrm>
          <a:prstGeom prst="rect">
            <a:avLst/>
          </a:prstGeom>
          <a:noFill/>
          <a:ln/>
        </p:spPr>
        <p:txBody>
          <a:bodyPr wrap="none" lIns="0" tIns="0" rIns="0" bIns="0" rtlCol="0" anchor="ctr"/>
          <a:lstStyle/>
          <a:p>
            <a:pPr algn="l" indent="0" marL="0">
              <a:buNone/>
            </a:pPr>
            <a:r>
              <a:rPr lang="en-US" sz="900" b="1" dirty="0">
                <a:solidFill>
                  <a:srgbClr val="B45309"/>
                </a:solidFill>
                <a:latin typeface="Segoe UI" pitchFamily="34" charset="0"/>
                <a:ea typeface="Segoe UI" pitchFamily="34" charset="-122"/>
                <a:cs typeface="Segoe UI" pitchFamily="34" charset="-120"/>
              </a:rPr>
              <a:t>Ăn chia Δ 50%</a:t>
            </a:r>
            <a:endParaRPr lang="en-US" sz="900" dirty="0"/>
          </a:p>
        </p:txBody>
      </p:sp>
      <p:sp>
        <p:nvSpPr>
          <p:cNvPr id="91" name="a x-border"/>
          <p:cNvSpPr/>
          <p:nvPr/>
        </p:nvSpPr>
        <p:spPr>
          <a:xfrm>
            <a:off x="8327975" y="5019377"/>
            <a:ext cx="476250" cy="9525"/>
          </a:xfrm>
          <a:prstGeom prst="rect">
            <a:avLst/>
          </a:prstGeom>
          <a:solidFill>
            <a:srgbClr val="E2E8F0"/>
          </a:solidFill>
          <a:ln/>
        </p:spPr>
      </p:sp>
      <p:sp>
        <p:nvSpPr>
          <p:cNvPr id="92" name="c no"/>
          <p:cNvSpPr/>
          <p:nvPr/>
        </p:nvSpPr>
        <p:spPr>
          <a:xfrm>
            <a:off x="8804225" y="4161830"/>
            <a:ext cx="2768501" cy="867073"/>
          </a:xfrm>
          <a:prstGeom prst="rect">
            <a:avLst/>
          </a:prstGeom>
          <a:solidFill>
            <a:srgbClr val="F8FAFC"/>
          </a:solidFill>
          <a:ln/>
        </p:spPr>
      </p:sp>
      <p:sp>
        <p:nvSpPr>
          <p:cNvPr id="93" name="c no-border"/>
          <p:cNvSpPr/>
          <p:nvPr/>
        </p:nvSpPr>
        <p:spPr>
          <a:xfrm>
            <a:off x="8804225" y="5019377"/>
            <a:ext cx="2768501" cy="9525"/>
          </a:xfrm>
          <a:prstGeom prst="rect">
            <a:avLst/>
          </a:prstGeom>
          <a:solidFill>
            <a:srgbClr val="E2E8F0"/>
          </a:solidFill>
          <a:ln/>
        </p:spPr>
      </p:sp>
      <p:sp>
        <p:nvSpPr>
          <p:cNvPr id="94" name="Shape 81"/>
          <p:cNvSpPr/>
          <p:nvPr/>
        </p:nvSpPr>
        <p:spPr>
          <a:xfrm>
            <a:off x="1933575" y="5452765"/>
            <a:ext cx="285750" cy="23812"/>
          </a:xfrm>
          <a:prstGeom prst="rect">
            <a:avLst/>
          </a:prstGeom>
          <a:solidFill>
            <a:srgbClr val="1E3A8A"/>
          </a:solidFill>
          <a:ln/>
        </p:spPr>
      </p:sp>
      <p:pic>
        <p:nvPicPr>
          <p:cNvPr id="95" name="graphic SPAN" descr="SPAN">    </p:cNvPr>
          <p:cNvPicPr>
            <a:picLocks noChangeAspect="1"/>
          </p:cNvPicPr>
          <p:nvPr/>
        </p:nvPicPr>
        <p:blipFill>
          <a:blip r:embed="rId12"/>
          <a:stretch>
            <a:fillRect/>
          </a:stretch>
        </p:blipFill>
        <p:spPr>
          <a:xfrm>
            <a:off x="2152650" y="5395615"/>
            <a:ext cx="104775" cy="133350"/>
          </a:xfrm>
          <a:prstGeom prst="rect">
            <a:avLst/>
          </a:prstGeom>
        </p:spPr>
      </p:pic>
      <p:sp>
        <p:nvSpPr>
          <p:cNvPr id="96" name="text c last"/>
          <p:cNvSpPr txBox="1"/>
          <p:nvPr/>
        </p:nvSpPr>
        <p:spPr>
          <a:xfrm>
            <a:off x="2447925" y="5270271"/>
            <a:ext cx="2539901" cy="376744"/>
          </a:xfrm>
          <a:prstGeom prst="rect">
            <a:avLst/>
          </a:prstGeom>
          <a:noFill/>
          <a:ln/>
        </p:spPr>
        <p:txBody>
          <a:bodyPr wrap="square" lIns="0" tIns="0" rIns="0" bIns="0" rtlCol="0" anchor="ctr"/>
          <a:lstStyle/>
          <a:p>
            <a:pPr algn="l" indent="0" marL="0">
              <a:lnSpc>
                <a:spcPts val="1480"/>
              </a:lnSpc>
              <a:buNone/>
            </a:pPr>
            <a:r>
              <a:rPr lang="en-US" sz="1120" b="1" dirty="0">
                <a:solidFill>
                  <a:srgbClr val="0F172A"/>
                </a:solidFill>
                <a:latin typeface="Segoe UI" pitchFamily="34" charset="0"/>
                <a:ea typeface="Segoe UI" pitchFamily="34" charset="-122"/>
                <a:cs typeface="Segoe UI" pitchFamily="34" charset="-120"/>
              </a:rPr>
              <a:t>Cung cấp gói sub khi dùng dịch vụ booking AI</a:t>
            </a:r>
            <a:endParaRPr lang="en-US" sz="1120" dirty="0"/>
          </a:p>
        </p:txBody>
      </p:sp>
      <p:sp>
        <p:nvSpPr>
          <p:cNvPr id="97" name="Shape 83"/>
          <p:cNvSpPr/>
          <p:nvPr/>
        </p:nvSpPr>
        <p:spPr>
          <a:xfrm>
            <a:off x="5178326" y="5452765"/>
            <a:ext cx="285750" cy="23812"/>
          </a:xfrm>
          <a:prstGeom prst="rect">
            <a:avLst/>
          </a:prstGeom>
          <a:solidFill>
            <a:srgbClr val="1E3A8A"/>
          </a:solidFill>
          <a:ln/>
        </p:spPr>
      </p:sp>
      <p:pic>
        <p:nvPicPr>
          <p:cNvPr id="98" name="graphic SPAN" descr="SPAN">    </p:cNvPr>
          <p:cNvPicPr>
            <a:picLocks noChangeAspect="1"/>
          </p:cNvPicPr>
          <p:nvPr/>
        </p:nvPicPr>
        <p:blipFill>
          <a:blip r:embed="rId13"/>
          <a:stretch>
            <a:fillRect/>
          </a:stretch>
        </p:blipFill>
        <p:spPr>
          <a:xfrm>
            <a:off x="5397401" y="5395615"/>
            <a:ext cx="104775" cy="133350"/>
          </a:xfrm>
          <a:prstGeom prst="rect">
            <a:avLst/>
          </a:prstGeom>
        </p:spPr>
      </p:pic>
      <p:sp>
        <p:nvSpPr>
          <p:cNvPr id="99" name="text c last"/>
          <p:cNvSpPr txBox="1"/>
          <p:nvPr/>
        </p:nvSpPr>
        <p:spPr>
          <a:xfrm>
            <a:off x="5692676" y="5355102"/>
            <a:ext cx="639217" cy="206935"/>
          </a:xfrm>
          <a:prstGeom prst="rect">
            <a:avLst/>
          </a:prstGeom>
          <a:noFill/>
          <a:ln/>
        </p:spPr>
        <p:txBody>
          <a:bodyPr wrap="none" lIns="0" tIns="0" rIns="0" bIns="0" rtlCol="0" anchor="ctr"/>
          <a:lstStyle/>
          <a:p>
            <a:pPr algn="l" indent="0" marL="0">
              <a:buNone/>
            </a:pPr>
            <a:r>
              <a:rPr lang="en-US" sz="1120" b="1" dirty="0">
                <a:solidFill>
                  <a:srgbClr val="0F172A"/>
                </a:solidFill>
                <a:latin typeface="Segoe UI" pitchFamily="34" charset="0"/>
                <a:ea typeface="Segoe UI" pitchFamily="34" charset="-122"/>
                <a:cs typeface="Segoe UI" pitchFamily="34" charset="-120"/>
              </a:rPr>
              <a:t>Thu phí</a:t>
            </a:r>
            <a:endParaRPr lang="en-US" sz="1120" dirty="0"/>
          </a:p>
        </p:txBody>
      </p:sp>
      <p:sp>
        <p:nvSpPr>
          <p:cNvPr id="100" name="tg"/>
          <p:cNvSpPr/>
          <p:nvPr/>
        </p:nvSpPr>
        <p:spPr>
          <a:xfrm>
            <a:off x="6298555" y="5363170"/>
            <a:ext cx="700534" cy="198388"/>
          </a:xfrm>
          <a:prstGeom prst="roundRect">
            <a:avLst>
              <a:gd name="adj" fmla="val 26407"/>
            </a:avLst>
          </a:prstGeom>
          <a:solidFill>
            <a:srgbClr val="FEF3C7"/>
          </a:solidFill>
          <a:ln w="9525">
            <a:solidFill>
              <a:srgbClr val="FBBF24"/>
            </a:solidFill>
            <a:prstDash val="solid"/>
          </a:ln>
        </p:spPr>
      </p:sp>
      <p:sp>
        <p:nvSpPr>
          <p:cNvPr id="101" name="text tg"/>
          <p:cNvSpPr txBox="1"/>
          <p:nvPr/>
        </p:nvSpPr>
        <p:spPr>
          <a:xfrm>
            <a:off x="6379518" y="5376053"/>
            <a:ext cx="652909" cy="164734"/>
          </a:xfrm>
          <a:prstGeom prst="rect">
            <a:avLst/>
          </a:prstGeom>
          <a:noFill/>
          <a:ln/>
        </p:spPr>
        <p:txBody>
          <a:bodyPr wrap="none" lIns="0" tIns="0" rIns="0" bIns="0" rtlCol="0" anchor="ctr"/>
          <a:lstStyle/>
          <a:p>
            <a:pPr algn="l" indent="0" marL="0">
              <a:buNone/>
            </a:pPr>
            <a:r>
              <a:rPr lang="en-US" sz="890" b="1" dirty="0">
                <a:solidFill>
                  <a:srgbClr val="B45309"/>
                </a:solidFill>
                <a:latin typeface="Segoe UI" pitchFamily="34" charset="0"/>
                <a:ea typeface="Segoe UI" pitchFamily="34" charset="-122"/>
                <a:cs typeface="Segoe UI" pitchFamily="34" charset="-120"/>
              </a:rPr>
              <a:t>Ăn chia Δ</a:t>
            </a:r>
            <a:endParaRPr lang="en-US" sz="890" dirty="0"/>
          </a:p>
        </p:txBody>
      </p:sp>
      <p:sp>
        <p:nvSpPr>
          <p:cNvPr id="102" name="c no last"/>
          <p:cNvSpPr/>
          <p:nvPr/>
        </p:nvSpPr>
        <p:spPr>
          <a:xfrm>
            <a:off x="8804225" y="5028902"/>
            <a:ext cx="2768501" cy="867073"/>
          </a:xfrm>
          <a:prstGeom prst="rect">
            <a:avLst/>
          </a:prstGeom>
          <a:solidFill>
            <a:srgbClr val="F8FAFC"/>
          </a:solidFill>
          <a:ln/>
        </p:spPr>
      </p:sp>
      <p:sp>
        <p:nvSpPr>
          <p:cNvPr id="103" name="text span"/>
          <p:cNvSpPr txBox="1"/>
          <p:nvPr/>
        </p:nvSpPr>
        <p:spPr>
          <a:xfrm>
            <a:off x="609600" y="5987260"/>
            <a:ext cx="2713434" cy="179379"/>
          </a:xfrm>
          <a:prstGeom prst="rect">
            <a:avLst/>
          </a:prstGeom>
          <a:noFill/>
          <a:ln/>
        </p:spPr>
        <p:txBody>
          <a:bodyPr wrap="none" lIns="0" tIns="0" rIns="0" bIns="0" rtlCol="0" anchor="ctr"/>
          <a:lstStyle/>
          <a:p>
            <a:pPr algn="l" indent="0" marL="0">
              <a:buNone/>
            </a:pPr>
            <a:r>
              <a:rPr lang="en-US" sz="970" dirty="0">
                <a:solidFill>
                  <a:srgbClr val="334155"/>
                </a:solidFill>
                <a:latin typeface="Segoe UI Black" pitchFamily="34" charset="0"/>
                <a:ea typeface="Segoe UI Black" pitchFamily="34" charset="-122"/>
                <a:cs typeface="Segoe UI Black" pitchFamily="34" charset="-120"/>
              </a:rPr>
              <a:t>Mũi tên</a:t>
            </a:r>
            <a:pPr algn="l" indent="0" marL="0">
              <a:buNone/>
            </a:pPr>
            <a:r>
              <a:rPr lang="en-US" sz="970" b="1" dirty="0">
                <a:solidFill>
                  <a:srgbClr val="64748B"/>
                </a:solidFill>
                <a:latin typeface="Segoe UI" pitchFamily="34" charset="0"/>
                <a:ea typeface="Segoe UI" pitchFamily="34" charset="-122"/>
                <a:cs typeface="Segoe UI" pitchFamily="34" charset="-120"/>
              </a:rPr>
              <a:t>: chiều dòng tiền, ưu đãi, sản phẩm</a:t>
            </a:r>
            <a:endParaRPr lang="en-US" sz="970" dirty="0"/>
          </a:p>
        </p:txBody>
      </p:sp>
      <p:sp>
        <p:nvSpPr>
          <p:cNvPr id="104" name="text span"/>
          <p:cNvSpPr txBox="1"/>
          <p:nvPr/>
        </p:nvSpPr>
        <p:spPr>
          <a:xfrm>
            <a:off x="3378994" y="5987084"/>
            <a:ext cx="3830517" cy="179731"/>
          </a:xfrm>
          <a:prstGeom prst="rect">
            <a:avLst/>
          </a:prstGeom>
          <a:noFill/>
          <a:ln/>
        </p:spPr>
        <p:txBody>
          <a:bodyPr wrap="none" lIns="0" tIns="0" rIns="0" bIns="0" rtlCol="0" anchor="ctr"/>
          <a:lstStyle/>
          <a:p>
            <a:pPr algn="l" indent="0" marL="0">
              <a:buNone/>
            </a:pPr>
            <a:r>
              <a:rPr lang="en-US" sz="980" dirty="0">
                <a:solidFill>
                  <a:srgbClr val="334155"/>
                </a:solidFill>
                <a:latin typeface="Segoe UI Black" pitchFamily="34" charset="0"/>
                <a:ea typeface="Segoe UI Black" pitchFamily="34" charset="-122"/>
                <a:cs typeface="Segoe UI Black" pitchFamily="34" charset="-120"/>
              </a:rPr>
              <a:t>Δ</a:t>
            </a:r>
            <a:pPr algn="l" indent="0" marL="0">
              <a:buNone/>
            </a:pPr>
            <a:r>
              <a:rPr lang="en-US" sz="980" b="1" dirty="0">
                <a:solidFill>
                  <a:srgbClr val="64748B"/>
                </a:solidFill>
                <a:latin typeface="Segoe UI" pitchFamily="34" charset="0"/>
                <a:ea typeface="Segoe UI" pitchFamily="34" charset="-122"/>
                <a:cs typeface="Segoe UI" pitchFamily="34" charset="-120"/>
              </a:rPr>
              <a:t>: phần chênh lệch ăn chia; tỷ lệ chưa ghi sẽ thống nhất sau</a:t>
            </a:r>
            <a:endParaRPr lang="en-US" sz="980" dirty="0"/>
          </a:p>
        </p:txBody>
      </p:sp>
      <p:sp>
        <p:nvSpPr>
          <p:cNvPr id="105" name="mk"/>
          <p:cNvSpPr/>
          <p:nvPr/>
        </p:nvSpPr>
        <p:spPr>
          <a:xfrm>
            <a:off x="10796588" y="6343650"/>
            <a:ext cx="323850" cy="323850"/>
          </a:xfrm>
          <a:prstGeom prst="ellipse">
            <a:avLst/>
          </a:prstGeom>
          <a:solidFill>
            <a:srgbClr val="F0001E"/>
          </a:solidFill>
          <a:ln/>
        </p:spPr>
      </p:sp>
      <p:sp>
        <p:nvSpPr>
          <p:cNvPr id="106" name="Shape 91"/>
          <p:cNvSpPr/>
          <p:nvPr/>
        </p:nvSpPr>
        <p:spPr>
          <a:xfrm>
            <a:off x="10910888" y="6424613"/>
            <a:ext cx="95250" cy="161925"/>
          </a:xfrm>
          <a:prstGeom prst="roundRect">
            <a:avLst>
              <a:gd name="adj" fmla="val 25000"/>
            </a:avLst>
          </a:prstGeom>
          <a:ln w="19050">
            <a:solidFill>
              <a:srgbClr val="FFFFFF"/>
            </a:solidFill>
            <a:prstDash val="solid"/>
          </a:ln>
        </p:spPr>
      </p:sp>
      <p:sp>
        <p:nvSpPr>
          <p:cNvPr id="107"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108"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109" name="text pno"/>
          <p:cNvSpPr txBox="1"/>
          <p:nvPr/>
        </p:nvSpPr>
        <p:spPr>
          <a:xfrm>
            <a:off x="10503098" y="6416219"/>
            <a:ext cx="260152" cy="169188"/>
          </a:xfrm>
          <a:prstGeom prst="rect">
            <a:avLst/>
          </a:prstGeom>
          <a:noFill/>
          <a:ln/>
        </p:spPr>
        <p:txBody>
          <a:bodyPr wrap="none" lIns="0" tIns="0" rIns="0" bIns="0" rtlCol="0" anchor="ctr"/>
          <a:lstStyle/>
          <a:p>
            <a:pPr algn="l" indent="0" marL="0">
              <a:buNone/>
            </a:pPr>
            <a:r>
              <a:rPr lang="en-US" sz="920" b="1" dirty="0">
                <a:solidFill>
                  <a:srgbClr val="CBD5E1"/>
                </a:solidFill>
                <a:latin typeface="Segoe UI" pitchFamily="34" charset="0"/>
                <a:ea typeface="Segoe UI" pitchFamily="34" charset="-122"/>
                <a:cs typeface="Segoe UI" pitchFamily="34" charset="-120"/>
              </a:rPr>
              <a:t>22</a:t>
            </a:r>
            <a:endParaRPr lang="en-US" sz="9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text eyebrow"/>
          <p:cNvSpPr txBox="1"/>
          <p:nvPr/>
        </p:nvSpPr>
        <p:spPr>
          <a:xfrm>
            <a:off x="609600" y="384334"/>
            <a:ext cx="1588591"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LỘ TRÌNH TRIỂN KHAI</a:t>
            </a:r>
            <a:endParaRPr lang="en-US" sz="1050" dirty="0"/>
          </a:p>
        </p:txBody>
      </p:sp>
      <p:sp>
        <p:nvSpPr>
          <p:cNvPr id="3" name="text title"/>
          <p:cNvSpPr txBox="1"/>
          <p:nvPr/>
        </p:nvSpPr>
        <p:spPr>
          <a:xfrm>
            <a:off x="609600" y="581263"/>
            <a:ext cx="5554653" cy="428149"/>
          </a:xfrm>
          <a:prstGeom prst="rect">
            <a:avLst/>
          </a:prstGeom>
          <a:noFill/>
          <a:ln/>
        </p:spPr>
        <p:txBody>
          <a:bodyPr wrap="none" lIns="0" tIns="0" rIns="0" bIns="0" rtlCol="0" anchor="ctr"/>
          <a:lstStyle/>
          <a:p>
            <a:pPr algn="l" indent="0" marL="0">
              <a:buNone/>
            </a:pPr>
            <a:r>
              <a:rPr lang="en-US" sz="2330" b="1" spc="-30" kern="0" dirty="0">
                <a:solidFill>
                  <a:srgbClr val="E11D48"/>
                </a:solidFill>
                <a:latin typeface="Segoe UI" pitchFamily="34" charset="0"/>
                <a:ea typeface="Segoe UI" pitchFamily="34" charset="-122"/>
                <a:cs typeface="Segoe UI" pitchFamily="34" charset="-120"/>
              </a:rPr>
              <a:t>Pilot offline Q2/2027</a:t>
            </a:r>
            <a:pPr algn="l" indent="0" marL="0">
              <a:buNone/>
            </a:pPr>
            <a:r>
              <a:rPr lang="en-US" sz="2330" b="1" spc="-30" kern="0" dirty="0">
                <a:solidFill>
                  <a:srgbClr val="0F172A"/>
                </a:solidFill>
                <a:latin typeface="Segoe UI" pitchFamily="34" charset="0"/>
                <a:ea typeface="Segoe UI" pitchFamily="34" charset="-122"/>
                <a:cs typeface="Segoe UI" pitchFamily="34" charset="-120"/>
              </a:rPr>
              <a:t>, online Q3/2027</a:t>
            </a:r>
            <a:endParaRPr lang="en-US" sz="2330" dirty="0"/>
          </a:p>
        </p:txBody>
      </p:sp>
      <p:sp>
        <p:nvSpPr>
          <p:cNvPr id="4" name="text span"/>
          <p:cNvSpPr txBox="1"/>
          <p:nvPr/>
        </p:nvSpPr>
        <p:spPr>
          <a:xfrm>
            <a:off x="7022604" y="1044195"/>
            <a:ext cx="1122015" cy="165464"/>
          </a:xfrm>
          <a:prstGeom prst="rect">
            <a:avLst/>
          </a:prstGeom>
          <a:noFill/>
          <a:ln/>
        </p:spPr>
        <p:txBody>
          <a:bodyPr wrap="none" lIns="0" tIns="0" rIns="0" bIns="0" rtlCol="0" anchor="ctr"/>
          <a:lstStyle/>
          <a:p>
            <a:pPr algn="l" indent="0" marL="0">
              <a:buNone/>
            </a:pPr>
            <a:r>
              <a:rPr lang="en-US" sz="900" b="1" dirty="0">
                <a:solidFill>
                  <a:srgbClr val="64748B"/>
                </a:solidFill>
                <a:latin typeface="Segoe UI" pitchFamily="34" charset="0"/>
                <a:ea typeface="Segoe UI" pitchFamily="34" charset="-122"/>
                <a:cs typeface="Segoe UI" pitchFamily="34" charset="-120"/>
              </a:rPr>
              <a:t>Chuẩn bị, tích hợp</a:t>
            </a:r>
            <a:endParaRPr lang="en-US" sz="900" dirty="0"/>
          </a:p>
        </p:txBody>
      </p:sp>
      <p:sp>
        <p:nvSpPr>
          <p:cNvPr id="5" name="Shape 3"/>
          <p:cNvSpPr/>
          <p:nvPr/>
        </p:nvSpPr>
        <p:spPr>
          <a:xfrm>
            <a:off x="6855916" y="1079302"/>
            <a:ext cx="104775" cy="104775"/>
          </a:xfrm>
          <a:prstGeom prst="roundRect">
            <a:avLst>
              <a:gd name="adj" fmla="val 22727"/>
            </a:avLst>
          </a:prstGeom>
          <a:solidFill>
            <a:srgbClr val="F1F5F9"/>
          </a:solidFill>
          <a:ln w="9525">
            <a:solidFill>
              <a:srgbClr val="E2E8F0"/>
            </a:solidFill>
            <a:prstDash val="solid"/>
          </a:ln>
        </p:spPr>
      </p:sp>
      <p:sp>
        <p:nvSpPr>
          <p:cNvPr id="6" name="text span"/>
          <p:cNvSpPr txBox="1"/>
          <p:nvPr/>
        </p:nvSpPr>
        <p:spPr>
          <a:xfrm>
            <a:off x="8373219" y="1044383"/>
            <a:ext cx="739825" cy="165088"/>
          </a:xfrm>
          <a:prstGeom prst="rect">
            <a:avLst/>
          </a:prstGeom>
          <a:noFill/>
          <a:ln/>
        </p:spPr>
        <p:txBody>
          <a:bodyPr wrap="none" lIns="0" tIns="0" rIns="0" bIns="0" rtlCol="0" anchor="ctr"/>
          <a:lstStyle/>
          <a:p>
            <a:pPr algn="l" indent="0" marL="0">
              <a:buNone/>
            </a:pPr>
            <a:r>
              <a:rPr lang="en-US" sz="900" b="1" dirty="0">
                <a:solidFill>
                  <a:srgbClr val="64748B"/>
                </a:solidFill>
                <a:latin typeface="Segoe UI" pitchFamily="34" charset="0"/>
                <a:ea typeface="Segoe UI" pitchFamily="34" charset="-122"/>
                <a:cs typeface="Segoe UI" pitchFamily="34" charset="-120"/>
              </a:rPr>
              <a:t>Golive pilot</a:t>
            </a:r>
            <a:endParaRPr lang="en-US" sz="900" dirty="0"/>
          </a:p>
        </p:txBody>
      </p:sp>
      <p:sp>
        <p:nvSpPr>
          <p:cNvPr id="7" name="Shape 5"/>
          <p:cNvSpPr/>
          <p:nvPr/>
        </p:nvSpPr>
        <p:spPr>
          <a:xfrm>
            <a:off x="8206532" y="1079302"/>
            <a:ext cx="104775" cy="104775"/>
          </a:xfrm>
          <a:prstGeom prst="roundRect">
            <a:avLst>
              <a:gd name="adj" fmla="val 22727"/>
            </a:avLst>
          </a:prstGeom>
          <a:solidFill>
            <a:srgbClr val="FEF3C7"/>
          </a:solidFill>
          <a:ln w="9525">
            <a:solidFill>
              <a:srgbClr val="FBBF24"/>
            </a:solidFill>
            <a:prstDash val="solid"/>
          </a:ln>
        </p:spPr>
      </p:sp>
      <p:sp>
        <p:nvSpPr>
          <p:cNvPr id="8" name="text span"/>
          <p:cNvSpPr txBox="1"/>
          <p:nvPr/>
        </p:nvSpPr>
        <p:spPr>
          <a:xfrm>
            <a:off x="9341644" y="1043846"/>
            <a:ext cx="697260" cy="166161"/>
          </a:xfrm>
          <a:prstGeom prst="rect">
            <a:avLst/>
          </a:prstGeom>
          <a:noFill/>
          <a:ln/>
        </p:spPr>
        <p:txBody>
          <a:bodyPr wrap="none" lIns="0" tIns="0" rIns="0" bIns="0" rtlCol="0" anchor="ctr"/>
          <a:lstStyle/>
          <a:p>
            <a:pPr algn="l" indent="0" marL="0">
              <a:buNone/>
            </a:pPr>
            <a:r>
              <a:rPr lang="en-US" sz="900" b="1" dirty="0">
                <a:solidFill>
                  <a:srgbClr val="64748B"/>
                </a:solidFill>
                <a:latin typeface="Segoe UI" pitchFamily="34" charset="0"/>
                <a:ea typeface="Segoe UI" pitchFamily="34" charset="-122"/>
                <a:cs typeface="Segoe UI" pitchFamily="34" charset="-120"/>
              </a:rPr>
              <a:t>Nhân rộng</a:t>
            </a:r>
            <a:endParaRPr lang="en-US" sz="900" dirty="0"/>
          </a:p>
        </p:txBody>
      </p:sp>
      <p:sp>
        <p:nvSpPr>
          <p:cNvPr id="9" name="Shape 7"/>
          <p:cNvSpPr/>
          <p:nvPr/>
        </p:nvSpPr>
        <p:spPr>
          <a:xfrm>
            <a:off x="9174956" y="1079302"/>
            <a:ext cx="104775" cy="104775"/>
          </a:xfrm>
          <a:prstGeom prst="roundRect">
            <a:avLst>
              <a:gd name="adj" fmla="val 22727"/>
            </a:avLst>
          </a:prstGeom>
          <a:solidFill>
            <a:srgbClr val="EEFBF3"/>
          </a:solidFill>
          <a:ln w="9525">
            <a:solidFill>
              <a:srgbClr val="86EFAC"/>
            </a:solidFill>
            <a:prstDash val="solid"/>
          </a:ln>
        </p:spPr>
      </p:sp>
      <p:sp>
        <p:nvSpPr>
          <p:cNvPr id="10" name="text span"/>
          <p:cNvSpPr txBox="1"/>
          <p:nvPr/>
        </p:nvSpPr>
        <p:spPr>
          <a:xfrm>
            <a:off x="10613827" y="1044034"/>
            <a:ext cx="1082873" cy="165785"/>
          </a:xfrm>
          <a:prstGeom prst="rect">
            <a:avLst/>
          </a:prstGeom>
          <a:noFill/>
          <a:ln/>
        </p:spPr>
        <p:txBody>
          <a:bodyPr wrap="none" lIns="0" tIns="0" rIns="0" bIns="0" rtlCol="0" anchor="ctr"/>
          <a:lstStyle/>
          <a:p>
            <a:pPr algn="l" indent="0" marL="0">
              <a:buNone/>
            </a:pPr>
            <a:r>
              <a:rPr lang="en-US" sz="900" b="1" dirty="0">
                <a:solidFill>
                  <a:srgbClr val="64748B"/>
                </a:solidFill>
                <a:latin typeface="Segoe UI" pitchFamily="34" charset="0"/>
                <a:ea typeface="Segoe UI" pitchFamily="34" charset="-122"/>
                <a:cs typeface="Segoe UI" pitchFamily="34" charset="-120"/>
              </a:rPr>
              <a:t>Phụ thuộc đối tác</a:t>
            </a:r>
            <a:endParaRPr lang="en-US" sz="900" dirty="0"/>
          </a:p>
        </p:txBody>
      </p:sp>
      <p:sp>
        <p:nvSpPr>
          <p:cNvPr id="11" name="dp"/>
          <p:cNvSpPr/>
          <p:nvPr/>
        </p:nvSpPr>
        <p:spPr>
          <a:xfrm>
            <a:off x="10100816" y="1069777"/>
            <a:ext cx="451098" cy="133350"/>
          </a:xfrm>
          <a:prstGeom prst="roundRect">
            <a:avLst>
              <a:gd name="adj" fmla="val 32143"/>
            </a:avLst>
          </a:prstGeom>
          <a:solidFill>
            <a:srgbClr val="FFFFFF"/>
          </a:solidFill>
          <a:ln w="9525">
            <a:solidFill>
              <a:srgbClr val="94A3B8"/>
            </a:solidFill>
            <a:prstDash val="dash"/>
          </a:ln>
        </p:spPr>
      </p:sp>
      <p:sp>
        <p:nvSpPr>
          <p:cNvPr id="12" name="text dp"/>
          <p:cNvSpPr txBox="1"/>
          <p:nvPr/>
        </p:nvSpPr>
        <p:spPr>
          <a:xfrm>
            <a:off x="10153204" y="1063400"/>
            <a:ext cx="460623" cy="146104"/>
          </a:xfrm>
          <a:prstGeom prst="rect">
            <a:avLst/>
          </a:prstGeom>
          <a:noFill/>
          <a:ln/>
        </p:spPr>
        <p:txBody>
          <a:bodyPr wrap="none" lIns="0" tIns="0" rIns="0" bIns="0" rtlCol="0" anchor="ctr"/>
          <a:lstStyle/>
          <a:p>
            <a:pPr algn="l" indent="0" marL="0">
              <a:buNone/>
            </a:pPr>
            <a:r>
              <a:rPr lang="en-US" sz="790" b="1" dirty="0">
                <a:solidFill>
                  <a:srgbClr val="64748B"/>
                </a:solidFill>
                <a:latin typeface="Segoe UI" pitchFamily="34" charset="0"/>
                <a:ea typeface="Segoe UI" pitchFamily="34" charset="-122"/>
                <a:cs typeface="Segoe UI" pitchFamily="34" charset="-120"/>
              </a:rPr>
              <a:t>Đối tác</a:t>
            </a:r>
            <a:endParaRPr lang="en-US" sz="790" dirty="0"/>
          </a:p>
        </p:txBody>
      </p:sp>
      <p:sp>
        <p:nvSpPr>
          <p:cNvPr id="13" name="ph p0"/>
          <p:cNvSpPr/>
          <p:nvPr/>
        </p:nvSpPr>
        <p:spPr>
          <a:xfrm>
            <a:off x="1943100" y="1293614"/>
            <a:ext cx="3810000" cy="285750"/>
          </a:xfrm>
          <a:prstGeom prst="roundRect">
            <a:avLst>
              <a:gd name="adj" fmla="val 26667"/>
            </a:avLst>
          </a:prstGeom>
          <a:solidFill>
            <a:srgbClr val="334155"/>
          </a:solidFill>
          <a:ln/>
        </p:spPr>
      </p:sp>
      <p:sp>
        <p:nvSpPr>
          <p:cNvPr id="14" name="text ph p0"/>
          <p:cNvSpPr txBox="1"/>
          <p:nvPr/>
        </p:nvSpPr>
        <p:spPr>
          <a:xfrm>
            <a:off x="2057400" y="1346716"/>
            <a:ext cx="2431679" cy="179546"/>
          </a:xfrm>
          <a:prstGeom prst="rect">
            <a:avLst/>
          </a:prstGeom>
          <a:noFill/>
          <a:ln/>
        </p:spPr>
        <p:txBody>
          <a:bodyPr wrap="none" lIns="0" tIns="0" rIns="0" bIns="0" rtlCol="0" anchor="ctr"/>
          <a:lstStyle/>
          <a:p>
            <a:pPr algn="l" indent="0" marL="0">
              <a:buNone/>
            </a:pPr>
            <a:r>
              <a:rPr lang="en-US" sz="980" dirty="0">
                <a:solidFill>
                  <a:srgbClr val="FFFFFF"/>
                </a:solidFill>
                <a:latin typeface="Segoe UI Black" pitchFamily="34" charset="0"/>
                <a:ea typeface="Segoe UI Black" pitchFamily="34" charset="-122"/>
                <a:cs typeface="Segoe UI Black" pitchFamily="34" charset="-120"/>
              </a:rPr>
              <a:t>PHASE 0 · Chuẩn bị </a:t>
            </a:r>
            <a:pPr algn="l" indent="0" marL="0">
              <a:buNone/>
            </a:pPr>
            <a:r>
              <a:rPr lang="en-US" sz="900" dirty="0">
                <a:solidFill>
                  <a:srgbClr val="FFFFFF">
                    <a:alpha val="85000"/>
                  </a:srgbClr>
                </a:solidFill>
                <a:latin typeface="Segoe UI Semibold" pitchFamily="34" charset="0"/>
                <a:ea typeface="Segoe UI Semibold" pitchFamily="34" charset="-122"/>
                <a:cs typeface="Segoe UI Semibold" pitchFamily="34" charset="-120"/>
              </a:rPr>
              <a:t>· Q4/2026–Q1/2027</a:t>
            </a:r>
            <a:endParaRPr lang="en-US" sz="980" dirty="0"/>
          </a:p>
        </p:txBody>
      </p:sp>
      <p:sp>
        <p:nvSpPr>
          <p:cNvPr id="15" name="ph p1"/>
          <p:cNvSpPr/>
          <p:nvPr/>
        </p:nvSpPr>
        <p:spPr>
          <a:xfrm>
            <a:off x="5829300" y="1293614"/>
            <a:ext cx="3810000" cy="285750"/>
          </a:xfrm>
          <a:prstGeom prst="roundRect">
            <a:avLst>
              <a:gd name="adj" fmla="val 26667"/>
            </a:avLst>
          </a:prstGeom>
          <a:solidFill>
            <a:srgbClr val="E11D48"/>
          </a:solidFill>
          <a:ln/>
        </p:spPr>
      </p:sp>
      <p:sp>
        <p:nvSpPr>
          <p:cNvPr id="16" name="text ph p1"/>
          <p:cNvSpPr txBox="1"/>
          <p:nvPr/>
        </p:nvSpPr>
        <p:spPr>
          <a:xfrm>
            <a:off x="5943600" y="1346716"/>
            <a:ext cx="1794123" cy="179546"/>
          </a:xfrm>
          <a:prstGeom prst="rect">
            <a:avLst/>
          </a:prstGeom>
          <a:noFill/>
          <a:ln/>
        </p:spPr>
        <p:txBody>
          <a:bodyPr wrap="none" lIns="0" tIns="0" rIns="0" bIns="0" rtlCol="0" anchor="ctr"/>
          <a:lstStyle/>
          <a:p>
            <a:pPr algn="l" indent="0" marL="0">
              <a:buNone/>
            </a:pPr>
            <a:r>
              <a:rPr lang="en-US" sz="980" dirty="0">
                <a:solidFill>
                  <a:srgbClr val="FFFFFF"/>
                </a:solidFill>
                <a:latin typeface="Segoe UI Black" pitchFamily="34" charset="0"/>
                <a:ea typeface="Segoe UI Black" pitchFamily="34" charset="-122"/>
                <a:cs typeface="Segoe UI Black" pitchFamily="34" charset="-120"/>
              </a:rPr>
              <a:t>PHASE 1 · Pilot </a:t>
            </a:r>
            <a:pPr algn="l" indent="0" marL="0">
              <a:buNone/>
            </a:pPr>
            <a:r>
              <a:rPr lang="en-US" sz="900" dirty="0">
                <a:solidFill>
                  <a:srgbClr val="FFFFFF">
                    <a:alpha val="85000"/>
                  </a:srgbClr>
                </a:solidFill>
                <a:latin typeface="Segoe UI Semibold" pitchFamily="34" charset="0"/>
                <a:ea typeface="Segoe UI Semibold" pitchFamily="34" charset="-122"/>
                <a:cs typeface="Segoe UI Semibold" pitchFamily="34" charset="-120"/>
              </a:rPr>
              <a:t>· Q2–Q3/2027</a:t>
            </a:r>
            <a:endParaRPr lang="en-US" sz="980" dirty="0"/>
          </a:p>
        </p:txBody>
      </p:sp>
      <p:sp>
        <p:nvSpPr>
          <p:cNvPr id="17" name="ph p2"/>
          <p:cNvSpPr/>
          <p:nvPr/>
        </p:nvSpPr>
        <p:spPr>
          <a:xfrm>
            <a:off x="9715500" y="1293614"/>
            <a:ext cx="1866900" cy="285750"/>
          </a:xfrm>
          <a:prstGeom prst="roundRect">
            <a:avLst>
              <a:gd name="adj" fmla="val 26667"/>
            </a:avLst>
          </a:prstGeom>
          <a:solidFill>
            <a:srgbClr val="1E3A8A"/>
          </a:solidFill>
          <a:ln/>
        </p:spPr>
      </p:sp>
      <p:sp>
        <p:nvSpPr>
          <p:cNvPr id="18" name="text ph p2"/>
          <p:cNvSpPr txBox="1"/>
          <p:nvPr/>
        </p:nvSpPr>
        <p:spPr>
          <a:xfrm>
            <a:off x="9829800" y="1346716"/>
            <a:ext cx="1254175" cy="179546"/>
          </a:xfrm>
          <a:prstGeom prst="rect">
            <a:avLst/>
          </a:prstGeom>
          <a:noFill/>
          <a:ln/>
        </p:spPr>
        <p:txBody>
          <a:bodyPr wrap="none" lIns="0" tIns="0" rIns="0" bIns="0" rtlCol="0" anchor="ctr"/>
          <a:lstStyle/>
          <a:p>
            <a:pPr algn="l" indent="0" marL="0">
              <a:buNone/>
            </a:pPr>
            <a:r>
              <a:rPr lang="en-US" sz="980" dirty="0">
                <a:solidFill>
                  <a:srgbClr val="FFFFFF"/>
                </a:solidFill>
                <a:latin typeface="Segoe UI Black" pitchFamily="34" charset="0"/>
                <a:ea typeface="Segoe UI Black" pitchFamily="34" charset="-122"/>
                <a:cs typeface="Segoe UI Black" pitchFamily="34" charset="-120"/>
              </a:rPr>
              <a:t>PHASE 2 · Mở rộng</a:t>
            </a:r>
            <a:endParaRPr lang="en-US" sz="980" dirty="0"/>
          </a:p>
        </p:txBody>
      </p:sp>
      <p:sp>
        <p:nvSpPr>
          <p:cNvPr id="19" name="text q"/>
          <p:cNvSpPr txBox="1"/>
          <p:nvPr/>
        </p:nvSpPr>
        <p:spPr>
          <a:xfrm>
            <a:off x="2252067" y="1638538"/>
            <a:ext cx="703362" cy="186452"/>
          </a:xfrm>
          <a:prstGeom prst="rect">
            <a:avLst/>
          </a:prstGeom>
          <a:noFill/>
          <a:ln/>
        </p:spPr>
        <p:txBody>
          <a:bodyPr wrap="none" lIns="0" tIns="0" rIns="0" bIns="0" rtlCol="0" anchor="ctr"/>
          <a:lstStyle/>
          <a:p>
            <a:pPr algn="ctr" indent="0" marL="0">
              <a:buNone/>
            </a:pPr>
            <a:r>
              <a:rPr lang="en-US" sz="1010" dirty="0">
                <a:solidFill>
                  <a:srgbClr val="0F172A"/>
                </a:solidFill>
                <a:latin typeface="Segoe UI Black" pitchFamily="34" charset="0"/>
                <a:ea typeface="Segoe UI Black" pitchFamily="34" charset="-122"/>
                <a:cs typeface="Segoe UI Black" pitchFamily="34" charset="-120"/>
              </a:rPr>
              <a:t>Q4/2026</a:t>
            </a:r>
            <a:endParaRPr lang="en-US" sz="1010" dirty="0"/>
          </a:p>
        </p:txBody>
      </p:sp>
      <p:sp>
        <p:nvSpPr>
          <p:cNvPr id="20" name="now"/>
          <p:cNvSpPr/>
          <p:nvPr/>
        </p:nvSpPr>
        <p:spPr>
          <a:xfrm>
            <a:off x="2955429" y="1665089"/>
            <a:ext cx="488454" cy="142875"/>
          </a:xfrm>
          <a:prstGeom prst="roundRect">
            <a:avLst>
              <a:gd name="adj" fmla="val 33333"/>
            </a:avLst>
          </a:prstGeom>
          <a:solidFill>
            <a:srgbClr val="0F172A"/>
          </a:solidFill>
          <a:ln/>
        </p:spPr>
      </p:sp>
      <p:sp>
        <p:nvSpPr>
          <p:cNvPr id="21" name="text now"/>
          <p:cNvSpPr txBox="1"/>
          <p:nvPr/>
        </p:nvSpPr>
        <p:spPr>
          <a:xfrm>
            <a:off x="2955429" y="1663618"/>
            <a:ext cx="488454" cy="145818"/>
          </a:xfrm>
          <a:prstGeom prst="rect">
            <a:avLst/>
          </a:prstGeom>
          <a:noFill/>
          <a:ln/>
        </p:spPr>
        <p:txBody>
          <a:bodyPr wrap="none" lIns="0" tIns="0" rIns="0" bIns="0" rtlCol="0" anchor="ctr"/>
          <a:lstStyle/>
          <a:p>
            <a:pPr algn="ctr" indent="0" marL="0">
              <a:buNone/>
            </a:pPr>
            <a:r>
              <a:rPr lang="en-US" sz="790" b="1" dirty="0">
                <a:solidFill>
                  <a:srgbClr val="FFFFFF"/>
                </a:solidFill>
                <a:latin typeface="Segoe UI" pitchFamily="34" charset="0"/>
                <a:ea typeface="Segoe UI" pitchFamily="34" charset="-122"/>
                <a:cs typeface="Segoe UI" pitchFamily="34" charset="-120"/>
              </a:rPr>
              <a:t>Hiện tại</a:t>
            </a:r>
            <a:endParaRPr lang="en-US" sz="790" dirty="0"/>
          </a:p>
        </p:txBody>
      </p:sp>
      <p:sp>
        <p:nvSpPr>
          <p:cNvPr id="22" name="text q"/>
          <p:cNvSpPr txBox="1"/>
          <p:nvPr/>
        </p:nvSpPr>
        <p:spPr>
          <a:xfrm>
            <a:off x="4489252" y="1638538"/>
            <a:ext cx="660797" cy="186452"/>
          </a:xfrm>
          <a:prstGeom prst="rect">
            <a:avLst/>
          </a:prstGeom>
          <a:noFill/>
          <a:ln/>
        </p:spPr>
        <p:txBody>
          <a:bodyPr wrap="none" lIns="0" tIns="0" rIns="0" bIns="0" rtlCol="0" anchor="ctr"/>
          <a:lstStyle/>
          <a:p>
            <a:pPr algn="ctr" indent="0" marL="0">
              <a:buNone/>
            </a:pPr>
            <a:r>
              <a:rPr lang="en-US" sz="1010" dirty="0">
                <a:solidFill>
                  <a:srgbClr val="0F172A"/>
                </a:solidFill>
                <a:latin typeface="Segoe UI Black" pitchFamily="34" charset="0"/>
                <a:ea typeface="Segoe UI Black" pitchFamily="34" charset="-122"/>
                <a:cs typeface="Segoe UI Black" pitchFamily="34" charset="-120"/>
              </a:rPr>
              <a:t>Q1/2027</a:t>
            </a:r>
            <a:endParaRPr lang="en-US" sz="1010" dirty="0"/>
          </a:p>
        </p:txBody>
      </p:sp>
      <p:sp>
        <p:nvSpPr>
          <p:cNvPr id="23" name="text q p1"/>
          <p:cNvSpPr txBox="1"/>
          <p:nvPr/>
        </p:nvSpPr>
        <p:spPr>
          <a:xfrm>
            <a:off x="6419850" y="1638538"/>
            <a:ext cx="685800" cy="186452"/>
          </a:xfrm>
          <a:prstGeom prst="rect">
            <a:avLst/>
          </a:prstGeom>
          <a:noFill/>
          <a:ln/>
        </p:spPr>
        <p:txBody>
          <a:bodyPr wrap="none" lIns="0" tIns="0" rIns="0" bIns="0" rtlCol="0" anchor="ctr"/>
          <a:lstStyle/>
          <a:p>
            <a:pPr algn="ctr" indent="0" marL="0">
              <a:buNone/>
            </a:pPr>
            <a:r>
              <a:rPr lang="en-US" sz="1010" dirty="0">
                <a:solidFill>
                  <a:srgbClr val="E11D48"/>
                </a:solidFill>
                <a:latin typeface="Segoe UI Black" pitchFamily="34" charset="0"/>
                <a:ea typeface="Segoe UI Black" pitchFamily="34" charset="-122"/>
                <a:cs typeface="Segoe UI Black" pitchFamily="34" charset="-120"/>
              </a:rPr>
              <a:t>Q2/2027</a:t>
            </a:r>
            <a:endParaRPr lang="en-US" sz="1010" dirty="0"/>
          </a:p>
        </p:txBody>
      </p:sp>
      <p:sp>
        <p:nvSpPr>
          <p:cNvPr id="24" name="text q p1"/>
          <p:cNvSpPr txBox="1"/>
          <p:nvPr/>
        </p:nvSpPr>
        <p:spPr>
          <a:xfrm>
            <a:off x="8361462" y="1638538"/>
            <a:ext cx="688777" cy="186452"/>
          </a:xfrm>
          <a:prstGeom prst="rect">
            <a:avLst/>
          </a:prstGeom>
          <a:noFill/>
          <a:ln/>
        </p:spPr>
        <p:txBody>
          <a:bodyPr wrap="none" lIns="0" tIns="0" rIns="0" bIns="0" rtlCol="0" anchor="ctr"/>
          <a:lstStyle/>
          <a:p>
            <a:pPr algn="ctr" indent="0" marL="0">
              <a:buNone/>
            </a:pPr>
            <a:r>
              <a:rPr lang="en-US" sz="1010" dirty="0">
                <a:solidFill>
                  <a:srgbClr val="E11D48"/>
                </a:solidFill>
                <a:latin typeface="Segoe UI Black" pitchFamily="34" charset="0"/>
                <a:ea typeface="Segoe UI Black" pitchFamily="34" charset="-122"/>
                <a:cs typeface="Segoe UI Black" pitchFamily="34" charset="-120"/>
              </a:rPr>
              <a:t>Q3/2027</a:t>
            </a:r>
            <a:endParaRPr lang="en-US" sz="1010" dirty="0"/>
          </a:p>
        </p:txBody>
      </p:sp>
      <p:sp>
        <p:nvSpPr>
          <p:cNvPr id="25" name="text q p2"/>
          <p:cNvSpPr txBox="1"/>
          <p:nvPr/>
        </p:nvSpPr>
        <p:spPr>
          <a:xfrm>
            <a:off x="10200829" y="1638538"/>
            <a:ext cx="896094" cy="186452"/>
          </a:xfrm>
          <a:prstGeom prst="rect">
            <a:avLst/>
          </a:prstGeom>
          <a:noFill/>
          <a:ln/>
        </p:spPr>
        <p:txBody>
          <a:bodyPr wrap="none" lIns="0" tIns="0" rIns="0" bIns="0" rtlCol="0" anchor="ctr"/>
          <a:lstStyle/>
          <a:p>
            <a:pPr algn="ctr" indent="0" marL="0">
              <a:buNone/>
            </a:pPr>
            <a:r>
              <a:rPr lang="en-US" sz="1010" dirty="0">
                <a:solidFill>
                  <a:srgbClr val="1E3A8A"/>
                </a:solidFill>
                <a:latin typeface="Segoe UI Black" pitchFamily="34" charset="0"/>
                <a:ea typeface="Segoe UI Black" pitchFamily="34" charset="-122"/>
                <a:cs typeface="Segoe UI Black" pitchFamily="34" charset="-120"/>
              </a:rPr>
              <a:t>Từ Q4/2027</a:t>
            </a:r>
            <a:endParaRPr lang="en-US" sz="1010" dirty="0"/>
          </a:p>
        </p:txBody>
      </p:sp>
      <p:sp>
        <p:nvSpPr>
          <p:cNvPr id="26" name="ln"/>
          <p:cNvSpPr/>
          <p:nvPr/>
        </p:nvSpPr>
        <p:spPr>
          <a:xfrm>
            <a:off x="609600" y="1884164"/>
            <a:ext cx="1257300" cy="1135707"/>
          </a:xfrm>
          <a:prstGeom prst="roundRect">
            <a:avLst>
              <a:gd name="adj" fmla="val 10064"/>
            </a:avLst>
          </a:prstGeom>
          <a:solidFill>
            <a:srgbClr val="E11D48"/>
          </a:solidFill>
          <a:ln/>
        </p:spPr>
      </p:sp>
      <p:sp>
        <p:nvSpPr>
          <p:cNvPr id="27" name="text ln"/>
          <p:cNvSpPr txBox="1"/>
          <p:nvPr/>
        </p:nvSpPr>
        <p:spPr>
          <a:xfrm>
            <a:off x="742950" y="2187059"/>
            <a:ext cx="668685" cy="234791"/>
          </a:xfrm>
          <a:prstGeom prst="rect">
            <a:avLst/>
          </a:prstGeom>
          <a:noFill/>
          <a:ln/>
        </p:spPr>
        <p:txBody>
          <a:bodyPr wrap="none" lIns="0" tIns="0" rIns="0" bIns="0" rtlCol="0" anchor="ctr"/>
          <a:lstStyle/>
          <a:p>
            <a:pPr algn="l" indent="0" marL="0">
              <a:buNone/>
            </a:pPr>
            <a:r>
              <a:rPr lang="en-US" sz="1280" dirty="0">
                <a:solidFill>
                  <a:srgbClr val="FFFFFF"/>
                </a:solidFill>
                <a:latin typeface="Segoe UI Black" pitchFamily="34" charset="0"/>
                <a:ea typeface="Segoe UI Black" pitchFamily="34" charset="-122"/>
                <a:cs typeface="Segoe UI Black" pitchFamily="34" charset="-120"/>
              </a:rPr>
              <a:t>Offline</a:t>
            </a:r>
            <a:endParaRPr lang="en-US" sz="1280" dirty="0"/>
          </a:p>
        </p:txBody>
      </p:sp>
      <p:sp>
        <p:nvSpPr>
          <p:cNvPr id="28" name="text small"/>
          <p:cNvSpPr txBox="1"/>
          <p:nvPr/>
        </p:nvSpPr>
        <p:spPr>
          <a:xfrm>
            <a:off x="742950" y="2422475"/>
            <a:ext cx="1028700" cy="264765"/>
          </a:xfrm>
          <a:prstGeom prst="rect">
            <a:avLst/>
          </a:prstGeom>
          <a:noFill/>
          <a:ln/>
        </p:spPr>
        <p:txBody>
          <a:bodyPr wrap="square" lIns="0" tIns="0" rIns="0" bIns="0" rtlCol="0" anchor="ctr"/>
          <a:lstStyle/>
          <a:p>
            <a:pPr algn="l" indent="0" marL="0">
              <a:lnSpc>
                <a:spcPts val="1040"/>
              </a:lnSpc>
              <a:buNone/>
            </a:pPr>
            <a:r>
              <a:rPr lang="en-US" sz="860" dirty="0">
                <a:solidFill>
                  <a:srgbClr val="FFFFFF">
                    <a:alpha val="72000"/>
                  </a:srgbClr>
                </a:solidFill>
                <a:latin typeface="Segoe UI Semibold" pitchFamily="34" charset="0"/>
                <a:ea typeface="Segoe UI Semibold" pitchFamily="34" charset="-122"/>
                <a:cs typeface="Segoe UI Semibold" pitchFamily="34" charset="-120"/>
              </a:rPr>
              <a:t>Visa Accept, VietQR Global</a:t>
            </a:r>
            <a:endParaRPr lang="en-US" sz="860" dirty="0"/>
          </a:p>
        </p:txBody>
      </p:sp>
      <p:sp>
        <p:nvSpPr>
          <p:cNvPr id="29" name="ln"/>
          <p:cNvSpPr/>
          <p:nvPr/>
        </p:nvSpPr>
        <p:spPr>
          <a:xfrm>
            <a:off x="609600" y="3077021"/>
            <a:ext cx="1257300" cy="1135707"/>
          </a:xfrm>
          <a:prstGeom prst="roundRect">
            <a:avLst>
              <a:gd name="adj" fmla="val 10064"/>
            </a:avLst>
          </a:prstGeom>
          <a:solidFill>
            <a:srgbClr val="1E3A8A"/>
          </a:solidFill>
          <a:ln/>
        </p:spPr>
      </p:sp>
      <p:sp>
        <p:nvSpPr>
          <p:cNvPr id="30" name="text ln"/>
          <p:cNvSpPr txBox="1"/>
          <p:nvPr/>
        </p:nvSpPr>
        <p:spPr>
          <a:xfrm>
            <a:off x="742950" y="3445550"/>
            <a:ext cx="644277" cy="234791"/>
          </a:xfrm>
          <a:prstGeom prst="rect">
            <a:avLst/>
          </a:prstGeom>
          <a:noFill/>
          <a:ln/>
        </p:spPr>
        <p:txBody>
          <a:bodyPr wrap="none" lIns="0" tIns="0" rIns="0" bIns="0" rtlCol="0" anchor="ctr"/>
          <a:lstStyle/>
          <a:p>
            <a:pPr algn="l" indent="0" marL="0">
              <a:buNone/>
            </a:pPr>
            <a:r>
              <a:rPr lang="en-US" sz="1280" dirty="0">
                <a:solidFill>
                  <a:srgbClr val="FFFFFF"/>
                </a:solidFill>
                <a:latin typeface="Segoe UI Black" pitchFamily="34" charset="0"/>
                <a:ea typeface="Segoe UI Black" pitchFamily="34" charset="-122"/>
                <a:cs typeface="Segoe UI Black" pitchFamily="34" charset="-120"/>
              </a:rPr>
              <a:t>Online</a:t>
            </a:r>
            <a:endParaRPr lang="en-US" sz="1280" dirty="0"/>
          </a:p>
        </p:txBody>
      </p:sp>
      <p:sp>
        <p:nvSpPr>
          <p:cNvPr id="31" name="text small"/>
          <p:cNvSpPr txBox="1"/>
          <p:nvPr/>
        </p:nvSpPr>
        <p:spPr>
          <a:xfrm>
            <a:off x="742950" y="3668226"/>
            <a:ext cx="1071860" cy="158829"/>
          </a:xfrm>
          <a:prstGeom prst="rect">
            <a:avLst/>
          </a:prstGeom>
          <a:noFill/>
          <a:ln/>
        </p:spPr>
        <p:txBody>
          <a:bodyPr wrap="none" lIns="0" tIns="0" rIns="0" bIns="0" rtlCol="0" anchor="ctr"/>
          <a:lstStyle/>
          <a:p>
            <a:pPr algn="l" indent="0" marL="0">
              <a:buNone/>
            </a:pPr>
            <a:r>
              <a:rPr lang="en-US" sz="860" dirty="0">
                <a:solidFill>
                  <a:srgbClr val="FFFFFF">
                    <a:alpha val="72000"/>
                  </a:srgbClr>
                </a:solidFill>
                <a:latin typeface="Segoe UI Semibold" pitchFamily="34" charset="0"/>
                <a:ea typeface="Segoe UI Semibold" pitchFamily="34" charset="-122"/>
                <a:cs typeface="Segoe UI Semibold" pitchFamily="34" charset="-120"/>
              </a:rPr>
              <a:t>AI tư vấn, booking</a:t>
            </a:r>
            <a:endParaRPr lang="en-US" sz="860" dirty="0"/>
          </a:p>
        </p:txBody>
      </p:sp>
      <p:sp>
        <p:nvSpPr>
          <p:cNvPr id="32" name="ln"/>
          <p:cNvSpPr/>
          <p:nvPr/>
        </p:nvSpPr>
        <p:spPr>
          <a:xfrm>
            <a:off x="609600" y="4269879"/>
            <a:ext cx="1257300" cy="1135707"/>
          </a:xfrm>
          <a:prstGeom prst="roundRect">
            <a:avLst>
              <a:gd name="adj" fmla="val 10064"/>
            </a:avLst>
          </a:prstGeom>
          <a:solidFill>
            <a:srgbClr val="0F172A"/>
          </a:solidFill>
          <a:ln/>
        </p:spPr>
      </p:sp>
      <p:sp>
        <p:nvSpPr>
          <p:cNvPr id="33" name="text ln"/>
          <p:cNvSpPr txBox="1"/>
          <p:nvPr/>
        </p:nvSpPr>
        <p:spPr>
          <a:xfrm>
            <a:off x="742950" y="4561567"/>
            <a:ext cx="1028700" cy="388620"/>
          </a:xfrm>
          <a:prstGeom prst="rect">
            <a:avLst/>
          </a:prstGeom>
          <a:noFill/>
          <a:ln/>
        </p:spPr>
        <p:txBody>
          <a:bodyPr wrap="square" lIns="0" tIns="0" rIns="0" bIns="0" rtlCol="0" anchor="ctr"/>
          <a:lstStyle/>
          <a:p>
            <a:pPr algn="l" indent="0" marL="0">
              <a:lnSpc>
                <a:spcPts val="1530"/>
              </a:lnSpc>
              <a:buNone/>
            </a:pPr>
            <a:r>
              <a:rPr lang="en-US" sz="1280" dirty="0">
                <a:solidFill>
                  <a:srgbClr val="FFFFFF"/>
                </a:solidFill>
                <a:latin typeface="Segoe UI Black" pitchFamily="34" charset="0"/>
                <a:ea typeface="Segoe UI Black" pitchFamily="34" charset="-122"/>
                <a:cs typeface="Segoe UI Black" pitchFamily="34" charset="-120"/>
              </a:rPr>
              <a:t>Merchant, kênh bán</a:t>
            </a:r>
            <a:endParaRPr lang="en-US" sz="1280" dirty="0"/>
          </a:p>
        </p:txBody>
      </p:sp>
      <p:sp>
        <p:nvSpPr>
          <p:cNvPr id="34" name="text small"/>
          <p:cNvSpPr txBox="1"/>
          <p:nvPr/>
        </p:nvSpPr>
        <p:spPr>
          <a:xfrm>
            <a:off x="742950" y="4958269"/>
            <a:ext cx="338733" cy="158829"/>
          </a:xfrm>
          <a:prstGeom prst="rect">
            <a:avLst/>
          </a:prstGeom>
          <a:noFill/>
          <a:ln/>
        </p:spPr>
        <p:txBody>
          <a:bodyPr wrap="none" lIns="0" tIns="0" rIns="0" bIns="0" rtlCol="0" anchor="ctr"/>
          <a:lstStyle/>
          <a:p>
            <a:pPr algn="l" indent="0" marL="0">
              <a:buNone/>
            </a:pPr>
            <a:r>
              <a:rPr lang="en-US" sz="860" dirty="0">
                <a:solidFill>
                  <a:srgbClr val="FFFFFF">
                    <a:alpha val="72000"/>
                  </a:srgbClr>
                </a:solidFill>
                <a:latin typeface="Segoe UI Semibold" pitchFamily="34" charset="0"/>
                <a:ea typeface="Segoe UI Semibold" pitchFamily="34" charset="-122"/>
                <a:cs typeface="Segoe UI Semibold" pitchFamily="34" charset="-120"/>
              </a:rPr>
              <a:t>VTT</a:t>
            </a:r>
            <a:endParaRPr lang="en-US" sz="860" dirty="0"/>
          </a:p>
        </p:txBody>
      </p:sp>
      <p:sp>
        <p:nvSpPr>
          <p:cNvPr id="35" name="bgc"/>
          <p:cNvSpPr/>
          <p:nvPr/>
        </p:nvSpPr>
        <p:spPr>
          <a:xfrm>
            <a:off x="1947863" y="1888927"/>
            <a:ext cx="1857375" cy="1126182"/>
          </a:xfrm>
          <a:prstGeom prst="roundRect">
            <a:avLst>
              <a:gd name="adj" fmla="val 8035"/>
            </a:avLst>
          </a:prstGeom>
          <a:solidFill>
            <a:srgbClr val="FFFFFF"/>
          </a:solidFill>
          <a:ln w="9525">
            <a:solidFill>
              <a:srgbClr val="E2E8F0"/>
            </a:solidFill>
            <a:prstDash val="solid"/>
          </a:ln>
        </p:spPr>
      </p:sp>
      <p:sp>
        <p:nvSpPr>
          <p:cNvPr id="36" name="bgc"/>
          <p:cNvSpPr/>
          <p:nvPr/>
        </p:nvSpPr>
        <p:spPr>
          <a:xfrm>
            <a:off x="3890962" y="1888927"/>
            <a:ext cx="1857375" cy="1126182"/>
          </a:xfrm>
          <a:prstGeom prst="roundRect">
            <a:avLst>
              <a:gd name="adj" fmla="val 8035"/>
            </a:avLst>
          </a:prstGeom>
          <a:solidFill>
            <a:srgbClr val="FFFFFF"/>
          </a:solidFill>
          <a:ln w="9525">
            <a:solidFill>
              <a:srgbClr val="E2E8F0"/>
            </a:solidFill>
            <a:prstDash val="solid"/>
          </a:ln>
        </p:spPr>
      </p:sp>
      <p:sp>
        <p:nvSpPr>
          <p:cNvPr id="37" name="bgc"/>
          <p:cNvSpPr/>
          <p:nvPr/>
        </p:nvSpPr>
        <p:spPr>
          <a:xfrm>
            <a:off x="5834063" y="1888927"/>
            <a:ext cx="1857375" cy="1126182"/>
          </a:xfrm>
          <a:prstGeom prst="roundRect">
            <a:avLst>
              <a:gd name="adj" fmla="val 8035"/>
            </a:avLst>
          </a:prstGeom>
          <a:solidFill>
            <a:srgbClr val="FFFFFF"/>
          </a:solidFill>
          <a:ln w="9525">
            <a:solidFill>
              <a:srgbClr val="E2E8F0"/>
            </a:solidFill>
            <a:prstDash val="solid"/>
          </a:ln>
        </p:spPr>
      </p:sp>
      <p:sp>
        <p:nvSpPr>
          <p:cNvPr id="38" name="bgc"/>
          <p:cNvSpPr/>
          <p:nvPr/>
        </p:nvSpPr>
        <p:spPr>
          <a:xfrm>
            <a:off x="7777163" y="1888927"/>
            <a:ext cx="1857375" cy="1126182"/>
          </a:xfrm>
          <a:prstGeom prst="roundRect">
            <a:avLst>
              <a:gd name="adj" fmla="val 8035"/>
            </a:avLst>
          </a:prstGeom>
          <a:solidFill>
            <a:srgbClr val="FFFFFF"/>
          </a:solidFill>
          <a:ln w="9525">
            <a:solidFill>
              <a:srgbClr val="E2E8F0"/>
            </a:solidFill>
            <a:prstDash val="solid"/>
          </a:ln>
        </p:spPr>
      </p:sp>
      <p:sp>
        <p:nvSpPr>
          <p:cNvPr id="39" name="bgc"/>
          <p:cNvSpPr/>
          <p:nvPr/>
        </p:nvSpPr>
        <p:spPr>
          <a:xfrm>
            <a:off x="9720263" y="1888927"/>
            <a:ext cx="1857375" cy="1126182"/>
          </a:xfrm>
          <a:prstGeom prst="roundRect">
            <a:avLst>
              <a:gd name="adj" fmla="val 8035"/>
            </a:avLst>
          </a:prstGeom>
          <a:solidFill>
            <a:srgbClr val="FFFFFF"/>
          </a:solidFill>
          <a:ln w="9525">
            <a:solidFill>
              <a:srgbClr val="E2E8F0"/>
            </a:solidFill>
            <a:prstDash val="solid"/>
          </a:ln>
        </p:spPr>
      </p:sp>
      <p:sp>
        <p:nvSpPr>
          <p:cNvPr id="40" name="bgc"/>
          <p:cNvSpPr/>
          <p:nvPr/>
        </p:nvSpPr>
        <p:spPr>
          <a:xfrm>
            <a:off x="1947863" y="3081784"/>
            <a:ext cx="1857375" cy="1126182"/>
          </a:xfrm>
          <a:prstGeom prst="roundRect">
            <a:avLst>
              <a:gd name="adj" fmla="val 8035"/>
            </a:avLst>
          </a:prstGeom>
          <a:solidFill>
            <a:srgbClr val="FFFFFF"/>
          </a:solidFill>
          <a:ln w="9525">
            <a:solidFill>
              <a:srgbClr val="E2E8F0"/>
            </a:solidFill>
            <a:prstDash val="solid"/>
          </a:ln>
        </p:spPr>
      </p:sp>
      <p:sp>
        <p:nvSpPr>
          <p:cNvPr id="41" name="bgc"/>
          <p:cNvSpPr/>
          <p:nvPr/>
        </p:nvSpPr>
        <p:spPr>
          <a:xfrm>
            <a:off x="3890962" y="3081784"/>
            <a:ext cx="1857375" cy="1126182"/>
          </a:xfrm>
          <a:prstGeom prst="roundRect">
            <a:avLst>
              <a:gd name="adj" fmla="val 8035"/>
            </a:avLst>
          </a:prstGeom>
          <a:solidFill>
            <a:srgbClr val="FFFFFF"/>
          </a:solidFill>
          <a:ln w="9525">
            <a:solidFill>
              <a:srgbClr val="E2E8F0"/>
            </a:solidFill>
            <a:prstDash val="solid"/>
          </a:ln>
        </p:spPr>
      </p:sp>
      <p:sp>
        <p:nvSpPr>
          <p:cNvPr id="42" name="bgc"/>
          <p:cNvSpPr/>
          <p:nvPr/>
        </p:nvSpPr>
        <p:spPr>
          <a:xfrm>
            <a:off x="5834063" y="3081784"/>
            <a:ext cx="1857375" cy="1126182"/>
          </a:xfrm>
          <a:prstGeom prst="roundRect">
            <a:avLst>
              <a:gd name="adj" fmla="val 8035"/>
            </a:avLst>
          </a:prstGeom>
          <a:solidFill>
            <a:srgbClr val="FFFFFF"/>
          </a:solidFill>
          <a:ln w="9525">
            <a:solidFill>
              <a:srgbClr val="E2E8F0"/>
            </a:solidFill>
            <a:prstDash val="solid"/>
          </a:ln>
        </p:spPr>
      </p:sp>
      <p:sp>
        <p:nvSpPr>
          <p:cNvPr id="43" name="bgc"/>
          <p:cNvSpPr/>
          <p:nvPr/>
        </p:nvSpPr>
        <p:spPr>
          <a:xfrm>
            <a:off x="7777163" y="3081784"/>
            <a:ext cx="1857375" cy="1126182"/>
          </a:xfrm>
          <a:prstGeom prst="roundRect">
            <a:avLst>
              <a:gd name="adj" fmla="val 8035"/>
            </a:avLst>
          </a:prstGeom>
          <a:solidFill>
            <a:srgbClr val="FFFFFF"/>
          </a:solidFill>
          <a:ln w="9525">
            <a:solidFill>
              <a:srgbClr val="E2E8F0"/>
            </a:solidFill>
            <a:prstDash val="solid"/>
          </a:ln>
        </p:spPr>
      </p:sp>
      <p:sp>
        <p:nvSpPr>
          <p:cNvPr id="44" name="bgc"/>
          <p:cNvSpPr/>
          <p:nvPr/>
        </p:nvSpPr>
        <p:spPr>
          <a:xfrm>
            <a:off x="9720263" y="3081784"/>
            <a:ext cx="1857375" cy="1126182"/>
          </a:xfrm>
          <a:prstGeom prst="roundRect">
            <a:avLst>
              <a:gd name="adj" fmla="val 8035"/>
            </a:avLst>
          </a:prstGeom>
          <a:solidFill>
            <a:srgbClr val="FFFFFF"/>
          </a:solidFill>
          <a:ln w="9525">
            <a:solidFill>
              <a:srgbClr val="E2E8F0"/>
            </a:solidFill>
            <a:prstDash val="solid"/>
          </a:ln>
        </p:spPr>
      </p:sp>
      <p:sp>
        <p:nvSpPr>
          <p:cNvPr id="45" name="bgc"/>
          <p:cNvSpPr/>
          <p:nvPr/>
        </p:nvSpPr>
        <p:spPr>
          <a:xfrm>
            <a:off x="1947863" y="4274641"/>
            <a:ext cx="1857375" cy="1126182"/>
          </a:xfrm>
          <a:prstGeom prst="roundRect">
            <a:avLst>
              <a:gd name="adj" fmla="val 8035"/>
            </a:avLst>
          </a:prstGeom>
          <a:solidFill>
            <a:srgbClr val="FFFFFF"/>
          </a:solidFill>
          <a:ln w="9525">
            <a:solidFill>
              <a:srgbClr val="E2E8F0"/>
            </a:solidFill>
            <a:prstDash val="solid"/>
          </a:ln>
        </p:spPr>
      </p:sp>
      <p:sp>
        <p:nvSpPr>
          <p:cNvPr id="46" name="bgc"/>
          <p:cNvSpPr/>
          <p:nvPr/>
        </p:nvSpPr>
        <p:spPr>
          <a:xfrm>
            <a:off x="3890962" y="4274641"/>
            <a:ext cx="1857375" cy="1126182"/>
          </a:xfrm>
          <a:prstGeom prst="roundRect">
            <a:avLst>
              <a:gd name="adj" fmla="val 8035"/>
            </a:avLst>
          </a:prstGeom>
          <a:solidFill>
            <a:srgbClr val="FFFFFF"/>
          </a:solidFill>
          <a:ln w="9525">
            <a:solidFill>
              <a:srgbClr val="E2E8F0"/>
            </a:solidFill>
            <a:prstDash val="solid"/>
          </a:ln>
        </p:spPr>
      </p:sp>
      <p:sp>
        <p:nvSpPr>
          <p:cNvPr id="47" name="bgc"/>
          <p:cNvSpPr/>
          <p:nvPr/>
        </p:nvSpPr>
        <p:spPr>
          <a:xfrm>
            <a:off x="5834063" y="4274641"/>
            <a:ext cx="1857375" cy="1126182"/>
          </a:xfrm>
          <a:prstGeom prst="roundRect">
            <a:avLst>
              <a:gd name="adj" fmla="val 8035"/>
            </a:avLst>
          </a:prstGeom>
          <a:solidFill>
            <a:srgbClr val="FFFFFF"/>
          </a:solidFill>
          <a:ln w="9525">
            <a:solidFill>
              <a:srgbClr val="E2E8F0"/>
            </a:solidFill>
            <a:prstDash val="solid"/>
          </a:ln>
        </p:spPr>
      </p:sp>
      <p:sp>
        <p:nvSpPr>
          <p:cNvPr id="48" name="bgc"/>
          <p:cNvSpPr/>
          <p:nvPr/>
        </p:nvSpPr>
        <p:spPr>
          <a:xfrm>
            <a:off x="7777163" y="4274641"/>
            <a:ext cx="1857375" cy="1126182"/>
          </a:xfrm>
          <a:prstGeom prst="roundRect">
            <a:avLst>
              <a:gd name="adj" fmla="val 8035"/>
            </a:avLst>
          </a:prstGeom>
          <a:solidFill>
            <a:srgbClr val="FFFFFF"/>
          </a:solidFill>
          <a:ln w="9525">
            <a:solidFill>
              <a:srgbClr val="E2E8F0"/>
            </a:solidFill>
            <a:prstDash val="solid"/>
          </a:ln>
        </p:spPr>
      </p:sp>
      <p:sp>
        <p:nvSpPr>
          <p:cNvPr id="49" name="bgc"/>
          <p:cNvSpPr/>
          <p:nvPr/>
        </p:nvSpPr>
        <p:spPr>
          <a:xfrm>
            <a:off x="9720263" y="4274641"/>
            <a:ext cx="1857375" cy="1126182"/>
          </a:xfrm>
          <a:prstGeom prst="roundRect">
            <a:avLst>
              <a:gd name="adj" fmla="val 8035"/>
            </a:avLst>
          </a:prstGeom>
          <a:solidFill>
            <a:srgbClr val="FFFFFF"/>
          </a:solidFill>
          <a:ln w="9525">
            <a:solidFill>
              <a:srgbClr val="E2E8F0"/>
            </a:solidFill>
            <a:prstDash val="solid"/>
          </a:ln>
        </p:spPr>
      </p:sp>
      <p:sp>
        <p:nvSpPr>
          <p:cNvPr id="50" name="it"/>
          <p:cNvSpPr/>
          <p:nvPr/>
        </p:nvSpPr>
        <p:spPr>
          <a:xfrm>
            <a:off x="2014538" y="1955602"/>
            <a:ext cx="1724025" cy="614511"/>
          </a:xfrm>
          <a:prstGeom prst="roundRect">
            <a:avLst>
              <a:gd name="adj" fmla="val 11625"/>
            </a:avLst>
          </a:prstGeom>
          <a:solidFill>
            <a:srgbClr val="F1F5F9"/>
          </a:solidFill>
          <a:ln w="9525">
            <a:solidFill>
              <a:srgbClr val="E2E8F0"/>
            </a:solidFill>
            <a:prstDash val="solid"/>
          </a:ln>
        </p:spPr>
      </p:sp>
      <p:sp>
        <p:nvSpPr>
          <p:cNvPr id="51" name="text it"/>
          <p:cNvSpPr txBox="1"/>
          <p:nvPr/>
        </p:nvSpPr>
        <p:spPr>
          <a:xfrm>
            <a:off x="2105025" y="2013457"/>
            <a:ext cx="1581150" cy="301752"/>
          </a:xfrm>
          <a:prstGeom prst="rect">
            <a:avLst/>
          </a:prstGeom>
          <a:noFill/>
          <a:ln/>
        </p:spPr>
        <p:txBody>
          <a:bodyPr wrap="square" lIns="0" tIns="0" rIns="0" bIns="0" rtlCol="0" anchor="ctr"/>
          <a:lstStyle/>
          <a:p>
            <a:pPr algn="l" indent="0" marL="0">
              <a:lnSpc>
                <a:spcPts val="1190"/>
              </a:lnSpc>
              <a:buNone/>
            </a:pPr>
            <a:r>
              <a:rPr lang="en-US" sz="900" b="1" dirty="0">
                <a:solidFill>
                  <a:srgbClr val="334155"/>
                </a:solidFill>
                <a:latin typeface="Segoe UI" pitchFamily="34" charset="0"/>
                <a:ea typeface="Segoe UI" pitchFamily="34" charset="-122"/>
                <a:cs typeface="Segoe UI" pitchFamily="34" charset="-120"/>
              </a:rPr>
              <a:t>Chốt hợp tác Visa Accept, VietQR Global</a:t>
            </a:r>
            <a:endParaRPr lang="en-US" sz="900" dirty="0"/>
          </a:p>
        </p:txBody>
      </p:sp>
      <p:sp>
        <p:nvSpPr>
          <p:cNvPr id="52" name="dp"/>
          <p:cNvSpPr/>
          <p:nvPr/>
        </p:nvSpPr>
        <p:spPr>
          <a:xfrm>
            <a:off x="2109788" y="2361902"/>
            <a:ext cx="756196" cy="141536"/>
          </a:xfrm>
          <a:prstGeom prst="roundRect">
            <a:avLst>
              <a:gd name="adj" fmla="val 30284"/>
            </a:avLst>
          </a:prstGeom>
          <a:solidFill>
            <a:srgbClr val="FFFFFF"/>
          </a:solidFill>
          <a:ln w="9525">
            <a:solidFill>
              <a:srgbClr val="94A3B8"/>
            </a:solidFill>
            <a:prstDash val="dash"/>
          </a:ln>
        </p:spPr>
      </p:sp>
      <p:sp>
        <p:nvSpPr>
          <p:cNvPr id="53" name="text dp"/>
          <p:cNvSpPr txBox="1"/>
          <p:nvPr/>
        </p:nvSpPr>
        <p:spPr>
          <a:xfrm>
            <a:off x="2162175" y="2355714"/>
            <a:ext cx="765721" cy="145726"/>
          </a:xfrm>
          <a:prstGeom prst="rect">
            <a:avLst/>
          </a:prstGeom>
          <a:noFill/>
          <a:ln/>
        </p:spPr>
        <p:txBody>
          <a:bodyPr wrap="none" lIns="0" tIns="0" rIns="0" bIns="0" rtlCol="0" anchor="ctr"/>
          <a:lstStyle/>
          <a:p>
            <a:pPr algn="l" indent="0" marL="0">
              <a:buNone/>
            </a:pPr>
            <a:r>
              <a:rPr lang="en-US" sz="790" b="1" dirty="0">
                <a:solidFill>
                  <a:srgbClr val="64748B"/>
                </a:solidFill>
                <a:latin typeface="Segoe UI" pitchFamily="34" charset="0"/>
                <a:ea typeface="Segoe UI" pitchFamily="34" charset="-122"/>
                <a:cs typeface="Segoe UI" pitchFamily="34" charset="-120"/>
              </a:rPr>
              <a:t>Visa · NAPAS</a:t>
            </a:r>
            <a:endParaRPr lang="en-US" sz="790" dirty="0"/>
          </a:p>
        </p:txBody>
      </p:sp>
      <p:sp>
        <p:nvSpPr>
          <p:cNvPr id="54" name="it"/>
          <p:cNvSpPr/>
          <p:nvPr/>
        </p:nvSpPr>
        <p:spPr>
          <a:xfrm>
            <a:off x="3957637" y="1955602"/>
            <a:ext cx="1724025" cy="614511"/>
          </a:xfrm>
          <a:prstGeom prst="roundRect">
            <a:avLst>
              <a:gd name="adj" fmla="val 11625"/>
            </a:avLst>
          </a:prstGeom>
          <a:solidFill>
            <a:srgbClr val="F1F5F9"/>
          </a:solidFill>
          <a:ln w="9525">
            <a:solidFill>
              <a:srgbClr val="E2E8F0"/>
            </a:solidFill>
            <a:prstDash val="solid"/>
          </a:ln>
        </p:spPr>
      </p:sp>
      <p:sp>
        <p:nvSpPr>
          <p:cNvPr id="55" name="text it"/>
          <p:cNvSpPr txBox="1"/>
          <p:nvPr/>
        </p:nvSpPr>
        <p:spPr>
          <a:xfrm>
            <a:off x="4048125" y="2013457"/>
            <a:ext cx="1581150" cy="301752"/>
          </a:xfrm>
          <a:prstGeom prst="rect">
            <a:avLst/>
          </a:prstGeom>
          <a:noFill/>
          <a:ln/>
        </p:spPr>
        <p:txBody>
          <a:bodyPr wrap="square" lIns="0" tIns="0" rIns="0" bIns="0" rtlCol="0" anchor="ctr"/>
          <a:lstStyle/>
          <a:p>
            <a:pPr algn="l" indent="0" marL="0">
              <a:lnSpc>
                <a:spcPts val="1190"/>
              </a:lnSpc>
              <a:buNone/>
            </a:pPr>
            <a:r>
              <a:rPr lang="en-US" sz="900" b="1" dirty="0">
                <a:solidFill>
                  <a:srgbClr val="334155"/>
                </a:solidFill>
                <a:latin typeface="Segoe UI" pitchFamily="34" charset="0"/>
                <a:ea typeface="Segoe UI" pitchFamily="34" charset="-122"/>
                <a:cs typeface="Segoe UI" pitchFamily="34" charset="-120"/>
              </a:rPr>
              <a:t>Thiết kế, tích hợp vào app Tendoo</a:t>
            </a:r>
            <a:endParaRPr lang="en-US" sz="900" dirty="0"/>
          </a:p>
        </p:txBody>
      </p:sp>
      <p:sp>
        <p:nvSpPr>
          <p:cNvPr id="56" name="dp"/>
          <p:cNvSpPr/>
          <p:nvPr/>
        </p:nvSpPr>
        <p:spPr>
          <a:xfrm>
            <a:off x="4052887" y="2361902"/>
            <a:ext cx="317153" cy="141536"/>
          </a:xfrm>
          <a:prstGeom prst="roundRect">
            <a:avLst>
              <a:gd name="adj" fmla="val 30284"/>
            </a:avLst>
          </a:prstGeom>
          <a:solidFill>
            <a:srgbClr val="FFFFFF"/>
          </a:solidFill>
          <a:ln w="9525">
            <a:solidFill>
              <a:srgbClr val="94A3B8"/>
            </a:solidFill>
            <a:prstDash val="dash"/>
          </a:ln>
        </p:spPr>
      </p:sp>
      <p:sp>
        <p:nvSpPr>
          <p:cNvPr id="57" name="text dp"/>
          <p:cNvSpPr txBox="1"/>
          <p:nvPr/>
        </p:nvSpPr>
        <p:spPr>
          <a:xfrm>
            <a:off x="4105275" y="2355435"/>
            <a:ext cx="326678" cy="146284"/>
          </a:xfrm>
          <a:prstGeom prst="rect">
            <a:avLst/>
          </a:prstGeom>
          <a:noFill/>
          <a:ln/>
        </p:spPr>
        <p:txBody>
          <a:bodyPr wrap="none" lIns="0" tIns="0" rIns="0" bIns="0" rtlCol="0" anchor="ctr"/>
          <a:lstStyle/>
          <a:p>
            <a:pPr algn="l" indent="0" marL="0">
              <a:buNone/>
            </a:pPr>
            <a:r>
              <a:rPr lang="en-US" sz="790" b="1" dirty="0">
                <a:solidFill>
                  <a:srgbClr val="64748B"/>
                </a:solidFill>
                <a:latin typeface="Segoe UI" pitchFamily="34" charset="0"/>
                <a:ea typeface="Segoe UI" pitchFamily="34" charset="-122"/>
                <a:cs typeface="Segoe UI" pitchFamily="34" charset="-120"/>
              </a:rPr>
              <a:t>VTT</a:t>
            </a:r>
            <a:endParaRPr lang="en-US" sz="790" dirty="0"/>
          </a:p>
        </p:txBody>
      </p:sp>
      <p:sp>
        <p:nvSpPr>
          <p:cNvPr id="58" name="it go"/>
          <p:cNvSpPr/>
          <p:nvPr/>
        </p:nvSpPr>
        <p:spPr>
          <a:xfrm>
            <a:off x="5900737" y="1955602"/>
            <a:ext cx="1724025" cy="727174"/>
          </a:xfrm>
          <a:prstGeom prst="roundRect">
            <a:avLst>
              <a:gd name="adj" fmla="val 9824"/>
            </a:avLst>
          </a:prstGeom>
          <a:solidFill>
            <a:srgbClr val="FEF3C7"/>
          </a:solidFill>
          <a:ln w="9525">
            <a:solidFill>
              <a:srgbClr val="FBBF24"/>
            </a:solidFill>
            <a:prstDash val="solid"/>
          </a:ln>
        </p:spPr>
      </p:sp>
      <p:sp>
        <p:nvSpPr>
          <p:cNvPr id="59" name="text it go"/>
          <p:cNvSpPr txBox="1"/>
          <p:nvPr/>
        </p:nvSpPr>
        <p:spPr>
          <a:xfrm>
            <a:off x="5991225" y="2164461"/>
            <a:ext cx="1581150" cy="452628"/>
          </a:xfrm>
          <a:prstGeom prst="rect">
            <a:avLst/>
          </a:prstGeom>
          <a:noFill/>
          <a:ln/>
        </p:spPr>
        <p:txBody>
          <a:bodyPr wrap="square" lIns="0" tIns="0" rIns="0" bIns="0" rtlCol="0" anchor="ctr"/>
          <a:lstStyle/>
          <a:p>
            <a:pPr algn="l" indent="0" marL="0">
              <a:lnSpc>
                <a:spcPts val="1190"/>
              </a:lnSpc>
              <a:buNone/>
            </a:pPr>
            <a:r>
              <a:rPr lang="en-US" sz="900" b="1" dirty="0">
                <a:solidFill>
                  <a:srgbClr val="78350F"/>
                </a:solidFill>
                <a:latin typeface="Segoe UI" pitchFamily="34" charset="0"/>
                <a:ea typeface="Segoe UI" pitchFamily="34" charset="-122"/>
                <a:cs typeface="Segoe UI" pitchFamily="34" charset="-120"/>
              </a:rPr>
              <a:t>Mở chạm thẻ, link thanh toán, quét QR cho cửa hàng pilot</a:t>
            </a:r>
            <a:endParaRPr lang="en-US" sz="900" dirty="0"/>
          </a:p>
        </p:txBody>
      </p:sp>
      <p:sp>
        <p:nvSpPr>
          <p:cNvPr id="60" name="text ms"/>
          <p:cNvSpPr txBox="1"/>
          <p:nvPr/>
        </p:nvSpPr>
        <p:spPr>
          <a:xfrm>
            <a:off x="5991225" y="2006917"/>
            <a:ext cx="1109514" cy="145018"/>
          </a:xfrm>
          <a:prstGeom prst="rect">
            <a:avLst/>
          </a:prstGeom>
          <a:noFill/>
          <a:ln/>
        </p:spPr>
        <p:txBody>
          <a:bodyPr wrap="none" lIns="0" tIns="0" rIns="0" bIns="0" rtlCol="0" anchor="ctr"/>
          <a:lstStyle/>
          <a:p>
            <a:pPr algn="l" indent="0" marL="0">
              <a:buNone/>
            </a:pPr>
            <a:r>
              <a:rPr lang="en-US" sz="790" spc="20" kern="0" dirty="0">
                <a:solidFill>
                  <a:srgbClr val="B45309"/>
                </a:solidFill>
                <a:latin typeface="Segoe UI Black" pitchFamily="34" charset="0"/>
                <a:ea typeface="Segoe UI Black" pitchFamily="34" charset="-122"/>
                <a:cs typeface="Segoe UI Black" pitchFamily="34" charset="-120"/>
              </a:rPr>
              <a:t>★ GOLIVE Q2/2027</a:t>
            </a:r>
            <a:endParaRPr lang="en-US" sz="790" dirty="0"/>
          </a:p>
        </p:txBody>
      </p:sp>
      <p:sp>
        <p:nvSpPr>
          <p:cNvPr id="61" name="it"/>
          <p:cNvSpPr/>
          <p:nvPr/>
        </p:nvSpPr>
        <p:spPr>
          <a:xfrm>
            <a:off x="7843838" y="1955602"/>
            <a:ext cx="1724025" cy="425351"/>
          </a:xfrm>
          <a:prstGeom prst="roundRect">
            <a:avLst>
              <a:gd name="adj" fmla="val 16795"/>
            </a:avLst>
          </a:prstGeom>
          <a:solidFill>
            <a:srgbClr val="F1F5F9"/>
          </a:solidFill>
          <a:ln w="9525">
            <a:solidFill>
              <a:srgbClr val="E2E8F0"/>
            </a:solidFill>
            <a:prstDash val="solid"/>
          </a:ln>
        </p:spPr>
      </p:sp>
      <p:sp>
        <p:nvSpPr>
          <p:cNvPr id="62" name="text it"/>
          <p:cNvSpPr txBox="1"/>
          <p:nvPr/>
        </p:nvSpPr>
        <p:spPr>
          <a:xfrm>
            <a:off x="7934325" y="2013457"/>
            <a:ext cx="1581150" cy="301752"/>
          </a:xfrm>
          <a:prstGeom prst="rect">
            <a:avLst/>
          </a:prstGeom>
          <a:noFill/>
          <a:ln/>
        </p:spPr>
        <p:txBody>
          <a:bodyPr wrap="square" lIns="0" tIns="0" rIns="0" bIns="0" rtlCol="0" anchor="ctr"/>
          <a:lstStyle/>
          <a:p>
            <a:pPr algn="l" indent="0" marL="0">
              <a:lnSpc>
                <a:spcPts val="1190"/>
              </a:lnSpc>
              <a:buNone/>
            </a:pPr>
            <a:r>
              <a:rPr lang="en-US" sz="900" b="1" dirty="0">
                <a:solidFill>
                  <a:srgbClr val="334155"/>
                </a:solidFill>
                <a:latin typeface="Segoe UI" pitchFamily="34" charset="0"/>
                <a:ea typeface="Segoe UI" pitchFamily="34" charset="-122"/>
                <a:cs typeface="Segoe UI" pitchFamily="34" charset="-120"/>
              </a:rPr>
              <a:t>Theo dõi tỉ lệ cửa hàng còn giao dịch sau 30 ngày</a:t>
            </a:r>
            <a:endParaRPr lang="en-US" sz="900" dirty="0"/>
          </a:p>
        </p:txBody>
      </p:sp>
      <p:sp>
        <p:nvSpPr>
          <p:cNvPr id="63" name="it sc"/>
          <p:cNvSpPr/>
          <p:nvPr/>
        </p:nvSpPr>
        <p:spPr>
          <a:xfrm>
            <a:off x="9786938" y="1955602"/>
            <a:ext cx="1724025" cy="765274"/>
          </a:xfrm>
          <a:prstGeom prst="roundRect">
            <a:avLst>
              <a:gd name="adj" fmla="val 9335"/>
            </a:avLst>
          </a:prstGeom>
          <a:solidFill>
            <a:srgbClr val="EEFBF3"/>
          </a:solidFill>
          <a:ln w="9525">
            <a:solidFill>
              <a:srgbClr val="86EFAC"/>
            </a:solidFill>
            <a:prstDash val="solid"/>
          </a:ln>
        </p:spPr>
      </p:sp>
      <p:sp>
        <p:nvSpPr>
          <p:cNvPr id="64" name="text it sc"/>
          <p:cNvSpPr txBox="1"/>
          <p:nvPr/>
        </p:nvSpPr>
        <p:spPr>
          <a:xfrm>
            <a:off x="9877425" y="2013400"/>
            <a:ext cx="1581150" cy="452628"/>
          </a:xfrm>
          <a:prstGeom prst="rect">
            <a:avLst/>
          </a:prstGeom>
          <a:noFill/>
          <a:ln/>
        </p:spPr>
        <p:txBody>
          <a:bodyPr wrap="square" lIns="0" tIns="0" rIns="0" bIns="0" rtlCol="0" anchor="ctr"/>
          <a:lstStyle/>
          <a:p>
            <a:pPr algn="l" indent="0" marL="0">
              <a:lnSpc>
                <a:spcPts val="1190"/>
              </a:lnSpc>
              <a:buNone/>
            </a:pPr>
            <a:r>
              <a:rPr lang="en-US" sz="900" b="1" dirty="0">
                <a:solidFill>
                  <a:srgbClr val="15803D"/>
                </a:solidFill>
                <a:latin typeface="Segoe UI" pitchFamily="34" charset="0"/>
                <a:ea typeface="Segoe UI" pitchFamily="34" charset="-122"/>
                <a:cs typeface="Segoe UI" pitchFamily="34" charset="-120"/>
              </a:rPr>
              <a:t>Nhân rộng; merchant chạm hạn mức nâng gói SMB, nhận thẻ đầy đủ</a:t>
            </a:r>
            <a:endParaRPr lang="en-US" sz="900" dirty="0"/>
          </a:p>
        </p:txBody>
      </p:sp>
      <p:sp>
        <p:nvSpPr>
          <p:cNvPr id="65" name="dp"/>
          <p:cNvSpPr/>
          <p:nvPr/>
        </p:nvSpPr>
        <p:spPr>
          <a:xfrm>
            <a:off x="9882188" y="2512665"/>
            <a:ext cx="326380" cy="141536"/>
          </a:xfrm>
          <a:prstGeom prst="roundRect">
            <a:avLst>
              <a:gd name="adj" fmla="val 30284"/>
            </a:avLst>
          </a:prstGeom>
          <a:solidFill>
            <a:srgbClr val="FFFFFF"/>
          </a:solidFill>
          <a:ln w="9525">
            <a:solidFill>
              <a:srgbClr val="94A3B8"/>
            </a:solidFill>
            <a:prstDash val="dash"/>
          </a:ln>
        </p:spPr>
      </p:sp>
      <p:sp>
        <p:nvSpPr>
          <p:cNvPr id="66" name="text dp"/>
          <p:cNvSpPr txBox="1"/>
          <p:nvPr/>
        </p:nvSpPr>
        <p:spPr>
          <a:xfrm>
            <a:off x="9934575" y="2506281"/>
            <a:ext cx="335905" cy="146119"/>
          </a:xfrm>
          <a:prstGeom prst="rect">
            <a:avLst/>
          </a:prstGeom>
          <a:noFill/>
          <a:ln/>
        </p:spPr>
        <p:txBody>
          <a:bodyPr wrap="none" lIns="0" tIns="0" rIns="0" bIns="0" rtlCol="0" anchor="ctr"/>
          <a:lstStyle/>
          <a:p>
            <a:pPr algn="l" indent="0" marL="0">
              <a:buNone/>
            </a:pPr>
            <a:r>
              <a:rPr lang="en-US" sz="790" b="1" dirty="0">
                <a:solidFill>
                  <a:srgbClr val="64748B"/>
                </a:solidFill>
                <a:latin typeface="Segoe UI" pitchFamily="34" charset="0"/>
                <a:ea typeface="Segoe UI" pitchFamily="34" charset="-122"/>
                <a:cs typeface="Segoe UI" pitchFamily="34" charset="-120"/>
              </a:rPr>
              <a:t>Visa</a:t>
            </a:r>
            <a:endParaRPr lang="en-US" sz="790" dirty="0"/>
          </a:p>
        </p:txBody>
      </p:sp>
      <p:sp>
        <p:nvSpPr>
          <p:cNvPr id="67" name="it"/>
          <p:cNvSpPr/>
          <p:nvPr/>
        </p:nvSpPr>
        <p:spPr>
          <a:xfrm>
            <a:off x="2014538" y="3148459"/>
            <a:ext cx="1724025" cy="425351"/>
          </a:xfrm>
          <a:prstGeom prst="roundRect">
            <a:avLst>
              <a:gd name="adj" fmla="val 16795"/>
            </a:avLst>
          </a:prstGeom>
          <a:solidFill>
            <a:srgbClr val="F1F5F9"/>
          </a:solidFill>
          <a:ln w="9525">
            <a:solidFill>
              <a:srgbClr val="E2E8F0"/>
            </a:solidFill>
            <a:prstDash val="solid"/>
          </a:ln>
        </p:spPr>
      </p:sp>
      <p:sp>
        <p:nvSpPr>
          <p:cNvPr id="68" name="text it"/>
          <p:cNvSpPr txBox="1"/>
          <p:nvPr/>
        </p:nvSpPr>
        <p:spPr>
          <a:xfrm>
            <a:off x="2105025" y="3206314"/>
            <a:ext cx="1581150" cy="301752"/>
          </a:xfrm>
          <a:prstGeom prst="rect">
            <a:avLst/>
          </a:prstGeom>
          <a:noFill/>
          <a:ln/>
        </p:spPr>
        <p:txBody>
          <a:bodyPr wrap="square" lIns="0" tIns="0" rIns="0" bIns="0" rtlCol="0" anchor="ctr"/>
          <a:lstStyle/>
          <a:p>
            <a:pPr algn="l" indent="0" marL="0">
              <a:lnSpc>
                <a:spcPts val="1190"/>
              </a:lnSpc>
              <a:buNone/>
            </a:pPr>
            <a:r>
              <a:rPr lang="en-US" sz="900" b="1" dirty="0">
                <a:solidFill>
                  <a:srgbClr val="334155"/>
                </a:solidFill>
                <a:latin typeface="Segoe UI" pitchFamily="34" charset="0"/>
                <a:ea typeface="Segoe UI" pitchFamily="34" charset="-122"/>
                <a:cs typeface="Segoe UI" pitchFamily="34" charset="-120"/>
              </a:rPr>
              <a:t>Thiết kế AI tư vấn du lịch và booking online (web app)</a:t>
            </a:r>
            <a:endParaRPr lang="en-US" sz="900" dirty="0"/>
          </a:p>
        </p:txBody>
      </p:sp>
      <p:sp>
        <p:nvSpPr>
          <p:cNvPr id="69" name="it"/>
          <p:cNvSpPr/>
          <p:nvPr/>
        </p:nvSpPr>
        <p:spPr>
          <a:xfrm>
            <a:off x="3957637" y="3148459"/>
            <a:ext cx="1724025" cy="765274"/>
          </a:xfrm>
          <a:prstGeom prst="roundRect">
            <a:avLst>
              <a:gd name="adj" fmla="val 9335"/>
            </a:avLst>
          </a:prstGeom>
          <a:solidFill>
            <a:srgbClr val="F1F5F9"/>
          </a:solidFill>
          <a:ln w="9525">
            <a:solidFill>
              <a:srgbClr val="E2E8F0"/>
            </a:solidFill>
            <a:prstDash val="solid"/>
          </a:ln>
        </p:spPr>
      </p:sp>
      <p:sp>
        <p:nvSpPr>
          <p:cNvPr id="70" name="text it"/>
          <p:cNvSpPr txBox="1"/>
          <p:nvPr/>
        </p:nvSpPr>
        <p:spPr>
          <a:xfrm>
            <a:off x="4048125" y="3206258"/>
            <a:ext cx="1581150" cy="452628"/>
          </a:xfrm>
          <a:prstGeom prst="rect">
            <a:avLst/>
          </a:prstGeom>
          <a:noFill/>
          <a:ln/>
        </p:spPr>
        <p:txBody>
          <a:bodyPr wrap="square" lIns="0" tIns="0" rIns="0" bIns="0" rtlCol="0" anchor="ctr"/>
          <a:lstStyle/>
          <a:p>
            <a:pPr algn="l" indent="0" marL="0">
              <a:lnSpc>
                <a:spcPts val="1190"/>
              </a:lnSpc>
              <a:buNone/>
            </a:pPr>
            <a:r>
              <a:rPr lang="en-US" sz="900" b="1" dirty="0">
                <a:solidFill>
                  <a:srgbClr val="334155"/>
                </a:solidFill>
                <a:latin typeface="Segoe UI" pitchFamily="34" charset="0"/>
                <a:ea typeface="Segoe UI" pitchFamily="34" charset="-122"/>
                <a:cs typeface="Segoe UI" pitchFamily="34" charset="-120"/>
              </a:rPr>
              <a:t>Thống nhất kênh Viettel: tin nhắn roaming, SIM/eSIM du lịch, quầy SIM sân bay</a:t>
            </a:r>
            <a:endParaRPr lang="en-US" sz="900" dirty="0"/>
          </a:p>
        </p:txBody>
      </p:sp>
      <p:sp>
        <p:nvSpPr>
          <p:cNvPr id="71" name="dp"/>
          <p:cNvSpPr/>
          <p:nvPr/>
        </p:nvSpPr>
        <p:spPr>
          <a:xfrm>
            <a:off x="4052887" y="3705523"/>
            <a:ext cx="317153" cy="141536"/>
          </a:xfrm>
          <a:prstGeom prst="roundRect">
            <a:avLst>
              <a:gd name="adj" fmla="val 30284"/>
            </a:avLst>
          </a:prstGeom>
          <a:solidFill>
            <a:srgbClr val="FFFFFF"/>
          </a:solidFill>
          <a:ln w="9525">
            <a:solidFill>
              <a:srgbClr val="94A3B8"/>
            </a:solidFill>
            <a:prstDash val="dash"/>
          </a:ln>
        </p:spPr>
      </p:sp>
      <p:sp>
        <p:nvSpPr>
          <p:cNvPr id="72" name="text dp"/>
          <p:cNvSpPr txBox="1"/>
          <p:nvPr/>
        </p:nvSpPr>
        <p:spPr>
          <a:xfrm>
            <a:off x="4105275" y="3699055"/>
            <a:ext cx="326678" cy="146284"/>
          </a:xfrm>
          <a:prstGeom prst="rect">
            <a:avLst/>
          </a:prstGeom>
          <a:noFill/>
          <a:ln/>
        </p:spPr>
        <p:txBody>
          <a:bodyPr wrap="none" lIns="0" tIns="0" rIns="0" bIns="0" rtlCol="0" anchor="ctr"/>
          <a:lstStyle/>
          <a:p>
            <a:pPr algn="l" indent="0" marL="0">
              <a:buNone/>
            </a:pPr>
            <a:r>
              <a:rPr lang="en-US" sz="790" b="1" dirty="0">
                <a:solidFill>
                  <a:srgbClr val="64748B"/>
                </a:solidFill>
                <a:latin typeface="Segoe UI" pitchFamily="34" charset="0"/>
                <a:ea typeface="Segoe UI" pitchFamily="34" charset="-122"/>
                <a:cs typeface="Segoe UI" pitchFamily="34" charset="-120"/>
              </a:rPr>
              <a:t>VTT</a:t>
            </a:r>
            <a:endParaRPr lang="en-US" sz="790" dirty="0"/>
          </a:p>
        </p:txBody>
      </p:sp>
      <p:sp>
        <p:nvSpPr>
          <p:cNvPr id="73" name="it go"/>
          <p:cNvSpPr/>
          <p:nvPr/>
        </p:nvSpPr>
        <p:spPr>
          <a:xfrm>
            <a:off x="7843838" y="3148459"/>
            <a:ext cx="1724025" cy="576411"/>
          </a:xfrm>
          <a:prstGeom prst="roundRect">
            <a:avLst>
              <a:gd name="adj" fmla="val 12394"/>
            </a:avLst>
          </a:prstGeom>
          <a:solidFill>
            <a:srgbClr val="FEF3C7"/>
          </a:solidFill>
          <a:ln w="9525">
            <a:solidFill>
              <a:srgbClr val="FBBF24"/>
            </a:solidFill>
            <a:prstDash val="solid"/>
          </a:ln>
        </p:spPr>
      </p:sp>
      <p:sp>
        <p:nvSpPr>
          <p:cNvPr id="74" name="text it go"/>
          <p:cNvSpPr txBox="1"/>
          <p:nvPr/>
        </p:nvSpPr>
        <p:spPr>
          <a:xfrm>
            <a:off x="7934325" y="3357375"/>
            <a:ext cx="1581150" cy="301752"/>
          </a:xfrm>
          <a:prstGeom prst="rect">
            <a:avLst/>
          </a:prstGeom>
          <a:noFill/>
          <a:ln/>
        </p:spPr>
        <p:txBody>
          <a:bodyPr wrap="square" lIns="0" tIns="0" rIns="0" bIns="0" rtlCol="0" anchor="ctr"/>
          <a:lstStyle/>
          <a:p>
            <a:pPr algn="l" indent="0" marL="0">
              <a:lnSpc>
                <a:spcPts val="1190"/>
              </a:lnSpc>
              <a:buNone/>
            </a:pPr>
            <a:r>
              <a:rPr lang="en-US" sz="900" b="1" dirty="0">
                <a:solidFill>
                  <a:srgbClr val="78350F"/>
                </a:solidFill>
                <a:latin typeface="Segoe UI" pitchFamily="34" charset="0"/>
                <a:ea typeface="Segoe UI" pitchFamily="34" charset="-122"/>
                <a:cs typeface="Segoe UI" pitchFamily="34" charset="-120"/>
              </a:rPr>
              <a:t>Pilot AI tư vấn và booking qua kênh Viettel</a:t>
            </a:r>
            <a:endParaRPr lang="en-US" sz="900" dirty="0"/>
          </a:p>
        </p:txBody>
      </p:sp>
      <p:sp>
        <p:nvSpPr>
          <p:cNvPr id="75" name="text ms"/>
          <p:cNvSpPr txBox="1"/>
          <p:nvPr/>
        </p:nvSpPr>
        <p:spPr>
          <a:xfrm>
            <a:off x="7934325" y="3199775"/>
            <a:ext cx="1111746" cy="145018"/>
          </a:xfrm>
          <a:prstGeom prst="rect">
            <a:avLst/>
          </a:prstGeom>
          <a:noFill/>
          <a:ln/>
        </p:spPr>
        <p:txBody>
          <a:bodyPr wrap="none" lIns="0" tIns="0" rIns="0" bIns="0" rtlCol="0" anchor="ctr"/>
          <a:lstStyle/>
          <a:p>
            <a:pPr algn="l" indent="0" marL="0">
              <a:buNone/>
            </a:pPr>
            <a:r>
              <a:rPr lang="en-US" sz="790" spc="20" kern="0" dirty="0">
                <a:solidFill>
                  <a:srgbClr val="B45309"/>
                </a:solidFill>
                <a:latin typeface="Segoe UI Black" pitchFamily="34" charset="0"/>
                <a:ea typeface="Segoe UI Black" pitchFamily="34" charset="-122"/>
                <a:cs typeface="Segoe UI Black" pitchFamily="34" charset="-120"/>
              </a:rPr>
              <a:t>★ GOLIVE Q3/2027</a:t>
            </a:r>
            <a:endParaRPr lang="en-US" sz="790" dirty="0"/>
          </a:p>
        </p:txBody>
      </p:sp>
      <p:sp>
        <p:nvSpPr>
          <p:cNvPr id="76" name="it sc"/>
          <p:cNvSpPr/>
          <p:nvPr/>
        </p:nvSpPr>
        <p:spPr>
          <a:xfrm>
            <a:off x="9786938" y="3148459"/>
            <a:ext cx="1724025" cy="614511"/>
          </a:xfrm>
          <a:prstGeom prst="roundRect">
            <a:avLst>
              <a:gd name="adj" fmla="val 11625"/>
            </a:avLst>
          </a:prstGeom>
          <a:solidFill>
            <a:srgbClr val="EEFBF3"/>
          </a:solidFill>
          <a:ln w="9525">
            <a:solidFill>
              <a:srgbClr val="86EFAC"/>
            </a:solidFill>
            <a:prstDash val="solid"/>
          </a:ln>
        </p:spPr>
      </p:sp>
      <p:sp>
        <p:nvSpPr>
          <p:cNvPr id="77" name="text it sc"/>
          <p:cNvSpPr txBox="1"/>
          <p:nvPr/>
        </p:nvSpPr>
        <p:spPr>
          <a:xfrm>
            <a:off x="9877425" y="3206314"/>
            <a:ext cx="1581150" cy="301752"/>
          </a:xfrm>
          <a:prstGeom prst="rect">
            <a:avLst/>
          </a:prstGeom>
          <a:noFill/>
          <a:ln/>
        </p:spPr>
        <p:txBody>
          <a:bodyPr wrap="square" lIns="0" tIns="0" rIns="0" bIns="0" rtlCol="0" anchor="ctr"/>
          <a:lstStyle/>
          <a:p>
            <a:pPr algn="l" indent="0" marL="0">
              <a:lnSpc>
                <a:spcPts val="1190"/>
              </a:lnSpc>
              <a:buNone/>
            </a:pPr>
            <a:r>
              <a:rPr lang="en-US" sz="900" b="1" dirty="0">
                <a:solidFill>
                  <a:srgbClr val="15803D"/>
                </a:solidFill>
                <a:latin typeface="Segoe UI" pitchFamily="34" charset="0"/>
                <a:ea typeface="Segoe UI" pitchFamily="34" charset="-122"/>
                <a:cs typeface="Segoe UI" pitchFamily="34" charset="-120"/>
              </a:rPr>
              <a:t>Nhân rộng; thêm cổng du lịch của tỉnh, Tammi</a:t>
            </a:r>
            <a:endParaRPr lang="en-US" sz="900" dirty="0"/>
          </a:p>
        </p:txBody>
      </p:sp>
      <p:sp>
        <p:nvSpPr>
          <p:cNvPr id="78" name="dp"/>
          <p:cNvSpPr/>
          <p:nvPr/>
        </p:nvSpPr>
        <p:spPr>
          <a:xfrm>
            <a:off x="9882188" y="3554760"/>
            <a:ext cx="739973" cy="141536"/>
          </a:xfrm>
          <a:prstGeom prst="roundRect">
            <a:avLst>
              <a:gd name="adj" fmla="val 30284"/>
            </a:avLst>
          </a:prstGeom>
          <a:solidFill>
            <a:srgbClr val="FFFFFF"/>
          </a:solidFill>
          <a:ln w="9525">
            <a:solidFill>
              <a:srgbClr val="94A3B8"/>
            </a:solidFill>
            <a:prstDash val="dash"/>
          </a:ln>
        </p:spPr>
      </p:sp>
      <p:sp>
        <p:nvSpPr>
          <p:cNvPr id="79" name="text dp"/>
          <p:cNvSpPr txBox="1"/>
          <p:nvPr/>
        </p:nvSpPr>
        <p:spPr>
          <a:xfrm>
            <a:off x="9934575" y="3549213"/>
            <a:ext cx="749498" cy="144444"/>
          </a:xfrm>
          <a:prstGeom prst="rect">
            <a:avLst/>
          </a:prstGeom>
          <a:noFill/>
          <a:ln/>
        </p:spPr>
        <p:txBody>
          <a:bodyPr wrap="none" lIns="0" tIns="0" rIns="0" bIns="0" rtlCol="0" anchor="ctr"/>
          <a:lstStyle/>
          <a:p>
            <a:pPr algn="l" indent="0" marL="0">
              <a:buNone/>
            </a:pPr>
            <a:r>
              <a:rPr lang="en-US" sz="780" b="1" dirty="0">
                <a:solidFill>
                  <a:srgbClr val="64748B"/>
                </a:solidFill>
                <a:latin typeface="Segoe UI" pitchFamily="34" charset="0"/>
                <a:ea typeface="Segoe UI" pitchFamily="34" charset="-122"/>
                <a:cs typeface="Segoe UI" pitchFamily="34" charset="-120"/>
              </a:rPr>
              <a:t>Tỉnh · Tammi</a:t>
            </a:r>
            <a:endParaRPr lang="en-US" sz="780" dirty="0"/>
          </a:p>
        </p:txBody>
      </p:sp>
      <p:sp>
        <p:nvSpPr>
          <p:cNvPr id="80" name="it"/>
          <p:cNvSpPr/>
          <p:nvPr/>
        </p:nvSpPr>
        <p:spPr>
          <a:xfrm>
            <a:off x="2014538" y="4341316"/>
            <a:ext cx="3667125" cy="274588"/>
          </a:xfrm>
          <a:prstGeom prst="roundRect">
            <a:avLst>
              <a:gd name="adj" fmla="val 26016"/>
            </a:avLst>
          </a:prstGeom>
          <a:solidFill>
            <a:srgbClr val="F1F5F9"/>
          </a:solidFill>
          <a:ln w="9525">
            <a:solidFill>
              <a:srgbClr val="E2E8F0"/>
            </a:solidFill>
            <a:prstDash val="solid"/>
          </a:ln>
        </p:spPr>
      </p:sp>
      <p:sp>
        <p:nvSpPr>
          <p:cNvPr id="81" name="text it"/>
          <p:cNvSpPr txBox="1"/>
          <p:nvPr/>
        </p:nvSpPr>
        <p:spPr>
          <a:xfrm>
            <a:off x="2105025" y="4391799"/>
            <a:ext cx="2376306" cy="165735"/>
          </a:xfrm>
          <a:prstGeom prst="rect">
            <a:avLst/>
          </a:prstGeom>
          <a:noFill/>
          <a:ln/>
        </p:spPr>
        <p:txBody>
          <a:bodyPr wrap="none" lIns="0" tIns="0" rIns="0" bIns="0" rtlCol="0" anchor="ctr"/>
          <a:lstStyle/>
          <a:p>
            <a:pPr algn="l" indent="0" marL="0">
              <a:buNone/>
            </a:pPr>
            <a:r>
              <a:rPr lang="en-US" sz="900" b="1" dirty="0">
                <a:solidFill>
                  <a:srgbClr val="334155"/>
                </a:solidFill>
                <a:latin typeface="Segoe UI" pitchFamily="34" charset="0"/>
                <a:ea typeface="Segoe UI" pitchFamily="34" charset="-122"/>
                <a:cs typeface="Segoe UI" pitchFamily="34" charset="-120"/>
              </a:rPr>
              <a:t>Làm việc với VTT: chốt phạm vi, đầu mối</a:t>
            </a:r>
            <a:endParaRPr lang="en-US" sz="900" dirty="0"/>
          </a:p>
        </p:txBody>
      </p:sp>
      <p:sp>
        <p:nvSpPr>
          <p:cNvPr id="82" name="it go"/>
          <p:cNvSpPr/>
          <p:nvPr/>
        </p:nvSpPr>
        <p:spPr>
          <a:xfrm>
            <a:off x="5900737" y="4341316"/>
            <a:ext cx="1724025" cy="727174"/>
          </a:xfrm>
          <a:prstGeom prst="roundRect">
            <a:avLst>
              <a:gd name="adj" fmla="val 9824"/>
            </a:avLst>
          </a:prstGeom>
          <a:solidFill>
            <a:srgbClr val="FEF3C7"/>
          </a:solidFill>
          <a:ln w="9525">
            <a:solidFill>
              <a:srgbClr val="FBBF24"/>
            </a:solidFill>
            <a:prstDash val="solid"/>
          </a:ln>
        </p:spPr>
      </p:sp>
      <p:sp>
        <p:nvSpPr>
          <p:cNvPr id="83" name="text it go"/>
          <p:cNvSpPr txBox="1"/>
          <p:nvPr/>
        </p:nvSpPr>
        <p:spPr>
          <a:xfrm>
            <a:off x="5991225" y="4550176"/>
            <a:ext cx="1581150" cy="452628"/>
          </a:xfrm>
          <a:prstGeom prst="rect">
            <a:avLst/>
          </a:prstGeom>
          <a:noFill/>
          <a:ln/>
        </p:spPr>
        <p:txBody>
          <a:bodyPr wrap="square" lIns="0" tIns="0" rIns="0" bIns="0" rtlCol="0" anchor="ctr"/>
          <a:lstStyle/>
          <a:p>
            <a:pPr algn="l" indent="0" marL="0">
              <a:lnSpc>
                <a:spcPts val="1190"/>
              </a:lnSpc>
              <a:buNone/>
            </a:pPr>
            <a:r>
              <a:rPr lang="en-US" sz="900" b="1" dirty="0">
                <a:solidFill>
                  <a:srgbClr val="78350F"/>
                </a:solidFill>
                <a:latin typeface="Segoe UI" pitchFamily="34" charset="0"/>
                <a:ea typeface="Segoe UI" pitchFamily="34" charset="-122"/>
                <a:cs typeface="Segoe UI" pitchFamily="34" charset="-120"/>
              </a:rPr>
              <a:t>Phát triển merchant pilot kênh offline: Hội An, Đà Nẵng, Phú Quốc</a:t>
            </a:r>
            <a:endParaRPr lang="en-US" sz="900" dirty="0"/>
          </a:p>
        </p:txBody>
      </p:sp>
      <p:sp>
        <p:nvSpPr>
          <p:cNvPr id="84" name="text ms"/>
          <p:cNvSpPr txBox="1"/>
          <p:nvPr/>
        </p:nvSpPr>
        <p:spPr>
          <a:xfrm>
            <a:off x="5991225" y="4392632"/>
            <a:ext cx="749647" cy="145018"/>
          </a:xfrm>
          <a:prstGeom prst="rect">
            <a:avLst/>
          </a:prstGeom>
          <a:noFill/>
          <a:ln/>
        </p:spPr>
        <p:txBody>
          <a:bodyPr wrap="none" lIns="0" tIns="0" rIns="0" bIns="0" rtlCol="0" anchor="ctr"/>
          <a:lstStyle/>
          <a:p>
            <a:pPr algn="l" indent="0" marL="0">
              <a:buNone/>
            </a:pPr>
            <a:r>
              <a:rPr lang="en-US" sz="790" spc="20" kern="0" dirty="0">
                <a:solidFill>
                  <a:srgbClr val="B45309"/>
                </a:solidFill>
                <a:latin typeface="Segoe UI Black" pitchFamily="34" charset="0"/>
                <a:ea typeface="Segoe UI Black" pitchFamily="34" charset="-122"/>
                <a:cs typeface="Segoe UI Black" pitchFamily="34" charset="-120"/>
              </a:rPr>
              <a:t>TỪ Q2/2027</a:t>
            </a:r>
            <a:endParaRPr lang="en-US" sz="790" dirty="0"/>
          </a:p>
        </p:txBody>
      </p:sp>
      <p:sp>
        <p:nvSpPr>
          <p:cNvPr id="85" name="it go"/>
          <p:cNvSpPr/>
          <p:nvPr/>
        </p:nvSpPr>
        <p:spPr>
          <a:xfrm>
            <a:off x="7843838" y="4341316"/>
            <a:ext cx="1724025" cy="576411"/>
          </a:xfrm>
          <a:prstGeom prst="roundRect">
            <a:avLst>
              <a:gd name="adj" fmla="val 12394"/>
            </a:avLst>
          </a:prstGeom>
          <a:solidFill>
            <a:srgbClr val="FEF3C7"/>
          </a:solidFill>
          <a:ln w="9525">
            <a:solidFill>
              <a:srgbClr val="FBBF24"/>
            </a:solidFill>
            <a:prstDash val="solid"/>
          </a:ln>
        </p:spPr>
      </p:sp>
      <p:sp>
        <p:nvSpPr>
          <p:cNvPr id="86" name="text it go"/>
          <p:cNvSpPr txBox="1"/>
          <p:nvPr/>
        </p:nvSpPr>
        <p:spPr>
          <a:xfrm>
            <a:off x="7934325" y="4550232"/>
            <a:ext cx="1581150" cy="301752"/>
          </a:xfrm>
          <a:prstGeom prst="rect">
            <a:avLst/>
          </a:prstGeom>
          <a:noFill/>
          <a:ln/>
        </p:spPr>
        <p:txBody>
          <a:bodyPr wrap="square" lIns="0" tIns="0" rIns="0" bIns="0" rtlCol="0" anchor="ctr"/>
          <a:lstStyle/>
          <a:p>
            <a:pPr algn="l" indent="0" marL="0">
              <a:lnSpc>
                <a:spcPts val="1190"/>
              </a:lnSpc>
              <a:buNone/>
            </a:pPr>
            <a:r>
              <a:rPr lang="en-US" sz="900" b="1" dirty="0">
                <a:solidFill>
                  <a:srgbClr val="78350F"/>
                </a:solidFill>
                <a:latin typeface="Segoe UI" pitchFamily="34" charset="0"/>
                <a:ea typeface="Segoe UI" pitchFamily="34" charset="-122"/>
                <a:cs typeface="Segoe UI" pitchFamily="34" charset="-120"/>
              </a:rPr>
              <a:t>Thêm kênh online tại các điểm pilot</a:t>
            </a:r>
            <a:endParaRPr lang="en-US" sz="900" dirty="0"/>
          </a:p>
        </p:txBody>
      </p:sp>
      <p:sp>
        <p:nvSpPr>
          <p:cNvPr id="87" name="text ms"/>
          <p:cNvSpPr txBox="1"/>
          <p:nvPr/>
        </p:nvSpPr>
        <p:spPr>
          <a:xfrm>
            <a:off x="7934325" y="4392632"/>
            <a:ext cx="751880" cy="145018"/>
          </a:xfrm>
          <a:prstGeom prst="rect">
            <a:avLst/>
          </a:prstGeom>
          <a:noFill/>
          <a:ln/>
        </p:spPr>
        <p:txBody>
          <a:bodyPr wrap="none" lIns="0" tIns="0" rIns="0" bIns="0" rtlCol="0" anchor="ctr"/>
          <a:lstStyle/>
          <a:p>
            <a:pPr algn="l" indent="0" marL="0">
              <a:buNone/>
            </a:pPr>
            <a:r>
              <a:rPr lang="en-US" sz="790" spc="20" kern="0" dirty="0">
                <a:solidFill>
                  <a:srgbClr val="B45309"/>
                </a:solidFill>
                <a:latin typeface="Segoe UI Black" pitchFamily="34" charset="0"/>
                <a:ea typeface="Segoe UI Black" pitchFamily="34" charset="-122"/>
                <a:cs typeface="Segoe UI Black" pitchFamily="34" charset="-120"/>
              </a:rPr>
              <a:t>TỪ Q3/2027</a:t>
            </a:r>
            <a:endParaRPr lang="en-US" sz="790" dirty="0"/>
          </a:p>
        </p:txBody>
      </p:sp>
      <p:sp>
        <p:nvSpPr>
          <p:cNvPr id="88" name="it sc"/>
          <p:cNvSpPr/>
          <p:nvPr/>
        </p:nvSpPr>
        <p:spPr>
          <a:xfrm>
            <a:off x="9786938" y="4341316"/>
            <a:ext cx="1724025" cy="726877"/>
          </a:xfrm>
          <a:prstGeom prst="roundRect">
            <a:avLst>
              <a:gd name="adj" fmla="val 9828"/>
            </a:avLst>
          </a:prstGeom>
          <a:solidFill>
            <a:srgbClr val="EEFBF3"/>
          </a:solidFill>
          <a:ln w="9525">
            <a:solidFill>
              <a:srgbClr val="86EFAC"/>
            </a:solidFill>
            <a:prstDash val="solid"/>
          </a:ln>
        </p:spPr>
      </p:sp>
      <p:sp>
        <p:nvSpPr>
          <p:cNvPr id="89" name="text it sc"/>
          <p:cNvSpPr txBox="1"/>
          <p:nvPr/>
        </p:nvSpPr>
        <p:spPr>
          <a:xfrm>
            <a:off x="9877425" y="4399059"/>
            <a:ext cx="1581150" cy="603504"/>
          </a:xfrm>
          <a:prstGeom prst="rect">
            <a:avLst/>
          </a:prstGeom>
          <a:noFill/>
          <a:ln/>
        </p:spPr>
        <p:txBody>
          <a:bodyPr wrap="square" lIns="0" tIns="0" rIns="0" bIns="0" rtlCol="0" anchor="ctr"/>
          <a:lstStyle/>
          <a:p>
            <a:pPr algn="l" indent="0" marL="0">
              <a:lnSpc>
                <a:spcPts val="1190"/>
              </a:lnSpc>
              <a:buNone/>
            </a:pPr>
            <a:r>
              <a:rPr lang="en-US" sz="900" b="1" dirty="0">
                <a:solidFill>
                  <a:srgbClr val="15803D"/>
                </a:solidFill>
                <a:latin typeface="Segoe UI" pitchFamily="34" charset="0"/>
                <a:ea typeface="Segoe UI" pitchFamily="34" charset="-122"/>
                <a:cs typeface="Segoe UI" pitchFamily="34" charset="-120"/>
              </a:rPr>
              <a:t>Nhân rộng qua đội kênh bán VTT, phủ merchant Tendoo phục vụ khách quốc tế</a:t>
            </a:r>
            <a:endParaRPr lang="en-US" sz="900" dirty="0"/>
          </a:p>
        </p:txBody>
      </p:sp>
      <p:sp>
        <p:nvSpPr>
          <p:cNvPr id="90" name="kh"/>
          <p:cNvSpPr/>
          <p:nvPr/>
        </p:nvSpPr>
        <p:spPr>
          <a:xfrm>
            <a:off x="614363" y="5505599"/>
            <a:ext cx="1122164" cy="642789"/>
          </a:xfrm>
          <a:prstGeom prst="roundRect">
            <a:avLst>
              <a:gd name="adj" fmla="val 17041"/>
            </a:avLst>
          </a:prstGeom>
          <a:solidFill>
            <a:srgbClr val="EEFBF3"/>
          </a:solidFill>
          <a:ln w="9525">
            <a:solidFill>
              <a:srgbClr val="86EFAC"/>
            </a:solidFill>
            <a:prstDash val="solid"/>
          </a:ln>
        </p:spPr>
      </p:sp>
      <p:sp>
        <p:nvSpPr>
          <p:cNvPr id="91" name="text kh"/>
          <p:cNvSpPr txBox="1"/>
          <p:nvPr/>
        </p:nvSpPr>
        <p:spPr>
          <a:xfrm>
            <a:off x="790575" y="5709708"/>
            <a:ext cx="884039" cy="234421"/>
          </a:xfrm>
          <a:prstGeom prst="rect">
            <a:avLst/>
          </a:prstGeom>
          <a:noFill/>
          <a:ln/>
        </p:spPr>
        <p:txBody>
          <a:bodyPr wrap="none" lIns="0" tIns="0" rIns="0" bIns="0" rtlCol="0" anchor="ctr"/>
          <a:lstStyle/>
          <a:p>
            <a:pPr algn="l" indent="0" marL="0">
              <a:buNone/>
            </a:pPr>
            <a:r>
              <a:rPr lang="en-US" sz="1270" dirty="0">
                <a:solidFill>
                  <a:srgbClr val="15803D"/>
                </a:solidFill>
                <a:latin typeface="Segoe UI Black" pitchFamily="34" charset="0"/>
                <a:ea typeface="Segoe UI Black" pitchFamily="34" charset="-122"/>
                <a:cs typeface="Segoe UI Black" pitchFamily="34" charset="-120"/>
              </a:rPr>
              <a:t>KPI chính</a:t>
            </a:r>
            <a:endParaRPr lang="en-US" sz="1270" dirty="0"/>
          </a:p>
        </p:txBody>
      </p:sp>
      <p:sp>
        <p:nvSpPr>
          <p:cNvPr id="92" name="kc"/>
          <p:cNvSpPr/>
          <p:nvPr/>
        </p:nvSpPr>
        <p:spPr>
          <a:xfrm>
            <a:off x="1855589" y="5500836"/>
            <a:ext cx="4806255" cy="652314"/>
          </a:xfrm>
          <a:prstGeom prst="roundRect">
            <a:avLst>
              <a:gd name="adj" fmla="val 17522"/>
            </a:avLst>
          </a:prstGeom>
          <a:solidFill>
            <a:srgbClr val="FFFFFF"/>
          </a:solidFill>
          <a:ln/>
        </p:spPr>
      </p:sp>
      <p:sp>
        <p:nvSpPr>
          <p:cNvPr id="93" name="kc-border"/>
          <p:cNvSpPr/>
          <p:nvPr/>
        </p:nvSpPr>
        <p:spPr>
          <a:xfrm>
            <a:off x="1855589" y="5500836"/>
            <a:ext cx="4806255" cy="9525"/>
          </a:xfrm>
          <a:prstGeom prst="rect">
            <a:avLst/>
          </a:prstGeom>
          <a:solidFill>
            <a:srgbClr val="E2E8F0"/>
          </a:solidFill>
          <a:ln/>
        </p:spPr>
      </p:sp>
      <p:sp>
        <p:nvSpPr>
          <p:cNvPr id="94" name="kc-border"/>
          <p:cNvSpPr/>
          <p:nvPr/>
        </p:nvSpPr>
        <p:spPr>
          <a:xfrm>
            <a:off x="6652320" y="5500836"/>
            <a:ext cx="9525" cy="652314"/>
          </a:xfrm>
          <a:prstGeom prst="rect">
            <a:avLst/>
          </a:prstGeom>
          <a:solidFill>
            <a:srgbClr val="E2E8F0"/>
          </a:solidFill>
          <a:ln/>
        </p:spPr>
      </p:sp>
      <p:sp>
        <p:nvSpPr>
          <p:cNvPr id="95" name="kc-border"/>
          <p:cNvSpPr/>
          <p:nvPr/>
        </p:nvSpPr>
        <p:spPr>
          <a:xfrm>
            <a:off x="1855589" y="6143625"/>
            <a:ext cx="4806255" cy="9525"/>
          </a:xfrm>
          <a:prstGeom prst="rect">
            <a:avLst/>
          </a:prstGeom>
          <a:solidFill>
            <a:srgbClr val="E2E8F0"/>
          </a:solidFill>
          <a:ln/>
        </p:spPr>
      </p:sp>
      <p:sp>
        <p:nvSpPr>
          <p:cNvPr id="96" name="kc-border"/>
          <p:cNvSpPr/>
          <p:nvPr/>
        </p:nvSpPr>
        <p:spPr>
          <a:xfrm>
            <a:off x="1855589" y="5500836"/>
            <a:ext cx="57150" cy="652314"/>
          </a:xfrm>
          <a:prstGeom prst="rect">
            <a:avLst/>
          </a:prstGeom>
          <a:solidFill>
            <a:srgbClr val="E11D48"/>
          </a:solidFill>
          <a:ln/>
        </p:spPr>
      </p:sp>
      <p:sp>
        <p:nvSpPr>
          <p:cNvPr id="97" name="text kc"/>
          <p:cNvSpPr txBox="1"/>
          <p:nvPr/>
        </p:nvSpPr>
        <p:spPr>
          <a:xfrm>
            <a:off x="2084189" y="5796763"/>
            <a:ext cx="3448270" cy="213902"/>
          </a:xfrm>
          <a:prstGeom prst="rect">
            <a:avLst/>
          </a:prstGeom>
          <a:noFill/>
          <a:ln/>
        </p:spPr>
        <p:txBody>
          <a:bodyPr wrap="none" lIns="0" tIns="0" rIns="0" bIns="0" rtlCol="0" anchor="ctr"/>
          <a:lstStyle/>
          <a:p>
            <a:pPr algn="l" indent="0" marL="0">
              <a:buNone/>
            </a:pPr>
            <a:r>
              <a:rPr lang="en-US" sz="1160" b="1" dirty="0">
                <a:solidFill>
                  <a:srgbClr val="0F172A"/>
                </a:solidFill>
                <a:latin typeface="Segoe UI" pitchFamily="34" charset="0"/>
                <a:ea typeface="Segoe UI" pitchFamily="34" charset="-122"/>
                <a:cs typeface="Segoe UI" pitchFamily="34" charset="-120"/>
              </a:rPr>
              <a:t>GMV qua thẻ và QR; số cửa hàng có giao dịch</a:t>
            </a:r>
            <a:endParaRPr lang="en-US" sz="1160" dirty="0"/>
          </a:p>
        </p:txBody>
      </p:sp>
      <p:sp>
        <p:nvSpPr>
          <p:cNvPr id="98" name="text label"/>
          <p:cNvSpPr txBox="1"/>
          <p:nvPr/>
        </p:nvSpPr>
        <p:spPr>
          <a:xfrm>
            <a:off x="2084189" y="5632354"/>
            <a:ext cx="622995" cy="165589"/>
          </a:xfrm>
          <a:prstGeom prst="rect">
            <a:avLst/>
          </a:prstGeom>
          <a:noFill/>
          <a:ln/>
        </p:spPr>
        <p:txBody>
          <a:bodyPr wrap="none" lIns="0" tIns="0" rIns="0" bIns="0" rtlCol="0" anchor="ctr"/>
          <a:lstStyle/>
          <a:p>
            <a:pPr algn="l" indent="0" marL="0">
              <a:buNone/>
            </a:pPr>
            <a:r>
              <a:rPr lang="en-US" sz="900" b="1" spc="40" kern="0" dirty="0">
                <a:solidFill>
                  <a:srgbClr val="E11D48"/>
                </a:solidFill>
                <a:latin typeface="Segoe UI" pitchFamily="34" charset="0"/>
                <a:ea typeface="Segoe UI" pitchFamily="34" charset="-122"/>
                <a:cs typeface="Segoe UI" pitchFamily="34" charset="-120"/>
              </a:rPr>
              <a:t>OFFLINE</a:t>
            </a:r>
            <a:endParaRPr lang="en-US" sz="900" dirty="0"/>
          </a:p>
        </p:txBody>
      </p:sp>
      <p:sp>
        <p:nvSpPr>
          <p:cNvPr id="99" name="kc"/>
          <p:cNvSpPr/>
          <p:nvPr/>
        </p:nvSpPr>
        <p:spPr>
          <a:xfrm>
            <a:off x="6776145" y="5500836"/>
            <a:ext cx="4806255" cy="652314"/>
          </a:xfrm>
          <a:prstGeom prst="roundRect">
            <a:avLst>
              <a:gd name="adj" fmla="val 17522"/>
            </a:avLst>
          </a:prstGeom>
          <a:solidFill>
            <a:srgbClr val="FFFFFF"/>
          </a:solidFill>
          <a:ln/>
        </p:spPr>
      </p:sp>
      <p:sp>
        <p:nvSpPr>
          <p:cNvPr id="100" name="kc-border"/>
          <p:cNvSpPr/>
          <p:nvPr/>
        </p:nvSpPr>
        <p:spPr>
          <a:xfrm>
            <a:off x="6776145" y="5500836"/>
            <a:ext cx="4806255" cy="9525"/>
          </a:xfrm>
          <a:prstGeom prst="rect">
            <a:avLst/>
          </a:prstGeom>
          <a:solidFill>
            <a:srgbClr val="E2E8F0"/>
          </a:solidFill>
          <a:ln/>
        </p:spPr>
      </p:sp>
      <p:sp>
        <p:nvSpPr>
          <p:cNvPr id="101" name="kc-border"/>
          <p:cNvSpPr/>
          <p:nvPr/>
        </p:nvSpPr>
        <p:spPr>
          <a:xfrm>
            <a:off x="11572875" y="5500836"/>
            <a:ext cx="9525" cy="652314"/>
          </a:xfrm>
          <a:prstGeom prst="rect">
            <a:avLst/>
          </a:prstGeom>
          <a:solidFill>
            <a:srgbClr val="E2E8F0"/>
          </a:solidFill>
          <a:ln/>
        </p:spPr>
      </p:sp>
      <p:sp>
        <p:nvSpPr>
          <p:cNvPr id="102" name="kc-border"/>
          <p:cNvSpPr/>
          <p:nvPr/>
        </p:nvSpPr>
        <p:spPr>
          <a:xfrm>
            <a:off x="6776145" y="6143625"/>
            <a:ext cx="4806255" cy="9525"/>
          </a:xfrm>
          <a:prstGeom prst="rect">
            <a:avLst/>
          </a:prstGeom>
          <a:solidFill>
            <a:srgbClr val="E2E8F0"/>
          </a:solidFill>
          <a:ln/>
        </p:spPr>
      </p:sp>
      <p:sp>
        <p:nvSpPr>
          <p:cNvPr id="103" name="kc-border"/>
          <p:cNvSpPr/>
          <p:nvPr/>
        </p:nvSpPr>
        <p:spPr>
          <a:xfrm>
            <a:off x="6776145" y="5500836"/>
            <a:ext cx="57150" cy="652314"/>
          </a:xfrm>
          <a:prstGeom prst="rect">
            <a:avLst/>
          </a:prstGeom>
          <a:solidFill>
            <a:srgbClr val="1E3A8A"/>
          </a:solidFill>
          <a:ln/>
        </p:spPr>
      </p:sp>
      <p:sp>
        <p:nvSpPr>
          <p:cNvPr id="104" name="text kc"/>
          <p:cNvSpPr txBox="1"/>
          <p:nvPr/>
        </p:nvSpPr>
        <p:spPr>
          <a:xfrm>
            <a:off x="7004745" y="5796763"/>
            <a:ext cx="3460891" cy="213902"/>
          </a:xfrm>
          <a:prstGeom prst="rect">
            <a:avLst/>
          </a:prstGeom>
          <a:noFill/>
          <a:ln/>
        </p:spPr>
        <p:txBody>
          <a:bodyPr wrap="none" lIns="0" tIns="0" rIns="0" bIns="0" rtlCol="0" anchor="ctr"/>
          <a:lstStyle/>
          <a:p>
            <a:pPr algn="l" indent="0" marL="0">
              <a:buNone/>
            </a:pPr>
            <a:r>
              <a:rPr lang="en-US" sz="1160" b="1" dirty="0">
                <a:solidFill>
                  <a:srgbClr val="0F172A"/>
                </a:solidFill>
                <a:latin typeface="Segoe UI" pitchFamily="34" charset="0"/>
                <a:ea typeface="Segoe UI" pitchFamily="34" charset="-122"/>
                <a:cs typeface="Segoe UI" pitchFamily="34" charset="-120"/>
              </a:rPr>
              <a:t>Lượt đặt phòng, đặt bàn qua AI; GMV booking</a:t>
            </a:r>
            <a:endParaRPr lang="en-US" sz="1160" dirty="0"/>
          </a:p>
        </p:txBody>
      </p:sp>
      <p:sp>
        <p:nvSpPr>
          <p:cNvPr id="105" name="text label"/>
          <p:cNvSpPr txBox="1"/>
          <p:nvPr/>
        </p:nvSpPr>
        <p:spPr>
          <a:xfrm>
            <a:off x="7004745" y="5632354"/>
            <a:ext cx="572095" cy="165589"/>
          </a:xfrm>
          <a:prstGeom prst="rect">
            <a:avLst/>
          </a:prstGeom>
          <a:noFill/>
          <a:ln/>
        </p:spPr>
        <p:txBody>
          <a:bodyPr wrap="none" lIns="0" tIns="0" rIns="0" bIns="0" rtlCol="0" anchor="ctr"/>
          <a:lstStyle/>
          <a:p>
            <a:pPr algn="l" indent="0" marL="0">
              <a:buNone/>
            </a:pPr>
            <a:r>
              <a:rPr lang="en-US" sz="900" b="1" spc="40" kern="0" dirty="0">
                <a:solidFill>
                  <a:srgbClr val="1E3A8A"/>
                </a:solidFill>
                <a:latin typeface="Segoe UI" pitchFamily="34" charset="0"/>
                <a:ea typeface="Segoe UI" pitchFamily="34" charset="-122"/>
                <a:cs typeface="Segoe UI" pitchFamily="34" charset="-120"/>
              </a:rPr>
              <a:t>ONLINE</a:t>
            </a:r>
            <a:endParaRPr lang="en-US" sz="900" dirty="0"/>
          </a:p>
        </p:txBody>
      </p:sp>
      <p:sp>
        <p:nvSpPr>
          <p:cNvPr id="106" name="mk"/>
          <p:cNvSpPr/>
          <p:nvPr/>
        </p:nvSpPr>
        <p:spPr>
          <a:xfrm>
            <a:off x="10796588" y="6343650"/>
            <a:ext cx="323850" cy="323850"/>
          </a:xfrm>
          <a:prstGeom prst="ellipse">
            <a:avLst/>
          </a:prstGeom>
          <a:solidFill>
            <a:srgbClr val="F0001E"/>
          </a:solidFill>
          <a:ln/>
        </p:spPr>
      </p:sp>
      <p:sp>
        <p:nvSpPr>
          <p:cNvPr id="107" name="Shape 105"/>
          <p:cNvSpPr/>
          <p:nvPr/>
        </p:nvSpPr>
        <p:spPr>
          <a:xfrm>
            <a:off x="10910888" y="6424613"/>
            <a:ext cx="95250" cy="161925"/>
          </a:xfrm>
          <a:prstGeom prst="roundRect">
            <a:avLst>
              <a:gd name="adj" fmla="val 25000"/>
            </a:avLst>
          </a:prstGeom>
          <a:ln w="19050">
            <a:solidFill>
              <a:srgbClr val="FFFFFF"/>
            </a:solidFill>
            <a:prstDash val="solid"/>
          </a:ln>
        </p:spPr>
      </p:sp>
      <p:sp>
        <p:nvSpPr>
          <p:cNvPr id="108"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109"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110" name="text pno"/>
          <p:cNvSpPr txBox="1"/>
          <p:nvPr/>
        </p:nvSpPr>
        <p:spPr>
          <a:xfrm>
            <a:off x="10500866" y="6420292"/>
            <a:ext cx="262384" cy="161041"/>
          </a:xfrm>
          <a:prstGeom prst="rect">
            <a:avLst/>
          </a:prstGeom>
          <a:noFill/>
          <a:ln/>
        </p:spPr>
        <p:txBody>
          <a:bodyPr wrap="none" lIns="0" tIns="0" rIns="0" bIns="0" rtlCol="0" anchor="ctr"/>
          <a:lstStyle/>
          <a:p>
            <a:pPr algn="l" indent="0" marL="0">
              <a:buNone/>
            </a:pPr>
            <a:r>
              <a:rPr lang="en-US" sz="870" b="1" dirty="0">
                <a:solidFill>
                  <a:srgbClr val="CBD5E1"/>
                </a:solidFill>
                <a:latin typeface="Segoe UI" pitchFamily="34" charset="0"/>
                <a:ea typeface="Segoe UI" pitchFamily="34" charset="-122"/>
                <a:cs typeface="Segoe UI" pitchFamily="34" charset="-120"/>
              </a:rPr>
              <a:t>23</a:t>
            </a:r>
            <a:endParaRPr lang="en-US" sz="87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graphic svg" descr="svg">    </p:cNvPr>
          <p:cNvPicPr>
            <a:picLocks noChangeAspect="1"/>
          </p:cNvPicPr>
          <p:nvPr/>
        </p:nvPicPr>
        <p:blipFill>
          <a:blip r:embed="rId2"/>
          <a:stretch>
            <a:fillRect/>
          </a:stretch>
        </p:blipFill>
        <p:spPr>
          <a:xfrm>
            <a:off x="0" y="0"/>
            <a:ext cx="12192000" cy="6858000"/>
          </a:xfrm>
          <a:prstGeom prst="rect">
            <a:avLst/>
          </a:prstGeom>
        </p:spPr>
      </p:pic>
      <p:sp>
        <p:nvSpPr>
          <p:cNvPr id="3" name="text thanks"/>
          <p:cNvSpPr txBox="1"/>
          <p:nvPr/>
        </p:nvSpPr>
        <p:spPr>
          <a:xfrm>
            <a:off x="685800" y="2828925"/>
            <a:ext cx="6158865" cy="1576388"/>
          </a:xfrm>
          <a:prstGeom prst="rect">
            <a:avLst/>
          </a:prstGeom>
          <a:noFill/>
          <a:ln/>
        </p:spPr>
        <p:txBody>
          <a:bodyPr wrap="none" lIns="0" tIns="0" rIns="0" bIns="0" rtlCol="0" anchor="ctr"/>
          <a:lstStyle/>
          <a:p>
            <a:pPr algn="l" indent="0" marL="0">
              <a:lnSpc>
                <a:spcPts val="6040"/>
              </a:lnSpc>
              <a:buNone/>
            </a:pPr>
            <a:r>
              <a:rPr lang="en-US" sz="5250" spc="-100" kern="0" dirty="0">
                <a:solidFill>
                  <a:srgbClr val="0F172A"/>
                </a:solidFill>
                <a:latin typeface="Segoe UI Black" pitchFamily="34" charset="0"/>
                <a:ea typeface="Segoe UI Black" pitchFamily="34" charset="-122"/>
                <a:cs typeface="Segoe UI Black" pitchFamily="34" charset="-120"/>
              </a:rPr>
              <a:t>Trân trọng cảm ơn</a:t>
            </a:r>
            <a:endParaRPr lang="en-US" sz="5250" dirty="0"/>
          </a:p>
          <a:p>
            <a:pPr algn="l" indent="0" marL="0">
              <a:lnSpc>
                <a:spcPts val="6040"/>
              </a:lnSpc>
              <a:buNone/>
            </a:pPr>
            <a:r>
              <a:rPr lang="en-US" sz="5250" spc="-100" kern="0" dirty="0">
                <a:solidFill>
                  <a:srgbClr val="0F172A"/>
                </a:solidFill>
                <a:latin typeface="Segoe UI Black" pitchFamily="34" charset="0"/>
                <a:ea typeface="Segoe UI Black" pitchFamily="34" charset="-122"/>
                <a:cs typeface="Segoe UI Black" pitchFamily="34" charset="-120"/>
              </a:rPr>
              <a:t>Thank you!</a:t>
            </a:r>
            <a:endParaRPr lang="en-US" sz="5250" dirty="0"/>
          </a:p>
        </p:txBody>
      </p:sp>
      <p:sp>
        <p:nvSpPr>
          <p:cNvPr id="4" name="text meta"/>
          <p:cNvSpPr txBox="1"/>
          <p:nvPr/>
        </p:nvSpPr>
        <p:spPr>
          <a:xfrm>
            <a:off x="685800" y="6099763"/>
            <a:ext cx="1172021" cy="221073"/>
          </a:xfrm>
          <a:prstGeom prst="rect">
            <a:avLst/>
          </a:prstGeom>
          <a:noFill/>
          <a:ln/>
        </p:spPr>
        <p:txBody>
          <a:bodyPr wrap="none" lIns="0" tIns="0" rIns="0" bIns="0" rtlCol="0" anchor="ctr"/>
          <a:lstStyle/>
          <a:p>
            <a:pPr algn="l" indent="0" marL="0">
              <a:buNone/>
            </a:pPr>
            <a:r>
              <a:rPr lang="en-US" sz="1200" b="1" dirty="0">
                <a:solidFill>
                  <a:srgbClr val="64748B"/>
                </a:solidFill>
                <a:latin typeface="Segoe UI" pitchFamily="34" charset="0"/>
                <a:ea typeface="Segoe UI" pitchFamily="34" charset="-122"/>
                <a:cs typeface="Segoe UI" pitchFamily="34" charset="-120"/>
              </a:rPr>
              <a:t>VDF · 10/2026</a:t>
            </a:r>
            <a:endParaRPr lang="en-US" sz="1200" dirty="0"/>
          </a:p>
        </p:txBody>
      </p:sp>
      <p:sp>
        <p:nvSpPr>
          <p:cNvPr id="5" name="mk"/>
          <p:cNvSpPr/>
          <p:nvPr/>
        </p:nvSpPr>
        <p:spPr>
          <a:xfrm>
            <a:off x="10796588" y="6343650"/>
            <a:ext cx="323850" cy="323850"/>
          </a:xfrm>
          <a:prstGeom prst="ellipse">
            <a:avLst/>
          </a:prstGeom>
          <a:solidFill>
            <a:srgbClr val="F0001E"/>
          </a:solidFill>
          <a:ln/>
        </p:spPr>
      </p:sp>
      <p:sp>
        <p:nvSpPr>
          <p:cNvPr id="6" name="Shape 3"/>
          <p:cNvSpPr/>
          <p:nvPr/>
        </p:nvSpPr>
        <p:spPr>
          <a:xfrm>
            <a:off x="10910888" y="6424613"/>
            <a:ext cx="95250" cy="161925"/>
          </a:xfrm>
          <a:prstGeom prst="roundRect">
            <a:avLst>
              <a:gd name="adj" fmla="val 25000"/>
            </a:avLst>
          </a:prstGeom>
          <a:ln w="19050">
            <a:solidFill>
              <a:srgbClr val="FFFFFF"/>
            </a:solidFill>
            <a:prstDash val="solid"/>
          </a:ln>
        </p:spPr>
      </p:sp>
      <p:sp>
        <p:nvSpPr>
          <p:cNvPr id="7"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8"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apx"/>
          <p:cNvSpPr/>
          <p:nvPr/>
        </p:nvSpPr>
        <p:spPr>
          <a:xfrm>
            <a:off x="10786914" y="323850"/>
            <a:ext cx="795486" cy="247650"/>
          </a:xfrm>
          <a:prstGeom prst="roundRect">
            <a:avLst>
              <a:gd name="adj" fmla="val 50000"/>
            </a:avLst>
          </a:prstGeom>
          <a:solidFill>
            <a:srgbClr val="E5E7EB"/>
          </a:solidFill>
          <a:ln/>
        </p:spPr>
      </p:sp>
      <p:sp>
        <p:nvSpPr>
          <p:cNvPr id="3" name="text apx"/>
          <p:cNvSpPr txBox="1"/>
          <p:nvPr/>
        </p:nvSpPr>
        <p:spPr>
          <a:xfrm>
            <a:off x="10958364" y="358420"/>
            <a:ext cx="566886" cy="178511"/>
          </a:xfrm>
          <a:prstGeom prst="rect">
            <a:avLst/>
          </a:prstGeom>
          <a:noFill/>
          <a:ln/>
        </p:spPr>
        <p:txBody>
          <a:bodyPr wrap="none" lIns="0" tIns="0" rIns="0" bIns="0" rtlCol="0" anchor="ctr"/>
          <a:lstStyle/>
          <a:p>
            <a:pPr algn="l" indent="0" marL="0">
              <a:buNone/>
            </a:pPr>
            <a:r>
              <a:rPr lang="en-US" sz="970" b="1" dirty="0">
                <a:solidFill>
                  <a:srgbClr val="4B5563"/>
                </a:solidFill>
                <a:latin typeface="Segoe UI" pitchFamily="34" charset="0"/>
                <a:ea typeface="Segoe UI" pitchFamily="34" charset="-122"/>
                <a:cs typeface="Segoe UI" pitchFamily="34" charset="-120"/>
              </a:rPr>
              <a:t>Phụ lục</a:t>
            </a:r>
            <a:endParaRPr lang="en-US" sz="970" dirty="0"/>
          </a:p>
        </p:txBody>
      </p:sp>
      <p:sp>
        <p:nvSpPr>
          <p:cNvPr id="4" name="text eyebrow"/>
          <p:cNvSpPr txBox="1"/>
          <p:nvPr/>
        </p:nvSpPr>
        <p:spPr>
          <a:xfrm>
            <a:off x="609600" y="384334"/>
            <a:ext cx="5075542"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PHỤ LỤC · MÀN HÌNH DEMO VISA ACCEPT · ③ LINK THANH TOÁN (1/2)</a:t>
            </a:r>
            <a:endParaRPr lang="en-US" sz="1050" dirty="0"/>
          </a:p>
        </p:txBody>
      </p:sp>
      <p:sp>
        <p:nvSpPr>
          <p:cNvPr id="5" name="text title sm"/>
          <p:cNvSpPr txBox="1"/>
          <p:nvPr/>
        </p:nvSpPr>
        <p:spPr>
          <a:xfrm>
            <a:off x="609600" y="580311"/>
            <a:ext cx="7484662" cy="372904"/>
          </a:xfrm>
          <a:prstGeom prst="rect">
            <a:avLst/>
          </a:prstGeom>
          <a:noFill/>
          <a:ln/>
        </p:spPr>
        <p:txBody>
          <a:bodyPr wrap="none" lIns="0" tIns="0" rIns="0" bIns="0" rtlCol="0" anchor="ctr"/>
          <a:lstStyle/>
          <a:p>
            <a:pPr algn="l" indent="0" marL="0">
              <a:buNone/>
            </a:pPr>
            <a:r>
              <a:rPr lang="en-US" sz="2030" b="1" spc="-30" kern="0" dirty="0">
                <a:solidFill>
                  <a:srgbClr val="0F172A"/>
                </a:solidFill>
                <a:latin typeface="Segoe UI" pitchFamily="34" charset="0"/>
                <a:ea typeface="Segoe UI" pitchFamily="34" charset="-122"/>
                <a:cs typeface="Segoe UI" pitchFamily="34" charset="-120"/>
              </a:rPr>
              <a:t>Khách không chạm được: </a:t>
            </a:r>
            <a:pPr algn="l" indent="0" marL="0">
              <a:buNone/>
            </a:pPr>
            <a:r>
              <a:rPr lang="en-US" sz="2030" b="1" spc="-30" kern="0" dirty="0">
                <a:solidFill>
                  <a:srgbClr val="E11D48"/>
                </a:solidFill>
                <a:latin typeface="Segoe UI" pitchFamily="34" charset="0"/>
                <a:ea typeface="Segoe UI" pitchFamily="34" charset="-122"/>
                <a:cs typeface="Segoe UI" pitchFamily="34" charset="-120"/>
              </a:rPr>
              <a:t>gửi link thanh toán</a:t>
            </a:r>
            <a:pPr algn="l" indent="0" marL="0">
              <a:buNone/>
            </a:pPr>
            <a:r>
              <a:rPr lang="en-US" sz="2030" b="1" spc="-30" kern="0" dirty="0">
                <a:solidFill>
                  <a:srgbClr val="0F172A"/>
                </a:solidFill>
                <a:latin typeface="Segoe UI" pitchFamily="34" charset="0"/>
                <a:ea typeface="Segoe UI" pitchFamily="34" charset="-122"/>
                <a:cs typeface="Segoe UI" pitchFamily="34" charset="-120"/>
              </a:rPr>
              <a:t> qua tin nhắn</a:t>
            </a:r>
            <a:endParaRPr lang="en-US" sz="2030" dirty="0"/>
          </a:p>
        </p:txBody>
      </p:sp>
      <p:sp>
        <p:nvSpPr>
          <p:cNvPr id="6" name="text persona"/>
          <p:cNvSpPr txBox="1"/>
          <p:nvPr/>
        </p:nvSpPr>
        <p:spPr>
          <a:xfrm>
            <a:off x="609600" y="1123191"/>
            <a:ext cx="10134600" cy="400526"/>
          </a:xfrm>
          <a:prstGeom prst="rect">
            <a:avLst/>
          </a:prstGeom>
          <a:noFill/>
          <a:ln/>
        </p:spPr>
        <p:txBody>
          <a:bodyPr wrap="square" lIns="0" tIns="0" rIns="0" bIns="0" rtlCol="0" anchor="ctr"/>
          <a:lstStyle/>
          <a:p>
            <a:pPr algn="l" indent="0" marL="0">
              <a:lnSpc>
                <a:spcPts val="1580"/>
              </a:lnSpc>
              <a:buNone/>
            </a:pPr>
            <a:r>
              <a:rPr lang="en-US" sz="1090" dirty="0">
                <a:solidFill>
                  <a:srgbClr val="334155"/>
                </a:solidFill>
                <a:latin typeface="Segoe UI Semibold" pitchFamily="34" charset="0"/>
                <a:ea typeface="Segoe UI Semibold" pitchFamily="34" charset="-122"/>
                <a:cs typeface="Segoe UI Semibold" pitchFamily="34" charset="-120"/>
              </a:rPr>
              <a:t>Anh Kim Min-jun, du khách Hàn Quốc, mua bộ ấm trà 1.200.000đ. Thẻ của anh không chạm được, nên chị Lan gửi link thanh toán qua tin nhắn để anh trả bằng thẻ trên điện thoại của mình.</a:t>
            </a:r>
            <a:endParaRPr lang="en-US" sz="1090" dirty="0"/>
          </a:p>
        </p:txBody>
      </p:sp>
      <p:pic>
        <p:nvPicPr>
          <p:cNvPr id="7" name="image" descr="Trên màn hình chờ chạm, chọn “Trả qua link”">    </p:cNvPr>
          <p:cNvPicPr>
            <a:picLocks noChangeAspect="1"/>
          </p:cNvPicPr>
          <p:nvPr/>
        </p:nvPicPr>
        <p:blipFill>
          <a:blip r:embed="rId1"/>
          <a:stretch>
            <a:fillRect/>
          </a:stretch>
        </p:blipFill>
        <p:spPr>
          <a:xfrm>
            <a:off x="685800" y="1657052"/>
            <a:ext cx="1676400" cy="3410843"/>
          </a:xfrm>
          <a:prstGeom prst="rect">
            <a:avLst/>
          </a:prstGeom>
        </p:spPr>
      </p:pic>
      <p:sp>
        <p:nvSpPr>
          <p:cNvPr id="8" name="pill red"/>
          <p:cNvSpPr/>
          <p:nvPr/>
        </p:nvSpPr>
        <p:spPr>
          <a:xfrm>
            <a:off x="866477" y="5148858"/>
            <a:ext cx="1315045" cy="219075"/>
          </a:xfrm>
          <a:prstGeom prst="roundRect">
            <a:avLst>
              <a:gd name="adj" fmla="val 50000"/>
            </a:avLst>
          </a:prstGeom>
          <a:solidFill>
            <a:srgbClr val="FFE4E6"/>
          </a:solidFill>
          <a:ln w="9525">
            <a:solidFill>
              <a:srgbClr val="FECDD3"/>
            </a:solidFill>
            <a:prstDash val="solid"/>
          </a:ln>
        </p:spPr>
      </p:sp>
      <p:sp>
        <p:nvSpPr>
          <p:cNvPr id="9" name="text pill red"/>
          <p:cNvSpPr txBox="1"/>
          <p:nvPr/>
        </p:nvSpPr>
        <p:spPr>
          <a:xfrm>
            <a:off x="976015" y="5178945"/>
            <a:ext cx="1210270" cy="158901"/>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Điện thoại cửa hàng</a:t>
            </a:r>
            <a:endParaRPr lang="en-US" sz="860" dirty="0"/>
          </a:p>
        </p:txBody>
      </p:sp>
      <p:sp>
        <p:nvSpPr>
          <p:cNvPr id="10" name="Shape 7"/>
          <p:cNvSpPr/>
          <p:nvPr/>
        </p:nvSpPr>
        <p:spPr>
          <a:xfrm>
            <a:off x="685800" y="5448895"/>
            <a:ext cx="190500" cy="190500"/>
          </a:xfrm>
          <a:prstGeom prst="ellipse">
            <a:avLst/>
          </a:prstGeom>
          <a:solidFill>
            <a:srgbClr val="E11D48"/>
          </a:solidFill>
          <a:ln/>
        </p:spPr>
      </p:sp>
      <p:sp>
        <p:nvSpPr>
          <p:cNvPr id="11" name="text i"/>
          <p:cNvSpPr txBox="1"/>
          <p:nvPr/>
        </p:nvSpPr>
        <p:spPr>
          <a:xfrm>
            <a:off x="757833" y="5462528"/>
            <a:ext cx="16058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1</a:t>
            </a:r>
            <a:endParaRPr lang="en-US" sz="830" dirty="0"/>
          </a:p>
        </p:txBody>
      </p:sp>
      <p:sp>
        <p:nvSpPr>
          <p:cNvPr id="12" name="text span"/>
          <p:cNvSpPr txBox="1"/>
          <p:nvPr/>
        </p:nvSpPr>
        <p:spPr>
          <a:xfrm>
            <a:off x="952500" y="544770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Trên màn hình chờ chạm, chọn “Trả qua link”</a:t>
            </a:r>
            <a:endParaRPr lang="en-US" sz="940" dirty="0"/>
          </a:p>
        </p:txBody>
      </p:sp>
      <p:pic>
        <p:nvPicPr>
          <p:cNvPr id="13" name="image" descr="Hiện mã cho khách quét; ở đây chọn gửi link qua tin nhắn">    </p:cNvPr>
          <p:cNvPicPr>
            <a:picLocks noChangeAspect="1"/>
          </p:cNvPicPr>
          <p:nvPr/>
        </p:nvPicPr>
        <p:blipFill>
          <a:blip r:embed="rId2"/>
          <a:stretch>
            <a:fillRect/>
          </a:stretch>
        </p:blipFill>
        <p:spPr>
          <a:xfrm>
            <a:off x="2514600" y="1657052"/>
            <a:ext cx="1676400" cy="3410843"/>
          </a:xfrm>
          <a:prstGeom prst="rect">
            <a:avLst/>
          </a:prstGeom>
        </p:spPr>
      </p:pic>
      <p:sp>
        <p:nvSpPr>
          <p:cNvPr id="14" name="pill red"/>
          <p:cNvSpPr/>
          <p:nvPr/>
        </p:nvSpPr>
        <p:spPr>
          <a:xfrm>
            <a:off x="2695277" y="5148858"/>
            <a:ext cx="1315045" cy="219075"/>
          </a:xfrm>
          <a:prstGeom prst="roundRect">
            <a:avLst>
              <a:gd name="adj" fmla="val 50000"/>
            </a:avLst>
          </a:prstGeom>
          <a:solidFill>
            <a:srgbClr val="FFE4E6"/>
          </a:solidFill>
          <a:ln w="9525">
            <a:solidFill>
              <a:srgbClr val="FECDD3"/>
            </a:solidFill>
            <a:prstDash val="solid"/>
          </a:ln>
        </p:spPr>
      </p:sp>
      <p:sp>
        <p:nvSpPr>
          <p:cNvPr id="15" name="text pill red"/>
          <p:cNvSpPr txBox="1"/>
          <p:nvPr/>
        </p:nvSpPr>
        <p:spPr>
          <a:xfrm>
            <a:off x="2804815" y="5178945"/>
            <a:ext cx="1210270" cy="158901"/>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Điện thoại cửa hàng</a:t>
            </a:r>
            <a:endParaRPr lang="en-US" sz="860" dirty="0"/>
          </a:p>
        </p:txBody>
      </p:sp>
      <p:sp>
        <p:nvSpPr>
          <p:cNvPr id="16" name="Shape 12"/>
          <p:cNvSpPr/>
          <p:nvPr/>
        </p:nvSpPr>
        <p:spPr>
          <a:xfrm>
            <a:off x="2514600" y="5448895"/>
            <a:ext cx="190500" cy="190500"/>
          </a:xfrm>
          <a:prstGeom prst="ellipse">
            <a:avLst/>
          </a:prstGeom>
          <a:solidFill>
            <a:srgbClr val="E11D48"/>
          </a:solidFill>
          <a:ln/>
        </p:spPr>
      </p:sp>
      <p:sp>
        <p:nvSpPr>
          <p:cNvPr id="17" name="text i"/>
          <p:cNvSpPr txBox="1"/>
          <p:nvPr/>
        </p:nvSpPr>
        <p:spPr>
          <a:xfrm>
            <a:off x="2576364" y="5462528"/>
            <a:ext cx="18112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2</a:t>
            </a:r>
            <a:endParaRPr lang="en-US" sz="830" dirty="0"/>
          </a:p>
        </p:txBody>
      </p:sp>
      <p:sp>
        <p:nvSpPr>
          <p:cNvPr id="18" name="text span"/>
          <p:cNvSpPr txBox="1"/>
          <p:nvPr/>
        </p:nvSpPr>
        <p:spPr>
          <a:xfrm>
            <a:off x="2781300" y="544770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Hiện mã cho khách quét; ở đây chọn gửi link qua tin nhắn</a:t>
            </a:r>
            <a:endParaRPr lang="en-US" sz="940" dirty="0"/>
          </a:p>
        </p:txBody>
      </p:sp>
      <p:pic>
        <p:nvPicPr>
          <p:cNvPr id="19" name="image" descr="Chọn cách gửi link: tin nhắn hoặc email">    </p:cNvPr>
          <p:cNvPicPr>
            <a:picLocks noChangeAspect="1"/>
          </p:cNvPicPr>
          <p:nvPr/>
        </p:nvPicPr>
        <p:blipFill>
          <a:blip r:embed="rId3"/>
          <a:stretch>
            <a:fillRect/>
          </a:stretch>
        </p:blipFill>
        <p:spPr>
          <a:xfrm>
            <a:off x="4343400" y="1657052"/>
            <a:ext cx="1676400" cy="3410843"/>
          </a:xfrm>
          <a:prstGeom prst="rect">
            <a:avLst/>
          </a:prstGeom>
        </p:spPr>
      </p:pic>
      <p:sp>
        <p:nvSpPr>
          <p:cNvPr id="20" name="pill red"/>
          <p:cNvSpPr/>
          <p:nvPr/>
        </p:nvSpPr>
        <p:spPr>
          <a:xfrm>
            <a:off x="4524077" y="5148858"/>
            <a:ext cx="1315045" cy="219075"/>
          </a:xfrm>
          <a:prstGeom prst="roundRect">
            <a:avLst>
              <a:gd name="adj" fmla="val 50000"/>
            </a:avLst>
          </a:prstGeom>
          <a:solidFill>
            <a:srgbClr val="FFE4E6"/>
          </a:solidFill>
          <a:ln w="9525">
            <a:solidFill>
              <a:srgbClr val="FECDD3"/>
            </a:solidFill>
            <a:prstDash val="solid"/>
          </a:ln>
        </p:spPr>
      </p:sp>
      <p:sp>
        <p:nvSpPr>
          <p:cNvPr id="21" name="text pill red"/>
          <p:cNvSpPr txBox="1"/>
          <p:nvPr/>
        </p:nvSpPr>
        <p:spPr>
          <a:xfrm>
            <a:off x="4633615" y="5178945"/>
            <a:ext cx="1210270" cy="158901"/>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Điện thoại cửa hàng</a:t>
            </a:r>
            <a:endParaRPr lang="en-US" sz="860" dirty="0"/>
          </a:p>
        </p:txBody>
      </p:sp>
      <p:sp>
        <p:nvSpPr>
          <p:cNvPr id="22" name="Shape 17"/>
          <p:cNvSpPr/>
          <p:nvPr/>
        </p:nvSpPr>
        <p:spPr>
          <a:xfrm>
            <a:off x="4343400" y="5448895"/>
            <a:ext cx="190500" cy="190500"/>
          </a:xfrm>
          <a:prstGeom prst="ellipse">
            <a:avLst/>
          </a:prstGeom>
          <a:solidFill>
            <a:srgbClr val="E11D48"/>
          </a:solidFill>
          <a:ln/>
        </p:spPr>
      </p:sp>
      <p:sp>
        <p:nvSpPr>
          <p:cNvPr id="23" name="text i"/>
          <p:cNvSpPr txBox="1"/>
          <p:nvPr/>
        </p:nvSpPr>
        <p:spPr>
          <a:xfrm>
            <a:off x="4404122" y="5462528"/>
            <a:ext cx="183207"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3</a:t>
            </a:r>
            <a:endParaRPr lang="en-US" sz="830" dirty="0"/>
          </a:p>
        </p:txBody>
      </p:sp>
      <p:sp>
        <p:nvSpPr>
          <p:cNvPr id="24" name="text span"/>
          <p:cNvSpPr txBox="1"/>
          <p:nvPr/>
        </p:nvSpPr>
        <p:spPr>
          <a:xfrm>
            <a:off x="4610100" y="5447705"/>
            <a:ext cx="14478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Chọn cách gửi link: tin nhắn hoặc email</a:t>
            </a:r>
            <a:endParaRPr lang="en-US" sz="940" dirty="0"/>
          </a:p>
        </p:txBody>
      </p:sp>
      <p:pic>
        <p:nvPicPr>
          <p:cNvPr id="25" name="image" descr="Nhập mã nước, số điện thoại của khách rồi gửi">    </p:cNvPr>
          <p:cNvPicPr>
            <a:picLocks noChangeAspect="1"/>
          </p:cNvPicPr>
          <p:nvPr/>
        </p:nvPicPr>
        <p:blipFill>
          <a:blip r:embed="rId4"/>
          <a:stretch>
            <a:fillRect/>
          </a:stretch>
        </p:blipFill>
        <p:spPr>
          <a:xfrm>
            <a:off x="6172200" y="1657052"/>
            <a:ext cx="1676400" cy="3410843"/>
          </a:xfrm>
          <a:prstGeom prst="rect">
            <a:avLst/>
          </a:prstGeom>
        </p:spPr>
      </p:pic>
      <p:sp>
        <p:nvSpPr>
          <p:cNvPr id="26" name="pill red"/>
          <p:cNvSpPr/>
          <p:nvPr/>
        </p:nvSpPr>
        <p:spPr>
          <a:xfrm>
            <a:off x="6352877" y="5148858"/>
            <a:ext cx="1315045" cy="219075"/>
          </a:xfrm>
          <a:prstGeom prst="roundRect">
            <a:avLst>
              <a:gd name="adj" fmla="val 50000"/>
            </a:avLst>
          </a:prstGeom>
          <a:solidFill>
            <a:srgbClr val="FFE4E6"/>
          </a:solidFill>
          <a:ln w="9525">
            <a:solidFill>
              <a:srgbClr val="FECDD3"/>
            </a:solidFill>
            <a:prstDash val="solid"/>
          </a:ln>
        </p:spPr>
      </p:sp>
      <p:sp>
        <p:nvSpPr>
          <p:cNvPr id="27" name="text pill red"/>
          <p:cNvSpPr txBox="1"/>
          <p:nvPr/>
        </p:nvSpPr>
        <p:spPr>
          <a:xfrm>
            <a:off x="6462415" y="5178945"/>
            <a:ext cx="1210270" cy="158901"/>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Điện thoại cửa hàng</a:t>
            </a:r>
            <a:endParaRPr lang="en-US" sz="860" dirty="0"/>
          </a:p>
        </p:txBody>
      </p:sp>
      <p:sp>
        <p:nvSpPr>
          <p:cNvPr id="28" name="Shape 22"/>
          <p:cNvSpPr/>
          <p:nvPr/>
        </p:nvSpPr>
        <p:spPr>
          <a:xfrm>
            <a:off x="6172200" y="5448895"/>
            <a:ext cx="190500" cy="190500"/>
          </a:xfrm>
          <a:prstGeom prst="ellipse">
            <a:avLst/>
          </a:prstGeom>
          <a:solidFill>
            <a:srgbClr val="E11D48"/>
          </a:solidFill>
          <a:ln/>
        </p:spPr>
      </p:sp>
      <p:sp>
        <p:nvSpPr>
          <p:cNvPr id="29" name="text i"/>
          <p:cNvSpPr txBox="1"/>
          <p:nvPr/>
        </p:nvSpPr>
        <p:spPr>
          <a:xfrm>
            <a:off x="6231285" y="5462528"/>
            <a:ext cx="186482"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4</a:t>
            </a:r>
            <a:endParaRPr lang="en-US" sz="830" dirty="0"/>
          </a:p>
        </p:txBody>
      </p:sp>
      <p:sp>
        <p:nvSpPr>
          <p:cNvPr id="30" name="text span"/>
          <p:cNvSpPr txBox="1"/>
          <p:nvPr/>
        </p:nvSpPr>
        <p:spPr>
          <a:xfrm>
            <a:off x="6438900" y="5447705"/>
            <a:ext cx="14478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Nhập mã nước, số điện thoại của khách rồi gửi</a:t>
            </a:r>
            <a:endParaRPr lang="en-US" sz="940" dirty="0"/>
          </a:p>
        </p:txBody>
      </p:sp>
      <p:pic>
        <p:nvPicPr>
          <p:cNvPr id="31" name="image" descr="Link đến điện thoại anh Kim; anh bấm vào link">    </p:cNvPr>
          <p:cNvPicPr>
            <a:picLocks noChangeAspect="1"/>
          </p:cNvPicPr>
          <p:nvPr/>
        </p:nvPicPr>
        <p:blipFill>
          <a:blip r:embed="rId5"/>
          <a:stretch>
            <a:fillRect/>
          </a:stretch>
        </p:blipFill>
        <p:spPr>
          <a:xfrm>
            <a:off x="8001000" y="1657052"/>
            <a:ext cx="1676400" cy="3410843"/>
          </a:xfrm>
          <a:prstGeom prst="rect">
            <a:avLst/>
          </a:prstGeom>
        </p:spPr>
      </p:pic>
      <p:sp>
        <p:nvSpPr>
          <p:cNvPr id="32" name="pill grey"/>
          <p:cNvSpPr/>
          <p:nvPr/>
        </p:nvSpPr>
        <p:spPr>
          <a:xfrm>
            <a:off x="8267105" y="5148858"/>
            <a:ext cx="1144191" cy="219075"/>
          </a:xfrm>
          <a:prstGeom prst="roundRect">
            <a:avLst>
              <a:gd name="adj" fmla="val 50000"/>
            </a:avLst>
          </a:prstGeom>
          <a:solidFill>
            <a:srgbClr val="F1F5F9"/>
          </a:solidFill>
          <a:ln w="9525">
            <a:solidFill>
              <a:srgbClr val="E2E8F0"/>
            </a:solidFill>
            <a:prstDash val="solid"/>
          </a:ln>
        </p:spPr>
      </p:sp>
      <p:sp>
        <p:nvSpPr>
          <p:cNvPr id="33" name="text pill grey"/>
          <p:cNvSpPr txBox="1"/>
          <p:nvPr/>
        </p:nvSpPr>
        <p:spPr>
          <a:xfrm>
            <a:off x="8376642" y="5178899"/>
            <a:ext cx="1039416" cy="158993"/>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khách</a:t>
            </a:r>
            <a:endParaRPr lang="en-US" sz="860" dirty="0"/>
          </a:p>
        </p:txBody>
      </p:sp>
      <p:sp>
        <p:nvSpPr>
          <p:cNvPr id="34" name="Shape 27"/>
          <p:cNvSpPr/>
          <p:nvPr/>
        </p:nvSpPr>
        <p:spPr>
          <a:xfrm>
            <a:off x="8001000" y="5448895"/>
            <a:ext cx="190500" cy="190500"/>
          </a:xfrm>
          <a:prstGeom prst="ellipse">
            <a:avLst/>
          </a:prstGeom>
          <a:solidFill>
            <a:srgbClr val="E11D48"/>
          </a:solidFill>
          <a:ln/>
        </p:spPr>
      </p:sp>
      <p:sp>
        <p:nvSpPr>
          <p:cNvPr id="35" name="text i"/>
          <p:cNvSpPr txBox="1"/>
          <p:nvPr/>
        </p:nvSpPr>
        <p:spPr>
          <a:xfrm>
            <a:off x="8062912" y="5462528"/>
            <a:ext cx="18082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5</a:t>
            </a:r>
            <a:endParaRPr lang="en-US" sz="830" dirty="0"/>
          </a:p>
        </p:txBody>
      </p:sp>
      <p:sp>
        <p:nvSpPr>
          <p:cNvPr id="36" name="text span"/>
          <p:cNvSpPr txBox="1"/>
          <p:nvPr/>
        </p:nvSpPr>
        <p:spPr>
          <a:xfrm>
            <a:off x="8267700" y="5447705"/>
            <a:ext cx="14478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Link đến điện thoại anh Kim; anh bấm vào link</a:t>
            </a:r>
            <a:endParaRPr lang="en-US" sz="940" dirty="0"/>
          </a:p>
        </p:txBody>
      </p:sp>
      <p:pic>
        <p:nvPicPr>
          <p:cNvPr id="37" name="image" descr="Trang yêu cầu thanh toán: cửa hàng, món hàng, số tiền; không cần cài app">    </p:cNvPr>
          <p:cNvPicPr>
            <a:picLocks noChangeAspect="1"/>
          </p:cNvPicPr>
          <p:nvPr/>
        </p:nvPicPr>
        <p:blipFill>
          <a:blip r:embed="rId6"/>
          <a:stretch>
            <a:fillRect/>
          </a:stretch>
        </p:blipFill>
        <p:spPr>
          <a:xfrm>
            <a:off x="9829800" y="1657052"/>
            <a:ext cx="1676400" cy="3410843"/>
          </a:xfrm>
          <a:prstGeom prst="rect">
            <a:avLst/>
          </a:prstGeom>
        </p:spPr>
      </p:pic>
      <p:sp>
        <p:nvSpPr>
          <p:cNvPr id="38" name="pill grey"/>
          <p:cNvSpPr/>
          <p:nvPr/>
        </p:nvSpPr>
        <p:spPr>
          <a:xfrm>
            <a:off x="10095905" y="5148858"/>
            <a:ext cx="1144191" cy="219075"/>
          </a:xfrm>
          <a:prstGeom prst="roundRect">
            <a:avLst>
              <a:gd name="adj" fmla="val 50000"/>
            </a:avLst>
          </a:prstGeom>
          <a:solidFill>
            <a:srgbClr val="F1F5F9"/>
          </a:solidFill>
          <a:ln w="9525">
            <a:solidFill>
              <a:srgbClr val="E2E8F0"/>
            </a:solidFill>
            <a:prstDash val="solid"/>
          </a:ln>
        </p:spPr>
      </p:sp>
      <p:sp>
        <p:nvSpPr>
          <p:cNvPr id="39" name="text pill grey"/>
          <p:cNvSpPr txBox="1"/>
          <p:nvPr/>
        </p:nvSpPr>
        <p:spPr>
          <a:xfrm>
            <a:off x="10205442" y="5178899"/>
            <a:ext cx="1039416" cy="158993"/>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khách</a:t>
            </a:r>
            <a:endParaRPr lang="en-US" sz="860" dirty="0"/>
          </a:p>
        </p:txBody>
      </p:sp>
      <p:sp>
        <p:nvSpPr>
          <p:cNvPr id="40" name="Shape 32"/>
          <p:cNvSpPr/>
          <p:nvPr/>
        </p:nvSpPr>
        <p:spPr>
          <a:xfrm>
            <a:off x="9829800" y="5448895"/>
            <a:ext cx="190500" cy="190500"/>
          </a:xfrm>
          <a:prstGeom prst="ellipse">
            <a:avLst/>
          </a:prstGeom>
          <a:solidFill>
            <a:srgbClr val="E11D48"/>
          </a:solidFill>
          <a:ln/>
        </p:spPr>
      </p:sp>
      <p:sp>
        <p:nvSpPr>
          <p:cNvPr id="41" name="text i"/>
          <p:cNvSpPr txBox="1"/>
          <p:nvPr/>
        </p:nvSpPr>
        <p:spPr>
          <a:xfrm>
            <a:off x="9890373" y="5462528"/>
            <a:ext cx="18365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6</a:t>
            </a:r>
            <a:endParaRPr lang="en-US" sz="830" dirty="0"/>
          </a:p>
        </p:txBody>
      </p:sp>
      <p:sp>
        <p:nvSpPr>
          <p:cNvPr id="42" name="text span"/>
          <p:cNvSpPr txBox="1"/>
          <p:nvPr/>
        </p:nvSpPr>
        <p:spPr>
          <a:xfrm>
            <a:off x="10096500" y="5447705"/>
            <a:ext cx="1447800" cy="657225"/>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Trang yêu cầu thanh toán: cửa hàng, món hàng, số tiền; không cần cài app</a:t>
            </a:r>
            <a:endParaRPr lang="en-US" sz="940" dirty="0"/>
          </a:p>
        </p:txBody>
      </p:sp>
      <p:sp>
        <p:nvSpPr>
          <p:cNvPr id="43" name="text source"/>
          <p:cNvSpPr txBox="1"/>
          <p:nvPr/>
        </p:nvSpPr>
        <p:spPr>
          <a:xfrm>
            <a:off x="609600" y="6492591"/>
            <a:ext cx="8761080" cy="151877"/>
          </a:xfrm>
          <a:prstGeom prst="rect">
            <a:avLst/>
          </a:prstGeom>
          <a:noFill/>
          <a:ln/>
        </p:spPr>
        <p:txBody>
          <a:bodyPr wrap="none" lIns="0" tIns="0" rIns="0" bIns="0" rtlCol="0" anchor="ctr"/>
          <a:lstStyle/>
          <a:p>
            <a:pPr algn="l" indent="0" marL="0">
              <a:buNone/>
            </a:pPr>
            <a:r>
              <a:rPr lang="en-US" sz="820" dirty="0">
                <a:solidFill>
                  <a:srgbClr val="94A3B8"/>
                </a:solidFill>
                <a:latin typeface="Segoe UI Semibold" pitchFamily="34" charset="0"/>
                <a:ea typeface="Segoe UI Semibold" pitchFamily="34" charset="-122"/>
                <a:cs typeface="Segoe UI Semibold" pitchFamily="34" charset="-120"/>
              </a:rPr>
              <a:t>Minh họa theo luồng Visa Accept trong tài liệu của Visa, 10/2026. Luồng thật trong Tendoo sẽ thống nhất với Visa. Tên cửa hàng, khách, số tiền và số thẻ là giả định.</a:t>
            </a:r>
            <a:endParaRPr lang="en-US" sz="820" dirty="0"/>
          </a:p>
        </p:txBody>
      </p:sp>
      <p:sp>
        <p:nvSpPr>
          <p:cNvPr id="44" name="mk"/>
          <p:cNvSpPr/>
          <p:nvPr/>
        </p:nvSpPr>
        <p:spPr>
          <a:xfrm>
            <a:off x="10796588" y="6343650"/>
            <a:ext cx="323850" cy="323850"/>
          </a:xfrm>
          <a:prstGeom prst="ellipse">
            <a:avLst/>
          </a:prstGeom>
          <a:solidFill>
            <a:srgbClr val="F0001E"/>
          </a:solidFill>
          <a:ln/>
        </p:spPr>
      </p:sp>
      <p:sp>
        <p:nvSpPr>
          <p:cNvPr id="45" name="Shape 37"/>
          <p:cNvSpPr/>
          <p:nvPr/>
        </p:nvSpPr>
        <p:spPr>
          <a:xfrm>
            <a:off x="10910888" y="6424613"/>
            <a:ext cx="95250" cy="161925"/>
          </a:xfrm>
          <a:prstGeom prst="roundRect">
            <a:avLst>
              <a:gd name="adj" fmla="val 25000"/>
            </a:avLst>
          </a:prstGeom>
          <a:ln w="19050">
            <a:solidFill>
              <a:srgbClr val="FFFFFF"/>
            </a:solidFill>
            <a:prstDash val="solid"/>
          </a:ln>
        </p:spPr>
      </p:sp>
      <p:sp>
        <p:nvSpPr>
          <p:cNvPr id="46"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47"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48" name="text pno"/>
          <p:cNvSpPr txBox="1"/>
          <p:nvPr/>
        </p:nvSpPr>
        <p:spPr>
          <a:xfrm>
            <a:off x="10503545" y="6416478"/>
            <a:ext cx="259705" cy="168670"/>
          </a:xfrm>
          <a:prstGeom prst="rect">
            <a:avLst/>
          </a:prstGeom>
          <a:noFill/>
          <a:ln/>
        </p:spPr>
        <p:txBody>
          <a:bodyPr wrap="none" lIns="0" tIns="0" rIns="0" bIns="0" rtlCol="0" anchor="ctr"/>
          <a:lstStyle/>
          <a:p>
            <a:pPr algn="l" indent="0" marL="0">
              <a:buNone/>
            </a:pPr>
            <a:r>
              <a:rPr lang="en-US" sz="920" b="1" dirty="0">
                <a:solidFill>
                  <a:srgbClr val="CBD5E1"/>
                </a:solidFill>
                <a:latin typeface="Segoe UI" pitchFamily="34" charset="0"/>
                <a:ea typeface="Segoe UI" pitchFamily="34" charset="-122"/>
                <a:cs typeface="Segoe UI" pitchFamily="34" charset="-120"/>
              </a:rPr>
              <a:t>25</a:t>
            </a:r>
            <a:endParaRPr lang="en-US" sz="9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apx"/>
          <p:cNvSpPr/>
          <p:nvPr/>
        </p:nvSpPr>
        <p:spPr>
          <a:xfrm>
            <a:off x="10786914" y="323850"/>
            <a:ext cx="795486" cy="247650"/>
          </a:xfrm>
          <a:prstGeom prst="roundRect">
            <a:avLst>
              <a:gd name="adj" fmla="val 50000"/>
            </a:avLst>
          </a:prstGeom>
          <a:solidFill>
            <a:srgbClr val="E5E7EB"/>
          </a:solidFill>
          <a:ln/>
        </p:spPr>
      </p:sp>
      <p:sp>
        <p:nvSpPr>
          <p:cNvPr id="3" name="text apx"/>
          <p:cNvSpPr txBox="1"/>
          <p:nvPr/>
        </p:nvSpPr>
        <p:spPr>
          <a:xfrm>
            <a:off x="10958364" y="358420"/>
            <a:ext cx="566886" cy="178511"/>
          </a:xfrm>
          <a:prstGeom prst="rect">
            <a:avLst/>
          </a:prstGeom>
          <a:noFill/>
          <a:ln/>
        </p:spPr>
        <p:txBody>
          <a:bodyPr wrap="none" lIns="0" tIns="0" rIns="0" bIns="0" rtlCol="0" anchor="ctr"/>
          <a:lstStyle/>
          <a:p>
            <a:pPr algn="l" indent="0" marL="0">
              <a:buNone/>
            </a:pPr>
            <a:r>
              <a:rPr lang="en-US" sz="970" b="1" dirty="0">
                <a:solidFill>
                  <a:srgbClr val="4B5563"/>
                </a:solidFill>
                <a:latin typeface="Segoe UI" pitchFamily="34" charset="0"/>
                <a:ea typeface="Segoe UI" pitchFamily="34" charset="-122"/>
                <a:cs typeface="Segoe UI" pitchFamily="34" charset="-120"/>
              </a:rPr>
              <a:t>Phụ lục</a:t>
            </a:r>
            <a:endParaRPr lang="en-US" sz="970" dirty="0"/>
          </a:p>
        </p:txBody>
      </p:sp>
      <p:sp>
        <p:nvSpPr>
          <p:cNvPr id="4" name="text eyebrow"/>
          <p:cNvSpPr txBox="1"/>
          <p:nvPr/>
        </p:nvSpPr>
        <p:spPr>
          <a:xfrm>
            <a:off x="609600" y="384334"/>
            <a:ext cx="5103307"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PHỤ LỤC · MÀN HÌNH DEMO VISA ACCEPT · ③ LINK THANH TOÁN (2/2)</a:t>
            </a:r>
            <a:endParaRPr lang="en-US" sz="1050" dirty="0"/>
          </a:p>
        </p:txBody>
      </p:sp>
      <p:sp>
        <p:nvSpPr>
          <p:cNvPr id="5" name="text title sm"/>
          <p:cNvSpPr txBox="1"/>
          <p:nvPr/>
        </p:nvSpPr>
        <p:spPr>
          <a:xfrm>
            <a:off x="609600" y="580311"/>
            <a:ext cx="8192521" cy="372904"/>
          </a:xfrm>
          <a:prstGeom prst="rect">
            <a:avLst/>
          </a:prstGeom>
          <a:noFill/>
          <a:ln/>
        </p:spPr>
        <p:txBody>
          <a:bodyPr wrap="none" lIns="0" tIns="0" rIns="0" bIns="0" rtlCol="0" anchor="ctr"/>
          <a:lstStyle/>
          <a:p>
            <a:pPr algn="l" indent="0" marL="0">
              <a:buNone/>
            </a:pPr>
            <a:r>
              <a:rPr lang="en-US" sz="2030" b="1" spc="-30" kern="0" dirty="0">
                <a:solidFill>
                  <a:srgbClr val="0F172A"/>
                </a:solidFill>
                <a:latin typeface="Segoe UI" pitchFamily="34" charset="0"/>
                <a:ea typeface="Segoe UI" pitchFamily="34" charset="-122"/>
                <a:cs typeface="Segoe UI" pitchFamily="34" charset="-120"/>
              </a:rPr>
              <a:t>Khách nhập thẻ, </a:t>
            </a:r>
            <a:pPr algn="l" indent="0" marL="0">
              <a:buNone/>
            </a:pPr>
            <a:r>
              <a:rPr lang="en-US" sz="2030" b="1" spc="-30" kern="0" dirty="0">
                <a:solidFill>
                  <a:srgbClr val="E11D48"/>
                </a:solidFill>
                <a:latin typeface="Segoe UI" pitchFamily="34" charset="0"/>
                <a:ea typeface="Segoe UI" pitchFamily="34" charset="-122"/>
                <a:cs typeface="Segoe UI" pitchFamily="34" charset="-120"/>
              </a:rPr>
              <a:t>xác thực 3-D Secure</a:t>
            </a:r>
            <a:pPr algn="l" indent="0" marL="0">
              <a:buNone/>
            </a:pPr>
            <a:r>
              <a:rPr lang="en-US" sz="2030" b="1" spc="-30" kern="0" dirty="0">
                <a:solidFill>
                  <a:srgbClr val="0F172A"/>
                </a:solidFill>
                <a:latin typeface="Segoe UI" pitchFamily="34" charset="0"/>
                <a:ea typeface="Segoe UI" pitchFamily="34" charset="-122"/>
                <a:cs typeface="Segoe UI" pitchFamily="34" charset="-120"/>
              </a:rPr>
              <a:t>, cửa hàng nhận tiền ngay</a:t>
            </a:r>
            <a:endParaRPr lang="en-US" sz="2030" dirty="0"/>
          </a:p>
        </p:txBody>
      </p:sp>
      <p:sp>
        <p:nvSpPr>
          <p:cNvPr id="6" name="text persona"/>
          <p:cNvSpPr txBox="1"/>
          <p:nvPr/>
        </p:nvSpPr>
        <p:spPr>
          <a:xfrm>
            <a:off x="609600" y="1123191"/>
            <a:ext cx="10134600" cy="400526"/>
          </a:xfrm>
          <a:prstGeom prst="rect">
            <a:avLst/>
          </a:prstGeom>
          <a:noFill/>
          <a:ln/>
        </p:spPr>
        <p:txBody>
          <a:bodyPr wrap="square" lIns="0" tIns="0" rIns="0" bIns="0" rtlCol="0" anchor="ctr"/>
          <a:lstStyle/>
          <a:p>
            <a:pPr algn="l" indent="0" marL="0">
              <a:lnSpc>
                <a:spcPts val="1580"/>
              </a:lnSpc>
              <a:buNone/>
            </a:pPr>
            <a:r>
              <a:rPr lang="en-US" sz="1090" dirty="0">
                <a:solidFill>
                  <a:srgbClr val="334155"/>
                </a:solidFill>
                <a:latin typeface="Segoe UI Semibold" pitchFamily="34" charset="0"/>
                <a:ea typeface="Segoe UI Semibold" pitchFamily="34" charset="-122"/>
                <a:cs typeface="Segoe UI Semibold" pitchFamily="34" charset="-120"/>
              </a:rPr>
              <a:t>Anh Kim Min-jun, du khách Hàn Quốc, mua bộ ấm trà 1.200.000đ. Thẻ của anh không chạm được, nên chị Lan gửi link thanh toán qua tin nhắn để anh trả bằng thẻ trên điện thoại của mình.</a:t>
            </a:r>
            <a:endParaRPr lang="en-US" sz="1090" dirty="0"/>
          </a:p>
        </p:txBody>
      </p:sp>
      <p:pic>
        <p:nvPicPr>
          <p:cNvPr id="7" name="image" descr="Thanh toán an toàn 3 bước; nhập email để nhận biên lai">    </p:cNvPr>
          <p:cNvPicPr>
            <a:picLocks noChangeAspect="1"/>
          </p:cNvPicPr>
          <p:nvPr/>
        </p:nvPicPr>
        <p:blipFill>
          <a:blip r:embed="rId1"/>
          <a:stretch>
            <a:fillRect/>
          </a:stretch>
        </p:blipFill>
        <p:spPr>
          <a:xfrm>
            <a:off x="685800" y="1657052"/>
            <a:ext cx="1676400" cy="3410843"/>
          </a:xfrm>
          <a:prstGeom prst="rect">
            <a:avLst/>
          </a:prstGeom>
        </p:spPr>
      </p:pic>
      <p:sp>
        <p:nvSpPr>
          <p:cNvPr id="8" name="pill grey"/>
          <p:cNvSpPr/>
          <p:nvPr/>
        </p:nvSpPr>
        <p:spPr>
          <a:xfrm>
            <a:off x="951905" y="5148858"/>
            <a:ext cx="1144191" cy="219075"/>
          </a:xfrm>
          <a:prstGeom prst="roundRect">
            <a:avLst>
              <a:gd name="adj" fmla="val 50000"/>
            </a:avLst>
          </a:prstGeom>
          <a:solidFill>
            <a:srgbClr val="F1F5F9"/>
          </a:solidFill>
          <a:ln w="9525">
            <a:solidFill>
              <a:srgbClr val="E2E8F0"/>
            </a:solidFill>
            <a:prstDash val="solid"/>
          </a:ln>
        </p:spPr>
      </p:sp>
      <p:sp>
        <p:nvSpPr>
          <p:cNvPr id="9" name="text pill grey"/>
          <p:cNvSpPr txBox="1"/>
          <p:nvPr/>
        </p:nvSpPr>
        <p:spPr>
          <a:xfrm>
            <a:off x="1061442" y="5178899"/>
            <a:ext cx="1039416" cy="158993"/>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khách</a:t>
            </a:r>
            <a:endParaRPr lang="en-US" sz="860" dirty="0"/>
          </a:p>
        </p:txBody>
      </p:sp>
      <p:sp>
        <p:nvSpPr>
          <p:cNvPr id="10" name="Shape 7"/>
          <p:cNvSpPr/>
          <p:nvPr/>
        </p:nvSpPr>
        <p:spPr>
          <a:xfrm>
            <a:off x="685800" y="5448895"/>
            <a:ext cx="190500" cy="190500"/>
          </a:xfrm>
          <a:prstGeom prst="ellipse">
            <a:avLst/>
          </a:prstGeom>
          <a:solidFill>
            <a:srgbClr val="E11D48"/>
          </a:solidFill>
          <a:ln/>
        </p:spPr>
      </p:sp>
      <p:sp>
        <p:nvSpPr>
          <p:cNvPr id="11" name="text i"/>
          <p:cNvSpPr txBox="1"/>
          <p:nvPr/>
        </p:nvSpPr>
        <p:spPr>
          <a:xfrm>
            <a:off x="750243" y="5462528"/>
            <a:ext cx="175915"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7</a:t>
            </a:r>
            <a:endParaRPr lang="en-US" sz="830" dirty="0"/>
          </a:p>
        </p:txBody>
      </p:sp>
      <p:sp>
        <p:nvSpPr>
          <p:cNvPr id="12" name="text span"/>
          <p:cNvSpPr txBox="1"/>
          <p:nvPr/>
        </p:nvSpPr>
        <p:spPr>
          <a:xfrm>
            <a:off x="952500" y="544770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Thanh toán an toàn 3 bước; nhập email để nhận biên lai</a:t>
            </a:r>
            <a:endParaRPr lang="en-US" sz="940" dirty="0"/>
          </a:p>
        </p:txBody>
      </p:sp>
      <p:pic>
        <p:nvPicPr>
          <p:cNvPr id="13" name="image" descr="Nhập thông tin thẻ">    </p:cNvPr>
          <p:cNvPicPr>
            <a:picLocks noChangeAspect="1"/>
          </p:cNvPicPr>
          <p:nvPr/>
        </p:nvPicPr>
        <p:blipFill>
          <a:blip r:embed="rId2"/>
          <a:stretch>
            <a:fillRect/>
          </a:stretch>
        </p:blipFill>
        <p:spPr>
          <a:xfrm>
            <a:off x="2514600" y="1657052"/>
            <a:ext cx="1676400" cy="3410843"/>
          </a:xfrm>
          <a:prstGeom prst="rect">
            <a:avLst/>
          </a:prstGeom>
        </p:spPr>
      </p:pic>
      <p:sp>
        <p:nvSpPr>
          <p:cNvPr id="14" name="pill grey"/>
          <p:cNvSpPr/>
          <p:nvPr/>
        </p:nvSpPr>
        <p:spPr>
          <a:xfrm>
            <a:off x="2780705" y="5148858"/>
            <a:ext cx="1144191" cy="219075"/>
          </a:xfrm>
          <a:prstGeom prst="roundRect">
            <a:avLst>
              <a:gd name="adj" fmla="val 50000"/>
            </a:avLst>
          </a:prstGeom>
          <a:solidFill>
            <a:srgbClr val="F1F5F9"/>
          </a:solidFill>
          <a:ln w="9525">
            <a:solidFill>
              <a:srgbClr val="E2E8F0"/>
            </a:solidFill>
            <a:prstDash val="solid"/>
          </a:ln>
        </p:spPr>
      </p:sp>
      <p:sp>
        <p:nvSpPr>
          <p:cNvPr id="15" name="text pill grey"/>
          <p:cNvSpPr txBox="1"/>
          <p:nvPr/>
        </p:nvSpPr>
        <p:spPr>
          <a:xfrm>
            <a:off x="2890242" y="5178899"/>
            <a:ext cx="1039416" cy="158993"/>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khách</a:t>
            </a:r>
            <a:endParaRPr lang="en-US" sz="860" dirty="0"/>
          </a:p>
        </p:txBody>
      </p:sp>
      <p:sp>
        <p:nvSpPr>
          <p:cNvPr id="16" name="Shape 12"/>
          <p:cNvSpPr/>
          <p:nvPr/>
        </p:nvSpPr>
        <p:spPr>
          <a:xfrm>
            <a:off x="2514600" y="5448895"/>
            <a:ext cx="190500" cy="190500"/>
          </a:xfrm>
          <a:prstGeom prst="ellipse">
            <a:avLst/>
          </a:prstGeom>
          <a:solidFill>
            <a:srgbClr val="E11D48"/>
          </a:solidFill>
          <a:ln/>
        </p:spPr>
      </p:sp>
      <p:sp>
        <p:nvSpPr>
          <p:cNvPr id="17" name="text i"/>
          <p:cNvSpPr txBox="1"/>
          <p:nvPr/>
        </p:nvSpPr>
        <p:spPr>
          <a:xfrm>
            <a:off x="2575024" y="5462528"/>
            <a:ext cx="183952"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8</a:t>
            </a:r>
            <a:endParaRPr lang="en-US" sz="830" dirty="0"/>
          </a:p>
        </p:txBody>
      </p:sp>
      <p:sp>
        <p:nvSpPr>
          <p:cNvPr id="18" name="text span"/>
          <p:cNvSpPr txBox="1"/>
          <p:nvPr/>
        </p:nvSpPr>
        <p:spPr>
          <a:xfrm>
            <a:off x="2781300" y="5443875"/>
            <a:ext cx="1176933" cy="171966"/>
          </a:xfrm>
          <a:prstGeom prst="rect">
            <a:avLst/>
          </a:prstGeom>
          <a:noFill/>
          <a:ln/>
        </p:spPr>
        <p:txBody>
          <a:bodyPr wrap="none" lIns="0" tIns="0" rIns="0" bIns="0" rtlCol="0" anchor="ctr"/>
          <a:lstStyle/>
          <a:p>
            <a:pPr algn="l" indent="0" marL="0">
              <a:buNone/>
            </a:pPr>
            <a:r>
              <a:rPr lang="en-US" sz="930" dirty="0">
                <a:solidFill>
                  <a:srgbClr val="334155"/>
                </a:solidFill>
                <a:latin typeface="Segoe UI Semibold" pitchFamily="34" charset="0"/>
                <a:ea typeface="Segoe UI Semibold" pitchFamily="34" charset="-122"/>
                <a:cs typeface="Segoe UI Semibold" pitchFamily="34" charset="-120"/>
              </a:rPr>
              <a:t>Nhập thông tin thẻ</a:t>
            </a:r>
            <a:endParaRPr lang="en-US" sz="930" dirty="0"/>
          </a:p>
        </p:txBody>
      </p:sp>
      <p:pic>
        <p:nvPicPr>
          <p:cNvPr id="19" name="image" descr="Kiểm tra lại và bấm thanh toán">    </p:cNvPr>
          <p:cNvPicPr>
            <a:picLocks noChangeAspect="1"/>
          </p:cNvPicPr>
          <p:nvPr/>
        </p:nvPicPr>
        <p:blipFill>
          <a:blip r:embed="rId3"/>
          <a:stretch>
            <a:fillRect/>
          </a:stretch>
        </p:blipFill>
        <p:spPr>
          <a:xfrm>
            <a:off x="4343400" y="1657052"/>
            <a:ext cx="1676400" cy="3410843"/>
          </a:xfrm>
          <a:prstGeom prst="rect">
            <a:avLst/>
          </a:prstGeom>
        </p:spPr>
      </p:pic>
      <p:sp>
        <p:nvSpPr>
          <p:cNvPr id="20" name="pill grey"/>
          <p:cNvSpPr/>
          <p:nvPr/>
        </p:nvSpPr>
        <p:spPr>
          <a:xfrm>
            <a:off x="4609505" y="5148858"/>
            <a:ext cx="1144191" cy="219075"/>
          </a:xfrm>
          <a:prstGeom prst="roundRect">
            <a:avLst>
              <a:gd name="adj" fmla="val 50000"/>
            </a:avLst>
          </a:prstGeom>
          <a:solidFill>
            <a:srgbClr val="F1F5F9"/>
          </a:solidFill>
          <a:ln w="9525">
            <a:solidFill>
              <a:srgbClr val="E2E8F0"/>
            </a:solidFill>
            <a:prstDash val="solid"/>
          </a:ln>
        </p:spPr>
      </p:sp>
      <p:sp>
        <p:nvSpPr>
          <p:cNvPr id="21" name="text pill grey"/>
          <p:cNvSpPr txBox="1"/>
          <p:nvPr/>
        </p:nvSpPr>
        <p:spPr>
          <a:xfrm>
            <a:off x="4719042" y="5178899"/>
            <a:ext cx="1039416" cy="158993"/>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khách</a:t>
            </a:r>
            <a:endParaRPr lang="en-US" sz="860" dirty="0"/>
          </a:p>
        </p:txBody>
      </p:sp>
      <p:sp>
        <p:nvSpPr>
          <p:cNvPr id="22" name="Shape 17"/>
          <p:cNvSpPr/>
          <p:nvPr/>
        </p:nvSpPr>
        <p:spPr>
          <a:xfrm>
            <a:off x="4343400" y="5448895"/>
            <a:ext cx="190500" cy="190500"/>
          </a:xfrm>
          <a:prstGeom prst="ellipse">
            <a:avLst/>
          </a:prstGeom>
          <a:solidFill>
            <a:srgbClr val="E11D48"/>
          </a:solidFill>
          <a:ln/>
        </p:spPr>
      </p:sp>
      <p:sp>
        <p:nvSpPr>
          <p:cNvPr id="23" name="text i"/>
          <p:cNvSpPr txBox="1"/>
          <p:nvPr/>
        </p:nvSpPr>
        <p:spPr>
          <a:xfrm>
            <a:off x="4403973" y="5462528"/>
            <a:ext cx="18365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9</a:t>
            </a:r>
            <a:endParaRPr lang="en-US" sz="830" dirty="0"/>
          </a:p>
        </p:txBody>
      </p:sp>
      <p:sp>
        <p:nvSpPr>
          <p:cNvPr id="24" name="text span"/>
          <p:cNvSpPr txBox="1"/>
          <p:nvPr/>
        </p:nvSpPr>
        <p:spPr>
          <a:xfrm>
            <a:off x="4610100" y="5447705"/>
            <a:ext cx="14478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Kiểm tra lại và bấm thanh toán</a:t>
            </a:r>
            <a:endParaRPr lang="en-US" sz="940" dirty="0"/>
          </a:p>
        </p:txBody>
      </p:sp>
      <p:pic>
        <p:nvPicPr>
          <p:cNvPr id="25" name="image" descr="3-D Secure: nhập mã ngân hàng của khách gửi">    </p:cNvPr>
          <p:cNvPicPr>
            <a:picLocks noChangeAspect="1"/>
          </p:cNvPicPr>
          <p:nvPr/>
        </p:nvPicPr>
        <p:blipFill>
          <a:blip r:embed="rId4"/>
          <a:stretch>
            <a:fillRect/>
          </a:stretch>
        </p:blipFill>
        <p:spPr>
          <a:xfrm>
            <a:off x="6172200" y="1657052"/>
            <a:ext cx="1676400" cy="3410843"/>
          </a:xfrm>
          <a:prstGeom prst="rect">
            <a:avLst/>
          </a:prstGeom>
        </p:spPr>
      </p:pic>
      <p:sp>
        <p:nvSpPr>
          <p:cNvPr id="26" name="pill grey"/>
          <p:cNvSpPr/>
          <p:nvPr/>
        </p:nvSpPr>
        <p:spPr>
          <a:xfrm>
            <a:off x="6438305" y="5148858"/>
            <a:ext cx="1144191" cy="219075"/>
          </a:xfrm>
          <a:prstGeom prst="roundRect">
            <a:avLst>
              <a:gd name="adj" fmla="val 50000"/>
            </a:avLst>
          </a:prstGeom>
          <a:solidFill>
            <a:srgbClr val="F1F5F9"/>
          </a:solidFill>
          <a:ln w="9525">
            <a:solidFill>
              <a:srgbClr val="E2E8F0"/>
            </a:solidFill>
            <a:prstDash val="solid"/>
          </a:ln>
        </p:spPr>
      </p:sp>
      <p:sp>
        <p:nvSpPr>
          <p:cNvPr id="27" name="text pill grey"/>
          <p:cNvSpPr txBox="1"/>
          <p:nvPr/>
        </p:nvSpPr>
        <p:spPr>
          <a:xfrm>
            <a:off x="6547842" y="5178899"/>
            <a:ext cx="1039416" cy="158993"/>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khách</a:t>
            </a:r>
            <a:endParaRPr lang="en-US" sz="860" dirty="0"/>
          </a:p>
        </p:txBody>
      </p:sp>
      <p:sp>
        <p:nvSpPr>
          <p:cNvPr id="28" name="Shape 22"/>
          <p:cNvSpPr/>
          <p:nvPr/>
        </p:nvSpPr>
        <p:spPr>
          <a:xfrm>
            <a:off x="6172200" y="5448895"/>
            <a:ext cx="190500" cy="190500"/>
          </a:xfrm>
          <a:prstGeom prst="ellipse">
            <a:avLst/>
          </a:prstGeom>
          <a:solidFill>
            <a:srgbClr val="E11D48"/>
          </a:solidFill>
          <a:ln/>
        </p:spPr>
      </p:sp>
      <p:sp>
        <p:nvSpPr>
          <p:cNvPr id="29" name="text i"/>
          <p:cNvSpPr txBox="1"/>
          <p:nvPr/>
        </p:nvSpPr>
        <p:spPr>
          <a:xfrm>
            <a:off x="6208068" y="5462528"/>
            <a:ext cx="233065"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10</a:t>
            </a:r>
            <a:endParaRPr lang="en-US" sz="830" dirty="0"/>
          </a:p>
        </p:txBody>
      </p:sp>
      <p:sp>
        <p:nvSpPr>
          <p:cNvPr id="30" name="text span"/>
          <p:cNvSpPr txBox="1"/>
          <p:nvPr/>
        </p:nvSpPr>
        <p:spPr>
          <a:xfrm>
            <a:off x="6438900" y="544770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3-D Secure: nhập mã ngân hàng của khách gửi</a:t>
            </a:r>
            <a:endParaRPr lang="en-US" sz="940" dirty="0"/>
          </a:p>
        </p:txBody>
      </p:sp>
      <p:pic>
        <p:nvPicPr>
          <p:cNvPr id="31" name="image" descr="Thanh toán thành công, biên lai gửi về email của khách">    </p:cNvPr>
          <p:cNvPicPr>
            <a:picLocks noChangeAspect="1"/>
          </p:cNvPicPr>
          <p:nvPr/>
        </p:nvPicPr>
        <p:blipFill>
          <a:blip r:embed="rId5"/>
          <a:stretch>
            <a:fillRect/>
          </a:stretch>
        </p:blipFill>
        <p:spPr>
          <a:xfrm>
            <a:off x="8001000" y="1657052"/>
            <a:ext cx="1676400" cy="3410843"/>
          </a:xfrm>
          <a:prstGeom prst="rect">
            <a:avLst/>
          </a:prstGeom>
        </p:spPr>
      </p:pic>
      <p:sp>
        <p:nvSpPr>
          <p:cNvPr id="32" name="pill grey"/>
          <p:cNvSpPr/>
          <p:nvPr/>
        </p:nvSpPr>
        <p:spPr>
          <a:xfrm>
            <a:off x="8267105" y="5148858"/>
            <a:ext cx="1144191" cy="219075"/>
          </a:xfrm>
          <a:prstGeom prst="roundRect">
            <a:avLst>
              <a:gd name="adj" fmla="val 50000"/>
            </a:avLst>
          </a:prstGeom>
          <a:solidFill>
            <a:srgbClr val="F1F5F9"/>
          </a:solidFill>
          <a:ln w="9525">
            <a:solidFill>
              <a:srgbClr val="E2E8F0"/>
            </a:solidFill>
            <a:prstDash val="solid"/>
          </a:ln>
        </p:spPr>
      </p:sp>
      <p:sp>
        <p:nvSpPr>
          <p:cNvPr id="33" name="text pill grey"/>
          <p:cNvSpPr txBox="1"/>
          <p:nvPr/>
        </p:nvSpPr>
        <p:spPr>
          <a:xfrm>
            <a:off x="8376642" y="5178899"/>
            <a:ext cx="1039416" cy="158993"/>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khách</a:t>
            </a:r>
            <a:endParaRPr lang="en-US" sz="860" dirty="0"/>
          </a:p>
        </p:txBody>
      </p:sp>
      <p:sp>
        <p:nvSpPr>
          <p:cNvPr id="34" name="Shape 27"/>
          <p:cNvSpPr/>
          <p:nvPr/>
        </p:nvSpPr>
        <p:spPr>
          <a:xfrm>
            <a:off x="8001000" y="5448895"/>
            <a:ext cx="190500" cy="190500"/>
          </a:xfrm>
          <a:prstGeom prst="ellipse">
            <a:avLst/>
          </a:prstGeom>
          <a:solidFill>
            <a:srgbClr val="E11D48"/>
          </a:solidFill>
          <a:ln/>
        </p:spPr>
      </p:sp>
      <p:sp>
        <p:nvSpPr>
          <p:cNvPr id="35" name="text i"/>
          <p:cNvSpPr txBox="1"/>
          <p:nvPr/>
        </p:nvSpPr>
        <p:spPr>
          <a:xfrm>
            <a:off x="8049964" y="5462528"/>
            <a:ext cx="206871"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11</a:t>
            </a:r>
            <a:endParaRPr lang="en-US" sz="830" dirty="0"/>
          </a:p>
        </p:txBody>
      </p:sp>
      <p:sp>
        <p:nvSpPr>
          <p:cNvPr id="36" name="text span"/>
          <p:cNvSpPr txBox="1"/>
          <p:nvPr/>
        </p:nvSpPr>
        <p:spPr>
          <a:xfrm>
            <a:off x="8267700" y="544770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Thanh toán thành công, biên lai gửi về email của khách</a:t>
            </a:r>
            <a:endParaRPr lang="en-US" sz="940" dirty="0"/>
          </a:p>
        </p:txBody>
      </p:sp>
      <p:pic>
        <p:nvPicPr>
          <p:cNvPr id="37" name="image" descr="Điện thoại chị Lan báo đã nhận tiền; giao dịch vào sổ bán hàng Tendoo">    </p:cNvPr>
          <p:cNvPicPr>
            <a:picLocks noChangeAspect="1"/>
          </p:cNvPicPr>
          <p:nvPr/>
        </p:nvPicPr>
        <p:blipFill>
          <a:blip r:embed="rId6"/>
          <a:stretch>
            <a:fillRect/>
          </a:stretch>
        </p:blipFill>
        <p:spPr>
          <a:xfrm>
            <a:off x="9829800" y="1657052"/>
            <a:ext cx="1676400" cy="3410843"/>
          </a:xfrm>
          <a:prstGeom prst="rect">
            <a:avLst/>
          </a:prstGeom>
        </p:spPr>
      </p:pic>
      <p:sp>
        <p:nvSpPr>
          <p:cNvPr id="38" name="pill red"/>
          <p:cNvSpPr/>
          <p:nvPr/>
        </p:nvSpPr>
        <p:spPr>
          <a:xfrm>
            <a:off x="10010477" y="5148858"/>
            <a:ext cx="1315045" cy="219075"/>
          </a:xfrm>
          <a:prstGeom prst="roundRect">
            <a:avLst>
              <a:gd name="adj" fmla="val 50000"/>
            </a:avLst>
          </a:prstGeom>
          <a:solidFill>
            <a:srgbClr val="FFE4E6"/>
          </a:solidFill>
          <a:ln w="9525">
            <a:solidFill>
              <a:srgbClr val="FECDD3"/>
            </a:solidFill>
            <a:prstDash val="solid"/>
          </a:ln>
        </p:spPr>
      </p:sp>
      <p:sp>
        <p:nvSpPr>
          <p:cNvPr id="39" name="text pill red"/>
          <p:cNvSpPr txBox="1"/>
          <p:nvPr/>
        </p:nvSpPr>
        <p:spPr>
          <a:xfrm>
            <a:off x="10120015" y="5178945"/>
            <a:ext cx="1210270" cy="158901"/>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Điện thoại cửa hàng</a:t>
            </a:r>
            <a:endParaRPr lang="en-US" sz="860" dirty="0"/>
          </a:p>
        </p:txBody>
      </p:sp>
      <p:sp>
        <p:nvSpPr>
          <p:cNvPr id="40" name="Shape 32"/>
          <p:cNvSpPr/>
          <p:nvPr/>
        </p:nvSpPr>
        <p:spPr>
          <a:xfrm>
            <a:off x="9829800" y="5448895"/>
            <a:ext cx="190500" cy="190500"/>
          </a:xfrm>
          <a:prstGeom prst="ellipse">
            <a:avLst/>
          </a:prstGeom>
          <a:solidFill>
            <a:srgbClr val="E11D48"/>
          </a:solidFill>
          <a:ln/>
        </p:spPr>
      </p:sp>
      <p:sp>
        <p:nvSpPr>
          <p:cNvPr id="41" name="text i"/>
          <p:cNvSpPr txBox="1"/>
          <p:nvPr/>
        </p:nvSpPr>
        <p:spPr>
          <a:xfrm>
            <a:off x="9868495" y="5462528"/>
            <a:ext cx="227409"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12</a:t>
            </a:r>
            <a:endParaRPr lang="en-US" sz="830" dirty="0"/>
          </a:p>
        </p:txBody>
      </p:sp>
      <p:sp>
        <p:nvSpPr>
          <p:cNvPr id="42" name="text span"/>
          <p:cNvSpPr txBox="1"/>
          <p:nvPr/>
        </p:nvSpPr>
        <p:spPr>
          <a:xfrm>
            <a:off x="10096500" y="544770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Điện thoại chị Lan báo đã nhận tiền; giao dịch vào sổ bán hàng Tendoo</a:t>
            </a:r>
            <a:endParaRPr lang="en-US" sz="940" dirty="0"/>
          </a:p>
        </p:txBody>
      </p:sp>
      <p:sp>
        <p:nvSpPr>
          <p:cNvPr id="43" name="text source"/>
          <p:cNvSpPr txBox="1"/>
          <p:nvPr/>
        </p:nvSpPr>
        <p:spPr>
          <a:xfrm>
            <a:off x="609600" y="6492591"/>
            <a:ext cx="8761080" cy="151877"/>
          </a:xfrm>
          <a:prstGeom prst="rect">
            <a:avLst/>
          </a:prstGeom>
          <a:noFill/>
          <a:ln/>
        </p:spPr>
        <p:txBody>
          <a:bodyPr wrap="none" lIns="0" tIns="0" rIns="0" bIns="0" rtlCol="0" anchor="ctr"/>
          <a:lstStyle/>
          <a:p>
            <a:pPr algn="l" indent="0" marL="0">
              <a:buNone/>
            </a:pPr>
            <a:r>
              <a:rPr lang="en-US" sz="820" dirty="0">
                <a:solidFill>
                  <a:srgbClr val="94A3B8"/>
                </a:solidFill>
                <a:latin typeface="Segoe UI Semibold" pitchFamily="34" charset="0"/>
                <a:ea typeface="Segoe UI Semibold" pitchFamily="34" charset="-122"/>
                <a:cs typeface="Segoe UI Semibold" pitchFamily="34" charset="-120"/>
              </a:rPr>
              <a:t>Minh họa theo luồng Visa Accept trong tài liệu của Visa, 10/2026. Luồng thật trong Tendoo sẽ thống nhất với Visa. Tên cửa hàng, khách, số tiền và số thẻ là giả định.</a:t>
            </a:r>
            <a:endParaRPr lang="en-US" sz="820" dirty="0"/>
          </a:p>
        </p:txBody>
      </p:sp>
      <p:sp>
        <p:nvSpPr>
          <p:cNvPr id="44" name="mk"/>
          <p:cNvSpPr/>
          <p:nvPr/>
        </p:nvSpPr>
        <p:spPr>
          <a:xfrm>
            <a:off x="10796588" y="6343650"/>
            <a:ext cx="323850" cy="323850"/>
          </a:xfrm>
          <a:prstGeom prst="ellipse">
            <a:avLst/>
          </a:prstGeom>
          <a:solidFill>
            <a:srgbClr val="F0001E"/>
          </a:solidFill>
          <a:ln/>
        </p:spPr>
      </p:sp>
      <p:sp>
        <p:nvSpPr>
          <p:cNvPr id="45" name="Shape 37"/>
          <p:cNvSpPr/>
          <p:nvPr/>
        </p:nvSpPr>
        <p:spPr>
          <a:xfrm>
            <a:off x="10910888" y="6424613"/>
            <a:ext cx="95250" cy="161925"/>
          </a:xfrm>
          <a:prstGeom prst="roundRect">
            <a:avLst>
              <a:gd name="adj" fmla="val 25000"/>
            </a:avLst>
          </a:prstGeom>
          <a:ln w="19050">
            <a:solidFill>
              <a:srgbClr val="FFFFFF"/>
            </a:solidFill>
            <a:prstDash val="solid"/>
          </a:ln>
        </p:spPr>
      </p:sp>
      <p:sp>
        <p:nvSpPr>
          <p:cNvPr id="46"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47"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48" name="text pno"/>
          <p:cNvSpPr txBox="1"/>
          <p:nvPr/>
        </p:nvSpPr>
        <p:spPr>
          <a:xfrm>
            <a:off x="10500420" y="6420049"/>
            <a:ext cx="262830" cy="161527"/>
          </a:xfrm>
          <a:prstGeom prst="rect">
            <a:avLst/>
          </a:prstGeom>
          <a:noFill/>
          <a:ln/>
        </p:spPr>
        <p:txBody>
          <a:bodyPr wrap="none" lIns="0" tIns="0" rIns="0" bIns="0" rtlCol="0" anchor="ctr"/>
          <a:lstStyle/>
          <a:p>
            <a:pPr algn="l" indent="0" marL="0">
              <a:buNone/>
            </a:pPr>
            <a:r>
              <a:rPr lang="en-US" sz="880" b="1" dirty="0">
                <a:solidFill>
                  <a:srgbClr val="CBD5E1"/>
                </a:solidFill>
                <a:latin typeface="Segoe UI" pitchFamily="34" charset="0"/>
                <a:ea typeface="Segoe UI" pitchFamily="34" charset="-122"/>
                <a:cs typeface="Segoe UI" pitchFamily="34" charset="-120"/>
              </a:rPr>
              <a:t>26</a:t>
            </a:r>
            <a:endParaRPr lang="en-US" sz="8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apx"/>
          <p:cNvSpPr/>
          <p:nvPr/>
        </p:nvSpPr>
        <p:spPr>
          <a:xfrm>
            <a:off x="10786914" y="323850"/>
            <a:ext cx="795486" cy="247650"/>
          </a:xfrm>
          <a:prstGeom prst="roundRect">
            <a:avLst>
              <a:gd name="adj" fmla="val 50000"/>
            </a:avLst>
          </a:prstGeom>
          <a:solidFill>
            <a:srgbClr val="E5E7EB"/>
          </a:solidFill>
          <a:ln/>
        </p:spPr>
      </p:sp>
      <p:sp>
        <p:nvSpPr>
          <p:cNvPr id="3" name="text apx"/>
          <p:cNvSpPr txBox="1"/>
          <p:nvPr/>
        </p:nvSpPr>
        <p:spPr>
          <a:xfrm>
            <a:off x="10958364" y="358420"/>
            <a:ext cx="566886" cy="178511"/>
          </a:xfrm>
          <a:prstGeom prst="rect">
            <a:avLst/>
          </a:prstGeom>
          <a:noFill/>
          <a:ln/>
        </p:spPr>
        <p:txBody>
          <a:bodyPr wrap="none" lIns="0" tIns="0" rIns="0" bIns="0" rtlCol="0" anchor="ctr"/>
          <a:lstStyle/>
          <a:p>
            <a:pPr algn="l" indent="0" marL="0">
              <a:buNone/>
            </a:pPr>
            <a:r>
              <a:rPr lang="en-US" sz="970" b="1" dirty="0">
                <a:solidFill>
                  <a:srgbClr val="4B5563"/>
                </a:solidFill>
                <a:latin typeface="Segoe UI" pitchFamily="34" charset="0"/>
                <a:ea typeface="Segoe UI" pitchFamily="34" charset="-122"/>
                <a:cs typeface="Segoe UI" pitchFamily="34" charset="-120"/>
              </a:rPr>
              <a:t>Phụ lục</a:t>
            </a:r>
            <a:endParaRPr lang="en-US" sz="970" dirty="0"/>
          </a:p>
        </p:txBody>
      </p:sp>
      <p:sp>
        <p:nvSpPr>
          <p:cNvPr id="4" name="text eyebrow"/>
          <p:cNvSpPr txBox="1"/>
          <p:nvPr/>
        </p:nvSpPr>
        <p:spPr>
          <a:xfrm>
            <a:off x="609600" y="384334"/>
            <a:ext cx="5132019"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PHỤ LỤC · MÀN HÌNH DEMO VISA ACCEPT · ④ THEO DÕI VÀ HOÀN TIỀN</a:t>
            </a:r>
            <a:endParaRPr lang="en-US" sz="1050" dirty="0"/>
          </a:p>
        </p:txBody>
      </p:sp>
      <p:sp>
        <p:nvSpPr>
          <p:cNvPr id="5" name="text title sm"/>
          <p:cNvSpPr txBox="1"/>
          <p:nvPr/>
        </p:nvSpPr>
        <p:spPr>
          <a:xfrm>
            <a:off x="609600" y="580311"/>
            <a:ext cx="5204430" cy="372904"/>
          </a:xfrm>
          <a:prstGeom prst="rect">
            <a:avLst/>
          </a:prstGeom>
          <a:noFill/>
          <a:ln/>
        </p:spPr>
        <p:txBody>
          <a:bodyPr wrap="none" lIns="0" tIns="0" rIns="0" bIns="0" rtlCol="0" anchor="ctr"/>
          <a:lstStyle/>
          <a:p>
            <a:pPr algn="l" indent="0" marL="0">
              <a:buNone/>
            </a:pPr>
            <a:r>
              <a:rPr lang="en-US" sz="2030" b="1" spc="-30" kern="0" dirty="0">
                <a:solidFill>
                  <a:srgbClr val="0F172A"/>
                </a:solidFill>
                <a:latin typeface="Segoe UI" pitchFamily="34" charset="0"/>
                <a:ea typeface="Segoe UI" pitchFamily="34" charset="-122"/>
                <a:cs typeface="Segoe UI" pitchFamily="34" charset="-120"/>
              </a:rPr>
              <a:t>Theo dõi giao dịch, </a:t>
            </a:r>
            <a:pPr algn="l" indent="0" marL="0">
              <a:buNone/>
            </a:pPr>
            <a:r>
              <a:rPr lang="en-US" sz="2030" b="1" spc="-30" kern="0" dirty="0">
                <a:solidFill>
                  <a:srgbClr val="E11D48"/>
                </a:solidFill>
                <a:latin typeface="Segoe UI" pitchFamily="34" charset="0"/>
                <a:ea typeface="Segoe UI" pitchFamily="34" charset="-122"/>
                <a:cs typeface="Segoe UI" pitchFamily="34" charset="-120"/>
              </a:rPr>
              <a:t>hoàn tiền</a:t>
            </a:r>
            <a:pPr algn="l" indent="0" marL="0">
              <a:buNone/>
            </a:pPr>
            <a:r>
              <a:rPr lang="en-US" sz="2030" b="1" spc="-30" kern="0" dirty="0">
                <a:solidFill>
                  <a:srgbClr val="0F172A"/>
                </a:solidFill>
                <a:latin typeface="Segoe UI" pitchFamily="34" charset="0"/>
                <a:ea typeface="Segoe UI" pitchFamily="34" charset="-122"/>
                <a:cs typeface="Segoe UI" pitchFamily="34" charset="-120"/>
              </a:rPr>
              <a:t> và đối soát</a:t>
            </a:r>
            <a:endParaRPr lang="en-US" sz="2030" dirty="0"/>
          </a:p>
        </p:txBody>
      </p:sp>
      <p:sp>
        <p:nvSpPr>
          <p:cNvPr id="6" name="text persona"/>
          <p:cNvSpPr txBox="1"/>
          <p:nvPr/>
        </p:nvSpPr>
        <p:spPr>
          <a:xfrm>
            <a:off x="609600" y="1123191"/>
            <a:ext cx="10134600" cy="400526"/>
          </a:xfrm>
          <a:prstGeom prst="rect">
            <a:avLst/>
          </a:prstGeom>
          <a:noFill/>
          <a:ln/>
        </p:spPr>
        <p:txBody>
          <a:bodyPr wrap="square" lIns="0" tIns="0" rIns="0" bIns="0" rtlCol="0" anchor="ctr"/>
          <a:lstStyle/>
          <a:p>
            <a:pPr algn="l" indent="0" marL="0">
              <a:lnSpc>
                <a:spcPts val="1580"/>
              </a:lnSpc>
              <a:buNone/>
            </a:pPr>
            <a:r>
              <a:rPr lang="en-US" sz="1090" dirty="0">
                <a:solidFill>
                  <a:srgbClr val="334155"/>
                </a:solidFill>
                <a:latin typeface="Segoe UI Semibold" pitchFamily="34" charset="0"/>
                <a:ea typeface="Segoe UI Semibold" pitchFamily="34" charset="-122"/>
                <a:cs typeface="Segoe UI Semibold" pitchFamily="34" charset="-120"/>
              </a:rPr>
              <a:t>Chị Camille quay lại, muốn trả lại 2 hộp trà vì đổi ý. Chị Lan tìm giao dịch trong lịch sử và hoàn tiền về thẻ của khách. Cuối ngày, chị xem báo cáo để đối soát.</a:t>
            </a:r>
            <a:endParaRPr lang="en-US" sz="1090" dirty="0"/>
          </a:p>
        </p:txBody>
      </p:sp>
      <p:pic>
        <p:nvPicPr>
          <p:cNvPr id="7" name="image" descr="Lịch sử giao dịch: tìm kiếm, lọc theo thời gian và số tiền">    </p:cNvPr>
          <p:cNvPicPr>
            <a:picLocks noChangeAspect="1"/>
          </p:cNvPicPr>
          <p:nvPr/>
        </p:nvPicPr>
        <p:blipFill>
          <a:blip r:embed="rId1"/>
          <a:stretch>
            <a:fillRect/>
          </a:stretch>
        </p:blipFill>
        <p:spPr>
          <a:xfrm>
            <a:off x="1123950" y="1657052"/>
            <a:ext cx="1866900" cy="3798391"/>
          </a:xfrm>
          <a:prstGeom prst="rect">
            <a:avLst/>
          </a:prstGeom>
        </p:spPr>
      </p:pic>
      <p:sp>
        <p:nvSpPr>
          <p:cNvPr id="8" name="Shape 5"/>
          <p:cNvSpPr/>
          <p:nvPr/>
        </p:nvSpPr>
        <p:spPr>
          <a:xfrm>
            <a:off x="1123950" y="5531644"/>
            <a:ext cx="190500" cy="190500"/>
          </a:xfrm>
          <a:prstGeom prst="ellipse">
            <a:avLst/>
          </a:prstGeom>
          <a:solidFill>
            <a:srgbClr val="E11D48"/>
          </a:solidFill>
          <a:ln/>
        </p:spPr>
      </p:sp>
      <p:sp>
        <p:nvSpPr>
          <p:cNvPr id="9" name="text i"/>
          <p:cNvSpPr txBox="1"/>
          <p:nvPr/>
        </p:nvSpPr>
        <p:spPr>
          <a:xfrm>
            <a:off x="1195983" y="5545276"/>
            <a:ext cx="16058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1</a:t>
            </a:r>
            <a:endParaRPr lang="en-US" sz="830" dirty="0"/>
          </a:p>
        </p:txBody>
      </p:sp>
      <p:sp>
        <p:nvSpPr>
          <p:cNvPr id="10" name="text span"/>
          <p:cNvSpPr txBox="1"/>
          <p:nvPr/>
        </p:nvSpPr>
        <p:spPr>
          <a:xfrm>
            <a:off x="1390650" y="5530453"/>
            <a:ext cx="16383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Lịch sử giao dịch: tìm kiếm, lọc theo thời gian và số tiền</a:t>
            </a:r>
            <a:endParaRPr lang="en-US" sz="940" dirty="0"/>
          </a:p>
        </p:txBody>
      </p:sp>
      <p:pic>
        <p:nvPicPr>
          <p:cNvPr id="11" name="image" descr="Chi tiết giao dịch: trạng thái, cách trả, mã giao dịch; bấm “Hoàn tiền”">    </p:cNvPr>
          <p:cNvPicPr>
            <a:picLocks noChangeAspect="1"/>
          </p:cNvPicPr>
          <p:nvPr/>
        </p:nvPicPr>
        <p:blipFill>
          <a:blip r:embed="rId2"/>
          <a:stretch>
            <a:fillRect/>
          </a:stretch>
        </p:blipFill>
        <p:spPr>
          <a:xfrm>
            <a:off x="3143250" y="1657052"/>
            <a:ext cx="1866900" cy="3798391"/>
          </a:xfrm>
          <a:prstGeom prst="rect">
            <a:avLst/>
          </a:prstGeom>
        </p:spPr>
      </p:pic>
      <p:sp>
        <p:nvSpPr>
          <p:cNvPr id="12" name="Shape 8"/>
          <p:cNvSpPr/>
          <p:nvPr/>
        </p:nvSpPr>
        <p:spPr>
          <a:xfrm>
            <a:off x="3143250" y="5531644"/>
            <a:ext cx="190500" cy="190500"/>
          </a:xfrm>
          <a:prstGeom prst="ellipse">
            <a:avLst/>
          </a:prstGeom>
          <a:solidFill>
            <a:srgbClr val="E11D48"/>
          </a:solidFill>
          <a:ln/>
        </p:spPr>
      </p:sp>
      <p:sp>
        <p:nvSpPr>
          <p:cNvPr id="13" name="text i"/>
          <p:cNvSpPr txBox="1"/>
          <p:nvPr/>
        </p:nvSpPr>
        <p:spPr>
          <a:xfrm>
            <a:off x="3205014" y="5545276"/>
            <a:ext cx="18112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2</a:t>
            </a:r>
            <a:endParaRPr lang="en-US" sz="830" dirty="0"/>
          </a:p>
        </p:txBody>
      </p:sp>
      <p:sp>
        <p:nvSpPr>
          <p:cNvPr id="14" name="text span"/>
          <p:cNvSpPr txBox="1"/>
          <p:nvPr/>
        </p:nvSpPr>
        <p:spPr>
          <a:xfrm>
            <a:off x="3409950" y="5530453"/>
            <a:ext cx="16383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Chi tiết giao dịch: trạng thái, cách trả, mã giao dịch; bấm “Hoàn tiền”</a:t>
            </a:r>
            <a:endParaRPr lang="en-US" sz="940" dirty="0"/>
          </a:p>
        </p:txBody>
      </p:sp>
      <p:pic>
        <p:nvPicPr>
          <p:cNvPr id="15" name="image" descr="Xác nhận hoàn tiền về đúng thẻ khách đã dùng">    </p:cNvPr>
          <p:cNvPicPr>
            <a:picLocks noChangeAspect="1"/>
          </p:cNvPicPr>
          <p:nvPr/>
        </p:nvPicPr>
        <p:blipFill>
          <a:blip r:embed="rId3"/>
          <a:stretch>
            <a:fillRect/>
          </a:stretch>
        </p:blipFill>
        <p:spPr>
          <a:xfrm>
            <a:off x="5162550" y="1657052"/>
            <a:ext cx="1866900" cy="3798391"/>
          </a:xfrm>
          <a:prstGeom prst="rect">
            <a:avLst/>
          </a:prstGeom>
        </p:spPr>
      </p:pic>
      <p:sp>
        <p:nvSpPr>
          <p:cNvPr id="16" name="Shape 11"/>
          <p:cNvSpPr/>
          <p:nvPr/>
        </p:nvSpPr>
        <p:spPr>
          <a:xfrm>
            <a:off x="5162550" y="5531644"/>
            <a:ext cx="190500" cy="190500"/>
          </a:xfrm>
          <a:prstGeom prst="ellipse">
            <a:avLst/>
          </a:prstGeom>
          <a:solidFill>
            <a:srgbClr val="E11D48"/>
          </a:solidFill>
          <a:ln/>
        </p:spPr>
      </p:sp>
      <p:sp>
        <p:nvSpPr>
          <p:cNvPr id="17" name="text i"/>
          <p:cNvSpPr txBox="1"/>
          <p:nvPr/>
        </p:nvSpPr>
        <p:spPr>
          <a:xfrm>
            <a:off x="5223272" y="5545276"/>
            <a:ext cx="183207"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3</a:t>
            </a:r>
            <a:endParaRPr lang="en-US" sz="830" dirty="0"/>
          </a:p>
        </p:txBody>
      </p:sp>
      <p:sp>
        <p:nvSpPr>
          <p:cNvPr id="18" name="text span"/>
          <p:cNvSpPr txBox="1"/>
          <p:nvPr/>
        </p:nvSpPr>
        <p:spPr>
          <a:xfrm>
            <a:off x="5429250" y="5530453"/>
            <a:ext cx="16383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Xác nhận hoàn tiền về đúng thẻ khách đã dùng</a:t>
            </a:r>
            <a:endParaRPr lang="en-US" sz="940" dirty="0"/>
          </a:p>
        </p:txBody>
      </p:sp>
      <p:pic>
        <p:nvPicPr>
          <p:cNvPr id="19" name="image" descr="Giao dịch chuyển sang “Đã hoàn tiền”, sổ bán hàng Tendoo cập nhật">    </p:cNvPr>
          <p:cNvPicPr>
            <a:picLocks noChangeAspect="1"/>
          </p:cNvPicPr>
          <p:nvPr/>
        </p:nvPicPr>
        <p:blipFill>
          <a:blip r:embed="rId4"/>
          <a:stretch>
            <a:fillRect/>
          </a:stretch>
        </p:blipFill>
        <p:spPr>
          <a:xfrm>
            <a:off x="7181850" y="1657052"/>
            <a:ext cx="1866900" cy="3798391"/>
          </a:xfrm>
          <a:prstGeom prst="rect">
            <a:avLst/>
          </a:prstGeom>
        </p:spPr>
      </p:pic>
      <p:sp>
        <p:nvSpPr>
          <p:cNvPr id="20" name="Shape 14"/>
          <p:cNvSpPr/>
          <p:nvPr/>
        </p:nvSpPr>
        <p:spPr>
          <a:xfrm>
            <a:off x="7181850" y="5531644"/>
            <a:ext cx="190500" cy="190500"/>
          </a:xfrm>
          <a:prstGeom prst="ellipse">
            <a:avLst/>
          </a:prstGeom>
          <a:solidFill>
            <a:srgbClr val="E11D48"/>
          </a:solidFill>
          <a:ln/>
        </p:spPr>
      </p:sp>
      <p:sp>
        <p:nvSpPr>
          <p:cNvPr id="21" name="text i"/>
          <p:cNvSpPr txBox="1"/>
          <p:nvPr/>
        </p:nvSpPr>
        <p:spPr>
          <a:xfrm>
            <a:off x="7240935" y="5545276"/>
            <a:ext cx="186482"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4</a:t>
            </a:r>
            <a:endParaRPr lang="en-US" sz="830" dirty="0"/>
          </a:p>
        </p:txBody>
      </p:sp>
      <p:sp>
        <p:nvSpPr>
          <p:cNvPr id="22" name="text span"/>
          <p:cNvSpPr txBox="1"/>
          <p:nvPr/>
        </p:nvSpPr>
        <p:spPr>
          <a:xfrm>
            <a:off x="7448550" y="5530453"/>
            <a:ext cx="16383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Giao dịch chuyển sang “Đã hoàn tiền”, sổ bán hàng Tendoo cập nhật</a:t>
            </a:r>
            <a:endParaRPr lang="en-US" sz="940" dirty="0"/>
          </a:p>
        </p:txBody>
      </p:sp>
      <p:pic>
        <p:nvPicPr>
          <p:cNvPr id="23" name="image" descr="Báo cáo: doanh số, đối soát quyết toán, từng giao dịch">    </p:cNvPr>
          <p:cNvPicPr>
            <a:picLocks noChangeAspect="1"/>
          </p:cNvPicPr>
          <p:nvPr/>
        </p:nvPicPr>
        <p:blipFill>
          <a:blip r:embed="rId5"/>
          <a:stretch>
            <a:fillRect/>
          </a:stretch>
        </p:blipFill>
        <p:spPr>
          <a:xfrm>
            <a:off x="9201150" y="1657052"/>
            <a:ext cx="1866900" cy="3798391"/>
          </a:xfrm>
          <a:prstGeom prst="rect">
            <a:avLst/>
          </a:prstGeom>
        </p:spPr>
      </p:pic>
      <p:sp>
        <p:nvSpPr>
          <p:cNvPr id="24" name="Shape 17"/>
          <p:cNvSpPr/>
          <p:nvPr/>
        </p:nvSpPr>
        <p:spPr>
          <a:xfrm>
            <a:off x="9201150" y="5531644"/>
            <a:ext cx="190500" cy="190500"/>
          </a:xfrm>
          <a:prstGeom prst="ellipse">
            <a:avLst/>
          </a:prstGeom>
          <a:solidFill>
            <a:srgbClr val="E11D48"/>
          </a:solidFill>
          <a:ln/>
        </p:spPr>
      </p:sp>
      <p:sp>
        <p:nvSpPr>
          <p:cNvPr id="25" name="text i"/>
          <p:cNvSpPr txBox="1"/>
          <p:nvPr/>
        </p:nvSpPr>
        <p:spPr>
          <a:xfrm>
            <a:off x="9263062" y="5545276"/>
            <a:ext cx="18082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5</a:t>
            </a:r>
            <a:endParaRPr lang="en-US" sz="830" dirty="0"/>
          </a:p>
        </p:txBody>
      </p:sp>
      <p:sp>
        <p:nvSpPr>
          <p:cNvPr id="26" name="text span"/>
          <p:cNvSpPr txBox="1"/>
          <p:nvPr/>
        </p:nvSpPr>
        <p:spPr>
          <a:xfrm>
            <a:off x="9467850" y="5530453"/>
            <a:ext cx="16383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Báo cáo: doanh số, đối soát quyết toán, từng giao dịch</a:t>
            </a:r>
            <a:endParaRPr lang="en-US" sz="940" dirty="0"/>
          </a:p>
        </p:txBody>
      </p:sp>
      <p:sp>
        <p:nvSpPr>
          <p:cNvPr id="27" name="text source"/>
          <p:cNvSpPr txBox="1"/>
          <p:nvPr/>
        </p:nvSpPr>
        <p:spPr>
          <a:xfrm>
            <a:off x="609600" y="6348546"/>
            <a:ext cx="9658350" cy="293370"/>
          </a:xfrm>
          <a:prstGeom prst="rect">
            <a:avLst/>
          </a:prstGeom>
          <a:noFill/>
          <a:ln/>
        </p:spPr>
        <p:txBody>
          <a:bodyPr wrap="square" lIns="0" tIns="0" rIns="0" bIns="0" rtlCol="0" anchor="ctr"/>
          <a:lstStyle/>
          <a:p>
            <a:pPr algn="l" indent="0" marL="0">
              <a:lnSpc>
                <a:spcPts val="1160"/>
              </a:lnSpc>
              <a:buNone/>
            </a:pPr>
            <a:r>
              <a:rPr lang="en-US" sz="830" dirty="0">
                <a:solidFill>
                  <a:srgbClr val="94A3B8"/>
                </a:solidFill>
                <a:latin typeface="Segoe UI Semibold" pitchFamily="34" charset="0"/>
                <a:ea typeface="Segoe UI Semibold" pitchFamily="34" charset="-122"/>
                <a:cs typeface="Segoe UI Semibold" pitchFamily="34" charset="-120"/>
              </a:rPr>
              <a:t>Minh họa theo luồng Visa Accept trong tài liệu của Visa, 10/2026. Luồng thật trong Tendoo sẽ thống nhất với Visa. Tên cửa hàng, khách, số tiền và số thẻ là giả định. Hoàn tiền và báo cáo theo trang 15 và 20 tài liệu Visa.</a:t>
            </a:r>
            <a:endParaRPr lang="en-US" sz="830" dirty="0"/>
          </a:p>
        </p:txBody>
      </p:sp>
      <p:sp>
        <p:nvSpPr>
          <p:cNvPr id="28" name="mk"/>
          <p:cNvSpPr/>
          <p:nvPr/>
        </p:nvSpPr>
        <p:spPr>
          <a:xfrm>
            <a:off x="10796588" y="6343650"/>
            <a:ext cx="323850" cy="323850"/>
          </a:xfrm>
          <a:prstGeom prst="ellipse">
            <a:avLst/>
          </a:prstGeom>
          <a:solidFill>
            <a:srgbClr val="F0001E"/>
          </a:solidFill>
          <a:ln/>
        </p:spPr>
      </p:sp>
      <p:sp>
        <p:nvSpPr>
          <p:cNvPr id="29" name="Shape 22"/>
          <p:cNvSpPr/>
          <p:nvPr/>
        </p:nvSpPr>
        <p:spPr>
          <a:xfrm>
            <a:off x="10910888" y="6424613"/>
            <a:ext cx="95250" cy="161925"/>
          </a:xfrm>
          <a:prstGeom prst="roundRect">
            <a:avLst>
              <a:gd name="adj" fmla="val 25000"/>
            </a:avLst>
          </a:prstGeom>
          <a:ln w="19050">
            <a:solidFill>
              <a:srgbClr val="FFFFFF"/>
            </a:solidFill>
            <a:prstDash val="solid"/>
          </a:ln>
        </p:spPr>
      </p:sp>
      <p:sp>
        <p:nvSpPr>
          <p:cNvPr id="30"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31"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32" name="text pno"/>
          <p:cNvSpPr txBox="1"/>
          <p:nvPr/>
        </p:nvSpPr>
        <p:spPr>
          <a:xfrm>
            <a:off x="10508754" y="6419499"/>
            <a:ext cx="254496" cy="162627"/>
          </a:xfrm>
          <a:prstGeom prst="rect">
            <a:avLst/>
          </a:prstGeom>
          <a:noFill/>
          <a:ln/>
        </p:spPr>
        <p:txBody>
          <a:bodyPr wrap="none" lIns="0" tIns="0" rIns="0" bIns="0" rtlCol="0" anchor="ctr"/>
          <a:lstStyle/>
          <a:p>
            <a:pPr algn="l" indent="0" marL="0">
              <a:buNone/>
            </a:pPr>
            <a:r>
              <a:rPr lang="en-US" sz="880" b="1" dirty="0">
                <a:solidFill>
                  <a:srgbClr val="CBD5E1"/>
                </a:solidFill>
                <a:latin typeface="Segoe UI" pitchFamily="34" charset="0"/>
                <a:ea typeface="Segoe UI" pitchFamily="34" charset="-122"/>
                <a:cs typeface="Segoe UI" pitchFamily="34" charset="-120"/>
              </a:rPr>
              <a:t>27</a:t>
            </a:r>
            <a:endParaRPr lang="en-US" sz="8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apx"/>
          <p:cNvSpPr/>
          <p:nvPr/>
        </p:nvSpPr>
        <p:spPr>
          <a:xfrm>
            <a:off x="10786914" y="323850"/>
            <a:ext cx="795486" cy="247650"/>
          </a:xfrm>
          <a:prstGeom prst="roundRect">
            <a:avLst>
              <a:gd name="adj" fmla="val 50000"/>
            </a:avLst>
          </a:prstGeom>
          <a:solidFill>
            <a:srgbClr val="E5E7EB"/>
          </a:solidFill>
          <a:ln/>
        </p:spPr>
      </p:sp>
      <p:sp>
        <p:nvSpPr>
          <p:cNvPr id="3" name="text apx"/>
          <p:cNvSpPr txBox="1"/>
          <p:nvPr/>
        </p:nvSpPr>
        <p:spPr>
          <a:xfrm>
            <a:off x="10958364" y="358420"/>
            <a:ext cx="566886" cy="178511"/>
          </a:xfrm>
          <a:prstGeom prst="rect">
            <a:avLst/>
          </a:prstGeom>
          <a:noFill/>
          <a:ln/>
        </p:spPr>
        <p:txBody>
          <a:bodyPr wrap="none" lIns="0" tIns="0" rIns="0" bIns="0" rtlCol="0" anchor="ctr"/>
          <a:lstStyle/>
          <a:p>
            <a:pPr algn="l" indent="0" marL="0">
              <a:buNone/>
            </a:pPr>
            <a:r>
              <a:rPr lang="en-US" sz="970" b="1" dirty="0">
                <a:solidFill>
                  <a:srgbClr val="4B5563"/>
                </a:solidFill>
                <a:latin typeface="Segoe UI" pitchFamily="34" charset="0"/>
                <a:ea typeface="Segoe UI" pitchFamily="34" charset="-122"/>
                <a:cs typeface="Segoe UI" pitchFamily="34" charset="-120"/>
              </a:rPr>
              <a:t>Phụ lục</a:t>
            </a:r>
            <a:endParaRPr lang="en-US" sz="970" dirty="0"/>
          </a:p>
        </p:txBody>
      </p:sp>
      <p:sp>
        <p:nvSpPr>
          <p:cNvPr id="4" name="text eyebrow"/>
          <p:cNvSpPr txBox="1"/>
          <p:nvPr/>
        </p:nvSpPr>
        <p:spPr>
          <a:xfrm>
            <a:off x="609600" y="384334"/>
            <a:ext cx="4079459"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PHỤ LỤC · MÀN HÌNH DEMO VISA ACCEPT · ⑤ NÂNG GÓI</a:t>
            </a:r>
            <a:endParaRPr lang="en-US" sz="1050" dirty="0"/>
          </a:p>
        </p:txBody>
      </p:sp>
      <p:sp>
        <p:nvSpPr>
          <p:cNvPr id="5" name="text title sm"/>
          <p:cNvSpPr txBox="1"/>
          <p:nvPr/>
        </p:nvSpPr>
        <p:spPr>
          <a:xfrm>
            <a:off x="609600" y="580311"/>
            <a:ext cx="5394371" cy="372904"/>
          </a:xfrm>
          <a:prstGeom prst="rect">
            <a:avLst/>
          </a:prstGeom>
          <a:noFill/>
          <a:ln/>
        </p:spPr>
        <p:txBody>
          <a:bodyPr wrap="none" lIns="0" tIns="0" rIns="0" bIns="0" rtlCol="0" anchor="ctr"/>
          <a:lstStyle/>
          <a:p>
            <a:pPr algn="l" indent="0" marL="0">
              <a:buNone/>
            </a:pPr>
            <a:r>
              <a:rPr lang="en-US" sz="2030" b="1" spc="-30" kern="0" dirty="0">
                <a:solidFill>
                  <a:srgbClr val="0F172A"/>
                </a:solidFill>
                <a:latin typeface="Segoe UI" pitchFamily="34" charset="0"/>
                <a:ea typeface="Segoe UI" pitchFamily="34" charset="-122"/>
                <a:cs typeface="Segoe UI" pitchFamily="34" charset="-120"/>
              </a:rPr>
              <a:t>Chạm hạn mức: </a:t>
            </a:r>
            <a:pPr algn="l" indent="0" marL="0">
              <a:buNone/>
            </a:pPr>
            <a:r>
              <a:rPr lang="en-US" sz="2030" b="1" spc="-30" kern="0" dirty="0">
                <a:solidFill>
                  <a:srgbClr val="E11D48"/>
                </a:solidFill>
                <a:latin typeface="Segoe UI" pitchFamily="34" charset="0"/>
                <a:ea typeface="Segoe UI" pitchFamily="34" charset="-122"/>
                <a:cs typeface="Segoe UI" pitchFamily="34" charset="-120"/>
              </a:rPr>
              <a:t>lộ trình nâng gói</a:t>
            </a:r>
            <a:pPr algn="l" indent="0" marL="0">
              <a:buNone/>
            </a:pPr>
            <a:r>
              <a:rPr lang="en-US" sz="2030" b="1" spc="-30" kern="0" dirty="0">
                <a:solidFill>
                  <a:srgbClr val="0F172A"/>
                </a:solidFill>
                <a:latin typeface="Segoe UI" pitchFamily="34" charset="0"/>
                <a:ea typeface="Segoe UI" pitchFamily="34" charset="-122"/>
                <a:cs typeface="Segoe UI" pitchFamily="34" charset="-120"/>
              </a:rPr>
              <a:t> của Visa</a:t>
            </a:r>
            <a:endParaRPr lang="en-US" sz="2030" dirty="0"/>
          </a:p>
        </p:txBody>
      </p:sp>
      <p:sp>
        <p:nvSpPr>
          <p:cNvPr id="6" name="text persona"/>
          <p:cNvSpPr txBox="1"/>
          <p:nvPr/>
        </p:nvSpPr>
        <p:spPr>
          <a:xfrm>
            <a:off x="609600" y="1123191"/>
            <a:ext cx="10134600" cy="400526"/>
          </a:xfrm>
          <a:prstGeom prst="rect">
            <a:avLst/>
          </a:prstGeom>
          <a:noFill/>
          <a:ln/>
        </p:spPr>
        <p:txBody>
          <a:bodyPr wrap="square" lIns="0" tIns="0" rIns="0" bIns="0" rtlCol="0" anchor="ctr"/>
          <a:lstStyle/>
          <a:p>
            <a:pPr algn="l" indent="0" marL="0">
              <a:lnSpc>
                <a:spcPts val="1580"/>
              </a:lnSpc>
              <a:buNone/>
            </a:pPr>
            <a:r>
              <a:rPr lang="en-US" sz="1090" dirty="0">
                <a:solidFill>
                  <a:srgbClr val="334155"/>
                </a:solidFill>
                <a:latin typeface="Segoe UI Semibold" pitchFamily="34" charset="0"/>
                <a:ea typeface="Segoe UI Semibold" pitchFamily="34" charset="-122"/>
                <a:cs typeface="Segoe UI Semibold" pitchFamily="34" charset="-120"/>
              </a:rPr>
              <a:t>Mùa cao điểm, Lan's House bán được nhiều. Khi chạm hạn mức tháng của Visa Accept, chị Lan được mời nâng lên gói SMB, hoặc ở lại Visa Accept và nhận tiếp từ tháng sau.</a:t>
            </a:r>
            <a:endParaRPr lang="en-US" sz="1090" dirty="0"/>
          </a:p>
        </p:txBody>
      </p:sp>
      <p:pic>
        <p:nvPicPr>
          <p:cNvPr id="7" name="image" descr="Cuối tháng, doanh số gần chạm hạn mức 100 triệu đồng">    </p:cNvPr>
          <p:cNvPicPr>
            <a:picLocks noChangeAspect="1"/>
          </p:cNvPicPr>
          <p:nvPr/>
        </p:nvPicPr>
        <p:blipFill>
          <a:blip r:embed="rId1"/>
          <a:stretch>
            <a:fillRect/>
          </a:stretch>
        </p:blipFill>
        <p:spPr>
          <a:xfrm>
            <a:off x="2133600" y="1657052"/>
            <a:ext cx="1866900" cy="3798391"/>
          </a:xfrm>
          <a:prstGeom prst="rect">
            <a:avLst/>
          </a:prstGeom>
        </p:spPr>
      </p:pic>
      <p:sp>
        <p:nvSpPr>
          <p:cNvPr id="8" name="Shape 5"/>
          <p:cNvSpPr/>
          <p:nvPr/>
        </p:nvSpPr>
        <p:spPr>
          <a:xfrm>
            <a:off x="2133600" y="5531644"/>
            <a:ext cx="190500" cy="190500"/>
          </a:xfrm>
          <a:prstGeom prst="ellipse">
            <a:avLst/>
          </a:prstGeom>
          <a:solidFill>
            <a:srgbClr val="E11D48"/>
          </a:solidFill>
          <a:ln/>
        </p:spPr>
      </p:sp>
      <p:sp>
        <p:nvSpPr>
          <p:cNvPr id="9" name="text i"/>
          <p:cNvSpPr txBox="1"/>
          <p:nvPr/>
        </p:nvSpPr>
        <p:spPr>
          <a:xfrm>
            <a:off x="2205633" y="5545276"/>
            <a:ext cx="16058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1</a:t>
            </a:r>
            <a:endParaRPr lang="en-US" sz="830" dirty="0"/>
          </a:p>
        </p:txBody>
      </p:sp>
      <p:sp>
        <p:nvSpPr>
          <p:cNvPr id="10" name="text span"/>
          <p:cNvSpPr txBox="1"/>
          <p:nvPr/>
        </p:nvSpPr>
        <p:spPr>
          <a:xfrm>
            <a:off x="2400300" y="5530453"/>
            <a:ext cx="16383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Cuối tháng, doanh số gần chạm hạn mức 100 triệu đồng</a:t>
            </a:r>
            <a:endParaRPr lang="en-US" sz="940" dirty="0"/>
          </a:p>
        </p:txBody>
      </p:sp>
      <p:pic>
        <p:nvPicPr>
          <p:cNvPr id="11" name="image" descr="Đơn tiếp theo chạm hạn mức: không nhận thêm được trong tháng">    </p:cNvPr>
          <p:cNvPicPr>
            <a:picLocks noChangeAspect="1"/>
          </p:cNvPicPr>
          <p:nvPr/>
        </p:nvPicPr>
        <p:blipFill>
          <a:blip r:embed="rId2"/>
          <a:stretch>
            <a:fillRect/>
          </a:stretch>
        </p:blipFill>
        <p:spPr>
          <a:xfrm>
            <a:off x="4152900" y="1657052"/>
            <a:ext cx="1866900" cy="3798391"/>
          </a:xfrm>
          <a:prstGeom prst="rect">
            <a:avLst/>
          </a:prstGeom>
        </p:spPr>
      </p:pic>
      <p:sp>
        <p:nvSpPr>
          <p:cNvPr id="12" name="Shape 8"/>
          <p:cNvSpPr/>
          <p:nvPr/>
        </p:nvSpPr>
        <p:spPr>
          <a:xfrm>
            <a:off x="4152900" y="5531644"/>
            <a:ext cx="190500" cy="190500"/>
          </a:xfrm>
          <a:prstGeom prst="ellipse">
            <a:avLst/>
          </a:prstGeom>
          <a:solidFill>
            <a:srgbClr val="E11D48"/>
          </a:solidFill>
          <a:ln/>
        </p:spPr>
      </p:sp>
      <p:sp>
        <p:nvSpPr>
          <p:cNvPr id="13" name="text i"/>
          <p:cNvSpPr txBox="1"/>
          <p:nvPr/>
        </p:nvSpPr>
        <p:spPr>
          <a:xfrm>
            <a:off x="4214664" y="5545276"/>
            <a:ext cx="18112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2</a:t>
            </a:r>
            <a:endParaRPr lang="en-US" sz="830" dirty="0"/>
          </a:p>
        </p:txBody>
      </p:sp>
      <p:sp>
        <p:nvSpPr>
          <p:cNvPr id="14" name="text span"/>
          <p:cNvSpPr txBox="1"/>
          <p:nvPr/>
        </p:nvSpPr>
        <p:spPr>
          <a:xfrm>
            <a:off x="4419600" y="5530453"/>
            <a:ext cx="16383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Đơn tiếp theo chạm hạn mức: không nhận thêm được trong tháng</a:t>
            </a:r>
            <a:endParaRPr lang="en-US" sz="940" dirty="0"/>
          </a:p>
        </p:txBody>
      </p:sp>
      <p:pic>
        <p:nvPicPr>
          <p:cNvPr id="15" name="image" descr="Gói SMB: phí dưới 1%, khoảng 180 triệu đồng mỗi tháng; hoặc ở lại Visa Accept">    </p:cNvPr>
          <p:cNvPicPr>
            <a:picLocks noChangeAspect="1"/>
          </p:cNvPicPr>
          <p:nvPr/>
        </p:nvPicPr>
        <p:blipFill>
          <a:blip r:embed="rId3"/>
          <a:stretch>
            <a:fillRect/>
          </a:stretch>
        </p:blipFill>
        <p:spPr>
          <a:xfrm>
            <a:off x="6172200" y="1657052"/>
            <a:ext cx="1866900" cy="3798391"/>
          </a:xfrm>
          <a:prstGeom prst="rect">
            <a:avLst/>
          </a:prstGeom>
        </p:spPr>
      </p:pic>
      <p:sp>
        <p:nvSpPr>
          <p:cNvPr id="16" name="Shape 11"/>
          <p:cNvSpPr/>
          <p:nvPr/>
        </p:nvSpPr>
        <p:spPr>
          <a:xfrm>
            <a:off x="6172200" y="5531644"/>
            <a:ext cx="190500" cy="190500"/>
          </a:xfrm>
          <a:prstGeom prst="ellipse">
            <a:avLst/>
          </a:prstGeom>
          <a:solidFill>
            <a:srgbClr val="E11D48"/>
          </a:solidFill>
          <a:ln/>
        </p:spPr>
      </p:sp>
      <p:sp>
        <p:nvSpPr>
          <p:cNvPr id="17" name="text i"/>
          <p:cNvSpPr txBox="1"/>
          <p:nvPr/>
        </p:nvSpPr>
        <p:spPr>
          <a:xfrm>
            <a:off x="6232922" y="5545276"/>
            <a:ext cx="183207"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3</a:t>
            </a:r>
            <a:endParaRPr lang="en-US" sz="830" dirty="0"/>
          </a:p>
        </p:txBody>
      </p:sp>
      <p:sp>
        <p:nvSpPr>
          <p:cNvPr id="18" name="text span"/>
          <p:cNvSpPr txBox="1"/>
          <p:nvPr/>
        </p:nvSpPr>
        <p:spPr>
          <a:xfrm>
            <a:off x="6438900" y="5530453"/>
            <a:ext cx="1638300" cy="657225"/>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Gói SMB: phí dưới 1%, khoảng 180 triệu đồng mỗi tháng; hoặc ở lại Visa Accept</a:t>
            </a:r>
            <a:endParaRPr lang="en-US" sz="940" dirty="0"/>
          </a:p>
        </p:txBody>
      </p:sp>
      <p:pic>
        <p:nvPicPr>
          <p:cNvPr id="19" name="image" descr="Lộ trình 3 bậc: Visa Accept → gói SMB → nhận thẻ đầy đủ">    </p:cNvPr>
          <p:cNvPicPr>
            <a:picLocks noChangeAspect="1"/>
          </p:cNvPicPr>
          <p:nvPr/>
        </p:nvPicPr>
        <p:blipFill>
          <a:blip r:embed="rId4"/>
          <a:stretch>
            <a:fillRect/>
          </a:stretch>
        </p:blipFill>
        <p:spPr>
          <a:xfrm>
            <a:off x="8191500" y="1657052"/>
            <a:ext cx="1866900" cy="3798391"/>
          </a:xfrm>
          <a:prstGeom prst="rect">
            <a:avLst/>
          </a:prstGeom>
        </p:spPr>
      </p:pic>
      <p:sp>
        <p:nvSpPr>
          <p:cNvPr id="20" name="Shape 14"/>
          <p:cNvSpPr/>
          <p:nvPr/>
        </p:nvSpPr>
        <p:spPr>
          <a:xfrm>
            <a:off x="8191500" y="5531644"/>
            <a:ext cx="190500" cy="190500"/>
          </a:xfrm>
          <a:prstGeom prst="ellipse">
            <a:avLst/>
          </a:prstGeom>
          <a:solidFill>
            <a:srgbClr val="E11D48"/>
          </a:solidFill>
          <a:ln/>
        </p:spPr>
      </p:sp>
      <p:sp>
        <p:nvSpPr>
          <p:cNvPr id="21" name="text i"/>
          <p:cNvSpPr txBox="1"/>
          <p:nvPr/>
        </p:nvSpPr>
        <p:spPr>
          <a:xfrm>
            <a:off x="8250585" y="5545276"/>
            <a:ext cx="186482"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4</a:t>
            </a:r>
            <a:endParaRPr lang="en-US" sz="830" dirty="0"/>
          </a:p>
        </p:txBody>
      </p:sp>
      <p:sp>
        <p:nvSpPr>
          <p:cNvPr id="22" name="text span"/>
          <p:cNvSpPr txBox="1"/>
          <p:nvPr/>
        </p:nvSpPr>
        <p:spPr>
          <a:xfrm>
            <a:off x="8458200" y="5530453"/>
            <a:ext cx="16383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Lộ trình 3 bậc: Visa Accept → gói SMB → nhận thẻ đầy đủ</a:t>
            </a:r>
            <a:endParaRPr lang="en-US" sz="940" dirty="0"/>
          </a:p>
        </p:txBody>
      </p:sp>
      <p:sp>
        <p:nvSpPr>
          <p:cNvPr id="23" name="text source"/>
          <p:cNvSpPr txBox="1"/>
          <p:nvPr/>
        </p:nvSpPr>
        <p:spPr>
          <a:xfrm>
            <a:off x="609600" y="6348546"/>
            <a:ext cx="9658350" cy="293370"/>
          </a:xfrm>
          <a:prstGeom prst="rect">
            <a:avLst/>
          </a:prstGeom>
          <a:noFill/>
          <a:ln/>
        </p:spPr>
        <p:txBody>
          <a:bodyPr wrap="square" lIns="0" tIns="0" rIns="0" bIns="0" rtlCol="0" anchor="ctr"/>
          <a:lstStyle/>
          <a:p>
            <a:pPr algn="l" indent="0" marL="0">
              <a:lnSpc>
                <a:spcPts val="1160"/>
              </a:lnSpc>
              <a:buNone/>
            </a:pPr>
            <a:r>
              <a:rPr lang="en-US" sz="830" dirty="0">
                <a:solidFill>
                  <a:srgbClr val="94A3B8"/>
                </a:solidFill>
                <a:latin typeface="Segoe UI Semibold" pitchFamily="34" charset="0"/>
                <a:ea typeface="Segoe UI Semibold" pitchFamily="34" charset="-122"/>
                <a:cs typeface="Segoe UI Semibold" pitchFamily="34" charset="-120"/>
              </a:rPr>
              <a:t>Minh họa theo luồng Visa Accept trong tài liệu của Visa, 10/2026. Luồng thật trong Tendoo sẽ thống nhất với Visa. Tên cửa hàng, khách, số tiền và số thẻ là giả định. Lộ trình nâng gói theo trang 22 tài liệu Visa.</a:t>
            </a:r>
            <a:endParaRPr lang="en-US" sz="830" dirty="0"/>
          </a:p>
        </p:txBody>
      </p:sp>
      <p:sp>
        <p:nvSpPr>
          <p:cNvPr id="24" name="mk"/>
          <p:cNvSpPr/>
          <p:nvPr/>
        </p:nvSpPr>
        <p:spPr>
          <a:xfrm>
            <a:off x="10796588" y="6343650"/>
            <a:ext cx="323850" cy="323850"/>
          </a:xfrm>
          <a:prstGeom prst="ellipse">
            <a:avLst/>
          </a:prstGeom>
          <a:solidFill>
            <a:srgbClr val="F0001E"/>
          </a:solidFill>
          <a:ln/>
        </p:spPr>
      </p:sp>
      <p:sp>
        <p:nvSpPr>
          <p:cNvPr id="25" name="Shape 19"/>
          <p:cNvSpPr/>
          <p:nvPr/>
        </p:nvSpPr>
        <p:spPr>
          <a:xfrm>
            <a:off x="10910888" y="6424613"/>
            <a:ext cx="95250" cy="161925"/>
          </a:xfrm>
          <a:prstGeom prst="roundRect">
            <a:avLst>
              <a:gd name="adj" fmla="val 25000"/>
            </a:avLst>
          </a:prstGeom>
          <a:ln w="19050">
            <a:solidFill>
              <a:srgbClr val="FFFFFF"/>
            </a:solidFill>
            <a:prstDash val="solid"/>
          </a:ln>
        </p:spPr>
      </p:sp>
      <p:sp>
        <p:nvSpPr>
          <p:cNvPr id="26"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27"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28" name="text pno"/>
          <p:cNvSpPr txBox="1"/>
          <p:nvPr/>
        </p:nvSpPr>
        <p:spPr>
          <a:xfrm>
            <a:off x="10500122" y="6419887"/>
            <a:ext cx="263128" cy="161851"/>
          </a:xfrm>
          <a:prstGeom prst="rect">
            <a:avLst/>
          </a:prstGeom>
          <a:noFill/>
          <a:ln/>
        </p:spPr>
        <p:txBody>
          <a:bodyPr wrap="none" lIns="0" tIns="0" rIns="0" bIns="0" rtlCol="0" anchor="ctr"/>
          <a:lstStyle/>
          <a:p>
            <a:pPr algn="l" indent="0" marL="0">
              <a:buNone/>
            </a:pPr>
            <a:r>
              <a:rPr lang="en-US" sz="880" b="1" dirty="0">
                <a:solidFill>
                  <a:srgbClr val="CBD5E1"/>
                </a:solidFill>
                <a:latin typeface="Segoe UI" pitchFamily="34" charset="0"/>
                <a:ea typeface="Segoe UI" pitchFamily="34" charset="-122"/>
                <a:cs typeface="Segoe UI" pitchFamily="34" charset="-120"/>
              </a:rPr>
              <a:t>28</a:t>
            </a:r>
            <a:endParaRPr lang="en-US" sz="8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apx"/>
          <p:cNvSpPr/>
          <p:nvPr/>
        </p:nvSpPr>
        <p:spPr>
          <a:xfrm>
            <a:off x="10786914" y="323850"/>
            <a:ext cx="795486" cy="247650"/>
          </a:xfrm>
          <a:prstGeom prst="roundRect">
            <a:avLst>
              <a:gd name="adj" fmla="val 50000"/>
            </a:avLst>
          </a:prstGeom>
          <a:solidFill>
            <a:srgbClr val="E5E7EB"/>
          </a:solidFill>
          <a:ln/>
        </p:spPr>
      </p:sp>
      <p:sp>
        <p:nvSpPr>
          <p:cNvPr id="3" name="text apx"/>
          <p:cNvSpPr txBox="1"/>
          <p:nvPr/>
        </p:nvSpPr>
        <p:spPr>
          <a:xfrm>
            <a:off x="10958364" y="358420"/>
            <a:ext cx="566886" cy="178511"/>
          </a:xfrm>
          <a:prstGeom prst="rect">
            <a:avLst/>
          </a:prstGeom>
          <a:noFill/>
          <a:ln/>
        </p:spPr>
        <p:txBody>
          <a:bodyPr wrap="none" lIns="0" tIns="0" rIns="0" bIns="0" rtlCol="0" anchor="ctr"/>
          <a:lstStyle/>
          <a:p>
            <a:pPr algn="l" indent="0" marL="0">
              <a:buNone/>
            </a:pPr>
            <a:r>
              <a:rPr lang="en-US" sz="970" b="1" dirty="0">
                <a:solidFill>
                  <a:srgbClr val="4B5563"/>
                </a:solidFill>
                <a:latin typeface="Segoe UI" pitchFamily="34" charset="0"/>
                <a:ea typeface="Segoe UI" pitchFamily="34" charset="-122"/>
                <a:cs typeface="Segoe UI" pitchFamily="34" charset="-120"/>
              </a:rPr>
              <a:t>Phụ lục</a:t>
            </a:r>
            <a:endParaRPr lang="en-US" sz="970" dirty="0"/>
          </a:p>
        </p:txBody>
      </p:sp>
      <p:sp>
        <p:nvSpPr>
          <p:cNvPr id="4" name="text eyebrow"/>
          <p:cNvSpPr txBox="1"/>
          <p:nvPr/>
        </p:nvSpPr>
        <p:spPr>
          <a:xfrm>
            <a:off x="609600" y="384334"/>
            <a:ext cx="4614101"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PHỤ LỤC · MÀN HÌNH DEMO AI TƯ VẤN DU LỊCH · ④ ĐẶT PHÒNG</a:t>
            </a:r>
            <a:endParaRPr lang="en-US" sz="1050" dirty="0"/>
          </a:p>
        </p:txBody>
      </p:sp>
      <p:sp>
        <p:nvSpPr>
          <p:cNvPr id="5" name="text title sm"/>
          <p:cNvSpPr txBox="1"/>
          <p:nvPr/>
        </p:nvSpPr>
        <p:spPr>
          <a:xfrm>
            <a:off x="609600" y="580311"/>
            <a:ext cx="6013886" cy="372904"/>
          </a:xfrm>
          <a:prstGeom prst="rect">
            <a:avLst/>
          </a:prstGeom>
          <a:noFill/>
          <a:ln/>
        </p:spPr>
        <p:txBody>
          <a:bodyPr wrap="none" lIns="0" tIns="0" rIns="0" bIns="0" rtlCol="0" anchor="ctr"/>
          <a:lstStyle/>
          <a:p>
            <a:pPr algn="l" indent="0" marL="0">
              <a:buNone/>
            </a:pPr>
            <a:r>
              <a:rPr lang="en-US" sz="2030" b="1" spc="-30" kern="0" dirty="0">
                <a:solidFill>
                  <a:srgbClr val="0F172A"/>
                </a:solidFill>
                <a:latin typeface="Segoe UI" pitchFamily="34" charset="0"/>
                <a:ea typeface="Segoe UI" pitchFamily="34" charset="-122"/>
                <a:cs typeface="Segoe UI" pitchFamily="34" charset="-120"/>
              </a:rPr>
              <a:t>Đặt phòng ở Hội An, </a:t>
            </a:r>
            <a:pPr algn="l" indent="0" marL="0">
              <a:buNone/>
            </a:pPr>
            <a:r>
              <a:rPr lang="en-US" sz="2030" b="1" spc="-30" kern="0" dirty="0">
                <a:solidFill>
                  <a:srgbClr val="E11D48"/>
                </a:solidFill>
                <a:latin typeface="Segoe UI" pitchFamily="34" charset="0"/>
                <a:ea typeface="Segoe UI" pitchFamily="34" charset="-122"/>
                <a:cs typeface="Segoe UI" pitchFamily="34" charset="-120"/>
              </a:rPr>
              <a:t>trả trước bằng thẻ quốc tế</a:t>
            </a:r>
            <a:endParaRPr lang="en-US" sz="2030" dirty="0"/>
          </a:p>
        </p:txBody>
      </p:sp>
      <p:sp>
        <p:nvSpPr>
          <p:cNvPr id="6" name="text persona"/>
          <p:cNvSpPr txBox="1"/>
          <p:nvPr/>
        </p:nvSpPr>
        <p:spPr>
          <a:xfrm>
            <a:off x="609600" y="1123191"/>
            <a:ext cx="10134600" cy="400526"/>
          </a:xfrm>
          <a:prstGeom prst="rect">
            <a:avLst/>
          </a:prstGeom>
          <a:noFill/>
          <a:ln/>
        </p:spPr>
        <p:txBody>
          <a:bodyPr wrap="square" lIns="0" tIns="0" rIns="0" bIns="0" rtlCol="0" anchor="ctr"/>
          <a:lstStyle/>
          <a:p>
            <a:pPr algn="l" indent="0" marL="0">
              <a:lnSpc>
                <a:spcPts val="1580"/>
              </a:lnSpc>
              <a:buNone/>
            </a:pPr>
            <a:r>
              <a:rPr lang="en-US" sz="1090" dirty="0">
                <a:solidFill>
                  <a:srgbClr val="334155"/>
                </a:solidFill>
                <a:latin typeface="Segoe UI Semibold" pitchFamily="34" charset="0"/>
                <a:ea typeface="Segoe UI Semibold" pitchFamily="34" charset="-122"/>
                <a:cs typeface="Segoe UI Semibold" pitchFamily="34" charset="-120"/>
              </a:rPr>
              <a:t>Minji muốn ghé Hội An 1 đêm. AI gợi ý các khách sạn vừa và nhỏ đi bộ được ra phố cổ. Minji chọn, trả trước bằng thẻ quốc tế; khách sạn xác nhận trong app Tendoo.</a:t>
            </a:r>
            <a:endParaRPr lang="en-US" sz="1090" dirty="0"/>
          </a:p>
        </p:txBody>
      </p:sp>
      <p:pic>
        <p:nvPicPr>
          <p:cNvPr id="7" name="image" descr="Minji hỏi tiếp bằng tiếng Hàn; AI gợi ý khách sạn nhỏ gần phố cổ">    </p:cNvPr>
          <p:cNvPicPr>
            <a:picLocks noChangeAspect="1"/>
          </p:cNvPicPr>
          <p:nvPr/>
        </p:nvPicPr>
        <p:blipFill>
          <a:blip r:embed="rId1"/>
          <a:stretch>
            <a:fillRect/>
          </a:stretch>
        </p:blipFill>
        <p:spPr>
          <a:xfrm>
            <a:off x="685800" y="1657052"/>
            <a:ext cx="1676400" cy="3410843"/>
          </a:xfrm>
          <a:prstGeom prst="rect">
            <a:avLst/>
          </a:prstGeom>
        </p:spPr>
      </p:pic>
      <p:sp>
        <p:nvSpPr>
          <p:cNvPr id="8" name="pill grey"/>
          <p:cNvSpPr/>
          <p:nvPr/>
        </p:nvSpPr>
        <p:spPr>
          <a:xfrm>
            <a:off x="985689" y="5148858"/>
            <a:ext cx="1076474" cy="219075"/>
          </a:xfrm>
          <a:prstGeom prst="roundRect">
            <a:avLst>
              <a:gd name="adj" fmla="val 50000"/>
            </a:avLst>
          </a:prstGeom>
          <a:solidFill>
            <a:srgbClr val="F1F5F9"/>
          </a:solidFill>
          <a:ln w="9525">
            <a:solidFill>
              <a:srgbClr val="E2E8F0"/>
            </a:solidFill>
            <a:prstDash val="solid"/>
          </a:ln>
        </p:spPr>
      </p:sp>
      <p:sp>
        <p:nvSpPr>
          <p:cNvPr id="9" name="text pill grey"/>
          <p:cNvSpPr txBox="1"/>
          <p:nvPr/>
        </p:nvSpPr>
        <p:spPr>
          <a:xfrm>
            <a:off x="1095226" y="5178970"/>
            <a:ext cx="971699" cy="158851"/>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Minji</a:t>
            </a:r>
            <a:endParaRPr lang="en-US" sz="860" dirty="0"/>
          </a:p>
        </p:txBody>
      </p:sp>
      <p:sp>
        <p:nvSpPr>
          <p:cNvPr id="10" name="Shape 7"/>
          <p:cNvSpPr/>
          <p:nvPr/>
        </p:nvSpPr>
        <p:spPr>
          <a:xfrm>
            <a:off x="685800" y="5448895"/>
            <a:ext cx="190500" cy="190500"/>
          </a:xfrm>
          <a:prstGeom prst="ellipse">
            <a:avLst/>
          </a:prstGeom>
          <a:solidFill>
            <a:srgbClr val="E11D48"/>
          </a:solidFill>
          <a:ln/>
        </p:spPr>
      </p:sp>
      <p:sp>
        <p:nvSpPr>
          <p:cNvPr id="11" name="text i"/>
          <p:cNvSpPr txBox="1"/>
          <p:nvPr/>
        </p:nvSpPr>
        <p:spPr>
          <a:xfrm>
            <a:off x="757833" y="5462528"/>
            <a:ext cx="16058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1</a:t>
            </a:r>
            <a:endParaRPr lang="en-US" sz="830" dirty="0"/>
          </a:p>
        </p:txBody>
      </p:sp>
      <p:sp>
        <p:nvSpPr>
          <p:cNvPr id="12" name="text span"/>
          <p:cNvSpPr txBox="1"/>
          <p:nvPr/>
        </p:nvSpPr>
        <p:spPr>
          <a:xfrm>
            <a:off x="952500" y="544770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Minji hỏi tiếp bằng tiếng Hàn; AI gợi ý khách sạn nhỏ gần phố cổ</a:t>
            </a:r>
            <a:endParaRPr lang="en-US" sz="940" dirty="0"/>
          </a:p>
        </p:txBody>
      </p:sp>
      <p:pic>
        <p:nvPicPr>
          <p:cNvPr id="13" name="image" descr="Chọn Lantern Garden, ngày ở, số người; thông tin liên hệ được dùng lại">    </p:cNvPr>
          <p:cNvPicPr>
            <a:picLocks noChangeAspect="1"/>
          </p:cNvPicPr>
          <p:nvPr/>
        </p:nvPicPr>
        <p:blipFill>
          <a:blip r:embed="rId2"/>
          <a:stretch>
            <a:fillRect/>
          </a:stretch>
        </p:blipFill>
        <p:spPr>
          <a:xfrm>
            <a:off x="2514600" y="1657052"/>
            <a:ext cx="1676400" cy="3410843"/>
          </a:xfrm>
          <a:prstGeom prst="rect">
            <a:avLst/>
          </a:prstGeom>
        </p:spPr>
      </p:pic>
      <p:sp>
        <p:nvSpPr>
          <p:cNvPr id="14" name="pill grey"/>
          <p:cNvSpPr/>
          <p:nvPr/>
        </p:nvSpPr>
        <p:spPr>
          <a:xfrm>
            <a:off x="2814489" y="5148858"/>
            <a:ext cx="1076474" cy="219075"/>
          </a:xfrm>
          <a:prstGeom prst="roundRect">
            <a:avLst>
              <a:gd name="adj" fmla="val 50000"/>
            </a:avLst>
          </a:prstGeom>
          <a:solidFill>
            <a:srgbClr val="F1F5F9"/>
          </a:solidFill>
          <a:ln w="9525">
            <a:solidFill>
              <a:srgbClr val="E2E8F0"/>
            </a:solidFill>
            <a:prstDash val="solid"/>
          </a:ln>
        </p:spPr>
      </p:sp>
      <p:sp>
        <p:nvSpPr>
          <p:cNvPr id="15" name="text pill grey"/>
          <p:cNvSpPr txBox="1"/>
          <p:nvPr/>
        </p:nvSpPr>
        <p:spPr>
          <a:xfrm>
            <a:off x="2924026" y="5178970"/>
            <a:ext cx="971699" cy="158851"/>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Minji</a:t>
            </a:r>
            <a:endParaRPr lang="en-US" sz="860" dirty="0"/>
          </a:p>
        </p:txBody>
      </p:sp>
      <p:sp>
        <p:nvSpPr>
          <p:cNvPr id="16" name="Shape 12"/>
          <p:cNvSpPr/>
          <p:nvPr/>
        </p:nvSpPr>
        <p:spPr>
          <a:xfrm>
            <a:off x="2514600" y="5448895"/>
            <a:ext cx="190500" cy="190500"/>
          </a:xfrm>
          <a:prstGeom prst="ellipse">
            <a:avLst/>
          </a:prstGeom>
          <a:solidFill>
            <a:srgbClr val="E11D48"/>
          </a:solidFill>
          <a:ln/>
        </p:spPr>
      </p:sp>
      <p:sp>
        <p:nvSpPr>
          <p:cNvPr id="17" name="text i"/>
          <p:cNvSpPr txBox="1"/>
          <p:nvPr/>
        </p:nvSpPr>
        <p:spPr>
          <a:xfrm>
            <a:off x="2576364" y="5462528"/>
            <a:ext cx="18112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2</a:t>
            </a:r>
            <a:endParaRPr lang="en-US" sz="830" dirty="0"/>
          </a:p>
        </p:txBody>
      </p:sp>
      <p:sp>
        <p:nvSpPr>
          <p:cNvPr id="18" name="text span"/>
          <p:cNvSpPr txBox="1"/>
          <p:nvPr/>
        </p:nvSpPr>
        <p:spPr>
          <a:xfrm>
            <a:off x="2781300" y="544770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Chọn Lantern Garden, ngày ở, số người; thông tin liên hệ được dùng lại</a:t>
            </a:r>
            <a:endParaRPr lang="en-US" sz="940" dirty="0"/>
          </a:p>
        </p:txBody>
      </p:sp>
      <p:pic>
        <p:nvPicPr>
          <p:cNvPr id="19" name="image" descr="Trả trước tiền phòng bằng thẻ quốc tế">    </p:cNvPr>
          <p:cNvPicPr>
            <a:picLocks noChangeAspect="1"/>
          </p:cNvPicPr>
          <p:nvPr/>
        </p:nvPicPr>
        <p:blipFill>
          <a:blip r:embed="rId3"/>
          <a:stretch>
            <a:fillRect/>
          </a:stretch>
        </p:blipFill>
        <p:spPr>
          <a:xfrm>
            <a:off x="4343400" y="1657052"/>
            <a:ext cx="1676400" cy="3410843"/>
          </a:xfrm>
          <a:prstGeom prst="rect">
            <a:avLst/>
          </a:prstGeom>
        </p:spPr>
      </p:pic>
      <p:sp>
        <p:nvSpPr>
          <p:cNvPr id="20" name="pill grey"/>
          <p:cNvSpPr/>
          <p:nvPr/>
        </p:nvSpPr>
        <p:spPr>
          <a:xfrm>
            <a:off x="4643289" y="5148858"/>
            <a:ext cx="1076474" cy="219075"/>
          </a:xfrm>
          <a:prstGeom prst="roundRect">
            <a:avLst>
              <a:gd name="adj" fmla="val 50000"/>
            </a:avLst>
          </a:prstGeom>
          <a:solidFill>
            <a:srgbClr val="F1F5F9"/>
          </a:solidFill>
          <a:ln w="9525">
            <a:solidFill>
              <a:srgbClr val="E2E8F0"/>
            </a:solidFill>
            <a:prstDash val="solid"/>
          </a:ln>
        </p:spPr>
      </p:sp>
      <p:sp>
        <p:nvSpPr>
          <p:cNvPr id="21" name="text pill grey"/>
          <p:cNvSpPr txBox="1"/>
          <p:nvPr/>
        </p:nvSpPr>
        <p:spPr>
          <a:xfrm>
            <a:off x="4752826" y="5178970"/>
            <a:ext cx="971699" cy="158851"/>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Minji</a:t>
            </a:r>
            <a:endParaRPr lang="en-US" sz="860" dirty="0"/>
          </a:p>
        </p:txBody>
      </p:sp>
      <p:sp>
        <p:nvSpPr>
          <p:cNvPr id="22" name="Shape 17"/>
          <p:cNvSpPr/>
          <p:nvPr/>
        </p:nvSpPr>
        <p:spPr>
          <a:xfrm>
            <a:off x="4343400" y="5448895"/>
            <a:ext cx="190500" cy="190500"/>
          </a:xfrm>
          <a:prstGeom prst="ellipse">
            <a:avLst/>
          </a:prstGeom>
          <a:solidFill>
            <a:srgbClr val="E11D48"/>
          </a:solidFill>
          <a:ln/>
        </p:spPr>
      </p:sp>
      <p:sp>
        <p:nvSpPr>
          <p:cNvPr id="23" name="text i"/>
          <p:cNvSpPr txBox="1"/>
          <p:nvPr/>
        </p:nvSpPr>
        <p:spPr>
          <a:xfrm>
            <a:off x="4404122" y="5462528"/>
            <a:ext cx="183207"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3</a:t>
            </a:r>
            <a:endParaRPr lang="en-US" sz="830" dirty="0"/>
          </a:p>
        </p:txBody>
      </p:sp>
      <p:sp>
        <p:nvSpPr>
          <p:cNvPr id="24" name="text span"/>
          <p:cNvSpPr txBox="1"/>
          <p:nvPr/>
        </p:nvSpPr>
        <p:spPr>
          <a:xfrm>
            <a:off x="4610100" y="5447705"/>
            <a:ext cx="14478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Trả trước tiền phòng bằng thẻ quốc tế</a:t>
            </a:r>
            <a:endParaRPr lang="en-US" sz="940" dirty="0"/>
          </a:p>
        </p:txBody>
      </p:sp>
      <p:pic>
        <p:nvPicPr>
          <p:cNvPr id="25" name="image" descr="Khách sạn nhận lượt đặt đã trả trước ngay trong Tendoo">    </p:cNvPr>
          <p:cNvPicPr>
            <a:picLocks noChangeAspect="1"/>
          </p:cNvPicPr>
          <p:nvPr/>
        </p:nvPicPr>
        <p:blipFill>
          <a:blip r:embed="rId4"/>
          <a:stretch>
            <a:fillRect/>
          </a:stretch>
        </p:blipFill>
        <p:spPr>
          <a:xfrm>
            <a:off x="6172200" y="1657052"/>
            <a:ext cx="1676400" cy="3410843"/>
          </a:xfrm>
          <a:prstGeom prst="rect">
            <a:avLst/>
          </a:prstGeom>
        </p:spPr>
      </p:pic>
      <p:sp>
        <p:nvSpPr>
          <p:cNvPr id="26" name="pill red"/>
          <p:cNvSpPr/>
          <p:nvPr/>
        </p:nvSpPr>
        <p:spPr>
          <a:xfrm>
            <a:off x="6285756" y="5148858"/>
            <a:ext cx="1449139" cy="219075"/>
          </a:xfrm>
          <a:prstGeom prst="roundRect">
            <a:avLst>
              <a:gd name="adj" fmla="val 50000"/>
            </a:avLst>
          </a:prstGeom>
          <a:solidFill>
            <a:srgbClr val="FFE4E6"/>
          </a:solidFill>
          <a:ln w="9525">
            <a:solidFill>
              <a:srgbClr val="FECDD3"/>
            </a:solidFill>
            <a:prstDash val="solid"/>
          </a:ln>
        </p:spPr>
      </p:sp>
      <p:sp>
        <p:nvSpPr>
          <p:cNvPr id="27" name="text pill red"/>
          <p:cNvSpPr txBox="1"/>
          <p:nvPr/>
        </p:nvSpPr>
        <p:spPr>
          <a:xfrm>
            <a:off x="6395293" y="5178908"/>
            <a:ext cx="1344364" cy="158975"/>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Tendoo của khách sạn</a:t>
            </a:r>
            <a:endParaRPr lang="en-US" sz="860" dirty="0"/>
          </a:p>
        </p:txBody>
      </p:sp>
      <p:sp>
        <p:nvSpPr>
          <p:cNvPr id="28" name="Shape 22"/>
          <p:cNvSpPr/>
          <p:nvPr/>
        </p:nvSpPr>
        <p:spPr>
          <a:xfrm>
            <a:off x="6172200" y="5448895"/>
            <a:ext cx="190500" cy="190500"/>
          </a:xfrm>
          <a:prstGeom prst="ellipse">
            <a:avLst/>
          </a:prstGeom>
          <a:solidFill>
            <a:srgbClr val="E11D48"/>
          </a:solidFill>
          <a:ln/>
        </p:spPr>
      </p:sp>
      <p:sp>
        <p:nvSpPr>
          <p:cNvPr id="29" name="text i"/>
          <p:cNvSpPr txBox="1"/>
          <p:nvPr/>
        </p:nvSpPr>
        <p:spPr>
          <a:xfrm>
            <a:off x="6231285" y="5462528"/>
            <a:ext cx="186482"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4</a:t>
            </a:r>
            <a:endParaRPr lang="en-US" sz="830" dirty="0"/>
          </a:p>
        </p:txBody>
      </p:sp>
      <p:sp>
        <p:nvSpPr>
          <p:cNvPr id="30" name="text span"/>
          <p:cNvSpPr txBox="1"/>
          <p:nvPr/>
        </p:nvSpPr>
        <p:spPr>
          <a:xfrm>
            <a:off x="6438900" y="544770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Khách sạn nhận lượt đặt đã trả trước ngay trong Tendoo</a:t>
            </a:r>
            <a:endParaRPr lang="en-US" sz="940" dirty="0"/>
          </a:p>
        </p:txBody>
      </p:sp>
      <p:pic>
        <p:nvPicPr>
          <p:cNvPr id="31" name="image" descr="Khách sạn bấm Xác nhận">    </p:cNvPr>
          <p:cNvPicPr>
            <a:picLocks noChangeAspect="1"/>
          </p:cNvPicPr>
          <p:nvPr/>
        </p:nvPicPr>
        <p:blipFill>
          <a:blip r:embed="rId5"/>
          <a:stretch>
            <a:fillRect/>
          </a:stretch>
        </p:blipFill>
        <p:spPr>
          <a:xfrm>
            <a:off x="8001000" y="1657052"/>
            <a:ext cx="1676400" cy="3410843"/>
          </a:xfrm>
          <a:prstGeom prst="rect">
            <a:avLst/>
          </a:prstGeom>
        </p:spPr>
      </p:pic>
      <p:sp>
        <p:nvSpPr>
          <p:cNvPr id="32" name="pill red"/>
          <p:cNvSpPr/>
          <p:nvPr/>
        </p:nvSpPr>
        <p:spPr>
          <a:xfrm>
            <a:off x="8114556" y="5148858"/>
            <a:ext cx="1449139" cy="219075"/>
          </a:xfrm>
          <a:prstGeom prst="roundRect">
            <a:avLst>
              <a:gd name="adj" fmla="val 50000"/>
            </a:avLst>
          </a:prstGeom>
          <a:solidFill>
            <a:srgbClr val="FFE4E6"/>
          </a:solidFill>
          <a:ln w="9525">
            <a:solidFill>
              <a:srgbClr val="FECDD3"/>
            </a:solidFill>
            <a:prstDash val="solid"/>
          </a:ln>
        </p:spPr>
      </p:sp>
      <p:sp>
        <p:nvSpPr>
          <p:cNvPr id="33" name="text pill red"/>
          <p:cNvSpPr txBox="1"/>
          <p:nvPr/>
        </p:nvSpPr>
        <p:spPr>
          <a:xfrm>
            <a:off x="8224093" y="5178908"/>
            <a:ext cx="1344364" cy="158975"/>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Tendoo của khách sạn</a:t>
            </a:r>
            <a:endParaRPr lang="en-US" sz="860" dirty="0"/>
          </a:p>
        </p:txBody>
      </p:sp>
      <p:sp>
        <p:nvSpPr>
          <p:cNvPr id="34" name="Shape 27"/>
          <p:cNvSpPr/>
          <p:nvPr/>
        </p:nvSpPr>
        <p:spPr>
          <a:xfrm>
            <a:off x="8001000" y="5448895"/>
            <a:ext cx="190500" cy="190500"/>
          </a:xfrm>
          <a:prstGeom prst="ellipse">
            <a:avLst/>
          </a:prstGeom>
          <a:solidFill>
            <a:srgbClr val="E11D48"/>
          </a:solidFill>
          <a:ln/>
        </p:spPr>
      </p:sp>
      <p:sp>
        <p:nvSpPr>
          <p:cNvPr id="35" name="text i"/>
          <p:cNvSpPr txBox="1"/>
          <p:nvPr/>
        </p:nvSpPr>
        <p:spPr>
          <a:xfrm>
            <a:off x="8062912" y="5462528"/>
            <a:ext cx="18082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5</a:t>
            </a:r>
            <a:endParaRPr lang="en-US" sz="830" dirty="0"/>
          </a:p>
        </p:txBody>
      </p:sp>
      <p:sp>
        <p:nvSpPr>
          <p:cNvPr id="36" name="text span"/>
          <p:cNvSpPr txBox="1"/>
          <p:nvPr/>
        </p:nvSpPr>
        <p:spPr>
          <a:xfrm>
            <a:off x="8267700" y="5447705"/>
            <a:ext cx="14478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Khách sạn bấm Xác nhận</a:t>
            </a:r>
            <a:endParaRPr lang="en-US" sz="940" dirty="0"/>
          </a:p>
        </p:txBody>
      </p:sp>
      <p:pic>
        <p:nvPicPr>
          <p:cNvPr id="37" name="image" descr="Minji có phòng ở Hội An cho ngày mai">    </p:cNvPr>
          <p:cNvPicPr>
            <a:picLocks noChangeAspect="1"/>
          </p:cNvPicPr>
          <p:nvPr/>
        </p:nvPicPr>
        <p:blipFill>
          <a:blip r:embed="rId6"/>
          <a:stretch>
            <a:fillRect/>
          </a:stretch>
        </p:blipFill>
        <p:spPr>
          <a:xfrm>
            <a:off x="9829800" y="1657052"/>
            <a:ext cx="1676400" cy="3410843"/>
          </a:xfrm>
          <a:prstGeom prst="rect">
            <a:avLst/>
          </a:prstGeom>
        </p:spPr>
      </p:pic>
      <p:sp>
        <p:nvSpPr>
          <p:cNvPr id="38" name="pill grey"/>
          <p:cNvSpPr/>
          <p:nvPr/>
        </p:nvSpPr>
        <p:spPr>
          <a:xfrm>
            <a:off x="10129689" y="5148858"/>
            <a:ext cx="1076474" cy="219075"/>
          </a:xfrm>
          <a:prstGeom prst="roundRect">
            <a:avLst>
              <a:gd name="adj" fmla="val 50000"/>
            </a:avLst>
          </a:prstGeom>
          <a:solidFill>
            <a:srgbClr val="F1F5F9"/>
          </a:solidFill>
          <a:ln w="9525">
            <a:solidFill>
              <a:srgbClr val="E2E8F0"/>
            </a:solidFill>
            <a:prstDash val="solid"/>
          </a:ln>
        </p:spPr>
      </p:sp>
      <p:sp>
        <p:nvSpPr>
          <p:cNvPr id="39" name="text pill grey"/>
          <p:cNvSpPr txBox="1"/>
          <p:nvPr/>
        </p:nvSpPr>
        <p:spPr>
          <a:xfrm>
            <a:off x="10239226" y="5178970"/>
            <a:ext cx="971699" cy="158851"/>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Minji</a:t>
            </a:r>
            <a:endParaRPr lang="en-US" sz="860" dirty="0"/>
          </a:p>
        </p:txBody>
      </p:sp>
      <p:sp>
        <p:nvSpPr>
          <p:cNvPr id="40" name="Shape 32"/>
          <p:cNvSpPr/>
          <p:nvPr/>
        </p:nvSpPr>
        <p:spPr>
          <a:xfrm>
            <a:off x="9829800" y="5448895"/>
            <a:ext cx="190500" cy="190500"/>
          </a:xfrm>
          <a:prstGeom prst="ellipse">
            <a:avLst/>
          </a:prstGeom>
          <a:solidFill>
            <a:srgbClr val="E11D48"/>
          </a:solidFill>
          <a:ln/>
        </p:spPr>
      </p:sp>
      <p:sp>
        <p:nvSpPr>
          <p:cNvPr id="41" name="text i"/>
          <p:cNvSpPr txBox="1"/>
          <p:nvPr/>
        </p:nvSpPr>
        <p:spPr>
          <a:xfrm>
            <a:off x="9890373" y="5462528"/>
            <a:ext cx="18365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6</a:t>
            </a:r>
            <a:endParaRPr lang="en-US" sz="830" dirty="0"/>
          </a:p>
        </p:txBody>
      </p:sp>
      <p:sp>
        <p:nvSpPr>
          <p:cNvPr id="42" name="text span"/>
          <p:cNvSpPr txBox="1"/>
          <p:nvPr/>
        </p:nvSpPr>
        <p:spPr>
          <a:xfrm>
            <a:off x="10096500" y="5447705"/>
            <a:ext cx="1447800" cy="328613"/>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Minji có phòng ở Hội An cho ngày mai</a:t>
            </a:r>
            <a:endParaRPr lang="en-US" sz="940" dirty="0"/>
          </a:p>
        </p:txBody>
      </p:sp>
      <p:sp>
        <p:nvSpPr>
          <p:cNvPr id="43" name="text source"/>
          <p:cNvSpPr txBox="1"/>
          <p:nvPr/>
        </p:nvSpPr>
        <p:spPr>
          <a:xfrm>
            <a:off x="609600" y="6492601"/>
            <a:ext cx="7589255" cy="151857"/>
          </a:xfrm>
          <a:prstGeom prst="rect">
            <a:avLst/>
          </a:prstGeom>
          <a:noFill/>
          <a:ln/>
        </p:spPr>
        <p:txBody>
          <a:bodyPr wrap="none" lIns="0" tIns="0" rIns="0" bIns="0" rtlCol="0" anchor="ctr"/>
          <a:lstStyle/>
          <a:p>
            <a:pPr algn="l" indent="0" marL="0">
              <a:buNone/>
            </a:pPr>
            <a:r>
              <a:rPr lang="en-US" sz="820" dirty="0">
                <a:solidFill>
                  <a:srgbClr val="94A3B8"/>
                </a:solidFill>
                <a:latin typeface="Segoe UI Semibold" pitchFamily="34" charset="0"/>
                <a:ea typeface="Segoe UI Semibold" pitchFamily="34" charset="-122"/>
                <a:cs typeface="Segoe UI Semibold" pitchFamily="34" charset="-120"/>
              </a:rPr>
              <a:t>Minh họa. Minji, các quán và khách sạn trong demo đều là giả định. Dòng chữ nghiêng nhỏ trên màn hình là bản dịch tiếng Việt cho người xem.</a:t>
            </a:r>
            <a:endParaRPr lang="en-US" sz="820" dirty="0"/>
          </a:p>
        </p:txBody>
      </p:sp>
      <p:sp>
        <p:nvSpPr>
          <p:cNvPr id="44" name="mk"/>
          <p:cNvSpPr/>
          <p:nvPr/>
        </p:nvSpPr>
        <p:spPr>
          <a:xfrm>
            <a:off x="10796588" y="6343650"/>
            <a:ext cx="323850" cy="323850"/>
          </a:xfrm>
          <a:prstGeom prst="ellipse">
            <a:avLst/>
          </a:prstGeom>
          <a:solidFill>
            <a:srgbClr val="F0001E"/>
          </a:solidFill>
          <a:ln/>
        </p:spPr>
      </p:sp>
      <p:sp>
        <p:nvSpPr>
          <p:cNvPr id="45" name="Shape 37"/>
          <p:cNvSpPr/>
          <p:nvPr/>
        </p:nvSpPr>
        <p:spPr>
          <a:xfrm>
            <a:off x="10910888" y="6424613"/>
            <a:ext cx="95250" cy="161925"/>
          </a:xfrm>
          <a:prstGeom prst="roundRect">
            <a:avLst>
              <a:gd name="adj" fmla="val 25000"/>
            </a:avLst>
          </a:prstGeom>
          <a:ln w="19050">
            <a:solidFill>
              <a:srgbClr val="FFFFFF"/>
            </a:solidFill>
            <a:prstDash val="solid"/>
          </a:ln>
        </p:spPr>
      </p:sp>
      <p:sp>
        <p:nvSpPr>
          <p:cNvPr id="46"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47"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48" name="text pno"/>
          <p:cNvSpPr txBox="1"/>
          <p:nvPr/>
        </p:nvSpPr>
        <p:spPr>
          <a:xfrm>
            <a:off x="10500420" y="6420049"/>
            <a:ext cx="262830" cy="161527"/>
          </a:xfrm>
          <a:prstGeom prst="rect">
            <a:avLst/>
          </a:prstGeom>
          <a:noFill/>
          <a:ln/>
        </p:spPr>
        <p:txBody>
          <a:bodyPr wrap="none" lIns="0" tIns="0" rIns="0" bIns="0" rtlCol="0" anchor="ctr"/>
          <a:lstStyle/>
          <a:p>
            <a:pPr algn="l" indent="0" marL="0">
              <a:buNone/>
            </a:pPr>
            <a:r>
              <a:rPr lang="en-US" sz="880" b="1" dirty="0">
                <a:solidFill>
                  <a:srgbClr val="CBD5E1"/>
                </a:solidFill>
                <a:latin typeface="Segoe UI" pitchFamily="34" charset="0"/>
                <a:ea typeface="Segoe UI" pitchFamily="34" charset="-122"/>
                <a:cs typeface="Segoe UI" pitchFamily="34" charset="-120"/>
              </a:rPr>
              <a:t>29</a:t>
            </a:r>
            <a:endParaRPr lang="en-US" sz="8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apx"/>
          <p:cNvSpPr/>
          <p:nvPr/>
        </p:nvSpPr>
        <p:spPr>
          <a:xfrm>
            <a:off x="10786914" y="323850"/>
            <a:ext cx="795486" cy="247650"/>
          </a:xfrm>
          <a:prstGeom prst="roundRect">
            <a:avLst>
              <a:gd name="adj" fmla="val 50000"/>
            </a:avLst>
          </a:prstGeom>
          <a:solidFill>
            <a:srgbClr val="E5E7EB"/>
          </a:solidFill>
          <a:ln/>
        </p:spPr>
      </p:sp>
      <p:sp>
        <p:nvSpPr>
          <p:cNvPr id="3" name="text apx"/>
          <p:cNvSpPr txBox="1"/>
          <p:nvPr/>
        </p:nvSpPr>
        <p:spPr>
          <a:xfrm>
            <a:off x="10958364" y="358420"/>
            <a:ext cx="566886" cy="178511"/>
          </a:xfrm>
          <a:prstGeom prst="rect">
            <a:avLst/>
          </a:prstGeom>
          <a:noFill/>
          <a:ln/>
        </p:spPr>
        <p:txBody>
          <a:bodyPr wrap="none" lIns="0" tIns="0" rIns="0" bIns="0" rtlCol="0" anchor="ctr"/>
          <a:lstStyle/>
          <a:p>
            <a:pPr algn="l" indent="0" marL="0">
              <a:buNone/>
            </a:pPr>
            <a:r>
              <a:rPr lang="en-US" sz="970" b="1" dirty="0">
                <a:solidFill>
                  <a:srgbClr val="4B5563"/>
                </a:solidFill>
                <a:latin typeface="Segoe UI" pitchFamily="34" charset="0"/>
                <a:ea typeface="Segoe UI" pitchFamily="34" charset="-122"/>
                <a:cs typeface="Segoe UI" pitchFamily="34" charset="-120"/>
              </a:rPr>
              <a:t>Phụ lục</a:t>
            </a:r>
            <a:endParaRPr lang="en-US" sz="970" dirty="0"/>
          </a:p>
        </p:txBody>
      </p:sp>
      <p:sp>
        <p:nvSpPr>
          <p:cNvPr id="4" name="text eyebrow"/>
          <p:cNvSpPr txBox="1"/>
          <p:nvPr/>
        </p:nvSpPr>
        <p:spPr>
          <a:xfrm>
            <a:off x="609600" y="384334"/>
            <a:ext cx="4381565"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PHỤ LỤC · MÀN HÌNH DEMO AI TƯ VẤN DU LỊCH · ⑤ KẾT QUẢ</a:t>
            </a:r>
            <a:endParaRPr lang="en-US" sz="1050" dirty="0"/>
          </a:p>
        </p:txBody>
      </p:sp>
      <p:sp>
        <p:nvSpPr>
          <p:cNvPr id="5" name="text title sm"/>
          <p:cNvSpPr txBox="1"/>
          <p:nvPr/>
        </p:nvSpPr>
        <p:spPr>
          <a:xfrm>
            <a:off x="609600" y="580311"/>
            <a:ext cx="4926619" cy="372904"/>
          </a:xfrm>
          <a:prstGeom prst="rect">
            <a:avLst/>
          </a:prstGeom>
          <a:noFill/>
          <a:ln/>
        </p:spPr>
        <p:txBody>
          <a:bodyPr wrap="none" lIns="0" tIns="0" rIns="0" bIns="0" rtlCol="0" anchor="ctr"/>
          <a:lstStyle/>
          <a:p>
            <a:pPr algn="l" indent="0" marL="0">
              <a:buNone/>
            </a:pPr>
            <a:r>
              <a:rPr lang="en-US" sz="2030" b="1" spc="-30" kern="0" dirty="0">
                <a:solidFill>
                  <a:srgbClr val="0F172A"/>
                </a:solidFill>
                <a:latin typeface="Segoe UI" pitchFamily="34" charset="0"/>
                <a:ea typeface="Segoe UI" pitchFamily="34" charset="-122"/>
                <a:cs typeface="Segoe UI" pitchFamily="34" charset="-120"/>
              </a:rPr>
              <a:t>Ra khỏi sân bay, </a:t>
            </a:r>
            <a:pPr algn="l" indent="0" marL="0">
              <a:buNone/>
            </a:pPr>
            <a:r>
              <a:rPr lang="en-US" sz="2030" b="1" spc="-30" kern="0" dirty="0">
                <a:solidFill>
                  <a:srgbClr val="E11D48"/>
                </a:solidFill>
                <a:latin typeface="Segoe UI" pitchFamily="34" charset="0"/>
                <a:ea typeface="Segoe UI" pitchFamily="34" charset="-122"/>
                <a:cs typeface="Segoe UI" pitchFamily="34" charset="-120"/>
              </a:rPr>
              <a:t>đã có chỗ ăn và chỗ ở</a:t>
            </a:r>
            <a:endParaRPr lang="en-US" sz="2030" dirty="0"/>
          </a:p>
        </p:txBody>
      </p:sp>
      <p:sp>
        <p:nvSpPr>
          <p:cNvPr id="6" name="text persona"/>
          <p:cNvSpPr txBox="1"/>
          <p:nvPr/>
        </p:nvSpPr>
        <p:spPr>
          <a:xfrm>
            <a:off x="609600" y="1123191"/>
            <a:ext cx="10134600" cy="400526"/>
          </a:xfrm>
          <a:prstGeom prst="rect">
            <a:avLst/>
          </a:prstGeom>
          <a:noFill/>
          <a:ln/>
        </p:spPr>
        <p:txBody>
          <a:bodyPr wrap="square" lIns="0" tIns="0" rIns="0" bIns="0" rtlCol="0" anchor="ctr"/>
          <a:lstStyle/>
          <a:p>
            <a:pPr algn="l" indent="0" marL="0">
              <a:lnSpc>
                <a:spcPts val="1580"/>
              </a:lnSpc>
              <a:buNone/>
            </a:pPr>
            <a:r>
              <a:rPr lang="en-US" sz="1090" dirty="0">
                <a:solidFill>
                  <a:srgbClr val="334155"/>
                </a:solidFill>
                <a:latin typeface="Segoe UI Semibold" pitchFamily="34" charset="0"/>
                <a:ea typeface="Segoe UI Semibold" pitchFamily="34" charset="-122"/>
                <a:cs typeface="Segoe UI Semibold" pitchFamily="34" charset="-120"/>
              </a:rPr>
              <a:t>Từ lúc hạ cánh đến lúc ra khỏi sân bay, Minji đã đặt xong chỗ ăn tối và chỗ ở Hội An, tại các merchant vừa và nhỏ. Quán và khách sạn có thêm khách nhờ AI giới thiệu.</a:t>
            </a:r>
            <a:endParaRPr lang="en-US" sz="1090" dirty="0"/>
          </a:p>
        </p:txBody>
      </p:sp>
      <p:pic>
        <p:nvPicPr>
          <p:cNvPr id="7" name="image" descr="Chuyến đi của Minji: chỗ ăn, lịch trình, chỗ ở, xong trong 15 phút">    </p:cNvPr>
          <p:cNvPicPr>
            <a:picLocks noChangeAspect="1"/>
          </p:cNvPicPr>
          <p:nvPr/>
        </p:nvPicPr>
        <p:blipFill>
          <a:blip r:embed="rId1"/>
          <a:stretch>
            <a:fillRect/>
          </a:stretch>
        </p:blipFill>
        <p:spPr>
          <a:xfrm>
            <a:off x="4152900" y="1657052"/>
            <a:ext cx="1676400" cy="3410843"/>
          </a:xfrm>
          <a:prstGeom prst="rect">
            <a:avLst/>
          </a:prstGeom>
        </p:spPr>
      </p:pic>
      <p:sp>
        <p:nvSpPr>
          <p:cNvPr id="8" name="pill grey"/>
          <p:cNvSpPr/>
          <p:nvPr/>
        </p:nvSpPr>
        <p:spPr>
          <a:xfrm>
            <a:off x="4452789" y="5148858"/>
            <a:ext cx="1076474" cy="219075"/>
          </a:xfrm>
          <a:prstGeom prst="roundRect">
            <a:avLst>
              <a:gd name="adj" fmla="val 50000"/>
            </a:avLst>
          </a:prstGeom>
          <a:solidFill>
            <a:srgbClr val="F1F5F9"/>
          </a:solidFill>
          <a:ln w="9525">
            <a:solidFill>
              <a:srgbClr val="E2E8F0"/>
            </a:solidFill>
            <a:prstDash val="solid"/>
          </a:ln>
        </p:spPr>
      </p:sp>
      <p:sp>
        <p:nvSpPr>
          <p:cNvPr id="9" name="text pill grey"/>
          <p:cNvSpPr txBox="1"/>
          <p:nvPr/>
        </p:nvSpPr>
        <p:spPr>
          <a:xfrm>
            <a:off x="4562326" y="5178970"/>
            <a:ext cx="971699" cy="158851"/>
          </a:xfrm>
          <a:prstGeom prst="rect">
            <a:avLst/>
          </a:prstGeom>
          <a:noFill/>
          <a:ln/>
        </p:spPr>
        <p:txBody>
          <a:bodyPr wrap="none" lIns="0" tIns="0" rIns="0" bIns="0" rtlCol="0" anchor="ctr"/>
          <a:lstStyle/>
          <a:p>
            <a:pPr algn="l" indent="0" marL="0">
              <a:buNone/>
            </a:pPr>
            <a:r>
              <a:rPr lang="en-US" sz="860" b="1" spc="10" kern="0" dirty="0">
                <a:solidFill>
                  <a:srgbClr val="475569"/>
                </a:solidFill>
                <a:latin typeface="Segoe UI" pitchFamily="34" charset="0"/>
                <a:ea typeface="Segoe UI" pitchFamily="34" charset="-122"/>
                <a:cs typeface="Segoe UI" pitchFamily="34" charset="-120"/>
              </a:rPr>
              <a:t>Điện thoại Minji</a:t>
            </a:r>
            <a:endParaRPr lang="en-US" sz="860" dirty="0"/>
          </a:p>
        </p:txBody>
      </p:sp>
      <p:sp>
        <p:nvSpPr>
          <p:cNvPr id="10" name="Shape 7"/>
          <p:cNvSpPr/>
          <p:nvPr/>
        </p:nvSpPr>
        <p:spPr>
          <a:xfrm>
            <a:off x="4152900" y="5448895"/>
            <a:ext cx="190500" cy="190500"/>
          </a:xfrm>
          <a:prstGeom prst="ellipse">
            <a:avLst/>
          </a:prstGeom>
          <a:solidFill>
            <a:srgbClr val="E11D48"/>
          </a:solidFill>
          <a:ln/>
        </p:spPr>
      </p:sp>
      <p:sp>
        <p:nvSpPr>
          <p:cNvPr id="11" name="text i"/>
          <p:cNvSpPr txBox="1"/>
          <p:nvPr/>
        </p:nvSpPr>
        <p:spPr>
          <a:xfrm>
            <a:off x="4224933" y="5462528"/>
            <a:ext cx="160586"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1</a:t>
            </a:r>
            <a:endParaRPr lang="en-US" sz="830" dirty="0"/>
          </a:p>
        </p:txBody>
      </p:sp>
      <p:sp>
        <p:nvSpPr>
          <p:cNvPr id="12" name="text span"/>
          <p:cNvSpPr txBox="1"/>
          <p:nvPr/>
        </p:nvSpPr>
        <p:spPr>
          <a:xfrm>
            <a:off x="4419600" y="544770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Chuyến đi của Minji: chỗ ăn, lịch trình, chỗ ở, xong trong 15 phút</a:t>
            </a:r>
            <a:endParaRPr lang="en-US" sz="940" dirty="0"/>
          </a:p>
        </p:txBody>
      </p:sp>
      <p:pic>
        <p:nvPicPr>
          <p:cNvPr id="13" name="image" descr="Quán và khách sạn có thêm khách nhờ AI giới thiệu">    </p:cNvPr>
          <p:cNvPicPr>
            <a:picLocks noChangeAspect="1"/>
          </p:cNvPicPr>
          <p:nvPr/>
        </p:nvPicPr>
        <p:blipFill>
          <a:blip r:embed="rId2"/>
          <a:stretch>
            <a:fillRect/>
          </a:stretch>
        </p:blipFill>
        <p:spPr>
          <a:xfrm>
            <a:off x="6362700" y="1657052"/>
            <a:ext cx="1676400" cy="3410843"/>
          </a:xfrm>
          <a:prstGeom prst="rect">
            <a:avLst/>
          </a:prstGeom>
        </p:spPr>
      </p:pic>
      <p:sp>
        <p:nvSpPr>
          <p:cNvPr id="14" name="pill red"/>
          <p:cNvSpPr/>
          <p:nvPr/>
        </p:nvSpPr>
        <p:spPr>
          <a:xfrm>
            <a:off x="6493669" y="5148858"/>
            <a:ext cx="1414462" cy="219075"/>
          </a:xfrm>
          <a:prstGeom prst="roundRect">
            <a:avLst>
              <a:gd name="adj" fmla="val 50000"/>
            </a:avLst>
          </a:prstGeom>
          <a:solidFill>
            <a:srgbClr val="FFE4E6"/>
          </a:solidFill>
          <a:ln w="9525">
            <a:solidFill>
              <a:srgbClr val="FECDD3"/>
            </a:solidFill>
            <a:prstDash val="solid"/>
          </a:ln>
        </p:spPr>
      </p:sp>
      <p:sp>
        <p:nvSpPr>
          <p:cNvPr id="15" name="text pill red"/>
          <p:cNvSpPr txBox="1"/>
          <p:nvPr/>
        </p:nvSpPr>
        <p:spPr>
          <a:xfrm>
            <a:off x="6603206" y="5179245"/>
            <a:ext cx="1309687" cy="158300"/>
          </a:xfrm>
          <a:prstGeom prst="rect">
            <a:avLst/>
          </a:prstGeom>
          <a:noFill/>
          <a:ln/>
        </p:spPr>
        <p:txBody>
          <a:bodyPr wrap="none" lIns="0" tIns="0" rIns="0" bIns="0" rtlCol="0" anchor="ctr"/>
          <a:lstStyle/>
          <a:p>
            <a:pPr algn="l" indent="0" marL="0">
              <a:buNone/>
            </a:pPr>
            <a:r>
              <a:rPr lang="en-US" sz="860" b="1" spc="10" kern="0" dirty="0">
                <a:solidFill>
                  <a:srgbClr val="E11D48"/>
                </a:solidFill>
                <a:latin typeface="Segoe UI" pitchFamily="34" charset="0"/>
                <a:ea typeface="Segoe UI" pitchFamily="34" charset="-122"/>
                <a:cs typeface="Segoe UI" pitchFamily="34" charset="-120"/>
              </a:rPr>
              <a:t>Tendoo của merchant</a:t>
            </a:r>
            <a:endParaRPr lang="en-US" sz="860" dirty="0"/>
          </a:p>
        </p:txBody>
      </p:sp>
      <p:sp>
        <p:nvSpPr>
          <p:cNvPr id="16" name="Shape 12"/>
          <p:cNvSpPr/>
          <p:nvPr/>
        </p:nvSpPr>
        <p:spPr>
          <a:xfrm>
            <a:off x="6362700" y="5448895"/>
            <a:ext cx="190500" cy="190500"/>
          </a:xfrm>
          <a:prstGeom prst="ellipse">
            <a:avLst/>
          </a:prstGeom>
          <a:solidFill>
            <a:srgbClr val="E11D48"/>
          </a:solidFill>
          <a:ln/>
        </p:spPr>
      </p:sp>
      <p:sp>
        <p:nvSpPr>
          <p:cNvPr id="17" name="text i"/>
          <p:cNvSpPr txBox="1"/>
          <p:nvPr/>
        </p:nvSpPr>
        <p:spPr>
          <a:xfrm>
            <a:off x="6424464" y="5462528"/>
            <a:ext cx="181124" cy="151924"/>
          </a:xfrm>
          <a:prstGeom prst="rect">
            <a:avLst/>
          </a:prstGeom>
          <a:noFill/>
          <a:ln/>
        </p:spPr>
        <p:txBody>
          <a:bodyPr wrap="none" lIns="0" tIns="0" rIns="0" bIns="0" rtlCol="0" anchor="ctr"/>
          <a:lstStyle/>
          <a:p>
            <a:pPr algn="l" indent="0" marL="0">
              <a:buNone/>
            </a:pPr>
            <a:r>
              <a:rPr lang="en-US" sz="830" b="1" dirty="0">
                <a:solidFill>
                  <a:srgbClr val="FFFFFF"/>
                </a:solidFill>
                <a:latin typeface="Segoe UI" pitchFamily="34" charset="0"/>
                <a:ea typeface="Segoe UI" pitchFamily="34" charset="-122"/>
                <a:cs typeface="Segoe UI" pitchFamily="34" charset="-120"/>
              </a:rPr>
              <a:t>2</a:t>
            </a:r>
            <a:endParaRPr lang="en-US" sz="830" dirty="0"/>
          </a:p>
        </p:txBody>
      </p:sp>
      <p:sp>
        <p:nvSpPr>
          <p:cNvPr id="18" name="text span"/>
          <p:cNvSpPr txBox="1"/>
          <p:nvPr/>
        </p:nvSpPr>
        <p:spPr>
          <a:xfrm>
            <a:off x="6629400" y="5447705"/>
            <a:ext cx="1447800" cy="492919"/>
          </a:xfrm>
          <a:prstGeom prst="rect">
            <a:avLst/>
          </a:prstGeom>
          <a:noFill/>
          <a:ln/>
        </p:spPr>
        <p:txBody>
          <a:bodyPr wrap="square" lIns="0" tIns="0" rIns="0" bIns="0" rtlCol="0" anchor="ctr"/>
          <a:lstStyle/>
          <a:p>
            <a:pPr algn="l" indent="0" marL="0">
              <a:lnSpc>
                <a:spcPts val="1290"/>
              </a:lnSpc>
              <a:buNone/>
            </a:pPr>
            <a:r>
              <a:rPr lang="en-US" sz="940" dirty="0">
                <a:solidFill>
                  <a:srgbClr val="334155"/>
                </a:solidFill>
                <a:latin typeface="Segoe UI Semibold" pitchFamily="34" charset="0"/>
                <a:ea typeface="Segoe UI Semibold" pitchFamily="34" charset="-122"/>
                <a:cs typeface="Segoe UI Semibold" pitchFamily="34" charset="-120"/>
              </a:rPr>
              <a:t>Quán và khách sạn có thêm khách nhờ AI giới thiệu</a:t>
            </a:r>
            <a:endParaRPr lang="en-US" sz="940" dirty="0"/>
          </a:p>
        </p:txBody>
      </p:sp>
      <p:sp>
        <p:nvSpPr>
          <p:cNvPr id="19" name="text source"/>
          <p:cNvSpPr txBox="1"/>
          <p:nvPr/>
        </p:nvSpPr>
        <p:spPr>
          <a:xfrm>
            <a:off x="609600" y="6492601"/>
            <a:ext cx="7589255" cy="151857"/>
          </a:xfrm>
          <a:prstGeom prst="rect">
            <a:avLst/>
          </a:prstGeom>
          <a:noFill/>
          <a:ln/>
        </p:spPr>
        <p:txBody>
          <a:bodyPr wrap="none" lIns="0" tIns="0" rIns="0" bIns="0" rtlCol="0" anchor="ctr"/>
          <a:lstStyle/>
          <a:p>
            <a:pPr algn="l" indent="0" marL="0">
              <a:buNone/>
            </a:pPr>
            <a:r>
              <a:rPr lang="en-US" sz="820" dirty="0">
                <a:solidFill>
                  <a:srgbClr val="94A3B8"/>
                </a:solidFill>
                <a:latin typeface="Segoe UI Semibold" pitchFamily="34" charset="0"/>
                <a:ea typeface="Segoe UI Semibold" pitchFamily="34" charset="-122"/>
                <a:cs typeface="Segoe UI Semibold" pitchFamily="34" charset="-120"/>
              </a:rPr>
              <a:t>Minh họa. Minji, các quán và khách sạn trong demo đều là giả định. Dòng chữ nghiêng nhỏ trên màn hình là bản dịch tiếng Việt cho người xem.</a:t>
            </a:r>
            <a:endParaRPr lang="en-US" sz="820" dirty="0"/>
          </a:p>
        </p:txBody>
      </p:sp>
      <p:sp>
        <p:nvSpPr>
          <p:cNvPr id="20" name="mk"/>
          <p:cNvSpPr/>
          <p:nvPr/>
        </p:nvSpPr>
        <p:spPr>
          <a:xfrm>
            <a:off x="10796588" y="6343650"/>
            <a:ext cx="323850" cy="323850"/>
          </a:xfrm>
          <a:prstGeom prst="ellipse">
            <a:avLst/>
          </a:prstGeom>
          <a:solidFill>
            <a:srgbClr val="F0001E"/>
          </a:solidFill>
          <a:ln/>
        </p:spPr>
      </p:sp>
      <p:sp>
        <p:nvSpPr>
          <p:cNvPr id="21" name="Shape 17"/>
          <p:cNvSpPr/>
          <p:nvPr/>
        </p:nvSpPr>
        <p:spPr>
          <a:xfrm>
            <a:off x="10910888" y="6424613"/>
            <a:ext cx="95250" cy="161925"/>
          </a:xfrm>
          <a:prstGeom prst="roundRect">
            <a:avLst>
              <a:gd name="adj" fmla="val 25000"/>
            </a:avLst>
          </a:prstGeom>
          <a:ln w="19050">
            <a:solidFill>
              <a:srgbClr val="FFFFFF"/>
            </a:solidFill>
            <a:prstDash val="solid"/>
          </a:ln>
        </p:spPr>
      </p:sp>
      <p:sp>
        <p:nvSpPr>
          <p:cNvPr id="22"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23"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24" name="text pno"/>
          <p:cNvSpPr txBox="1"/>
          <p:nvPr/>
        </p:nvSpPr>
        <p:spPr>
          <a:xfrm>
            <a:off x="10494764" y="6416974"/>
            <a:ext cx="268486" cy="167677"/>
          </a:xfrm>
          <a:prstGeom prst="rect">
            <a:avLst/>
          </a:prstGeom>
          <a:noFill/>
          <a:ln/>
        </p:spPr>
        <p:txBody>
          <a:bodyPr wrap="none" lIns="0" tIns="0" rIns="0" bIns="0" rtlCol="0" anchor="ctr"/>
          <a:lstStyle/>
          <a:p>
            <a:pPr algn="l" indent="0" marL="0">
              <a:buNone/>
            </a:pPr>
            <a:r>
              <a:rPr lang="en-US" sz="910" b="1" dirty="0">
                <a:solidFill>
                  <a:srgbClr val="CBD5E1"/>
                </a:solidFill>
                <a:latin typeface="Segoe UI" pitchFamily="34" charset="0"/>
                <a:ea typeface="Segoe UI" pitchFamily="34" charset="-122"/>
                <a:cs typeface="Segoe UI" pitchFamily="34" charset="-120"/>
              </a:rPr>
              <a:t>30</a:t>
            </a:r>
            <a:endParaRPr lang="en-US" sz="91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apx"/>
          <p:cNvSpPr/>
          <p:nvPr/>
        </p:nvSpPr>
        <p:spPr>
          <a:xfrm>
            <a:off x="10786914" y="323850"/>
            <a:ext cx="795486" cy="247650"/>
          </a:xfrm>
          <a:prstGeom prst="roundRect">
            <a:avLst>
              <a:gd name="adj" fmla="val 50000"/>
            </a:avLst>
          </a:prstGeom>
          <a:solidFill>
            <a:srgbClr val="E5E7EB"/>
          </a:solidFill>
          <a:ln/>
        </p:spPr>
      </p:sp>
      <p:sp>
        <p:nvSpPr>
          <p:cNvPr id="3" name="text apx"/>
          <p:cNvSpPr txBox="1"/>
          <p:nvPr/>
        </p:nvSpPr>
        <p:spPr>
          <a:xfrm>
            <a:off x="10958364" y="358420"/>
            <a:ext cx="566886" cy="178511"/>
          </a:xfrm>
          <a:prstGeom prst="rect">
            <a:avLst/>
          </a:prstGeom>
          <a:noFill/>
          <a:ln/>
        </p:spPr>
        <p:txBody>
          <a:bodyPr wrap="none" lIns="0" tIns="0" rIns="0" bIns="0" rtlCol="0" anchor="ctr"/>
          <a:lstStyle/>
          <a:p>
            <a:pPr algn="l" indent="0" marL="0">
              <a:buNone/>
            </a:pPr>
            <a:r>
              <a:rPr lang="en-US" sz="970" b="1" dirty="0">
                <a:solidFill>
                  <a:srgbClr val="4B5563"/>
                </a:solidFill>
                <a:latin typeface="Segoe UI" pitchFamily="34" charset="0"/>
                <a:ea typeface="Segoe UI" pitchFamily="34" charset="-122"/>
                <a:cs typeface="Segoe UI" pitchFamily="34" charset="-120"/>
              </a:rPr>
              <a:t>Phụ lục</a:t>
            </a:r>
            <a:endParaRPr lang="en-US" sz="970" dirty="0"/>
          </a:p>
        </p:txBody>
      </p:sp>
      <p:sp>
        <p:nvSpPr>
          <p:cNvPr id="4" name="text eyebrow"/>
          <p:cNvSpPr txBox="1"/>
          <p:nvPr/>
        </p:nvSpPr>
        <p:spPr>
          <a:xfrm>
            <a:off x="609600" y="384334"/>
            <a:ext cx="1911251" cy="193358"/>
          </a:xfrm>
          <a:prstGeom prst="rect">
            <a:avLst/>
          </a:prstGeom>
          <a:noFill/>
          <a:ln/>
        </p:spPr>
        <p:txBody>
          <a:bodyPr wrap="none" lIns="0" tIns="0" rIns="0" bIns="0" rtlCol="0" anchor="ctr"/>
          <a:lstStyle/>
          <a:p>
            <a:pPr algn="l" indent="0" marL="0">
              <a:buNone/>
            </a:pPr>
            <a:r>
              <a:rPr lang="en-US" sz="1050" b="1" spc="20" kern="0" dirty="0">
                <a:solidFill>
                  <a:srgbClr val="E11D48"/>
                </a:solidFill>
                <a:latin typeface="Segoe UI" pitchFamily="34" charset="0"/>
                <a:ea typeface="Segoe UI" pitchFamily="34" charset="-122"/>
                <a:cs typeface="Segoe UI" pitchFamily="34" charset="-120"/>
              </a:rPr>
              <a:t>PHỤ LỤC · NGUỒN SỐ LIỆU</a:t>
            </a:r>
            <a:endParaRPr lang="en-US" sz="1050" dirty="0"/>
          </a:p>
        </p:txBody>
      </p:sp>
      <p:sp>
        <p:nvSpPr>
          <p:cNvPr id="5" name="text title sm"/>
          <p:cNvSpPr txBox="1"/>
          <p:nvPr/>
        </p:nvSpPr>
        <p:spPr>
          <a:xfrm>
            <a:off x="609600" y="580311"/>
            <a:ext cx="1794123" cy="372904"/>
          </a:xfrm>
          <a:prstGeom prst="rect">
            <a:avLst/>
          </a:prstGeom>
          <a:noFill/>
          <a:ln/>
        </p:spPr>
        <p:txBody>
          <a:bodyPr wrap="none" lIns="0" tIns="0" rIns="0" bIns="0" rtlCol="0" anchor="ctr"/>
          <a:lstStyle/>
          <a:p>
            <a:pPr algn="l" indent="0" marL="0">
              <a:buNone/>
            </a:pPr>
            <a:r>
              <a:rPr lang="en-US" sz="2030" b="1" spc="-30" kern="0" dirty="0">
                <a:solidFill>
                  <a:srgbClr val="0F172A"/>
                </a:solidFill>
                <a:latin typeface="Segoe UI" pitchFamily="34" charset="0"/>
                <a:ea typeface="Segoe UI" pitchFamily="34" charset="-122"/>
                <a:cs typeface="Segoe UI" pitchFamily="34" charset="-120"/>
              </a:rPr>
              <a:t>Nguồn số liệu</a:t>
            </a:r>
            <a:endParaRPr lang="en-US" sz="2030" dirty="0"/>
          </a:p>
        </p:txBody>
      </p:sp>
      <p:sp>
        <p:nvSpPr>
          <p:cNvPr id="6" name="text h5"/>
          <p:cNvSpPr txBox="1"/>
          <p:nvPr/>
        </p:nvSpPr>
        <p:spPr>
          <a:xfrm>
            <a:off x="609600" y="1072589"/>
            <a:ext cx="545604" cy="158681"/>
          </a:xfrm>
          <a:prstGeom prst="rect">
            <a:avLst/>
          </a:prstGeom>
          <a:noFill/>
          <a:ln/>
        </p:spPr>
        <p:txBody>
          <a:bodyPr wrap="none" lIns="0" tIns="0" rIns="0" bIns="0" rtlCol="0" anchor="ctr"/>
          <a:lstStyle/>
          <a:p>
            <a:pPr algn="l" indent="0" marL="0">
              <a:buNone/>
            </a:pPr>
            <a:r>
              <a:rPr lang="en-US" sz="860" b="1" spc="30" kern="0" dirty="0">
                <a:solidFill>
                  <a:srgbClr val="E11D48"/>
                </a:solidFill>
                <a:latin typeface="Segoe UI" pitchFamily="34" charset="0"/>
                <a:ea typeface="Segoe UI" pitchFamily="34" charset="-122"/>
                <a:cs typeface="Segoe UI" pitchFamily="34" charset="-120"/>
              </a:rPr>
              <a:t>CHUNG</a:t>
            </a:r>
            <a:endParaRPr lang="en-US" sz="860" dirty="0"/>
          </a:p>
        </p:txBody>
      </p:sp>
      <p:sp>
        <p:nvSpPr>
          <p:cNvPr id="7" name="text li"/>
          <p:cNvSpPr txBox="1"/>
          <p:nvPr/>
        </p:nvSpPr>
        <p:spPr>
          <a:xfrm>
            <a:off x="609600" y="1248970"/>
            <a:ext cx="3530501" cy="417604"/>
          </a:xfrm>
          <a:prstGeom prst="rect">
            <a:avLst/>
          </a:prstGeom>
          <a:noFill/>
          <a:ln/>
        </p:spPr>
        <p:txBody>
          <a:bodyPr wrap="square" lIns="0" tIns="0" rIns="0" bIns="0" rtlCol="0" anchor="ctr"/>
          <a:lstStyle/>
          <a:p>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Visa, "VDS – Acquiring discussion", 10/2026 (</a:t>
            </a:r>
            <a:pPr algn="l" indent="0" marL="0">
              <a:lnSpc>
                <a:spcPts val="1100"/>
              </a:lnSpc>
              <a:buNone/>
            </a:pPr>
            <a:r>
              <a:rPr lang="en-US" sz="790" i="1" dirty="0">
                <a:solidFill>
                  <a:srgbClr val="334155"/>
                </a:solidFill>
                <a:latin typeface="Segoe UI Semibold" pitchFamily="34" charset="0"/>
                <a:ea typeface="Segoe UI Semibold" pitchFamily="34" charset="-122"/>
                <a:cs typeface="Segoe UI Semibold" pitchFamily="34" charset="-120"/>
              </a:rPr>
              <a:t>Visa Confidential</a:t>
            </a:r>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 Visa Accept, hạn mức, phí, lộ trình nâng gói, triển khai tại VPBank, Sacombank, VIB; Visa QR Connector; Visa Acceptance Platform</a:t>
            </a:r>
            <a:endParaRPr lang="en-US" sz="790" dirty="0"/>
          </a:p>
        </p:txBody>
      </p:sp>
      <p:sp>
        <p:nvSpPr>
          <p:cNvPr id="8" name="text li"/>
          <p:cNvSpPr txBox="1"/>
          <p:nvPr/>
        </p:nvSpPr>
        <p:spPr>
          <a:xfrm>
            <a:off x="609600" y="1704533"/>
            <a:ext cx="3530501" cy="417604"/>
          </a:xfrm>
          <a:prstGeom prst="rect">
            <a:avLst/>
          </a:prstGeom>
          <a:noFill/>
          <a:ln/>
        </p:spPr>
        <p:txBody>
          <a:bodyPr wrap="square" lIns="0" tIns="0" rIns="0" bIns="0" rtlCol="0" anchor="ctr"/>
          <a:lstStyle/>
          <a:p>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"Nhu cầu giải pháp thanh toán phục vụ khách du lịch quốc tế tại merchant Việt Nam", khảo sát 132 merchant tại Hà Nội và TP.HCM, 7/2026</a:t>
            </a:r>
            <a:endParaRPr lang="en-US" sz="790" dirty="0"/>
          </a:p>
        </p:txBody>
      </p:sp>
      <p:sp>
        <p:nvSpPr>
          <p:cNvPr id="9" name="text li"/>
          <p:cNvSpPr txBox="1"/>
          <p:nvPr/>
        </p:nvSpPr>
        <p:spPr>
          <a:xfrm>
            <a:off x="609600" y="2160119"/>
            <a:ext cx="3530501" cy="278402"/>
          </a:xfrm>
          <a:prstGeom prst="rect">
            <a:avLst/>
          </a:prstGeom>
          <a:noFill/>
          <a:ln/>
        </p:spPr>
        <p:txBody>
          <a:bodyPr wrap="square" lIns="0" tIns="0" rIns="0" bIns="0" rtlCol="0" anchor="ctr"/>
          <a:lstStyle/>
          <a:p>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"Nhu cầu thanh toán của khách quốc tế đến Việt Nam", khảo sát 10 khách quốc tế, 16/10/2026</a:t>
            </a:r>
            <a:endParaRPr lang="en-US" sz="790" dirty="0"/>
          </a:p>
        </p:txBody>
      </p:sp>
      <p:sp>
        <p:nvSpPr>
          <p:cNvPr id="10" name="text li"/>
          <p:cNvSpPr txBox="1"/>
          <p:nvPr/>
        </p:nvSpPr>
        <p:spPr>
          <a:xfrm>
            <a:off x="609600" y="2473020"/>
            <a:ext cx="2589121" cy="146262"/>
          </a:xfrm>
          <a:prstGeom prst="rect">
            <a:avLst/>
          </a:prstGeom>
          <a:noFill/>
          <a:ln/>
        </p:spPr>
        <p:txBody>
          <a:bodyPr wrap="none" lIns="0" tIns="0" rIns="0" bIns="0" rtlCol="0" anchor="ctr"/>
          <a:lstStyle/>
          <a:p>
            <a:pPr algn="l" indent="0" marL="0">
              <a:buNone/>
            </a:pPr>
            <a:r>
              <a:rPr lang="en-US" sz="790" dirty="0">
                <a:solidFill>
                  <a:srgbClr val="334155"/>
                </a:solidFill>
                <a:latin typeface="Segoe UI Semibold" pitchFamily="34" charset="0"/>
                <a:ea typeface="Segoe UI Semibold" pitchFamily="34" charset="-122"/>
                <a:cs typeface="Segoe UI Semibold" pitchFamily="34" charset="-120"/>
              </a:rPr>
              <a:t>NQ 198/2025/QH15 (bỏ thuế khoán từ 01/01/2026)</a:t>
            </a:r>
            <a:endParaRPr lang="en-US" sz="790" dirty="0"/>
          </a:p>
        </p:txBody>
      </p:sp>
      <p:sp>
        <p:nvSpPr>
          <p:cNvPr id="11" name="text li"/>
          <p:cNvSpPr txBox="1"/>
          <p:nvPr/>
        </p:nvSpPr>
        <p:spPr>
          <a:xfrm>
            <a:off x="609600" y="2650275"/>
            <a:ext cx="3356140"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Hỗ trợ hộ kinh doanh chuyển đổi số và kê khai thuế – VnEconomy</a:t>
            </a:r>
            <a:endParaRPr lang="en-US" sz="790" dirty="0"/>
          </a:p>
        </p:txBody>
      </p:sp>
      <p:sp>
        <p:nvSpPr>
          <p:cNvPr id="12" name="text li"/>
          <p:cNvSpPr txBox="1"/>
          <p:nvPr/>
        </p:nvSpPr>
        <p:spPr>
          <a:xfrm>
            <a:off x="609600" y="2827529"/>
            <a:ext cx="2784583"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Kết quả triển khai hóa đơn điện tử – Thời báo Tài chính</a:t>
            </a:r>
            <a:endParaRPr lang="en-US" sz="790" dirty="0"/>
          </a:p>
        </p:txBody>
      </p:sp>
      <p:sp>
        <p:nvSpPr>
          <p:cNvPr id="13" name="text li"/>
          <p:cNvSpPr txBox="1"/>
          <p:nvPr/>
        </p:nvSpPr>
        <p:spPr>
          <a:xfrm>
            <a:off x="609600" y="3004783"/>
            <a:ext cx="1951137"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5 triệu hộ kinh doanh – Báo Chính phủ</a:t>
            </a:r>
            <a:endParaRPr lang="en-US" sz="790" dirty="0"/>
          </a:p>
        </p:txBody>
      </p:sp>
      <p:sp>
        <p:nvSpPr>
          <p:cNvPr id="14" name="text li"/>
          <p:cNvSpPr txBox="1"/>
          <p:nvPr/>
        </p:nvSpPr>
        <p:spPr>
          <a:xfrm>
            <a:off x="609600" y="3185545"/>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3,24 triệu hộ, cá nhân kinh doanh; 2,03 triệu có địa điểm cố định, Tổng cục Thuế 8/2024 – Thanh Niên</a:t>
            </a:r>
            <a:endParaRPr lang="en-US" sz="790" dirty="0"/>
          </a:p>
        </p:txBody>
      </p:sp>
      <p:sp>
        <p:nvSpPr>
          <p:cNvPr id="15" name="text li"/>
          <p:cNvSpPr txBox="1"/>
          <p:nvPr/>
        </p:nvSpPr>
        <p:spPr>
          <a:xfrm>
            <a:off x="609600" y="3498446"/>
            <a:ext cx="2537377"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737.159 máy POS cuối 2024, NHNN – VietNamNet</a:t>
            </a:r>
            <a:endParaRPr lang="en-US" sz="790" dirty="0"/>
          </a:p>
        </p:txBody>
      </p:sp>
      <p:sp>
        <p:nvSpPr>
          <p:cNvPr id="16" name="text li"/>
          <p:cNvSpPr txBox="1"/>
          <p:nvPr/>
        </p:nvSpPr>
        <p:spPr>
          <a:xfrm>
            <a:off x="609600" y="3675701"/>
            <a:ext cx="2760919"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Khảo sát 350 doanh nghiệp nhỏ: 42% nhận thẻ – Visa</a:t>
            </a:r>
            <a:endParaRPr lang="en-US" sz="790" dirty="0"/>
          </a:p>
        </p:txBody>
      </p:sp>
      <p:sp>
        <p:nvSpPr>
          <p:cNvPr id="17" name="text li"/>
          <p:cNvSpPr txBox="1"/>
          <p:nvPr/>
        </p:nvSpPr>
        <p:spPr>
          <a:xfrm>
            <a:off x="609600" y="3852955"/>
            <a:ext cx="2966005"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61 địa điểm quy hoạch khu du lịch quốc gia – VietnamPlus</a:t>
            </a:r>
            <a:endParaRPr lang="en-US" sz="790" dirty="0"/>
          </a:p>
        </p:txBody>
      </p:sp>
      <p:sp>
        <p:nvSpPr>
          <p:cNvPr id="18" name="text li"/>
          <p:cNvSpPr txBox="1"/>
          <p:nvPr/>
        </p:nvSpPr>
        <p:spPr>
          <a:xfrm>
            <a:off x="609600" y="4033716"/>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153 di tích quốc gia đặc biệt – Cổng Chính phủ</a:t>
            </a:r>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 </a:t>
            </a:r>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hơn 4.000 di tích quốc gia, 41.000 di tích – Wikipedia</a:t>
            </a:r>
            <a:endParaRPr lang="en-US" sz="790" dirty="0"/>
          </a:p>
        </p:txBody>
      </p:sp>
      <p:sp>
        <p:nvSpPr>
          <p:cNvPr id="19" name="text li"/>
          <p:cNvSpPr txBox="1"/>
          <p:nvPr/>
        </p:nvSpPr>
        <p:spPr>
          <a:xfrm>
            <a:off x="609600" y="4350125"/>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Hội An: 236 cơ sở trên 2 tuyến phố, bằng 4% toàn thành phố – Tuổi Trẻ</a:t>
            </a:r>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 </a:t>
            </a:r>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Phường Hoàn Kiếm 4.310 hộ kinh doanh – Nhân Dân</a:t>
            </a:r>
            <a:endParaRPr lang="en-US" sz="790" dirty="0"/>
          </a:p>
        </p:txBody>
      </p:sp>
      <p:sp>
        <p:nvSpPr>
          <p:cNvPr id="20" name="text li"/>
          <p:cNvSpPr txBox="1"/>
          <p:nvPr/>
        </p:nvSpPr>
        <p:spPr>
          <a:xfrm>
            <a:off x="609600" y="4663026"/>
            <a:ext cx="2693872"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Chi tiêu 1.200–1.400 USD mỗi chuyến – VietnamPlus</a:t>
            </a:r>
            <a:endParaRPr lang="en-US" sz="790" dirty="0"/>
          </a:p>
        </p:txBody>
      </p:sp>
      <p:sp>
        <p:nvSpPr>
          <p:cNvPr id="21" name="text li"/>
          <p:cNvSpPr txBox="1"/>
          <p:nvPr/>
        </p:nvSpPr>
        <p:spPr>
          <a:xfrm>
            <a:off x="609600" y="4840281"/>
            <a:ext cx="2618149"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21,2 triệu lượt khách quốc tế 2025 – Báo Chính phủ</a:t>
            </a:r>
            <a:endParaRPr lang="en-US" sz="790" dirty="0"/>
          </a:p>
        </p:txBody>
      </p:sp>
      <p:sp>
        <p:nvSpPr>
          <p:cNvPr id="22" name="text li"/>
          <p:cNvSpPr txBox="1"/>
          <p:nvPr/>
        </p:nvSpPr>
        <p:spPr>
          <a:xfrm>
            <a:off x="609600" y="5017535"/>
            <a:ext cx="2825442"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Khách quốc tế 9 tháng 2026 tăng 14,5% – Báo Văn hóa</a:t>
            </a:r>
            <a:endParaRPr lang="en-US" sz="790" dirty="0"/>
          </a:p>
        </p:txBody>
      </p:sp>
      <p:sp>
        <p:nvSpPr>
          <p:cNvPr id="23" name="text li"/>
          <p:cNvSpPr txBox="1"/>
          <p:nvPr/>
        </p:nvSpPr>
        <p:spPr>
          <a:xfrm>
            <a:off x="4349800" y="1077543"/>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Nguồn khách 9 tháng 2026 theo thị trường – VietnamPlus</a:t>
            </a:r>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 </a:t>
            </a:r>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Mekong ASEAN</a:t>
            </a:r>
            <a:endParaRPr lang="en-US" sz="790" dirty="0"/>
          </a:p>
        </p:txBody>
      </p:sp>
      <p:sp>
        <p:nvSpPr>
          <p:cNvPr id="24" name="text li"/>
          <p:cNvSpPr txBox="1"/>
          <p:nvPr/>
        </p:nvSpPr>
        <p:spPr>
          <a:xfrm>
            <a:off x="4349800" y="1393952"/>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Chi tiêu bình quân và cơ cấu chi tiêu khách quốc tế 2019, Niên giám thống kê 2022 – VietNamNet</a:t>
            </a:r>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 </a:t>
            </a:r>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CafeBiz</a:t>
            </a:r>
            <a:endParaRPr lang="en-US" sz="790" dirty="0"/>
          </a:p>
        </p:txBody>
      </p:sp>
      <p:sp>
        <p:nvSpPr>
          <p:cNvPr id="25" name="text li"/>
          <p:cNvSpPr txBox="1"/>
          <p:nvPr/>
        </p:nvSpPr>
        <p:spPr>
          <a:xfrm>
            <a:off x="4349800" y="1710360"/>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Thu 15,22 tỷ USD từ khách quốc tế 2025, khoảng 718 USD mỗi lượt – Dân trí</a:t>
            </a:r>
            <a:endParaRPr lang="en-US" sz="790" dirty="0"/>
          </a:p>
        </p:txBody>
      </p:sp>
      <p:sp>
        <p:nvSpPr>
          <p:cNvPr id="26" name="text li"/>
          <p:cNvSpPr txBox="1"/>
          <p:nvPr/>
        </p:nvSpPr>
        <p:spPr>
          <a:xfrm>
            <a:off x="4349800" y="2026769"/>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Cơ cấu thanh toán tại điểm bán Hàn Quốc 2024, Worldpay GPR 2025 – Payments CMI</a:t>
            </a:r>
            <a:endParaRPr lang="en-US" sz="790" dirty="0"/>
          </a:p>
        </p:txBody>
      </p:sp>
      <p:sp>
        <p:nvSpPr>
          <p:cNvPr id="27" name="text li"/>
          <p:cNvSpPr txBox="1"/>
          <p:nvPr/>
        </p:nvSpPr>
        <p:spPr>
          <a:xfrm>
            <a:off x="4349800" y="2339670"/>
            <a:ext cx="3402047"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Thẻ chiếm 71% chi tiêu tại cửa hàng ở Mỹ 2025 – Global Payments</a:t>
            </a:r>
            <a:endParaRPr lang="en-US" sz="790" dirty="0"/>
          </a:p>
        </p:txBody>
      </p:sp>
      <p:sp>
        <p:nvSpPr>
          <p:cNvPr id="28" name="text li"/>
          <p:cNvSpPr txBox="1"/>
          <p:nvPr/>
        </p:nvSpPr>
        <p:spPr>
          <a:xfrm>
            <a:off x="4349800" y="2520432"/>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Alipay, WeChat Pay chiếm 87% giá trị tại điểm bán ở Trung Quốc, Worldpay GPR 2026 – Rich Turrin</a:t>
            </a:r>
            <a:endParaRPr lang="en-US" sz="790" dirty="0"/>
          </a:p>
        </p:txBody>
      </p:sp>
      <p:sp>
        <p:nvSpPr>
          <p:cNvPr id="29" name="text li"/>
          <p:cNvSpPr txBox="1"/>
          <p:nvPr/>
        </p:nvSpPr>
        <p:spPr>
          <a:xfrm>
            <a:off x="4349800" y="2836840"/>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Tiền mặt ở Nhật Bản khoảng 38% chi tiêu tại cửa hàng, Worldpay GPR 2026 – Dwayne Gefferie</a:t>
            </a:r>
            <a:endParaRPr lang="en-US" sz="790" dirty="0"/>
          </a:p>
        </p:txBody>
      </p:sp>
      <p:sp>
        <p:nvSpPr>
          <p:cNvPr id="30" name="text li"/>
          <p:cNvSpPr txBox="1"/>
          <p:nvPr/>
        </p:nvSpPr>
        <p:spPr>
          <a:xfrm>
            <a:off x="4349800" y="3149742"/>
            <a:ext cx="2441618"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Thẻ ở Úc, Anh khoảng 67–70% – Payments CMI</a:t>
            </a:r>
            <a:endParaRPr lang="en-US" sz="790" dirty="0"/>
          </a:p>
        </p:txBody>
      </p:sp>
      <p:sp>
        <p:nvSpPr>
          <p:cNvPr id="31" name="text li"/>
          <p:cNvSpPr txBox="1"/>
          <p:nvPr/>
        </p:nvSpPr>
        <p:spPr>
          <a:xfrm>
            <a:off x="4349800" y="3330503"/>
            <a:ext cx="3530501" cy="278402"/>
          </a:xfrm>
          <a:prstGeom prst="rect">
            <a:avLst/>
          </a:prstGeom>
          <a:noFill/>
          <a:ln/>
        </p:spPr>
        <p:txBody>
          <a:bodyPr wrap="square" lIns="0" tIns="0" rIns="0" bIns="0" rtlCol="0" anchor="ctr"/>
          <a:lstStyle/>
          <a:p>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Khoảng 6% điểm chấp nhận thanh toán nhận VietQR Global: NHNN và Cục Du lịch, hội thảo 25/9/2026</a:t>
            </a:r>
            <a:endParaRPr lang="en-US" sz="790" dirty="0"/>
          </a:p>
        </p:txBody>
      </p:sp>
      <p:sp>
        <p:nvSpPr>
          <p:cNvPr id="32" name="text li"/>
          <p:cNvSpPr txBox="1"/>
          <p:nvPr/>
        </p:nvSpPr>
        <p:spPr>
          <a:xfrm>
            <a:off x="4349800" y="3646912"/>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VietQR Global tăng khoảng 8 lần, 8 tháng 2026 – Thị trường Tài chính Tiền tệ</a:t>
            </a:r>
            <a:endParaRPr lang="en-US" sz="790" dirty="0"/>
          </a:p>
        </p:txBody>
      </p:sp>
      <p:sp>
        <p:nvSpPr>
          <p:cNvPr id="33" name="text li"/>
          <p:cNvSpPr txBox="1"/>
          <p:nvPr/>
        </p:nvSpPr>
        <p:spPr>
          <a:xfrm>
            <a:off x="4349800" y="3963320"/>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Thanh toán QR xuyên biên giới: từ kết nối được đến sử dụng hiệu quả – VNBA</a:t>
            </a:r>
            <a:endParaRPr lang="en-US" sz="790" dirty="0"/>
          </a:p>
        </p:txBody>
      </p:sp>
      <p:sp>
        <p:nvSpPr>
          <p:cNvPr id="34" name="text li"/>
          <p:cNvSpPr txBox="1"/>
          <p:nvPr/>
        </p:nvSpPr>
        <p:spPr>
          <a:xfrm>
            <a:off x="4349800" y="4276222"/>
            <a:ext cx="2890596"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Rào cản thiết bị, chi phí của cửa hàng địa phương – VCCI</a:t>
            </a:r>
            <a:endParaRPr lang="en-US" sz="790" dirty="0"/>
          </a:p>
        </p:txBody>
      </p:sp>
      <p:sp>
        <p:nvSpPr>
          <p:cNvPr id="35" name="text li"/>
          <p:cNvSpPr txBox="1"/>
          <p:nvPr/>
        </p:nvSpPr>
        <p:spPr>
          <a:xfrm>
            <a:off x="4349800" y="4453476"/>
            <a:ext cx="3225516"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QR xuyên biên giới Việt Nam – Trung Quốc – Đại biểu Nhân dân</a:t>
            </a:r>
            <a:endParaRPr lang="en-US" sz="790" dirty="0"/>
          </a:p>
        </p:txBody>
      </p:sp>
      <p:sp>
        <p:nvSpPr>
          <p:cNvPr id="36" name="text li"/>
          <p:cNvSpPr txBox="1"/>
          <p:nvPr/>
        </p:nvSpPr>
        <p:spPr>
          <a:xfrm>
            <a:off x="4349800" y="4630731"/>
            <a:ext cx="3581733"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GLN kết nối mạng QR quốc gia Việt Nam qua NAPAS – IBS Intelligence</a:t>
            </a:r>
            <a:endParaRPr lang="en-US" sz="790" dirty="0"/>
          </a:p>
        </p:txBody>
      </p:sp>
      <p:sp>
        <p:nvSpPr>
          <p:cNvPr id="37" name="text li"/>
          <p:cNvSpPr txBox="1"/>
          <p:nvPr/>
        </p:nvSpPr>
        <p:spPr>
          <a:xfrm>
            <a:off x="4349800" y="4807985"/>
            <a:ext cx="3306919"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Ra mắt thanh toán xuyên biên giới Việt Nam – Singapore – NHNN</a:t>
            </a:r>
            <a:endParaRPr lang="en-US" sz="790" dirty="0"/>
          </a:p>
        </p:txBody>
      </p:sp>
      <p:sp>
        <p:nvSpPr>
          <p:cNvPr id="38" name="text li"/>
          <p:cNvSpPr txBox="1"/>
          <p:nvPr/>
        </p:nvSpPr>
        <p:spPr>
          <a:xfrm>
            <a:off x="4349800" y="4985239"/>
            <a:ext cx="2244578"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NAPAS và VNPAY hợp tác toàn diện – VNBA</a:t>
            </a:r>
            <a:endParaRPr lang="en-US" sz="790" dirty="0"/>
          </a:p>
        </p:txBody>
      </p:sp>
      <p:sp>
        <p:nvSpPr>
          <p:cNvPr id="39" name="text li"/>
          <p:cNvSpPr txBox="1"/>
          <p:nvPr/>
        </p:nvSpPr>
        <p:spPr>
          <a:xfrm>
            <a:off x="4349800" y="5162494"/>
            <a:ext cx="3418612"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Du khách quốc tế thanh toán VNPAY-QR tại MWG – Điện Máy Xanh</a:t>
            </a:r>
            <a:endParaRPr lang="en-US" sz="790" dirty="0"/>
          </a:p>
        </p:txBody>
      </p:sp>
      <p:sp>
        <p:nvSpPr>
          <p:cNvPr id="40" name="text li"/>
          <p:cNvSpPr txBox="1"/>
          <p:nvPr/>
        </p:nvSpPr>
        <p:spPr>
          <a:xfrm>
            <a:off x="8089850" y="1074036"/>
            <a:ext cx="2519708"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Visa và VNPAY hợp tác về VNPAY SoftPOS – Visa</a:t>
            </a:r>
            <a:endParaRPr lang="en-US" sz="790" dirty="0"/>
          </a:p>
        </p:txBody>
      </p:sp>
      <p:sp>
        <p:nvSpPr>
          <p:cNvPr id="41" name="text li"/>
          <p:cNvSpPr txBox="1"/>
          <p:nvPr/>
        </p:nvSpPr>
        <p:spPr>
          <a:xfrm>
            <a:off x="8089850" y="1251290"/>
            <a:ext cx="2301686"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VNPAY SoftPOS đạt chuẩn PCI CPoC – VNBA</a:t>
            </a:r>
            <a:endParaRPr lang="en-US" sz="790" dirty="0"/>
          </a:p>
        </p:txBody>
      </p:sp>
      <p:sp>
        <p:nvSpPr>
          <p:cNvPr id="42" name="text li"/>
          <p:cNvSpPr txBox="1"/>
          <p:nvPr/>
        </p:nvSpPr>
        <p:spPr>
          <a:xfrm>
            <a:off x="8089850" y="1428545"/>
            <a:ext cx="3511373"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Vietcombank ra mắt VCB Tap to Phone – Thị trường Tài chính Tiền tệ</a:t>
            </a:r>
            <a:endParaRPr lang="en-US" sz="790" dirty="0"/>
          </a:p>
        </p:txBody>
      </p:sp>
      <p:sp>
        <p:nvSpPr>
          <p:cNvPr id="43" name="text li"/>
          <p:cNvSpPr txBox="1"/>
          <p:nvPr/>
        </p:nvSpPr>
        <p:spPr>
          <a:xfrm>
            <a:off x="8089850" y="1609306"/>
            <a:ext cx="3530501" cy="278402"/>
          </a:xfrm>
          <a:prstGeom prst="rect">
            <a:avLst/>
          </a:prstGeom>
          <a:noFill/>
          <a:ln/>
        </p:spPr>
        <p:txBody>
          <a:bodyPr wrap="square" lIns="0" tIns="0" rIns="0" bIns="0" rtlCol="0" anchor="ctr"/>
          <a:lstStyle/>
          <a:p>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Biểu phí Tap to Phone/SoftPOS công khai: VPBank (hiệu lực 01/08/2026), Techcombank (khách đăng ký mới từ 01/03/2025)</a:t>
            </a:r>
            <a:endParaRPr lang="en-US" sz="790" dirty="0"/>
          </a:p>
        </p:txBody>
      </p:sp>
      <p:sp>
        <p:nvSpPr>
          <p:cNvPr id="44" name="text li"/>
          <p:cNvSpPr txBox="1"/>
          <p:nvPr/>
        </p:nvSpPr>
        <p:spPr>
          <a:xfrm>
            <a:off x="8089850" y="1922208"/>
            <a:ext cx="2833646"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MoMo và Alipay+ cho người Việt đi nước ngoài – MoMo</a:t>
            </a:r>
            <a:endParaRPr lang="en-US" sz="790" dirty="0"/>
          </a:p>
        </p:txBody>
      </p:sp>
      <p:sp>
        <p:nvSpPr>
          <p:cNvPr id="45" name="text h5"/>
          <p:cNvSpPr txBox="1"/>
          <p:nvPr/>
        </p:nvSpPr>
        <p:spPr>
          <a:xfrm>
            <a:off x="8089850" y="2155165"/>
            <a:ext cx="1471910" cy="158681"/>
          </a:xfrm>
          <a:prstGeom prst="rect">
            <a:avLst/>
          </a:prstGeom>
          <a:noFill/>
          <a:ln/>
        </p:spPr>
        <p:txBody>
          <a:bodyPr wrap="none" lIns="0" tIns="0" rIns="0" bIns="0" rtlCol="0" anchor="ctr"/>
          <a:lstStyle/>
          <a:p>
            <a:pPr algn="l" indent="0" marL="0">
              <a:buNone/>
            </a:pPr>
            <a:r>
              <a:rPr lang="en-US" sz="860" b="1" spc="30" kern="0" dirty="0">
                <a:solidFill>
                  <a:srgbClr val="E11D48"/>
                </a:solidFill>
                <a:latin typeface="Segoe UI" pitchFamily="34" charset="0"/>
                <a:ea typeface="Segoe UI" pitchFamily="34" charset="-122"/>
                <a:cs typeface="Segoe UI" pitchFamily="34" charset="-120"/>
              </a:rPr>
              <a:t>KÊNH ONLINE (SLIDE 6)</a:t>
            </a:r>
            <a:endParaRPr lang="en-US" sz="860" dirty="0"/>
          </a:p>
        </p:txBody>
      </p:sp>
      <p:sp>
        <p:nvSpPr>
          <p:cNvPr id="46" name="text li"/>
          <p:cNvSpPr txBox="1"/>
          <p:nvPr/>
        </p:nvSpPr>
        <p:spPr>
          <a:xfrm>
            <a:off x="8089850" y="2331569"/>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56% khách Mỹ dùng AI cho chuyến đi, The AI Surge – Phocuswright 3/2026</a:t>
            </a:r>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 </a:t>
            </a:r>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Travel Weekly</a:t>
            </a:r>
            <a:endParaRPr lang="en-US" sz="790" dirty="0"/>
          </a:p>
        </p:txBody>
      </p:sp>
      <p:sp>
        <p:nvSpPr>
          <p:cNvPr id="47" name="text li"/>
          <p:cNvSpPr txBox="1"/>
          <p:nvPr/>
        </p:nvSpPr>
        <p:spPr>
          <a:xfrm>
            <a:off x="8089850" y="2647978"/>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Gen Z 69%, Millennials 64% dùng AI tạo sinh lên kế hoạch, Booking.com 2026 – Statista</a:t>
            </a:r>
            <a:endParaRPr lang="en-US" sz="790" dirty="0"/>
          </a:p>
        </p:txBody>
      </p:sp>
      <p:sp>
        <p:nvSpPr>
          <p:cNvPr id="48" name="text li"/>
          <p:cNvSpPr txBox="1"/>
          <p:nvPr/>
        </p:nvSpPr>
        <p:spPr>
          <a:xfrm>
            <a:off x="8089850" y="2964386"/>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81% khách Việt dự định dùng AI, Agoda 2026 Travel Outlook – PR Newswire qua Utusan</a:t>
            </a:r>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 </a:t>
            </a:r>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VNA</a:t>
            </a:r>
            <a:endParaRPr lang="en-US" sz="790" dirty="0"/>
          </a:p>
        </p:txBody>
      </p:sp>
      <p:sp>
        <p:nvSpPr>
          <p:cNvPr id="49" name="text li"/>
          <p:cNvSpPr txBox="1"/>
          <p:nvPr/>
        </p:nvSpPr>
        <p:spPr>
          <a:xfrm>
            <a:off x="8089850" y="3280795"/>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99% khách Việt quan tâm AI, 11% hoàn toàn tin – BBW, dẫn Booking.com</a:t>
            </a:r>
            <a:endParaRPr lang="en-US" sz="790" dirty="0"/>
          </a:p>
        </p:txBody>
      </p:sp>
      <p:sp>
        <p:nvSpPr>
          <p:cNvPr id="50" name="text li"/>
          <p:cNvSpPr txBox="1"/>
          <p:nvPr/>
        </p:nvSpPr>
        <p:spPr>
          <a:xfrm>
            <a:off x="8089850" y="3597203"/>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Du lịch trực tuyến Việt Nam khoảng 4 tỷ USD 2025, e-Conomy SEA 2025 – VnEconomy</a:t>
            </a:r>
            <a:endParaRPr lang="en-US" sz="790" dirty="0"/>
          </a:p>
        </p:txBody>
      </p:sp>
      <p:sp>
        <p:nvSpPr>
          <p:cNvPr id="51" name="text li"/>
          <p:cNvSpPr txBox="1"/>
          <p:nvPr/>
        </p:nvSpPr>
        <p:spPr>
          <a:xfrm>
            <a:off x="8089850" y="3913588"/>
            <a:ext cx="3530501" cy="417604"/>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OTA 58,85% lượt đặt phòng 2025, hoa hồng 15–25% – Tạp chí Kinh tế – Tài chính 12/5/2026</a:t>
            </a:r>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 </a:t>
            </a:r>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hoa hồng Booking.com tối thiểu 15% – Vietnam Booking</a:t>
            </a:r>
            <a:endParaRPr lang="en-US" sz="790" dirty="0"/>
          </a:p>
        </p:txBody>
      </p:sp>
      <p:sp>
        <p:nvSpPr>
          <p:cNvPr id="52" name="text li"/>
          <p:cNvSpPr txBox="1"/>
          <p:nvPr/>
        </p:nvSpPr>
        <p:spPr>
          <a:xfrm>
            <a:off x="8089850" y="4369175"/>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50,2 triệu thẻ quốc tế, Vụ Thanh toán NHNN quý I/2025 – VietnamFinance</a:t>
            </a:r>
            <a:endParaRPr lang="en-US" sz="790" dirty="0"/>
          </a:p>
        </p:txBody>
      </p:sp>
      <p:sp>
        <p:nvSpPr>
          <p:cNvPr id="53" name="text li"/>
          <p:cNvSpPr txBox="1"/>
          <p:nvPr/>
        </p:nvSpPr>
        <p:spPr>
          <a:xfrm>
            <a:off x="8089850" y="4682076"/>
            <a:ext cx="3491654" cy="146262"/>
          </a:xfrm>
          <a:prstGeom prst="rect">
            <a:avLst/>
          </a:prstGeom>
          <a:noFill/>
          <a:ln/>
        </p:spPr>
        <p:txBody>
          <a:bodyPr wrap="none" lIns="0" tIns="0" rIns="0" bIns="0" rtlCol="0" anchor="ctr"/>
          <a:lstStyle/>
          <a:p>
            <a:pPr algn="l" indent="0" marL="0">
              <a:buNone/>
            </a:pPr>
            <a:r>
              <a:rPr lang="en-US" sz="790" u="sng" dirty="0">
                <a:solidFill>
                  <a:srgbClr val="334155"/>
                </a:solidFill>
                <a:latin typeface="Segoe UI Semibold" pitchFamily="34" charset="0"/>
                <a:ea typeface="Segoe UI Semibold" pitchFamily="34" charset="-122"/>
                <a:cs typeface="Segoe UI Semibold" pitchFamily="34" charset="-120"/>
              </a:rPr>
              <a:t>81 triệu lượt khách nội địa 6 tháng 2026 – Thương hiệu và Công luận</a:t>
            </a:r>
            <a:endParaRPr lang="en-US" sz="790" dirty="0"/>
          </a:p>
        </p:txBody>
      </p:sp>
      <p:sp>
        <p:nvSpPr>
          <p:cNvPr id="54" name="text li"/>
          <p:cNvSpPr txBox="1"/>
          <p:nvPr/>
        </p:nvSpPr>
        <p:spPr>
          <a:xfrm>
            <a:off x="8089850" y="4862838"/>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Booking.com, Expedia ra app trong ChatGPT 10/2025 – Skift</a:t>
            </a:r>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 </a:t>
            </a:r>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PhocusWire</a:t>
            </a:r>
            <a:endParaRPr lang="en-US" sz="790" dirty="0"/>
          </a:p>
        </p:txBody>
      </p:sp>
      <p:sp>
        <p:nvSpPr>
          <p:cNvPr id="55" name="text li"/>
          <p:cNvSpPr txBox="1"/>
          <p:nvPr/>
        </p:nvSpPr>
        <p:spPr>
          <a:xfrm>
            <a:off x="8089850" y="5179246"/>
            <a:ext cx="3530501" cy="278402"/>
          </a:xfrm>
          <a:prstGeom prst="rect">
            <a:avLst/>
          </a:prstGeom>
          <a:noFill/>
          <a:ln/>
        </p:spPr>
        <p:txBody>
          <a:bodyPr wrap="square" lIns="0" tIns="0" rIns="0" bIns="0" rtlCol="0" anchor="ctr"/>
          <a:lstStyle/>
          <a:p>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PasGo hơn 3.000 nhà hàng – App Store</a:t>
            </a:r>
            <a:pPr algn="l" indent="0" marL="0">
              <a:lnSpc>
                <a:spcPts val="1100"/>
              </a:lnSpc>
              <a:buNone/>
            </a:pPr>
            <a:r>
              <a:rPr lang="en-US" sz="790" dirty="0">
                <a:solidFill>
                  <a:srgbClr val="334155"/>
                </a:solidFill>
                <a:latin typeface="Segoe UI Semibold" pitchFamily="34" charset="0"/>
                <a:ea typeface="Segoe UI Semibold" pitchFamily="34" charset="-122"/>
                <a:cs typeface="Segoe UI Semibold" pitchFamily="34" charset="-120"/>
              </a:rPr>
              <a:t>; </a:t>
            </a:r>
            <a:pPr algn="l" indent="0" marL="0">
              <a:lnSpc>
                <a:spcPts val="1100"/>
              </a:lnSpc>
              <a:buNone/>
            </a:pPr>
            <a:r>
              <a:rPr lang="en-US" sz="790" u="sng" dirty="0">
                <a:solidFill>
                  <a:srgbClr val="334155"/>
                </a:solidFill>
                <a:latin typeface="Segoe UI Semibold" pitchFamily="34" charset="0"/>
                <a:ea typeface="Segoe UI Semibold" pitchFamily="34" charset="-122"/>
                <a:cs typeface="Segoe UI Semibold" pitchFamily="34" charset="-120"/>
              </a:rPr>
              <a:t>phí đặt bàn theo khách 0,5–3 EUR – resOS</a:t>
            </a:r>
            <a:endParaRPr lang="en-US" sz="790" dirty="0"/>
          </a:p>
        </p:txBody>
      </p:sp>
      <p:sp>
        <p:nvSpPr>
          <p:cNvPr id="56" name="mk"/>
          <p:cNvSpPr/>
          <p:nvPr/>
        </p:nvSpPr>
        <p:spPr>
          <a:xfrm>
            <a:off x="10796588" y="6343650"/>
            <a:ext cx="323850" cy="323850"/>
          </a:xfrm>
          <a:prstGeom prst="ellipse">
            <a:avLst/>
          </a:prstGeom>
          <a:solidFill>
            <a:srgbClr val="F0001E"/>
          </a:solidFill>
          <a:ln/>
        </p:spPr>
      </p:sp>
      <p:sp>
        <p:nvSpPr>
          <p:cNvPr id="57" name="Shape 55"/>
          <p:cNvSpPr/>
          <p:nvPr/>
        </p:nvSpPr>
        <p:spPr>
          <a:xfrm>
            <a:off x="10910888" y="6424613"/>
            <a:ext cx="95250" cy="161925"/>
          </a:xfrm>
          <a:prstGeom prst="roundRect">
            <a:avLst>
              <a:gd name="adj" fmla="val 25000"/>
            </a:avLst>
          </a:prstGeom>
          <a:ln w="19050">
            <a:solidFill>
              <a:srgbClr val="FFFFFF"/>
            </a:solidFill>
            <a:prstDash val="solid"/>
          </a:ln>
        </p:spPr>
      </p:sp>
      <p:sp>
        <p:nvSpPr>
          <p:cNvPr id="58" name="text b"/>
          <p:cNvSpPr txBox="1"/>
          <p:nvPr/>
        </p:nvSpPr>
        <p:spPr>
          <a:xfrm>
            <a:off x="11187113" y="6322587"/>
            <a:ext cx="581620" cy="218934"/>
          </a:xfrm>
          <a:prstGeom prst="rect">
            <a:avLst/>
          </a:prstGeom>
          <a:noFill/>
          <a:ln/>
        </p:spPr>
        <p:txBody>
          <a:bodyPr wrap="none" lIns="0" tIns="0" rIns="0" bIns="0" rtlCol="0" anchor="ctr"/>
          <a:lstStyle/>
          <a:p>
            <a:pPr algn="l" indent="0" marL="0">
              <a:buNone/>
            </a:pPr>
            <a:r>
              <a:rPr lang="en-US" sz="1190" spc="-20" kern="0" dirty="0">
                <a:solidFill>
                  <a:srgbClr val="F0001E"/>
                </a:solidFill>
                <a:latin typeface="Segoe UI Black" pitchFamily="34" charset="0"/>
                <a:ea typeface="Segoe UI Black" pitchFamily="34" charset="-122"/>
                <a:cs typeface="Segoe UI Black" pitchFamily="34" charset="-120"/>
              </a:rPr>
              <a:t>viettel</a:t>
            </a:r>
            <a:endParaRPr lang="en-US" sz="1190" dirty="0"/>
          </a:p>
        </p:txBody>
      </p:sp>
      <p:sp>
        <p:nvSpPr>
          <p:cNvPr id="59" name="text b"/>
          <p:cNvSpPr txBox="1"/>
          <p:nvPr/>
        </p:nvSpPr>
        <p:spPr>
          <a:xfrm>
            <a:off x="11187113" y="6462783"/>
            <a:ext cx="623888" cy="218934"/>
          </a:xfrm>
          <a:prstGeom prst="rect">
            <a:avLst/>
          </a:prstGeom>
          <a:noFill/>
          <a:ln/>
        </p:spPr>
        <p:txBody>
          <a:bodyPr wrap="none" lIns="0" tIns="0" rIns="0" bIns="0" rtlCol="0" anchor="ctr"/>
          <a:lstStyle/>
          <a:p>
            <a:pPr algn="l" indent="0" marL="0">
              <a:buNone/>
            </a:pPr>
            <a:r>
              <a:rPr lang="en-US" sz="1190" spc="-20" kern="0" dirty="0">
                <a:solidFill>
                  <a:srgbClr val="0F172A"/>
                </a:solidFill>
                <a:latin typeface="Segoe UI Black" pitchFamily="34" charset="0"/>
                <a:ea typeface="Segoe UI Black" pitchFamily="34" charset="-122"/>
                <a:cs typeface="Segoe UI Black" pitchFamily="34" charset="-120"/>
              </a:rPr>
              <a:t>money</a:t>
            </a:r>
            <a:endParaRPr lang="en-US" sz="1190" dirty="0"/>
          </a:p>
        </p:txBody>
      </p:sp>
      <p:sp>
        <p:nvSpPr>
          <p:cNvPr id="60" name="text pno"/>
          <p:cNvSpPr txBox="1"/>
          <p:nvPr/>
        </p:nvSpPr>
        <p:spPr>
          <a:xfrm>
            <a:off x="10523339" y="6416750"/>
            <a:ext cx="239911" cy="168125"/>
          </a:xfrm>
          <a:prstGeom prst="rect">
            <a:avLst/>
          </a:prstGeom>
          <a:noFill/>
          <a:ln/>
        </p:spPr>
        <p:txBody>
          <a:bodyPr wrap="none" lIns="0" tIns="0" rIns="0" bIns="0" rtlCol="0" anchor="ctr"/>
          <a:lstStyle/>
          <a:p>
            <a:pPr algn="l" indent="0" marL="0">
              <a:buNone/>
            </a:pPr>
            <a:r>
              <a:rPr lang="en-US" sz="910" b="1" dirty="0">
                <a:solidFill>
                  <a:srgbClr val="CBD5E1"/>
                </a:solidFill>
                <a:latin typeface="Segoe UI" pitchFamily="34" charset="0"/>
                <a:ea typeface="Segoe UI" pitchFamily="34" charset="-122"/>
                <a:cs typeface="Segoe UI" pitchFamily="34" charset="-120"/>
              </a:rPr>
              <a:t>31</a:t>
            </a:r>
            <a:endParaRPr lang="en-US" sz="9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Merchant thế hệ mới</dc:title>
  <dc:subject>PptxGenJS Presentation</dc:subject>
  <dc:creator>PptxGenJS</dc:creator>
  <cp:lastModifiedBy>PptxGenJS</cp:lastModifiedBy>
  <cp:revision>1</cp:revision>
  <dcterms:created xsi:type="dcterms:W3CDTF">2026-10-28T11:24:38Z</dcterms:created>
  <dcterms:modified xsi:type="dcterms:W3CDTF">2026-10-28T11:24:38Z</dcterms:modified>
</cp:coreProperties>
</file>